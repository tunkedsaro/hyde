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147481407" r:id="rId2"/>
    <p:sldId id="257" r:id="rId3"/>
    <p:sldId id="2147481409" r:id="rId4"/>
    <p:sldId id="2147481410" r:id="rId5"/>
    <p:sldId id="2147481437" r:id="rId6"/>
    <p:sldId id="2147481424" r:id="rId7"/>
    <p:sldId id="2147481411" r:id="rId8"/>
    <p:sldId id="2147481418" r:id="rId9"/>
    <p:sldId id="2147481442" r:id="rId10"/>
    <p:sldId id="2147481433" r:id="rId11"/>
    <p:sldId id="2147481439" r:id="rId12"/>
    <p:sldId id="2147481443" r:id="rId13"/>
    <p:sldId id="2147481440" r:id="rId14"/>
    <p:sldId id="2147481441" r:id="rId15"/>
    <p:sldId id="2147481438" r:id="rId16"/>
    <p:sldId id="2147481415" r:id="rId17"/>
    <p:sldId id="2147481432" r:id="rId18"/>
    <p:sldId id="2147481414" r:id="rId19"/>
    <p:sldId id="2147481431" r:id="rId20"/>
    <p:sldId id="2147481412" r:id="rId21"/>
    <p:sldId id="2147481445" r:id="rId22"/>
    <p:sldId id="2147481446" r:id="rId23"/>
    <p:sldId id="2147481413" r:id="rId24"/>
    <p:sldId id="2147481419" r:id="rId25"/>
    <p:sldId id="2147481427" r:id="rId26"/>
    <p:sldId id="2147481422" r:id="rId27"/>
    <p:sldId id="2147481423" r:id="rId28"/>
    <p:sldId id="2147481425" r:id="rId29"/>
    <p:sldId id="2147481426" r:id="rId30"/>
    <p:sldId id="2147481429" r:id="rId31"/>
    <p:sldId id="2147481428" r:id="rId32"/>
    <p:sldId id="2147481430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6060"/>
    <a:srgbClr val="BADF55"/>
    <a:srgbClr val="FFD100"/>
    <a:srgbClr val="FBE364"/>
    <a:srgbClr val="F4B4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78" y="85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077408-611F-43B7-A58B-066AB354FAB6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44687F-F839-4783-9AA2-9E2F10A9D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38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3363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9B23F-DB68-238E-F0E7-DD482D42A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BD22F-1A86-4E92-85A2-C1BD07029F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9C3675-DFE8-601B-5B96-4B7E2C5044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Embedding0n.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02F78-A03A-BAD6-A4FF-F5CA9DA19F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4090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Embedding0n.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8977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155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F38E8-9D29-D44F-C3AA-BFCB5AE3D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34DD-CFC1-056A-303B-3984F8DF90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37140-4C25-B167-5357-816A7DC64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18EAD-606F-CC6B-F005-DBFC4EA312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008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hyde</a:t>
            </a:r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update_batch</a:t>
            </a:r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- Don’t remove everyone in CGS but check one by one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Run as async format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Add set batch size parameters (</a:t>
            </a:r>
            <a:r>
              <a:rPr lang="en-US" sz="1200" dirty="0" err="1">
                <a:latin typeface="Consolas" panose="020B0609020204030204" pitchFamily="49" charset="0"/>
              </a:rPr>
              <a:t>Defual</a:t>
            </a:r>
            <a:r>
              <a:rPr lang="en-US" sz="1200" dirty="0">
                <a:latin typeface="Consolas" panose="020B0609020204030204" pitchFamily="49" charset="0"/>
              </a:rPr>
              <a:t> = 10)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Add destination path in </a:t>
            </a:r>
            <a:r>
              <a:rPr lang="en-US" sz="1200" dirty="0" err="1">
                <a:latin typeface="Consolas" panose="020B0609020204030204" pitchFamily="49" charset="0"/>
              </a:rPr>
              <a:t>yaml</a:t>
            </a:r>
            <a:r>
              <a:rPr lang="en-US" sz="1200" dirty="0">
                <a:latin typeface="Consolas" panose="020B0609020204030204" pitchFamily="49" charset="0"/>
              </a:rPr>
              <a:t> file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2376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3FFA3-EAE6-3A6F-A48A-E8C06D9A0C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83B1B7-C588-CC88-76EA-AAB065590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B0719D-43FD-9D3F-6B79-00AD4AD3C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FDF9C-62DC-CD5D-3EF4-0BF426516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2A8811-4ADE-8486-FE98-249FCB0EB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423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74BEF-4ED5-1632-53B0-01A99D737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12BF9-0B53-5AF4-BF8E-802FC05FA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3C3A0F-F326-7398-C522-769C32735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9D0A6-C93A-DBC7-0804-D0E412FF5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66309-659D-516D-214C-256FE3B6B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149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49282-2307-4C70-6CE4-C90C2F215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8B9DBC-C55A-DF02-1101-27D5438822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8AEA5A-CC50-0DBE-A2C0-6DE136BAB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18245-DBB0-F52C-66F6-04E063CA1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C25BF8-054C-B200-4C82-497F8AA52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27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6667F-D62B-16FF-F34D-B1F30D328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3E8F7-A0CC-5C54-486E-590F4EE9C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869001-32C9-A07C-667F-CC95F5A161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CD862C-570E-E861-8BFE-2CCEC8D57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6ADB2C-E848-0F25-1322-0393E8CA7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CAE8B-A4EB-16B1-0D47-906472901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60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BE94A-BF12-C3AE-D02C-1F31A58D4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A27261-4E64-ED29-0109-8177BF595F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5FB451-CD48-4D6D-0C11-86A8748F22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A9460D-C6AD-40FB-DF14-DFD7A13763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2BE363-03D7-2FD1-6F41-FEEC12042A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3147AE-A134-A2C3-6B11-A94D66D59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F20FFD-B6C9-8308-47E0-B3AA257EA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8D16AA-6121-C401-17C4-D50EEAF79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556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88DCE-CB94-A014-3B51-709210CE0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C8C87C-0079-1F3C-AA54-FBC50BD14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3AED2C-AA27-CDC1-AF5D-A53678751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C6C79-2D7D-FA2C-EA27-5C2B06847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42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FC782C-C151-5F34-8802-BFDA2B17D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69C6E3-F1FC-2622-C932-6A7C9B89C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BC717F-A285-8152-E679-E8367804B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745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B4321-29F4-D2C6-0440-7FDD2D1A1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7EB0C-AC85-193E-942C-69D4DED94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4A9723-4783-C432-5EC1-6E4034E157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26B1B3-F788-B7B8-C267-DE48B6647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543E85-4A68-82AD-EE66-6D539891F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6DB970-907F-53C2-0A8E-554F69C80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5187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1F920-4709-DEC9-E95A-DEE2F1C57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22CE8A-22D9-662E-001F-EA1E96E7C5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04AB3E-A32B-46D2-D39A-11E61166C2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391B45-7040-FE23-B446-786D61FFE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BA343B-4CDA-72E0-7A1F-3E0B201C4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E69C9C-A506-BE32-BFD2-0CF8F055A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666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C76EE-CE0C-7342-B2DA-CE73CE533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AA23D2-F74F-6BEB-D70F-8F1E33823D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BAA9F-CCA2-6611-C796-9416D1929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BCD38A-60C9-5AEF-D14C-DAE7897D9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F2B36-B595-2512-ED87-32E43564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503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FEB482-2724-1796-C72E-F8DD5942C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56310C-3206-676C-A8C4-958D4FC8F9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4B2407-0E1F-4237-31E1-B9321D733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5F259-C060-2194-F999-C8C7EAC6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361CA7-6890-8FEC-336B-C7F4C3403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3379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7BD1BE13-1B19-DB8D-FF40-CC7970E4DF6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93257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BD1BE13-1B19-DB8D-FF40-CC7970E4DF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737AB79A-F7B0-A96D-370E-89C13DDCC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9425" y="476249"/>
            <a:ext cx="11233150" cy="492443"/>
          </a:xfrm>
        </p:spPr>
        <p:txBody>
          <a:bodyPr vert="horz" tIns="0"/>
          <a:lstStyle>
            <a:lvl1pPr>
              <a:lnSpc>
                <a:spcPct val="100000"/>
              </a:lnSpc>
              <a:spcAft>
                <a:spcPts val="300"/>
              </a:spcAft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B58324-D3D4-D66D-8B34-0CE97E9F4A16}"/>
              </a:ext>
            </a:extLst>
          </p:cNvPr>
          <p:cNvSpPr>
            <a:spLocks/>
          </p:cNvSpPr>
          <p:nvPr/>
        </p:nvSpPr>
        <p:spPr>
          <a:xfrm>
            <a:off x="0" y="351594"/>
            <a:ext cx="3689935" cy="27432"/>
          </a:xfrm>
          <a:prstGeom prst="rect">
            <a:avLst/>
          </a:prstGeom>
          <a:solidFill>
            <a:schemeClr val="tx1"/>
          </a:solidFill>
          <a:ln w="3143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75" tIns="15088" rIns="30175" bIns="1508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200" err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8202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8A4548-DC7D-221E-47D9-708389BC7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769ADF-DF69-D13F-BECD-8CA04658EB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CEE74-52DA-9F05-6874-B5EB0C6253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A1BED4-5DFC-4D8B-BC40-12FD5FE4AB0F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7C4BE2-1502-BC3C-2AFC-5B35E796EF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F6B837-8BD6-D02D-0710-23E9E87D24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320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unKedsaro/Hyde" TargetMode="External"/><Relationship Id="rId2" Type="http://schemas.openxmlformats.org/officeDocument/2006/relationships/hyperlink" Target="https://hyderecomment-service-v1-1-0-du7yhkyaqq-as.a.run.app/docs#/" TargetMode="Externa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2.jpeg"/><Relationship Id="rId10" Type="http://schemas.openxmlformats.org/officeDocument/2006/relationships/image" Target="../media/image22.png"/><Relationship Id="rId4" Type="http://schemas.openxmlformats.org/officeDocument/2006/relationships/image" Target="../media/image17.jpeg"/><Relationship Id="rId9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0B99623-E537-28DB-A0E7-D30D679DCF6F}"/>
              </a:ext>
            </a:extLst>
          </p:cNvPr>
          <p:cNvSpPr txBox="1">
            <a:spLocks/>
          </p:cNvSpPr>
          <p:nvPr/>
        </p:nvSpPr>
        <p:spPr>
          <a:xfrm>
            <a:off x="479425" y="2444115"/>
            <a:ext cx="11233150" cy="984885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b="1" dirty="0"/>
              <a:t>Sprint review #10</a:t>
            </a:r>
            <a:br>
              <a:rPr lang="en-US" b="1" dirty="0"/>
            </a:br>
            <a:r>
              <a:rPr lang="en-US" b="1" dirty="0" err="1"/>
              <a:t>HyDE</a:t>
            </a:r>
            <a:r>
              <a:rPr lang="en-US" b="1" dirty="0"/>
              <a:t> feed recommendation</a:t>
            </a:r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490DDD-7E8E-247C-74B9-4FE3AC5FC103}"/>
              </a:ext>
            </a:extLst>
          </p:cNvPr>
          <p:cNvSpPr txBox="1">
            <a:spLocks/>
          </p:cNvSpPr>
          <p:nvPr/>
        </p:nvSpPr>
        <p:spPr>
          <a:xfrm>
            <a:off x="152399" y="5233942"/>
            <a:ext cx="11820525" cy="139903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Spec Link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Orchestrator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core evaluation link : </a:t>
            </a:r>
            <a:r>
              <a:rPr lang="en-US" sz="1100" b="1" dirty="0">
                <a:solidFill>
                  <a:srgbClr val="509BCA"/>
                </a:solidFill>
                <a:hlinkClick r:id="rId2"/>
              </a:rPr>
              <a:t>https://hyderecomment-service-v1-1-0-du7yhkyaqq-as.a.run.app/docs#/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 err="1">
                <a:solidFill>
                  <a:schemeClr val="accent1">
                    <a:lumMod val="10000"/>
                  </a:schemeClr>
                </a:solidFill>
              </a:rPr>
              <a:t>Github</a:t>
            </a: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 :</a:t>
            </a:r>
            <a:r>
              <a:rPr lang="en-US" sz="1100" b="1" dirty="0">
                <a:solidFill>
                  <a:srgbClr val="509BCA"/>
                </a:solidFill>
              </a:rPr>
              <a:t> </a:t>
            </a:r>
            <a:r>
              <a:rPr lang="en-US" sz="1100" b="1" dirty="0">
                <a:solidFill>
                  <a:srgbClr val="509BCA"/>
                </a:solidFill>
                <a:hlinkClick r:id="rId3"/>
              </a:rPr>
              <a:t>https://github.com/TunKedsaro/Hyde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/>
              <a:t>QA</a:t>
            </a:r>
            <a:r>
              <a:rPr lang="en-US" sz="1100" b="1" dirty="0">
                <a:solidFill>
                  <a:srgbClr val="509BCA"/>
                </a:solidFill>
              </a:rPr>
              <a:t> : https://humanintelligence.atlassian.net/wiki/spaces/CPM/pages/134611027/QA+Test+Plan+CV+Evaluation+Pipeline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8149A64-A47C-1CE1-C334-674E36D15384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0863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D5DAC-2E9F-5C6F-72A9-6A8074DFB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6D645CAD-80C7-AFC1-7403-2CEAC016EEBD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0AAEDCC-AA04-CFB8-4EC3-6BFDA2ECE18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B8AEFEC-124E-8483-474F-4191CBBC0C18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6648FAF3-F094-EDCC-133F-E18927C4E71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2585A12-8B61-3431-C660-97E3CFA7D30C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369555D-22B2-9EE5-0E2F-35667972F63A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B9041C3-7521-8F16-40ED-179089D1A75B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235D179-846F-9CAD-E670-8A1036314944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F94B03A-C1FF-2E2C-F232-1268ED3176E2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4DC5A0D-9AB4-8437-6B07-3079D3AB85B5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FE58974E-5EDD-27E2-3351-3EA4EFC4C18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6B8B490-6B9D-0FE3-76D1-133FDACA02D7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4899C310-92E4-0A52-174B-70B6FA9B8C38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505086C5-18C5-99AD-4C6D-1CDF8167FA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1522C35-B45E-A1A4-3B17-EC90A794CE8A}"/>
              </a:ext>
            </a:extLst>
          </p:cNvPr>
          <p:cNvSpPr/>
          <p:nvPr/>
        </p:nvSpPr>
        <p:spPr>
          <a:xfrm>
            <a:off x="213358" y="32009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3C49D83-2E68-34FB-0EC5-0774FD903A79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6EE2F411-EB9D-C466-A91F-CF2451029B18}"/>
              </a:ext>
            </a:extLst>
          </p:cNvPr>
          <p:cNvSpPr/>
          <p:nvPr/>
        </p:nvSpPr>
        <p:spPr>
          <a:xfrm>
            <a:off x="213358" y="38590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DDED7D5-2DDE-8F99-C83B-633E0328B2E0}"/>
              </a:ext>
            </a:extLst>
          </p:cNvPr>
          <p:cNvSpPr/>
          <p:nvPr/>
        </p:nvSpPr>
        <p:spPr>
          <a:xfrm>
            <a:off x="213358" y="25428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4975A39-AAFD-329C-1B94-647C51D2F91C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EE013BD-2041-63F7-A3E2-128661AA4FFD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3D66D51-F5EE-4A1E-3105-9938E6764CFB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3AA605D3-3F52-AE84-0A94-1D8FCD23470E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8DC7162-845C-C049-6F5A-0A28C8B9AE44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F0844B0-EB32-F897-59F8-DEDD922A602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3D96962B-5E93-D6FA-E57C-55DD43BAA659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38AB5593-E205-4255-15C0-D5E57491787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B71589B4-8A32-F032-4D19-A070FD6E4F92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F2BC0BD0-6819-8468-8FD5-A9782311D04F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EB21E330-A43D-3348-645A-88328EBF319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6FC09C4-5DA0-9140-E3A2-3EEA4BAD9944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84663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9D3EC-AFF5-567E-E3A0-3150C0D2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888B5FE1-B1EE-48AE-0122-ADD0802056CE}"/>
              </a:ext>
            </a:extLst>
          </p:cNvPr>
          <p:cNvSpPr/>
          <p:nvPr/>
        </p:nvSpPr>
        <p:spPr>
          <a:xfrm>
            <a:off x="1265795" y="34768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C7B2808-7D52-F428-2F20-78BE0A3A13F6}"/>
              </a:ext>
            </a:extLst>
          </p:cNvPr>
          <p:cNvCxnSpPr>
            <a:cxnSpLocks/>
          </p:cNvCxnSpPr>
          <p:nvPr/>
        </p:nvCxnSpPr>
        <p:spPr>
          <a:xfrm>
            <a:off x="2855188" y="370922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5BADBA4E-44A1-92EE-AD49-AC89F95BF31D}"/>
              </a:ext>
            </a:extLst>
          </p:cNvPr>
          <p:cNvSpPr/>
          <p:nvPr/>
        </p:nvSpPr>
        <p:spPr>
          <a:xfrm>
            <a:off x="1265795" y="41349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ECDE6DC-B4A8-04C0-5503-190D811805EF}"/>
              </a:ext>
            </a:extLst>
          </p:cNvPr>
          <p:cNvSpPr/>
          <p:nvPr/>
        </p:nvSpPr>
        <p:spPr>
          <a:xfrm>
            <a:off x="1265795" y="28187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1026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F9602F6A-EFA2-16D3-10D7-431656411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8437" y="3136996"/>
            <a:ext cx="2019300" cy="1135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9E74994-9AB4-C632-1081-59D8C36CDD17}"/>
              </a:ext>
            </a:extLst>
          </p:cNvPr>
          <p:cNvCxnSpPr>
            <a:cxnSpLocks/>
          </p:cNvCxnSpPr>
          <p:nvPr/>
        </p:nvCxnSpPr>
        <p:spPr>
          <a:xfrm>
            <a:off x="5514256" y="370457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EE7BE979-4626-6F9B-335F-2560BD679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68521"/>
            <a:ext cx="5137039" cy="44728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97EA77-AB81-EF31-E372-18A4CEAF26A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10820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69FB-DED0-8C57-812D-3C47B8D7D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4857E63-1039-14CD-3789-1829EC5E2EEF}"/>
              </a:ext>
            </a:extLst>
          </p:cNvPr>
          <p:cNvCxnSpPr>
            <a:cxnSpLocks/>
          </p:cNvCxnSpPr>
          <p:nvPr/>
        </p:nvCxnSpPr>
        <p:spPr>
          <a:xfrm>
            <a:off x="8405622" y="3547522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CC7A1D03-1E3E-C6EF-A65E-3FAD28E3B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5701" y="2135742"/>
            <a:ext cx="2975113" cy="30861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3228ACE-7E12-03DD-1D84-437FA364BE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8114" y="1544525"/>
            <a:ext cx="2891556" cy="25106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25B0E25-8271-57D6-F055-52F62F20F3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6903" y="3678805"/>
            <a:ext cx="3840746" cy="2063625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182F0E2-4112-B0B1-4C60-4A92DCE998B7}"/>
              </a:ext>
            </a:extLst>
          </p:cNvPr>
          <p:cNvCxnSpPr>
            <a:cxnSpLocks/>
          </p:cNvCxnSpPr>
          <p:nvPr/>
        </p:nvCxnSpPr>
        <p:spPr>
          <a:xfrm>
            <a:off x="3435339" y="3547522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BBD4B735-61B9-459E-30AB-7CFF24E70E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974" y="2118360"/>
            <a:ext cx="3010551" cy="26212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230067-3A14-5E10-B915-F7C71C60E21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1632009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A3B11-B2A2-3BA1-172B-2251B8AFA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8F8DE6C-8983-0BAA-1C8B-DDA548291FC9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EF39C0-BCB3-7255-F716-67701DBCC1EC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8D229DD-9626-7C08-EA70-6B35351B4182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ABB66556-2583-7F92-2AF8-D6C9F18602F0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EB32BE-9EDA-A3A1-A2E0-1BD17DE500DA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29A5CCA-01DB-08F4-18D0-9FFB6C071F2B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5D804C-6D86-14DA-5F65-0B6B9BA847E5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7A6DEFDA-DFBF-6FC3-9033-84515C1E44CD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6811FB4-E982-E197-4A6C-7C6B1A573914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CFC8C04-E477-2A24-67BA-CC930C28B45B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AB9ADC7C-CAF6-BCCC-E34F-E7FDF6E27468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7609BE7-05CE-2857-8B3D-A49199716E46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9EAC0BD-B423-80EB-93EE-A832DFF07215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5DE9790-D272-7767-2D31-636922DA1CE4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B448FAF-A242-7883-0F02-04485E6C2C98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558804C-3681-E570-1617-085DFEA0C1E6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1F40847-CBB0-AEEC-189E-47EEEB7E9119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F631E7D3-C7E7-C1F1-CA85-B57721FEED4B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5EB0891-F2A2-BA24-CB07-F6281F0B8966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DF0AB815-FDFA-F598-6AD4-FE34959C8D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20730BC9-7502-1BD7-37EB-82A62774131D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3183D21D-B876-46CC-9782-5D4998E8FE7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E5C540BB-C1EE-2AAC-7CED-27E058AD2490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00716CF0-652E-B754-01C9-B8080258E112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DD0324BA-7F7C-50F1-1F7D-AEA735BBD6FD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5AC9E817-E835-3D61-4B38-A4C10FA27EDD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AA84E98D-4943-20DD-2539-EC704766EC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3A59CF53-033A-A89B-CB43-6BF0DA0FF845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906357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063D9-98D8-5832-D511-E91CA178B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8E5F587-4F76-A33C-93F2-31333F28C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6049" y="1622939"/>
            <a:ext cx="4392950" cy="257421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8F4F0EB-63FB-00FF-DD17-4E6E1C129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050" y="4547732"/>
            <a:ext cx="4392950" cy="181247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D562333F-AEB7-0F56-F1B6-947ADE6FF60F}"/>
              </a:ext>
            </a:extLst>
          </p:cNvPr>
          <p:cNvGrpSpPr/>
          <p:nvPr/>
        </p:nvGrpSpPr>
        <p:grpSpPr>
          <a:xfrm>
            <a:off x="1107225" y="4106334"/>
            <a:ext cx="7891043" cy="504000"/>
            <a:chOff x="1107225" y="3853115"/>
            <a:chExt cx="7891043" cy="504000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4566BFE-1FB8-0348-67DF-9483951DC271}"/>
                </a:ext>
              </a:extLst>
            </p:cNvPr>
            <p:cNvCxnSpPr>
              <a:cxnSpLocks/>
            </p:cNvCxnSpPr>
            <p:nvPr/>
          </p:nvCxnSpPr>
          <p:spPr>
            <a:xfrm>
              <a:off x="1107225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E9486AF0-5E26-98DD-16ED-C3783758EBC3}"/>
                </a:ext>
              </a:extLst>
            </p:cNvPr>
            <p:cNvCxnSpPr>
              <a:cxnSpLocks/>
            </p:cNvCxnSpPr>
            <p:nvPr/>
          </p:nvCxnSpPr>
          <p:spPr>
            <a:xfrm>
              <a:off x="8726162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B58924D-ACF3-0596-BAEB-8014B88216CA}"/>
                </a:ext>
              </a:extLst>
            </p:cNvPr>
            <p:cNvCxnSpPr>
              <a:cxnSpLocks/>
            </p:cNvCxnSpPr>
            <p:nvPr/>
          </p:nvCxnSpPr>
          <p:spPr>
            <a:xfrm>
              <a:off x="3589754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19CDBD7-1DEB-4EA4-8E6A-B93EE96837C8}"/>
                </a:ext>
              </a:extLst>
            </p:cNvPr>
            <p:cNvSpPr/>
            <p:nvPr/>
          </p:nvSpPr>
          <p:spPr>
            <a:xfrm>
              <a:off x="1555430" y="3853115"/>
              <a:ext cx="1849346" cy="504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Embedding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gemini-embedding-001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F8110993-58DB-29C3-9A6E-C78C3FD75815}"/>
              </a:ext>
            </a:extLst>
          </p:cNvPr>
          <p:cNvSpPr/>
          <p:nvPr/>
        </p:nvSpPr>
        <p:spPr>
          <a:xfrm>
            <a:off x="8679052" y="1622939"/>
            <a:ext cx="1672010" cy="32846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Metadata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AD5DFD-C4C2-711B-9BA0-9B21EE3E729D}"/>
              </a:ext>
            </a:extLst>
          </p:cNvPr>
          <p:cNvSpPr/>
          <p:nvPr/>
        </p:nvSpPr>
        <p:spPr>
          <a:xfrm>
            <a:off x="8679051" y="5755283"/>
            <a:ext cx="1672011" cy="612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Embedded vector</a:t>
            </a:r>
          </a:p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Shape = (5,768)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E18883-D4E9-E8EE-7DAE-D2E45DBBFCF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0A081E-D4D0-8194-5821-F06EFBA541AB}"/>
              </a:ext>
            </a:extLst>
          </p:cNvPr>
          <p:cNvGrpSpPr/>
          <p:nvPr/>
        </p:nvGrpSpPr>
        <p:grpSpPr>
          <a:xfrm>
            <a:off x="9289735" y="3886636"/>
            <a:ext cx="913648" cy="932038"/>
            <a:chOff x="10794977" y="2064264"/>
            <a:chExt cx="913648" cy="932038"/>
          </a:xfrm>
        </p:grpSpPr>
        <p:pic>
          <p:nvPicPr>
            <p:cNvPr id="5" name="Picture 2" descr="Data Lake Icon">
              <a:extLst>
                <a:ext uri="{FF2B5EF4-FFF2-40B4-BE49-F238E27FC236}">
                  <a16:creationId xmlns:a16="http://schemas.microsoft.com/office/drawing/2014/main" id="{D1D5548E-EE7C-CC60-68FE-4615658C42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64858" y="2064264"/>
              <a:ext cx="773887" cy="6242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F2648CC-D239-6E71-CD7F-9174251A2228}"/>
                </a:ext>
              </a:extLst>
            </p:cNvPr>
            <p:cNvSpPr txBox="1"/>
            <p:nvPr/>
          </p:nvSpPr>
          <p:spPr>
            <a:xfrm>
              <a:off x="10794977" y="2688525"/>
              <a:ext cx="9136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 lake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3239ACE-E83F-03C0-CFA4-C3923D24460C}"/>
              </a:ext>
            </a:extLst>
          </p:cNvPr>
          <p:cNvSpPr txBox="1"/>
          <p:nvPr/>
        </p:nvSpPr>
        <p:spPr>
          <a:xfrm>
            <a:off x="-90222" y="6978217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BADF55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Gemini-2.5-flash -&gt; gemini-3-flash-preview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Temperature = 1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Rethink = </a:t>
            </a:r>
            <a:r>
              <a:rPr lang="en-US" sz="1400" dirty="0" err="1">
                <a:latin typeface="Consolas" panose="020B0609020204030204" pitchFamily="49" charset="0"/>
              </a:rPr>
              <a:t>defualt</a:t>
            </a:r>
            <a:endParaRPr 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7976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81111D-0B1D-2DA4-A74D-E0197897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6735AE0-A108-8AB1-F05A-3BD8615D4100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4092DAE-7B89-71EA-2126-068A8929DDCD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B9E3AA4-997C-56E7-68C5-D64C4652AD8C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5E6AD224-C2DC-598B-484A-AE4E4F22C05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3AE21AB-01D8-44C6-74E4-F0B00D792298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BA82D746-8E81-EB40-0E68-53491A9CFCD6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9B56695-E608-2267-7BA4-8600D70BB14F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ECB3BAFE-11BD-DEC7-EC6A-AC4A1E9032A8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B5DB8AA-E792-4D6D-6FEA-852C7CC1FB0F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84AD198-4AD1-4C4D-E93F-74C360E16F9A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46D49376-6CA0-A399-3333-79C3221F7D5A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68E22E9-E258-54E7-C9D1-C2D1C90B849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F544796E-334F-EDD1-4F71-4FBE40183F31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AC45468-CE16-8800-12CB-47058D54FAEB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F60BC38-F253-BEF5-9551-372FE354459C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0A1C04B8-63C4-1674-0894-49B89CDDE5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167CE45-0B9C-D680-6AFB-6B60D88E1C5F}"/>
              </a:ext>
            </a:extLst>
          </p:cNvPr>
          <p:cNvSpPr/>
          <p:nvPr/>
        </p:nvSpPr>
        <p:spPr>
          <a:xfrm>
            <a:off x="8702484" y="2802454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99CF52-19A3-0A51-2EB6-BDEEBB769DEC}"/>
              </a:ext>
            </a:extLst>
          </p:cNvPr>
          <p:cNvSpPr/>
          <p:nvPr/>
        </p:nvSpPr>
        <p:spPr>
          <a:xfrm>
            <a:off x="8709570" y="3551546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metadata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7AD9FA3-C023-431B-7D5D-D959E9AE15E9}"/>
              </a:ext>
            </a:extLst>
          </p:cNvPr>
          <p:cNvGrpSpPr/>
          <p:nvPr/>
        </p:nvGrpSpPr>
        <p:grpSpPr>
          <a:xfrm>
            <a:off x="10794978" y="2990955"/>
            <a:ext cx="913648" cy="932038"/>
            <a:chOff x="10794977" y="2064264"/>
            <a:chExt cx="913648" cy="932038"/>
          </a:xfrm>
        </p:grpSpPr>
        <p:pic>
          <p:nvPicPr>
            <p:cNvPr id="1026" name="Picture 2" descr="Data Lake Icon">
              <a:extLst>
                <a:ext uri="{FF2B5EF4-FFF2-40B4-BE49-F238E27FC236}">
                  <a16:creationId xmlns:a16="http://schemas.microsoft.com/office/drawing/2014/main" id="{BA5EF408-CA12-4052-0B40-FCB9FFE2F1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64858" y="2064264"/>
              <a:ext cx="773887" cy="6242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1F84FBC-AD76-F063-D0D9-B7D80DA652C3}"/>
                </a:ext>
              </a:extLst>
            </p:cNvPr>
            <p:cNvSpPr txBox="1"/>
            <p:nvPr/>
          </p:nvSpPr>
          <p:spPr>
            <a:xfrm>
              <a:off x="10794977" y="2688525"/>
              <a:ext cx="9136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 lake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2E3C5A5-495C-5343-A300-519C1676CA2A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4FC44BE-0A8E-1744-E214-FE26C59A86E0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D676459D-62FE-D7D6-E0D6-AF119E9824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ounded Rectangle 29">
                <a:extLst>
                  <a:ext uri="{FF2B5EF4-FFF2-40B4-BE49-F238E27FC236}">
                    <a16:creationId xmlns:a16="http://schemas.microsoft.com/office/drawing/2014/main" id="{7E25C6C4-76CB-9F10-4236-C04693FA02E2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4" name="Rounded Rectangle 30">
                <a:extLst>
                  <a:ext uri="{FF2B5EF4-FFF2-40B4-BE49-F238E27FC236}">
                    <a16:creationId xmlns:a16="http://schemas.microsoft.com/office/drawing/2014/main" id="{806CA3E1-65F3-1E47-0598-A8910D3FB7B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5" name="TextBox 37">
                <a:extLst>
                  <a:ext uri="{FF2B5EF4-FFF2-40B4-BE49-F238E27FC236}">
                    <a16:creationId xmlns:a16="http://schemas.microsoft.com/office/drawing/2014/main" id="{B56D5389-3C79-1BE9-4240-6C74D256ED1A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6" name="Rounded Rectangle 40">
                <a:extLst>
                  <a:ext uri="{FF2B5EF4-FFF2-40B4-BE49-F238E27FC236}">
                    <a16:creationId xmlns:a16="http://schemas.microsoft.com/office/drawing/2014/main" id="{B5990303-B72C-C6A7-7460-B21D2352DBD6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1286B851-9D9D-63E3-55ED-77EDD930FA17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3" name="Title 1">
            <a:extLst>
              <a:ext uri="{FF2B5EF4-FFF2-40B4-BE49-F238E27FC236}">
                <a16:creationId xmlns:a16="http://schemas.microsoft.com/office/drawing/2014/main" id="{49C90FB5-9FF0-AA2C-A8AD-B4510FC7F3D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56659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76802-D8CB-FFAB-D8B6-9B0A191B9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67E0BC5-6072-3F3A-F13D-1543FA2E39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66" y="1315075"/>
            <a:ext cx="9087867" cy="51098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C1E9EF-CD19-760C-68DB-FD55E24F2F09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6449356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55A5E-A6BE-CB01-643B-1EF137BE3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EE592A6-DA06-FA52-ACB7-DC5F34D8B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75A839-97B5-56DB-B724-E824372A594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955326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561681D-0D2D-B241-8F5B-6199665963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00B92B-2E7F-DE62-0D37-F3A2508E7E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7942" y="2173721"/>
            <a:ext cx="6506483" cy="3143689"/>
          </a:xfrm>
          <a:prstGeom prst="rect">
            <a:avLst/>
          </a:prstGeom>
        </p:spPr>
      </p:pic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E9E1512D-3DD6-AB5C-1CE6-F4B229B100C5}"/>
              </a:ext>
            </a:extLst>
          </p:cNvPr>
          <p:cNvCxnSpPr>
            <a:cxnSpLocks/>
          </p:cNvCxnSpPr>
          <p:nvPr/>
        </p:nvCxnSpPr>
        <p:spPr>
          <a:xfrm flipV="1">
            <a:off x="3090672" y="2468880"/>
            <a:ext cx="2688336" cy="649224"/>
          </a:xfrm>
          <a:prstGeom prst="bentConnector3">
            <a:avLst>
              <a:gd name="adj1" fmla="val 77211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8A915FA-0CAC-DCD0-A765-722A2E3D03BD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595836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B307C-32A1-09F3-EAE7-F883FA1A9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5D4BBB6-2E53-0DCD-A53F-CC8EA99F4D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7E4C01D-1CEA-8739-2513-F12D5A3562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8520"/>
          <a:stretch>
            <a:fillRect/>
          </a:stretch>
        </p:blipFill>
        <p:spPr>
          <a:xfrm>
            <a:off x="5508808" y="1577817"/>
            <a:ext cx="6477904" cy="4868703"/>
          </a:xfrm>
          <a:prstGeom prst="rect">
            <a:avLst/>
          </a:prstGeom>
        </p:spPr>
      </p:pic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6EB918F4-B3A0-FF49-983C-0611A3B34B0A}"/>
              </a:ext>
            </a:extLst>
          </p:cNvPr>
          <p:cNvCxnSpPr>
            <a:cxnSpLocks/>
          </p:cNvCxnSpPr>
          <p:nvPr/>
        </p:nvCxnSpPr>
        <p:spPr>
          <a:xfrm flipV="1">
            <a:off x="3246120" y="1865376"/>
            <a:ext cx="2596896" cy="1664208"/>
          </a:xfrm>
          <a:prstGeom prst="bentConnector3">
            <a:avLst>
              <a:gd name="adj1" fmla="val 74296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80BFEBE3-05DE-C11F-554F-94796C9F6A36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3229960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2F9F3-CC07-1F7E-ADC0-BBCACA62D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89902-F86B-3ECA-A30D-50D0035461C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7830821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C59B6-EF6A-0AC3-788D-1E211A03A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530FB75-E3DB-DFD5-E3D6-459C066321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7055606"/>
              </p:ext>
            </p:extLst>
          </p:nvPr>
        </p:nvGraphicFramePr>
        <p:xfrm>
          <a:off x="837752" y="2182999"/>
          <a:ext cx="10516048" cy="364568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2045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15759377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15760618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16607954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0545103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079900472"/>
                    </a:ext>
                  </a:extLst>
                </a:gridCol>
              </a:tblGrid>
              <a:tr h="7886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Stu_p001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Stu_p002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Stu_p003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Stu_p004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Stu_p005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Stu_p006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Stu_p007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Stu_p008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Stu_p009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Stu_p010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average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654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query_sec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</a:rPr>
                        <a:t>0.00101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0.00058</a:t>
                      </a:r>
                      <a:endParaRPr lang="en-US" sz="1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0.00354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0.00077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0.00096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history_sec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0.01339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0.01010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0.00979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0.00971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0.01111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0.01051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0.00888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0.00944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0.00959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0.01291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0.01054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embed_sec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1.81636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1.77266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2.03714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1.69645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1.72026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1.79597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1.75972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1.76440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1.72077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1.75303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1.78368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360638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metadata.json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0.18499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0.12241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0.10613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0.11913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0.10847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0.11897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0.12841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0.11524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0.11533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0.12951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0.12486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223139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j-lt"/>
                        </a:rPr>
                        <a:t>embedding0n.npy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1.23484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1.28129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1.28272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1.16481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1.15355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1.12040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1.15927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1.15244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1.21216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1.12801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1.18895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549340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total_sec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3.25059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3.18711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3.43636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2.99074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2.99306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3.04939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3.05705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3.04208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3.05841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3.02412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3.10898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3335733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044F518A-03FE-9661-571B-2CD104C8421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</a:p>
          <a:p>
            <a:r>
              <a:rPr lang="en-US" sz="2400" dirty="0">
                <a:cs typeface="Poppins Light"/>
              </a:rPr>
              <a:t>Pipeline Execution Time Breakdown per Student (seconds)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664631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FDC69-AA87-9E3A-E2F2-A8E5E81FB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35E3079-F5DE-5835-F7D3-FAD07FA71D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676868"/>
              </p:ext>
            </p:extLst>
          </p:nvPr>
        </p:nvGraphicFramePr>
        <p:xfrm>
          <a:off x="838196" y="2562826"/>
          <a:ext cx="10515604" cy="221068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1601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15759377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15760618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16607954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0545103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079900472"/>
                    </a:ext>
                  </a:extLst>
                </a:gridCol>
              </a:tblGrid>
              <a:tr h="7886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Stu_p001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Stu_p002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Stu_p003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Stu_p004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Stu_p005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Stu_p006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Stu_p007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Stu_p008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Stu_p009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Stu_p010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average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654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metadata.json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  <a:latin typeface="+mj-lt"/>
                        </a:rPr>
                        <a:t>0.06906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0.0565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0.09909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0.06359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0.07367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0.06569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0.07023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0.07545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0.07149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latin typeface="+mj-lt"/>
                        </a:rPr>
                        <a:t>0.07514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j-lt"/>
                        </a:rPr>
                        <a:t>embedding0n.npy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0.07413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0.06238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0.06575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0.07541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0.05905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0.06792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0.06209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0.06646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0.06743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0.06615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latin typeface="+mj-lt"/>
                        </a:rPr>
                        <a:t>0.06786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total_sec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0.14319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0.11888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0.16484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0.13272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0.13361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0.13232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0.13376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0.14288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0.13764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6417090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D755A43B-2784-3472-F7B9-1A0550F9F7F2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</a:p>
          <a:p>
            <a:r>
              <a:rPr lang="en-US" sz="2400" dirty="0"/>
              <a:t>Storage retrieval from GCS </a:t>
            </a:r>
            <a:r>
              <a:rPr lang="en-US" sz="2400" dirty="0">
                <a:cs typeface="Poppins Light"/>
              </a:rPr>
              <a:t>(seconds)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418638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9D5F95-DA6C-ADC3-0B2F-285A8CFED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7C18500-11AD-EF54-8498-C94A518A9F3F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C2BFB88-8018-07D1-63C0-EFBFECE8B61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D3D4969-8A2D-E8E1-A272-CF7113BAD56A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FAD7C1C2-AD9F-8666-A75F-AC79E8CE6930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644E83D-1405-339E-49EE-A64543911362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37813B3-E580-520B-BEA0-F26614F9A0B4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1C6EC71-8E3C-835F-EAE6-26DA61C0660E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543C6700-78B4-E8AA-CD46-C0648E5CEA4C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DB39CB6-CDCD-67CA-21FE-D0FF2DD58883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5923559-3EF5-3015-9E1D-77EFA1EF038B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DD41DA9D-5003-9721-3AD7-ED2B6D79EB2C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213D4B1-7085-9780-481F-0DF09EAE28D1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7BB9AD29-2C86-BFAA-23CA-632F520A4EE0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56D6BEE-3F2B-85CD-6CFA-596DDE50D086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B2A706A-BB6C-A084-117C-8583B3EEE5B6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9A4D959B-6B3F-D932-AD7C-43A4C3EE06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6CE1D61-8202-9D3A-DE2A-CC7455F600DC}"/>
              </a:ext>
            </a:extLst>
          </p:cNvPr>
          <p:cNvSpPr/>
          <p:nvPr/>
        </p:nvSpPr>
        <p:spPr>
          <a:xfrm>
            <a:off x="8702484" y="2802454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915341-2D43-DC30-7432-FB096D1B3940}"/>
              </a:ext>
            </a:extLst>
          </p:cNvPr>
          <p:cNvSpPr/>
          <p:nvPr/>
        </p:nvSpPr>
        <p:spPr>
          <a:xfrm>
            <a:off x="8709570" y="3551546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metadata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256DAC-6681-DF78-4CD9-0C71B54844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4252" y="3231117"/>
            <a:ext cx="1335100" cy="413665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D9000708-904D-BF3D-CCAD-D560FA655BCC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2AD7B30-AC4A-E3B2-2B22-38DFCA6983BE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8282D4AE-26F1-3D54-AD2F-D3620AD4B4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ounded Rectangle 29">
                <a:extLst>
                  <a:ext uri="{FF2B5EF4-FFF2-40B4-BE49-F238E27FC236}">
                    <a16:creationId xmlns:a16="http://schemas.microsoft.com/office/drawing/2014/main" id="{1355A4EF-786E-2106-1200-3129A62B000F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4" name="Rounded Rectangle 30">
                <a:extLst>
                  <a:ext uri="{FF2B5EF4-FFF2-40B4-BE49-F238E27FC236}">
                    <a16:creationId xmlns:a16="http://schemas.microsoft.com/office/drawing/2014/main" id="{7ADC7A81-A415-696A-F9C9-6B6707D8AF70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5" name="TextBox 37">
                <a:extLst>
                  <a:ext uri="{FF2B5EF4-FFF2-40B4-BE49-F238E27FC236}">
                    <a16:creationId xmlns:a16="http://schemas.microsoft.com/office/drawing/2014/main" id="{7716F570-172D-F670-B375-2454ED7C6DE8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6" name="Rounded Rectangle 40">
                <a:extLst>
                  <a:ext uri="{FF2B5EF4-FFF2-40B4-BE49-F238E27FC236}">
                    <a16:creationId xmlns:a16="http://schemas.microsoft.com/office/drawing/2014/main" id="{57F3D18C-3633-9485-830B-F2257316294D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C8C2DA7C-597D-50DD-D361-D2368DD722E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2DA94666-91E8-CC3C-C608-5A81FE20406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719816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BBE4B-4A90-0AF0-8F66-DF7445A04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Python (programming language) - Wikipedia">
            <a:extLst>
              <a:ext uri="{FF2B5EF4-FFF2-40B4-BE49-F238E27FC236}">
                <a16:creationId xmlns:a16="http://schemas.microsoft.com/office/drawing/2014/main" id="{7558C346-DE27-A956-4676-1859B13F3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8798" y="1976599"/>
            <a:ext cx="1160526" cy="1160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FastAPI · GitHub">
            <a:extLst>
              <a:ext uri="{FF2B5EF4-FFF2-40B4-BE49-F238E27FC236}">
                <a16:creationId xmlns:a16="http://schemas.microsoft.com/office/drawing/2014/main" id="{855D1AA6-EBDE-F14E-DEDA-B41BF7D5B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5778" y="3524073"/>
            <a:ext cx="1331214" cy="133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รูปภาพGemini – เลือกดูภาพถ่ายสต็อก เวกเตอร์ และวิดีโอ74,249 | Adobe Stock">
            <a:extLst>
              <a:ext uri="{FF2B5EF4-FFF2-40B4-BE49-F238E27FC236}">
                <a16:creationId xmlns:a16="http://schemas.microsoft.com/office/drawing/2014/main" id="{22E3C64C-AE8F-51D5-DA83-3907C22BCF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4346" y="3600408"/>
            <a:ext cx="286385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What Is BigQuery And How Do You Load Data Into It? - Seattle Data Guy">
            <a:extLst>
              <a:ext uri="{FF2B5EF4-FFF2-40B4-BE49-F238E27FC236}">
                <a16:creationId xmlns:a16="http://schemas.microsoft.com/office/drawing/2014/main" id="{A030075D-3E5E-15F1-6377-932F1CC176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7789" y="4794906"/>
            <a:ext cx="2353733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What is Docker ? How to use it ? - NashTech Blog">
            <a:extLst>
              <a:ext uri="{FF2B5EF4-FFF2-40B4-BE49-F238E27FC236}">
                <a16:creationId xmlns:a16="http://schemas.microsoft.com/office/drawing/2014/main" id="{2BA49730-AF03-6D55-974D-7885BA76D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3259" y="1851207"/>
            <a:ext cx="2353733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GitHub - jupyterlab/jupyterlab: JupyterLab computational environment.">
            <a:extLst>
              <a:ext uri="{FF2B5EF4-FFF2-40B4-BE49-F238E27FC236}">
                <a16:creationId xmlns:a16="http://schemas.microsoft.com/office/drawing/2014/main" id="{15A8AB89-8C13-214E-E901-852D83950B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0838" y="1970973"/>
            <a:ext cx="1407653" cy="1407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2" name="Picture 20" descr="Cloud Run vs App Engine vs Cloud Function (Pros and Cons)">
            <a:extLst>
              <a:ext uri="{FF2B5EF4-FFF2-40B4-BE49-F238E27FC236}">
                <a16:creationId xmlns:a16="http://schemas.microsoft.com/office/drawing/2014/main" id="{529B08C3-47D8-32EA-D13B-1922DE3E9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9720" y="5412401"/>
            <a:ext cx="2513146" cy="962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oogle Cloud Storage: solution for data lakes - Flowygo">
            <a:extLst>
              <a:ext uri="{FF2B5EF4-FFF2-40B4-BE49-F238E27FC236}">
                <a16:creationId xmlns:a16="http://schemas.microsoft.com/office/drawing/2014/main" id="{22FE7497-B4F7-5F32-2032-702334A4A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5932" y="3636936"/>
            <a:ext cx="2281412" cy="1619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Visual Studio Code - Download and install on Windows | Microsoft Store">
            <a:extLst>
              <a:ext uri="{FF2B5EF4-FFF2-40B4-BE49-F238E27FC236}">
                <a16:creationId xmlns:a16="http://schemas.microsoft.com/office/drawing/2014/main" id="{01EEC46E-48C9-84E6-33F5-A113A0DFF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611" y="2513195"/>
            <a:ext cx="1167982" cy="1167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YAML File Format Icon SVG Vector &amp; PNG Free Download | UXWing">
            <a:extLst>
              <a:ext uri="{FF2B5EF4-FFF2-40B4-BE49-F238E27FC236}">
                <a16:creationId xmlns:a16="http://schemas.microsoft.com/office/drawing/2014/main" id="{F4E999C6-217F-7104-506D-339041577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4713" y="4884124"/>
            <a:ext cx="114554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659C146-EE72-EBE5-AE83-924130D139C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7309667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6B22-0473-04F9-85F9-5E187DB4D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E44697C-7150-FFF1-EC0E-DA02EFC6F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550" y="1427620"/>
            <a:ext cx="9486900" cy="510985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91456F-E2A6-B73B-EBF7-559ECA452B1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981740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7D2FE-96D7-DD42-D64C-0E3C44E76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3843A-37A8-7E78-56C1-F959554448A7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Future Work</a:t>
            </a:r>
            <a:endParaRPr lang="en-US" sz="2400" dirty="0">
              <a:cs typeface="Poppins Ligh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1A87FB-2FFC-027B-D5E5-C96FB0C851B7}"/>
              </a:ext>
            </a:extLst>
          </p:cNvPr>
          <p:cNvSpPr txBox="1"/>
          <p:nvPr/>
        </p:nvSpPr>
        <p:spPr>
          <a:xfrm>
            <a:off x="0" y="6949440"/>
            <a:ext cx="2730056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Add endpoint get student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Update intent core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60981D-86EB-AD87-EAEB-7A329296C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2750" y="1305757"/>
            <a:ext cx="9429831" cy="5302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93714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05D7B-EDF6-5F9B-FCF3-923CFAADD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AAB85E2C-B8F5-A58B-F930-70CE7F3E0CC6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</a:t>
            </a:r>
            <a:r>
              <a:rPr lang="en-US" sz="2400" dirty="0"/>
              <a:t>Future Work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C8AC74-4A46-293E-66F1-F81BC7E1E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4285" y="1485575"/>
            <a:ext cx="3654890" cy="45299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D6FB7D-793F-9368-D167-7596F41BE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829" y="1485575"/>
            <a:ext cx="4167888" cy="45299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1E6D40-55B4-7187-0EAB-242263D915D4}"/>
              </a:ext>
            </a:extLst>
          </p:cNvPr>
          <p:cNvSpPr txBox="1"/>
          <p:nvPr/>
        </p:nvSpPr>
        <p:spPr>
          <a:xfrm>
            <a:off x="5941951" y="356586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4137678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5BD8A-8D45-2434-7F86-A7B3D8DAB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8934109-FB6B-51BF-602B-1988ED13AD7B}"/>
              </a:ext>
            </a:extLst>
          </p:cNvPr>
          <p:cNvSpPr txBox="1">
            <a:spLocks/>
          </p:cNvSpPr>
          <p:nvPr/>
        </p:nvSpPr>
        <p:spPr>
          <a:xfrm>
            <a:off x="479425" y="3121223"/>
            <a:ext cx="11233150" cy="61555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sz="4000" b="1" dirty="0"/>
              <a:t>Team stand up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9223EE7-F282-49F6-E483-75F8BADCFA22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0014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ED7353-2970-6DC6-6F08-FFBB9F220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C60A4-B96A-E59F-E933-D09676A80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Tue,040226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352971-2CF5-C2EE-9210-11610FB3E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 err="1"/>
              <a:t>Xxx</a:t>
            </a:r>
            <a:endParaRPr lang="en-US" dirty="0"/>
          </a:p>
          <a:p>
            <a:pPr lvl="1"/>
            <a:r>
              <a:rPr lang="en-US" dirty="0" err="1"/>
              <a:t>Xxx</a:t>
            </a:r>
            <a:endParaRPr lang="en-US" dirty="0"/>
          </a:p>
          <a:p>
            <a:pPr lvl="1"/>
            <a:r>
              <a:rPr lang="en-US" dirty="0"/>
              <a:t>xxx</a:t>
            </a:r>
          </a:p>
          <a:p>
            <a:r>
              <a:rPr lang="en-US" dirty="0"/>
              <a:t>Todo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3217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B73CD7D-98B3-51A9-3D8E-296579E16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3B09D-2D52-E43E-C6CF-3CA0AC97E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Tue,030226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455007-E3D6-B60F-1520-AE698CA873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Prepared sprint review deck for Sprint 10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Implement item retirement on Cloud Storage (code + </a:t>
            </a:r>
            <a:r>
              <a:rPr lang="en-US" dirty="0" err="1"/>
              <a:t>cron</a:t>
            </a:r>
            <a:r>
              <a:rPr lang="en-US" dirty="0"/>
              <a:t> job)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92016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E03DC-2268-4C53-E5FA-664DAFF6D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2601290000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18FAED-9B33-CB58-A85F-B17D9BBDF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Local data -&gt; </a:t>
            </a:r>
            <a:r>
              <a:rPr lang="en-US" dirty="0" err="1"/>
              <a:t>BigQuery</a:t>
            </a:r>
            <a:r>
              <a:rPr lang="en-US" dirty="0"/>
              <a:t> -&gt; Pipeline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986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FCAFD3-9891-20FB-C6ED-BAB18963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9205E-8C20-2365-D7D0-DCFD607D0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2979E9-0985-0ED0-AD10-E816C3369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Done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Local data -&gt;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-&gt; Pipeline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 Embedding output -&gt;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(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ไม่สมบูรณ์แค่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ขึ้น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)</a:t>
            </a:r>
          </a:p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Today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ออกแบบ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Json field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ที่มีเก็บรายละเอียดมากขึ้น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&amp;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ตกลงว่าจะเอา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Field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อะไรบ้าง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เขียยนโค้ดให้เป็นเรื่องราวมากขึ้น ไม่ใช้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spaghetti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ออกแบบระบบ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Retirer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30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วัน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ทำความเข้าใจ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pipeline_2-3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Issue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ไม่รู้ว่าจะต้องทำอะไร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ไม่รู้ว่าที่ทำมามันถูกใช่ไหม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แล้วหน้าตาสุดท้ายจะเป็นยังไง</a:t>
            </a:r>
            <a:endParaRPr lang="en-US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0029010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D4C233-AF9F-3A7C-CA6A-1C05EFC0E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C8AF0-A03B-C1E4-B0C8-7A58EBFA6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5731AC-B924-4F9C-2F6D-377DA3F7C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007"/>
            <a:ext cx="10515600" cy="4978868"/>
          </a:xfrm>
        </p:spPr>
        <p:txBody>
          <a:bodyPr>
            <a:noAutofit/>
          </a:bodyPr>
          <a:lstStyle/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Done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Completed data flow local data to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and into the pipeline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Uploaded initial embedding outputs to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(next step : full integration)</a:t>
            </a: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Today</a:t>
            </a:r>
          </a:p>
          <a:p>
            <a:pPr lvl="1"/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Disigned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a richer JSON schema and finalized required fields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Refactored code to be more structured and readable (Reduced spaghetti code)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Designed a 30-day data retention system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Reviewed and gained understanding of pipeline_2 and pipeline_3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Issue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ไม่รู้ว่าที่ทำมามันถูกใช่ไหม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แล้วหน้าตาสุดท้ายจะเป็นยังไง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lvl="2"/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ที่ใช้ </a:t>
            </a:r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ถูกไหม </a:t>
            </a:r>
            <a:endParaRPr lang="en-US" sz="24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lvl="2"/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บน </a:t>
            </a:r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FastAPI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ก็แค่เอาไว้ให้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user trigger update batch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กับ แบบ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individual</a:t>
            </a:r>
          </a:p>
        </p:txBody>
      </p:sp>
    </p:spTree>
    <p:extLst>
      <p:ext uri="{BB962C8B-B14F-4D97-AF65-F5344CB8AC3E}">
        <p14:creationId xmlns:p14="http://schemas.microsoft.com/office/powerpoint/2010/main" val="3038831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5EF17D-FAE3-8DB4-6D25-2B76EF5A9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CA241FB5-621C-03F2-E625-4BC0410C6F15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AB044FC-3C25-B109-0DFE-A5FCFD7B33BA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DD2B16C-89F0-35F3-78C6-9069CFC28A43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1B723D0-DEFC-8936-FBF4-81947C9BC744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94919523-148F-FF94-9DAF-5F46B09CB3FA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5D79ED-9135-4FF9-67E0-E265ADE89CF4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AB029560-46FF-8985-D830-40A19AEB958F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D295B83-5C26-F9FE-5378-F9DBAD445099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62AA0337-0CF7-B496-8CC5-B6A1936E9B07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05AA3B6-E697-8E8D-52F9-9CB120DDAEF7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9869F6F-1596-3206-B079-5B87561C3A41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7663727E-27D6-B6EE-D101-E7052CF01EF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6356E6D-EE13-8DB2-A76A-70C771ED8A4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51947E0C-0891-CEAB-0B87-F7B88505A797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8A45AA8-736A-59A1-7663-9E6FA143E5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C05D727-EAEC-3DBE-3EC9-3FBE8202ABA8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399375C-6840-7176-C49B-35317A7B856D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1EAF1AC4-9CC6-86D3-8B4E-2C580EE97B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1934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6FD6E4F-886B-CC67-1C51-230A6575C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4999BE93-6CCF-E4B7-5BF4-0E87CB925488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BCDCDA4-6B4B-3FE4-35D5-F0B4A7FC4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66" y="1202535"/>
            <a:ext cx="9087867" cy="5109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730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165DDE-FB04-76D7-3668-1C8FFAC2B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F717AF79-CB6A-D8D0-8693-1E6DA71D85DF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A8CDBD-395A-0A63-82F9-ADB110D12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941" y="1418944"/>
            <a:ext cx="8002117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079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B899E40-7CCD-4EC1-3900-B7204DBE1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5F7C9388-6A03-7ADA-798A-97D03A90EB9E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9E9D9D-6703-4F3A-D21D-98B2A7279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941" y="1418944"/>
            <a:ext cx="8002117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1493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4C99A6-1D03-848C-AFA2-8E8826D5E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134E9C10-B91D-13B0-26A5-3E5F00DCA897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FCBA73-BCEE-2FEF-5435-94246FC27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174" y="1118748"/>
            <a:ext cx="9391650" cy="52806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131BD0-0F3B-CD17-2D1D-8376C7594611}"/>
              </a:ext>
            </a:extLst>
          </p:cNvPr>
          <p:cNvSpPr txBox="1"/>
          <p:nvPr/>
        </p:nvSpPr>
        <p:spPr>
          <a:xfrm>
            <a:off x="838200" y="933450"/>
            <a:ext cx="1973282" cy="950119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Dsxxxxxxxxxxxxxx</a:t>
            </a:r>
            <a:endParaRPr lang="en-US" dirty="0"/>
          </a:p>
          <a:p>
            <a:r>
              <a:rPr lang="en-US" dirty="0" err="1"/>
              <a:t>Xxxxxxxxxxxxxxxxx</a:t>
            </a:r>
            <a:endParaRPr lang="en-US" dirty="0"/>
          </a:p>
          <a:p>
            <a:r>
              <a:rPr lang="en-US" dirty="0" err="1"/>
              <a:t>xxxxxxxxxxxxxxxxx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61423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0D175C7-B61D-A34A-6D20-6DB1FE3AD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C9A56-F9C0-CAB0-6C55-1DAAE48A8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4007C1-42CB-4D62-A2EF-F669884F7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007"/>
            <a:ext cx="10515600" cy="4978868"/>
          </a:xfrm>
        </p:spPr>
        <p:txBody>
          <a:bodyPr>
            <a:noAutofit/>
          </a:bodyPr>
          <a:lstStyle/>
          <a:p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X</a:t>
            </a:r>
          </a:p>
          <a:p>
            <a:pPr lvl="1"/>
            <a:r>
              <a:rPr lang="en-US" sz="20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Datalake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เพราะ ต้อง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similarity search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แบ่งชื่อ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Folder </a:t>
            </a:r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เอาไว้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เก็บ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vector , meta</a:t>
            </a:r>
          </a:p>
          <a:p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Datalake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|- Student01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|- Vector 1 – 5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|- Metadata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|- student02 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… .</a:t>
            </a:r>
          </a:p>
        </p:txBody>
      </p:sp>
    </p:spTree>
    <p:extLst>
      <p:ext uri="{BB962C8B-B14F-4D97-AF65-F5344CB8AC3E}">
        <p14:creationId xmlns:p14="http://schemas.microsoft.com/office/powerpoint/2010/main" val="21411778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679D549-56EE-B4D6-6524-1BF9B3C07921}"/>
              </a:ext>
            </a:extLst>
          </p:cNvPr>
          <p:cNvSpPr txBox="1"/>
          <p:nvPr/>
        </p:nvSpPr>
        <p:spPr>
          <a:xfrm>
            <a:off x="904875" y="1690688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29EE50-88F3-8D68-7D08-391B1803C3CB}"/>
              </a:ext>
            </a:extLst>
          </p:cNvPr>
          <p:cNvSpPr txBox="1"/>
          <p:nvPr/>
        </p:nvSpPr>
        <p:spPr>
          <a:xfrm>
            <a:off x="904875" y="2942719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BADF55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23808C-0547-AD5E-C87F-5314EC4D4167}"/>
              </a:ext>
            </a:extLst>
          </p:cNvPr>
          <p:cNvSpPr txBox="1"/>
          <p:nvPr/>
        </p:nvSpPr>
        <p:spPr>
          <a:xfrm>
            <a:off x="904875" y="4189988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5D167B7-AC2E-1CCE-8986-19AEB6FEE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3595"/>
            <a:ext cx="10515600" cy="528254"/>
          </a:xfrm>
        </p:spPr>
        <p:txBody>
          <a:bodyPr vert="horz" anchor="ctr">
            <a:normAutofit/>
          </a:bodyPr>
          <a:lstStyle/>
          <a:p>
            <a:pPr algn="ctr"/>
            <a:r>
              <a:rPr lang="en-US" sz="2400" dirty="0">
                <a:cs typeface="Poppins Light"/>
              </a:rPr>
              <a:t>Project</a:t>
            </a:r>
            <a:r>
              <a:rPr lang="en-TH" sz="2400" dirty="0"/>
              <a:t> – </a:t>
            </a:r>
            <a:r>
              <a:rPr lang="en-US" sz="2400" dirty="0"/>
              <a:t>Topic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864C543-9F9A-6DEE-6454-0A3BDAFF5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84529"/>
              </p:ext>
            </p:extLst>
          </p:nvPr>
        </p:nvGraphicFramePr>
        <p:xfrm>
          <a:off x="4514850" y="1367334"/>
          <a:ext cx="6962484" cy="315076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50262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</a:tblGrid>
              <a:tr h="68154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Section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Complete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ness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Content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Quality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Grammar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Length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Role</a:t>
                      </a:r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Relevance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Section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Weight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0222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Profile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noProof="0">
                          <a:solidFill>
                            <a:schemeClr val="tx1"/>
                          </a:solidFill>
                        </a:rPr>
                        <a:t>Summary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Education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7005145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Experience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337563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chemeClr val="tx1"/>
                          </a:solidFill>
                        </a:rPr>
                        <a:t>Activities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3775761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Skills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853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586022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2390</TotalTime>
  <Words>1050</Words>
  <Application>Microsoft Office PowerPoint</Application>
  <PresentationFormat>Widescreen</PresentationFormat>
  <Paragraphs>385</Paragraphs>
  <Slides>32</Slides>
  <Notes>6</Notes>
  <HiddenSlides>12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2" baseType="lpstr">
      <vt:lpstr>Aptos</vt:lpstr>
      <vt:lpstr>Aptos Display</vt:lpstr>
      <vt:lpstr>Arial</vt:lpstr>
      <vt:lpstr>Consolas</vt:lpstr>
      <vt:lpstr>Grandview</vt:lpstr>
      <vt:lpstr>Poppins Light</vt:lpstr>
      <vt:lpstr>TH SarabunPSK</vt:lpstr>
      <vt:lpstr>Trebuchet MS</vt:lpstr>
      <vt:lpstr>Office 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Tue,040226</vt:lpstr>
      <vt:lpstr>Tue,030226</vt:lpstr>
      <vt:lpstr>2601290000</vt:lpstr>
      <vt:lpstr>2601290937</vt:lpstr>
      <vt:lpstr>2601290937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2601290937</vt:lpstr>
      <vt:lpstr>Project – Topic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Tun Kedsaro</dc:creator>
  <cp:lastModifiedBy>Tun Kedsaro</cp:lastModifiedBy>
  <cp:revision>18</cp:revision>
  <dcterms:created xsi:type="dcterms:W3CDTF">2026-01-29T03:40:55Z</dcterms:created>
  <dcterms:modified xsi:type="dcterms:W3CDTF">2026-02-03T16:43:23Z</dcterms:modified>
</cp:coreProperties>
</file>