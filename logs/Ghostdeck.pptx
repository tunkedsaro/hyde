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2147481407" r:id="rId2"/>
    <p:sldId id="257" r:id="rId3"/>
    <p:sldId id="2147481480" r:id="rId4"/>
    <p:sldId id="2147481481" r:id="rId5"/>
    <p:sldId id="2147481482" r:id="rId6"/>
    <p:sldId id="2147481484" r:id="rId7"/>
    <p:sldId id="2147481485" r:id="rId8"/>
    <p:sldId id="2147481486" r:id="rId9"/>
    <p:sldId id="2147481487" r:id="rId10"/>
    <p:sldId id="2147481488" r:id="rId11"/>
    <p:sldId id="2147481489" r:id="rId12"/>
    <p:sldId id="2147481490" r:id="rId13"/>
    <p:sldId id="2147481492" r:id="rId14"/>
    <p:sldId id="2147481493" r:id="rId15"/>
    <p:sldId id="2147481469" r:id="rId16"/>
    <p:sldId id="2147481474" r:id="rId17"/>
    <p:sldId id="2147481472" r:id="rId18"/>
    <p:sldId id="2147481494" r:id="rId19"/>
    <p:sldId id="2147481495" r:id="rId20"/>
    <p:sldId id="2147481475" r:id="rId21"/>
    <p:sldId id="2147481496" r:id="rId22"/>
    <p:sldId id="2147481497" r:id="rId23"/>
    <p:sldId id="2147481499" r:id="rId24"/>
    <p:sldId id="2147481501" r:id="rId25"/>
    <p:sldId id="2147481502" r:id="rId26"/>
    <p:sldId id="2147481476" r:id="rId27"/>
    <p:sldId id="2147481478" r:id="rId28"/>
    <p:sldId id="2147481503" r:id="rId29"/>
    <p:sldId id="2147481473" r:id="rId30"/>
    <p:sldId id="2147481470" r:id="rId31"/>
    <p:sldId id="2147481468" r:id="rId32"/>
    <p:sldId id="2147481409" r:id="rId33"/>
    <p:sldId id="2147481410" r:id="rId34"/>
    <p:sldId id="2147481437" r:id="rId35"/>
    <p:sldId id="2147481424" r:id="rId36"/>
    <p:sldId id="2147481411" r:id="rId37"/>
    <p:sldId id="2147481418" r:id="rId38"/>
    <p:sldId id="2147481442" r:id="rId39"/>
    <p:sldId id="2147481433" r:id="rId40"/>
    <p:sldId id="2147481439" r:id="rId41"/>
    <p:sldId id="2147481443" r:id="rId42"/>
    <p:sldId id="2147481440" r:id="rId43"/>
    <p:sldId id="2147481441" r:id="rId44"/>
    <p:sldId id="2147481438" r:id="rId45"/>
    <p:sldId id="2147481415" r:id="rId46"/>
    <p:sldId id="2147481432" r:id="rId47"/>
    <p:sldId id="2147481414" r:id="rId48"/>
    <p:sldId id="2147481431" r:id="rId49"/>
    <p:sldId id="2147481412" r:id="rId50"/>
    <p:sldId id="2147481460" r:id="rId51"/>
    <p:sldId id="2147481507" r:id="rId52"/>
    <p:sldId id="2147481508" r:id="rId53"/>
    <p:sldId id="2147481506" r:id="rId54"/>
    <p:sldId id="2147481505" r:id="rId55"/>
    <p:sldId id="2147481504" r:id="rId56"/>
    <p:sldId id="2147481459" r:id="rId57"/>
    <p:sldId id="2147481466" r:id="rId58"/>
    <p:sldId id="2147481467" r:id="rId59"/>
    <p:sldId id="2147481465" r:id="rId60"/>
    <p:sldId id="2147481464" r:id="rId61"/>
    <p:sldId id="2147481463" r:id="rId62"/>
    <p:sldId id="2147481462" r:id="rId63"/>
    <p:sldId id="2147481455" r:id="rId64"/>
    <p:sldId id="2147481457" r:id="rId65"/>
    <p:sldId id="2147481461" r:id="rId66"/>
    <p:sldId id="2147481458" r:id="rId67"/>
    <p:sldId id="2147481454" r:id="rId68"/>
    <p:sldId id="2147481456" r:id="rId69"/>
    <p:sldId id="2147481453" r:id="rId70"/>
    <p:sldId id="2147481452" r:id="rId71"/>
    <p:sldId id="2147481446" r:id="rId72"/>
    <p:sldId id="2147481449" r:id="rId73"/>
    <p:sldId id="2147481448" r:id="rId74"/>
    <p:sldId id="2147481447" r:id="rId75"/>
    <p:sldId id="2147481451" r:id="rId76"/>
    <p:sldId id="2147481450" r:id="rId77"/>
    <p:sldId id="2147481445" r:id="rId78"/>
    <p:sldId id="2147481471" r:id="rId79"/>
    <p:sldId id="2147481413" r:id="rId80"/>
    <p:sldId id="2147481419" r:id="rId81"/>
    <p:sldId id="2147481427" r:id="rId82"/>
    <p:sldId id="2147481422" r:id="rId83"/>
    <p:sldId id="2147481423" r:id="rId84"/>
    <p:sldId id="2147481425" r:id="rId85"/>
    <p:sldId id="2147481426" r:id="rId86"/>
    <p:sldId id="2147481429" r:id="rId87"/>
    <p:sldId id="2147481428" r:id="rId88"/>
    <p:sldId id="2147481430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3F8"/>
    <a:srgbClr val="E96060"/>
    <a:srgbClr val="BADF55"/>
    <a:srgbClr val="FFD100"/>
    <a:srgbClr val="FBE364"/>
    <a:srgbClr val="F4B4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2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77408-611F-43B7-A58B-066AB354FAB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4687F-F839-4783-9AA2-9E2F10A9D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38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https://www.quorum.co.uk/2024/04/09/database-data-lake-data-warehouse-whats-the-difference/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4687F-F839-4783-9AA2-9E2F10A9DB4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336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B23F-DB68-238E-F0E7-DD482D42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BD22F-1A86-4E92-85A2-C1BD07029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C3675-DFE8-601B-5B96-4B7E2C504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Embedding0n.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02F78-A03A-BAD6-A4FF-F5CA9DA19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4687F-F839-4783-9AA2-9E2F10A9DB4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09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Embedding0n.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4687F-F839-4783-9AA2-9E2F10A9DB4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97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4687F-F839-4783-9AA2-9E2F10A9DB4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55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F38E8-9D29-D44F-C3AA-BFCB5AE3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A34DD-CFC1-056A-303B-3984F8DF9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37140-4C25-B167-5357-816A7DC64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https://www.quorum.co.uk/2024/04/09/database-data-lake-data-warehouse-whats-the-difference/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18EAD-606F-CC6B-F005-DBFC4EA31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4687F-F839-4783-9AA2-9E2F10A9DB4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08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Consolas" panose="020B0609020204030204" pitchFamily="49" charset="0"/>
              </a:rPr>
              <a:t>/</a:t>
            </a:r>
            <a:r>
              <a:rPr lang="en-US" sz="1200" dirty="0" err="1">
                <a:latin typeface="Consolas" panose="020B0609020204030204" pitchFamily="49" charset="0"/>
              </a:rPr>
              <a:t>hyde</a:t>
            </a:r>
            <a:r>
              <a:rPr lang="en-US" sz="1200" dirty="0">
                <a:latin typeface="Consolas" panose="020B0609020204030204" pitchFamily="49" charset="0"/>
              </a:rPr>
              <a:t>/</a:t>
            </a:r>
            <a:r>
              <a:rPr lang="en-US" sz="1200" dirty="0" err="1">
                <a:latin typeface="Consolas" panose="020B0609020204030204" pitchFamily="49" charset="0"/>
              </a:rPr>
              <a:t>update_batch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- Don’t remove everyone in CGS but check one by one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Run as async format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latin typeface="Consolas" panose="020B0609020204030204" pitchFamily="49" charset="0"/>
              </a:rPr>
              <a:t>Add set batch size parameters (</a:t>
            </a:r>
            <a:r>
              <a:rPr lang="en-US" sz="1200" dirty="0" err="1">
                <a:latin typeface="Consolas" panose="020B0609020204030204" pitchFamily="49" charset="0"/>
              </a:rPr>
              <a:t>Defual</a:t>
            </a:r>
            <a:r>
              <a:rPr lang="en-US" sz="1200" dirty="0">
                <a:latin typeface="Consolas" panose="020B0609020204030204" pitchFamily="49" charset="0"/>
              </a:rPr>
              <a:t> = 10)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latin typeface="Consolas" panose="020B0609020204030204" pitchFamily="49" charset="0"/>
              </a:rPr>
              <a:t>Add destination path in </a:t>
            </a:r>
            <a:r>
              <a:rPr lang="en-US" sz="1200" dirty="0" err="1">
                <a:latin typeface="Consolas" panose="020B0609020204030204" pitchFamily="49" charset="0"/>
              </a:rPr>
              <a:t>yaml</a:t>
            </a:r>
            <a:r>
              <a:rPr lang="en-US" sz="1200" dirty="0">
                <a:latin typeface="Consolas" panose="020B0609020204030204" pitchFamily="49" charset="0"/>
              </a:rPr>
              <a:t> file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4687F-F839-4783-9AA2-9E2F10A9DB4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37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3BD6C-7539-AB94-3C3A-37A9F3AE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F1212-E606-FF40-FBD5-8F981EB3B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67A11-045C-7620-3ED3-03ADEB29E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https://www.quorum.co.uk/2024/04/09/database-data-lake-data-warehouse-whats-the-difference/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9D0D1-B850-4B2B-308E-C661AE72D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4687F-F839-4783-9AA2-9E2F10A9DB4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1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3FFA3-EAE6-3A6F-A48A-E8C06D9A0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3B1B7-C588-CC88-76EA-AAB065590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0719D-43FD-9D3F-6B79-00AD4AD3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FDF9C-62DC-CD5D-3EF4-0BF426516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A8811-4ADE-8486-FE98-249FCB0E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2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4BEF-4ED5-1632-53B0-01A99D73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12BF9-0B53-5AF4-BF8E-802FC05FA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C3A0F-F326-7398-C522-769C3273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9D0A6-C93A-DBC7-0804-D0E412FF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66309-659D-516D-214C-256FE3B6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4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49282-2307-4C70-6CE4-C90C2F21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B9DBC-C55A-DF02-1101-27D543882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AEA5A-CC50-0DBE-A2C0-6DE136BA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18245-DBB0-F52C-66F6-04E063CA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25BF8-054C-B200-4C82-497F8AA5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2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6667F-D62B-16FF-F34D-B1F30D328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E8F7-A0CC-5C54-486E-590F4EE9C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69001-32C9-A07C-667F-CC95F5A16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D862C-570E-E861-8BFE-2CCEC8D57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ADB2C-E848-0F25-1322-0393E8CA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AE8B-A4EB-16B1-0D47-90647290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E94A-BF12-C3AE-D02C-1F31A58D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27261-4E64-ED29-0109-8177BF595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FB451-CD48-4D6D-0C11-86A8748F2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9460D-C6AD-40FB-DF14-DFD7A13763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2BE363-03D7-2FD1-6F41-FEEC12042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3147AE-A134-A2C3-6B11-A94D66D5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20FFD-B6C9-8308-47E0-B3AA257EA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D16AA-6121-C401-17C4-D50EEAF7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56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8DCE-CB94-A014-3B51-709210CE0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8C87C-0079-1F3C-AA54-FBC50BD1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AED2C-AA27-CDC1-AF5D-A5367875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C6C79-2D7D-FA2C-EA27-5C2B0684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4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FC782C-C151-5F34-8802-BFDA2B17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9C6E3-F1FC-2622-C932-6A7C9B89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C717F-A285-8152-E679-E8367804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4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4321-29F4-D2C6-0440-7FDD2D1A1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7EB0C-AC85-193E-942C-69D4DED94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A9723-4783-C432-5EC1-6E4034E15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6B1B3-F788-B7B8-C267-DE48B664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43E85-4A68-82AD-EE66-6D539891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DB970-907F-53C2-0A8E-554F69C8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18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F920-4709-DEC9-E95A-DEE2F1C5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22CE8A-22D9-662E-001F-EA1E96E7C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4AB3E-A32B-46D2-D39A-11E61166C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91B45-7040-FE23-B446-786D61FF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A343B-4CDA-72E0-7A1F-3E0B201C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69C9C-A506-BE32-BFD2-0CF8F055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6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76EE-CE0C-7342-B2DA-CE73CE53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A23D2-F74F-6BEB-D70F-8F1E33823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BAA9F-CCA2-6611-C796-9416D1929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CD38A-60C9-5AEF-D14C-DAE7897D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F2B36-B595-2512-ED87-32E43564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5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FEB482-2724-1796-C72E-F8DD5942C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6310C-3206-676C-A8C4-958D4FC8F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B2407-0E1F-4237-31E1-B9321D73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5F259-C060-2194-F999-C8C7EAC6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61CA7-6890-8FEC-336B-C7F4C340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37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BD1BE13-1B19-DB8D-FF40-CC7970E4DF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9325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D1BE13-1B19-DB8D-FF40-CC7970E4D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737AB79A-F7B0-A96D-370E-89C13DDCC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76249"/>
            <a:ext cx="11233150" cy="492443"/>
          </a:xfrm>
        </p:spPr>
        <p:txBody>
          <a:bodyPr vert="horz" tIns="0"/>
          <a:lstStyle>
            <a:lvl1pPr>
              <a:lnSpc>
                <a:spcPct val="10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B58324-D3D4-D66D-8B34-0CE97E9F4A16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20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A4548-DC7D-221E-47D9-708389BC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69ADF-DF69-D13F-BECD-8CA04658E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CEE74-52DA-9F05-6874-B5EB0C625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1BED4-5DFC-4D8B-BC40-12FD5FE4AB0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4BE2-1502-BC3C-2AFC-5B35E796E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6B837-8BD6-D02D-0710-23E9E87D2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2EB27-3F1E-4AF0-97A5-D3510B64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2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unKedsaro/Hyde" TargetMode="External"/><Relationship Id="rId2" Type="http://schemas.openxmlformats.org/officeDocument/2006/relationships/hyperlink" Target="https://hyderecomment-service-v1-1-0-du7yhkyaqq-as.a.run.app/docs#/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storage/browser/hyde-datalake;tab=objects?forceOnBucketsSortingFiltering=true&amp;authuser=0&amp;project=poc-piloturl-nonprod&amp;prefix=&amp;forceOnObjectsSortingFiltering=false" TargetMode="External"/><Relationship Id="rId2" Type="http://schemas.openxmlformats.org/officeDocument/2006/relationships/hyperlink" Target="https://hyderecomment-service-dev-du7yhkyaqq-as.a.run.app/docs#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storage/browser/hyde-datalake;tab=objects?forceOnBucketsSortingFiltering=true&amp;authuser=0&amp;project=poc-piloturl-nonprod&amp;prefix=&amp;forceOnObjectsSortingFiltering=false" TargetMode="External"/><Relationship Id="rId2" Type="http://schemas.openxmlformats.org/officeDocument/2006/relationships/hyperlink" Target="https://hyderecomment-service-dev-du7yhkyaqq-as.a.run.app/docs#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storage/browser/hyde-datalake;tab=objects?forceOnBucketsSortingFiltering=true&amp;authuser=0&amp;project=poc-piloturl-nonprod&amp;prefix=&amp;forceOnObjectsSortingFiltering=false" TargetMode="External"/><Relationship Id="rId2" Type="http://schemas.openxmlformats.org/officeDocument/2006/relationships/hyperlink" Target="https://hyderecomment-service-dev-du7yhkyaqq-as.a.run.app/docs#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storage/browser/hyde-datalake;tab=objects?forceOnBucketsSortingFiltering=true&amp;authuser=0&amp;project=poc-piloturl-nonprod&amp;prefix=&amp;forceOnObjectsSortingFiltering=false" TargetMode="External"/><Relationship Id="rId2" Type="http://schemas.openxmlformats.org/officeDocument/2006/relationships/hyperlink" Target="https://hyderecomment-service-dev-du7yhkyaqq-as.a.run.app/docs#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storage/browser/hyde-datalake;tab=objects?forceOnBucketsSortingFiltering=true&amp;authuser=0&amp;project=poc-piloturl-nonprod&amp;prefix=&amp;forceOnObjectsSortingFiltering=false" TargetMode="External"/><Relationship Id="rId2" Type="http://schemas.openxmlformats.org/officeDocument/2006/relationships/hyperlink" Target="https://hyderecomment-service-dev-du7yhkyaqq-as.a.run.app/docs#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storage/browser/hyde-datalake;tab=objects?forceOnBucketsSortingFiltering=true&amp;authuser=0&amp;project=poc-piloturl-nonprod&amp;prefix=&amp;forceOnObjectsSortingFiltering=false" TargetMode="External"/><Relationship Id="rId2" Type="http://schemas.openxmlformats.org/officeDocument/2006/relationships/hyperlink" Target="https://hyderecomment-service-dev-du7yhkyaqq-as.a.run.app/docs#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storage/browser/hyde-datalake;tab=objects?forceOnBucketsSortingFiltering=true&amp;authuser=0&amp;project=poc-piloturl-nonprod&amp;prefix=&amp;forceOnObjectsSortingFiltering=false" TargetMode="External"/><Relationship Id="rId2" Type="http://schemas.openxmlformats.org/officeDocument/2006/relationships/hyperlink" Target="https://hyderecomment-service-dev-du7yhkyaqq-as.a.run.app/docs#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6.png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7.png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18.png"/><Relationship Id="rId4" Type="http://schemas.openxmlformats.org/officeDocument/2006/relationships/image" Target="../media/image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19.png"/><Relationship Id="rId4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30.png"/><Relationship Id="rId4" Type="http://schemas.openxmlformats.org/officeDocument/2006/relationships/image" Target="../media/image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unKedsaro/Hyde" TargetMode="External"/><Relationship Id="rId2" Type="http://schemas.openxmlformats.org/officeDocument/2006/relationships/hyperlink" Target="https://hyderecomment-service-v1-1-0-du7yhkyaqq-as.a.run.app/docs#/" TargetMode="Externa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NcEpWbMMsrs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0.png"/><Relationship Id="rId5" Type="http://schemas.openxmlformats.org/officeDocument/2006/relationships/image" Target="../media/image13.jpeg"/><Relationship Id="rId10" Type="http://schemas.openxmlformats.org/officeDocument/2006/relationships/image" Target="../media/image49.png"/><Relationship Id="rId4" Type="http://schemas.openxmlformats.org/officeDocument/2006/relationships/image" Target="../media/image45.jpeg"/><Relationship Id="rId9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44.png"/><Relationship Id="rId4" Type="http://schemas.openxmlformats.org/officeDocument/2006/relationships/image" Target="../media/image39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hyperlink" Target="https://cvresume-eval-orchestrator-du7yhkyaqq-as.a.run.app/docs#/default/evaluate_resume_api_v1_resume_evaluations_post" TargetMode="External"/><Relationship Id="rId5" Type="http://schemas.openxmlformats.org/officeDocument/2006/relationships/hyperlink" Target="mailto:juanjose.carin@gmail.com" TargetMode="External"/><Relationship Id="rId4" Type="http://schemas.openxmlformats.org/officeDocument/2006/relationships/image" Target="../media/image9.e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B99623-E537-28DB-A0E7-D30D679DCF6F}"/>
              </a:ext>
            </a:extLst>
          </p:cNvPr>
          <p:cNvSpPr txBox="1">
            <a:spLocks/>
          </p:cNvSpPr>
          <p:nvPr/>
        </p:nvSpPr>
        <p:spPr>
          <a:xfrm>
            <a:off x="479425" y="2444115"/>
            <a:ext cx="11233150" cy="984885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algn="ctr"/>
            <a:r>
              <a:rPr lang="en-US" b="1" dirty="0"/>
              <a:t>Sprint review #11</a:t>
            </a:r>
            <a:br>
              <a:rPr lang="en-US" b="1" dirty="0"/>
            </a:br>
            <a:r>
              <a:rPr lang="en-US" b="1" dirty="0" err="1"/>
              <a:t>HyDE</a:t>
            </a:r>
            <a:r>
              <a:rPr lang="en-US" b="1" dirty="0"/>
              <a:t> feed recommendation</a:t>
            </a:r>
            <a:endParaRPr lang="en-US" sz="2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90DDD-7E8E-247C-74B9-4FE3AC5FC103}"/>
              </a:ext>
            </a:extLst>
          </p:cNvPr>
          <p:cNvSpPr txBox="1">
            <a:spLocks/>
          </p:cNvSpPr>
          <p:nvPr/>
        </p:nvSpPr>
        <p:spPr>
          <a:xfrm>
            <a:off x="152399" y="5233942"/>
            <a:ext cx="11820525" cy="139903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accent1">
                    <a:lumMod val="10000"/>
                  </a:schemeClr>
                </a:solidFill>
              </a:rPr>
              <a:t>API Spec Link : </a:t>
            </a:r>
            <a:endParaRPr lang="en-US" sz="1100" b="1" dirty="0">
              <a:solidFill>
                <a:srgbClr val="509BC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accent1">
                    <a:lumMod val="10000"/>
                  </a:schemeClr>
                </a:solidFill>
              </a:rPr>
              <a:t>Orchestrator : </a:t>
            </a:r>
            <a:endParaRPr lang="en-US" sz="1100" b="1" dirty="0">
              <a:solidFill>
                <a:srgbClr val="509BC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accent1">
                    <a:lumMod val="10000"/>
                  </a:schemeClr>
                </a:solidFill>
              </a:rPr>
              <a:t>API core evaluation link : </a:t>
            </a:r>
            <a:r>
              <a:rPr lang="en-US" sz="1100" b="1" dirty="0">
                <a:solidFill>
                  <a:srgbClr val="509BCA"/>
                </a:solidFill>
                <a:hlinkClick r:id="rId2"/>
              </a:rPr>
              <a:t>https://hyderecomment-service-v1-1-0-du7yhkyaqq-as.a.run.app/docs#/</a:t>
            </a:r>
            <a:endParaRPr lang="en-US" sz="1100" b="1" dirty="0">
              <a:solidFill>
                <a:srgbClr val="509BC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 err="1">
                <a:solidFill>
                  <a:schemeClr val="accent1">
                    <a:lumMod val="10000"/>
                  </a:schemeClr>
                </a:solidFill>
              </a:rPr>
              <a:t>Github</a:t>
            </a:r>
            <a:r>
              <a:rPr lang="en-US" sz="1100" b="1" dirty="0">
                <a:solidFill>
                  <a:schemeClr val="accent1">
                    <a:lumMod val="10000"/>
                  </a:schemeClr>
                </a:solidFill>
              </a:rPr>
              <a:t> :</a:t>
            </a:r>
            <a:r>
              <a:rPr lang="en-US" sz="1100" b="1" dirty="0">
                <a:solidFill>
                  <a:srgbClr val="509BCA"/>
                </a:solidFill>
              </a:rPr>
              <a:t> </a:t>
            </a:r>
            <a:r>
              <a:rPr lang="en-US" sz="1100" b="1" dirty="0">
                <a:solidFill>
                  <a:srgbClr val="509BCA"/>
                </a:solidFill>
                <a:hlinkClick r:id="rId3"/>
              </a:rPr>
              <a:t>https://github.com/TunKedsaro/Hyde</a:t>
            </a:r>
            <a:endParaRPr lang="en-US" sz="1100" b="1" dirty="0">
              <a:solidFill>
                <a:srgbClr val="509BC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/>
              <a:t>QA</a:t>
            </a:r>
            <a:r>
              <a:rPr lang="en-US" sz="1100" b="1" dirty="0">
                <a:solidFill>
                  <a:srgbClr val="509BCA"/>
                </a:solidFill>
              </a:rPr>
              <a:t> : https://humanintelligence.atlassian.net/wiki/spaces/CPM/pages/134611027/QA+Test+Plan+CV+Evaluation+Pipeline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149A64-A47C-1CE1-C334-674E36D15384}"/>
              </a:ext>
            </a:extLst>
          </p:cNvPr>
          <p:cNvSpPr txBox="1">
            <a:spLocks/>
          </p:cNvSpPr>
          <p:nvPr/>
        </p:nvSpPr>
        <p:spPr>
          <a:xfrm>
            <a:off x="152399" y="5933461"/>
            <a:ext cx="11820525" cy="2299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endParaRPr lang="en-US" sz="110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86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D5DAC-2E9F-5C6F-72A9-6A8074DF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D645CAD-80C7-AFC1-7403-2CEAC016EEBD}"/>
              </a:ext>
            </a:extLst>
          </p:cNvPr>
          <p:cNvSpPr/>
          <p:nvPr/>
        </p:nvSpPr>
        <p:spPr>
          <a:xfrm>
            <a:off x="2038350" y="1980000"/>
            <a:ext cx="8134350" cy="295394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AAEDCC-AA04-CFB8-4EC3-6BFDA2ECE189}"/>
              </a:ext>
            </a:extLst>
          </p:cNvPr>
          <p:cNvSpPr/>
          <p:nvPr/>
        </p:nvSpPr>
        <p:spPr>
          <a:xfrm>
            <a:off x="2133682" y="3196625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Prepare_history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8AEFEC-124E-8483-474F-4191CBBC0C18}"/>
              </a:ext>
            </a:extLst>
          </p:cNvPr>
          <p:cNvCxnSpPr>
            <a:cxnSpLocks/>
          </p:cNvCxnSpPr>
          <p:nvPr/>
        </p:nvCxnSpPr>
        <p:spPr>
          <a:xfrm>
            <a:off x="3589725" y="34290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648FAF3-F094-EDCC-133F-E18927C4E719}"/>
              </a:ext>
            </a:extLst>
          </p:cNvPr>
          <p:cNvSpPr/>
          <p:nvPr/>
        </p:nvSpPr>
        <p:spPr>
          <a:xfrm>
            <a:off x="3962040" y="3196625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User_context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2585A12-8B61-3431-C660-97E3CFA7D30C}"/>
              </a:ext>
            </a:extLst>
          </p:cNvPr>
          <p:cNvCxnSpPr>
            <a:cxnSpLocks/>
          </p:cNvCxnSpPr>
          <p:nvPr/>
        </p:nvCxnSpPr>
        <p:spPr>
          <a:xfrm>
            <a:off x="5418083" y="34290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369555D-22B2-9EE5-0E2F-35667972F63A}"/>
              </a:ext>
            </a:extLst>
          </p:cNvPr>
          <p:cNvSpPr/>
          <p:nvPr/>
        </p:nvSpPr>
        <p:spPr>
          <a:xfrm>
            <a:off x="5418083" y="408245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HyDE_prompt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9041C3-7521-8F16-40ED-179089D1A75B}"/>
              </a:ext>
            </a:extLst>
          </p:cNvPr>
          <p:cNvCxnSpPr>
            <a:cxnSpLocks/>
          </p:cNvCxnSpPr>
          <p:nvPr/>
        </p:nvCxnSpPr>
        <p:spPr>
          <a:xfrm>
            <a:off x="6395481" y="343795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235D179-846F-9CAD-E670-8A1036314944}"/>
              </a:ext>
            </a:extLst>
          </p:cNvPr>
          <p:cNvSpPr/>
          <p:nvPr/>
        </p:nvSpPr>
        <p:spPr>
          <a:xfrm>
            <a:off x="5418083" y="227155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Llm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</a:t>
            </a: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_flast_2.5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F94B03A-C1FF-2E2C-F232-1268ED3176E2}"/>
              </a:ext>
            </a:extLst>
          </p:cNvPr>
          <p:cNvCxnSpPr>
            <a:cxnSpLocks/>
          </p:cNvCxnSpPr>
          <p:nvPr/>
        </p:nvCxnSpPr>
        <p:spPr>
          <a:xfrm>
            <a:off x="6096000" y="2845400"/>
            <a:ext cx="0" cy="25775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4DC5A0D-9AB4-8437-6B07-3079D3AB85B5}"/>
              </a:ext>
            </a:extLst>
          </p:cNvPr>
          <p:cNvCxnSpPr>
            <a:cxnSpLocks/>
          </p:cNvCxnSpPr>
          <p:nvPr/>
        </p:nvCxnSpPr>
        <p:spPr>
          <a:xfrm flipV="1">
            <a:off x="6096000" y="3747100"/>
            <a:ext cx="0" cy="25775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E58974E-5EDD-27E2-3351-3EA4EFC4C18D}"/>
              </a:ext>
            </a:extLst>
          </p:cNvPr>
          <p:cNvSpPr/>
          <p:nvPr/>
        </p:nvSpPr>
        <p:spPr>
          <a:xfrm>
            <a:off x="6874126" y="317700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gemini-embedding-001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6B8B490-6B9D-0FE3-76D1-133FDACA02D7}"/>
              </a:ext>
            </a:extLst>
          </p:cNvPr>
          <p:cNvCxnSpPr>
            <a:cxnSpLocks/>
          </p:cNvCxnSpPr>
          <p:nvPr/>
        </p:nvCxnSpPr>
        <p:spPr>
          <a:xfrm>
            <a:off x="8330169" y="34290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899C310-92E4-0A52-174B-70B6FA9B8C38}"/>
              </a:ext>
            </a:extLst>
          </p:cNvPr>
          <p:cNvSpPr/>
          <p:nvPr/>
        </p:nvSpPr>
        <p:spPr>
          <a:xfrm>
            <a:off x="8702484" y="317700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Embedded vector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05086C5-18C5-99AD-4C6D-1CDF8167FA4A}"/>
              </a:ext>
            </a:extLst>
          </p:cNvPr>
          <p:cNvSpPr/>
          <p:nvPr/>
        </p:nvSpPr>
        <p:spPr>
          <a:xfrm>
            <a:off x="5896850" y="3249475"/>
            <a:ext cx="398300" cy="398300"/>
          </a:xfrm>
          <a:prstGeom prst="ellipse">
            <a:avLst/>
          </a:prstGeom>
        </p:spPr>
        <p:style>
          <a:lnRef idx="1">
            <a:schemeClr val="dk1"/>
          </a:lnRef>
          <a:fillRef idx="1002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1522C35-B45E-A1A4-3B17-EC90A794CE8A}"/>
              </a:ext>
            </a:extLst>
          </p:cNvPr>
          <p:cNvSpPr/>
          <p:nvPr/>
        </p:nvSpPr>
        <p:spPr>
          <a:xfrm>
            <a:off x="213358" y="3200925"/>
            <a:ext cx="1355834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Interactions.csv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3C49D83-2E68-34FB-0EC5-0774FD903A79}"/>
              </a:ext>
            </a:extLst>
          </p:cNvPr>
          <p:cNvCxnSpPr>
            <a:cxnSpLocks/>
          </p:cNvCxnSpPr>
          <p:nvPr/>
        </p:nvCxnSpPr>
        <p:spPr>
          <a:xfrm>
            <a:off x="1669401" y="34333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6EE2F411-EB9D-C466-A91F-CF2451029B18}"/>
              </a:ext>
            </a:extLst>
          </p:cNvPr>
          <p:cNvSpPr/>
          <p:nvPr/>
        </p:nvSpPr>
        <p:spPr>
          <a:xfrm>
            <a:off x="213358" y="3859025"/>
            <a:ext cx="1355834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Students.csv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DDED7D5-2DDE-8F99-C83B-633E0328B2E0}"/>
              </a:ext>
            </a:extLst>
          </p:cNvPr>
          <p:cNvSpPr/>
          <p:nvPr/>
        </p:nvSpPr>
        <p:spPr>
          <a:xfrm>
            <a:off x="213358" y="2542825"/>
            <a:ext cx="1355834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feeds.jsonl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975A39-AAFD-329C-1B94-647C51D2F91C}"/>
              </a:ext>
            </a:extLst>
          </p:cNvPr>
          <p:cNvSpPr/>
          <p:nvPr/>
        </p:nvSpPr>
        <p:spPr>
          <a:xfrm>
            <a:off x="10622808" y="2851150"/>
            <a:ext cx="1355834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stu_p001.npy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E013BD-2041-63F7-A3E2-128661AA4FFD}"/>
              </a:ext>
            </a:extLst>
          </p:cNvPr>
          <p:cNvSpPr/>
          <p:nvPr/>
        </p:nvSpPr>
        <p:spPr>
          <a:xfrm>
            <a:off x="10622808" y="3509250"/>
            <a:ext cx="1355834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stu_p001.json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3D66D51-F5EE-4A1E-3105-9938E6764CFB}"/>
              </a:ext>
            </a:extLst>
          </p:cNvPr>
          <p:cNvCxnSpPr>
            <a:cxnSpLocks/>
          </p:cNvCxnSpPr>
          <p:nvPr/>
        </p:nvCxnSpPr>
        <p:spPr>
          <a:xfrm>
            <a:off x="10239375" y="3428049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605D3-3F52-AE84-0A94-1D8FCD23470E}"/>
              </a:ext>
            </a:extLst>
          </p:cNvPr>
          <p:cNvGrpSpPr/>
          <p:nvPr/>
        </p:nvGrpSpPr>
        <p:grpSpPr>
          <a:xfrm>
            <a:off x="10474617" y="5418270"/>
            <a:ext cx="1758365" cy="1333699"/>
            <a:chOff x="310230" y="5605659"/>
            <a:chExt cx="1758365" cy="133369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8DC7162-845C-C049-6F5A-0A28C8B9AE44}"/>
                </a:ext>
              </a:extLst>
            </p:cNvPr>
            <p:cNvGrpSpPr/>
            <p:nvPr/>
          </p:nvGrpSpPr>
          <p:grpSpPr>
            <a:xfrm>
              <a:off x="310231" y="5963091"/>
              <a:ext cx="1758364" cy="976267"/>
              <a:chOff x="10285063" y="608166"/>
              <a:chExt cx="1836174" cy="976267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4F0844B0-EB32-F897-59F8-DEDD922A60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85065" y="1544858"/>
                <a:ext cx="31748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Rounded Rectangle 29">
                <a:extLst>
                  <a:ext uri="{FF2B5EF4-FFF2-40B4-BE49-F238E27FC236}">
                    <a16:creationId xmlns:a16="http://schemas.microsoft.com/office/drawing/2014/main" id="{3D96962B-5E93-D6FA-E57C-55DD43BAA659}"/>
                  </a:ext>
                </a:extLst>
              </p:cNvPr>
              <p:cNvSpPr/>
              <p:nvPr/>
            </p:nvSpPr>
            <p:spPr>
              <a:xfrm>
                <a:off x="10285065" y="892606"/>
                <a:ext cx="1541315" cy="211431"/>
              </a:xfrm>
              <a:prstGeom prst="roundRect">
                <a:avLst>
                  <a:gd name="adj" fmla="val 1282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rebuchet MS" panose="020B0703020202090204" pitchFamily="34" charset="0"/>
                    <a:ea typeface="+mn-ea"/>
                    <a:cs typeface="Sarabun Light"/>
                  </a:rPr>
                  <a:t>Process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9" name="Rounded Rectangle 30">
                <a:extLst>
                  <a:ext uri="{FF2B5EF4-FFF2-40B4-BE49-F238E27FC236}">
                    <a16:creationId xmlns:a16="http://schemas.microsoft.com/office/drawing/2014/main" id="{38AB5593-E205-4255-15C0-D5E574917877}"/>
                  </a:ext>
                </a:extLst>
              </p:cNvPr>
              <p:cNvSpPr/>
              <p:nvPr/>
            </p:nvSpPr>
            <p:spPr>
              <a:xfrm>
                <a:off x="10285063" y="1167222"/>
                <a:ext cx="1541315" cy="228150"/>
              </a:xfrm>
              <a:prstGeom prst="roundRect">
                <a:avLst>
                  <a:gd name="adj" fmla="val 1282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>
                        <a:lumMod val="10000"/>
                      </a:schemeClr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Output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0" name="TextBox 37">
                <a:extLst>
                  <a:ext uri="{FF2B5EF4-FFF2-40B4-BE49-F238E27FC236}">
                    <a16:creationId xmlns:a16="http://schemas.microsoft.com/office/drawing/2014/main" id="{B71589B4-8A32-F032-4D19-A070FD6E4F92}"/>
                  </a:ext>
                </a:extLst>
              </p:cNvPr>
              <p:cNvSpPr txBox="1"/>
              <p:nvPr/>
            </p:nvSpPr>
            <p:spPr>
              <a:xfrm>
                <a:off x="10647876" y="1445934"/>
                <a:ext cx="1473361" cy="138499"/>
              </a:xfrm>
              <a:prstGeom prst="rect">
                <a:avLst/>
              </a:prstGeom>
              <a:noFill/>
            </p:spPr>
            <p:txBody>
              <a:bodyPr wrap="square" lIns="36000" tIns="0" rIns="0" bIns="0" rtlCol="0" anchor="ctr">
                <a:spAutoFit/>
              </a:bodyPr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Process</a:t>
                </a:r>
                <a:endParaRPr kumimoji="0" lang="en-T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2" name="Rounded Rectangle 40">
                <a:extLst>
                  <a:ext uri="{FF2B5EF4-FFF2-40B4-BE49-F238E27FC236}">
                    <a16:creationId xmlns:a16="http://schemas.microsoft.com/office/drawing/2014/main" id="{F2BC0BD0-6819-8468-8FD5-A9782311D04F}"/>
                  </a:ext>
                </a:extLst>
              </p:cNvPr>
              <p:cNvSpPr/>
              <p:nvPr/>
            </p:nvSpPr>
            <p:spPr>
              <a:xfrm>
                <a:off x="10285064" y="608166"/>
                <a:ext cx="1541315" cy="211025"/>
              </a:xfrm>
              <a:prstGeom prst="roundRect">
                <a:avLst>
                  <a:gd name="adj" fmla="val 1282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Input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</p:grpSp>
        <p:sp>
          <p:nvSpPr>
            <p:cNvPr id="5" name="TextBox 12">
              <a:extLst>
                <a:ext uri="{FF2B5EF4-FFF2-40B4-BE49-F238E27FC236}">
                  <a16:creationId xmlns:a16="http://schemas.microsoft.com/office/drawing/2014/main" id="{EB21E330-A43D-3348-645A-88328EBF3198}"/>
                </a:ext>
              </a:extLst>
            </p:cNvPr>
            <p:cNvSpPr txBox="1"/>
            <p:nvPr/>
          </p:nvSpPr>
          <p:spPr>
            <a:xfrm>
              <a:off x="310230" y="5605659"/>
              <a:ext cx="14109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H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rPr>
                <a:t>Legend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FC09C4-5DA0-9140-E3A2-3EEA4BAD9944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484663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D56AB-14C7-2361-D224-32409E84F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CDDC-8915-19EF-4FC2-ADB45C4EF110}"/>
              </a:ext>
            </a:extLst>
          </p:cNvPr>
          <p:cNvSpPr txBox="1">
            <a:spLocks/>
          </p:cNvSpPr>
          <p:nvPr/>
        </p:nvSpPr>
        <p:spPr>
          <a:xfrm>
            <a:off x="365759" y="394952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  <p:sp>
        <p:nvSpPr>
          <p:cNvPr id="7" name="TextBox 2">
            <a:hlinkClick r:id="rId2"/>
            <a:extLst>
              <a:ext uri="{FF2B5EF4-FFF2-40B4-BE49-F238E27FC236}">
                <a16:creationId xmlns:a16="http://schemas.microsoft.com/office/drawing/2014/main" id="{9944DF89-2799-D6A5-E1EB-AEC6FB3CC2E3}"/>
              </a:ext>
            </a:extLst>
          </p:cNvPr>
          <p:cNvSpPr txBox="1"/>
          <p:nvPr/>
        </p:nvSpPr>
        <p:spPr>
          <a:xfrm>
            <a:off x="522317" y="6124494"/>
            <a:ext cx="3830608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chemeClr val="tx1"/>
                </a:solidFill>
              </a:rPr>
              <a:t>HyDE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recommentdation</a:t>
            </a:r>
            <a:r>
              <a:rPr lang="en-US" sz="1600" dirty="0">
                <a:solidFill>
                  <a:schemeClr val="tx1"/>
                </a:solidFill>
              </a:rPr>
              <a:t> core engine API</a:t>
            </a:r>
          </a:p>
        </p:txBody>
      </p:sp>
      <p:sp>
        <p:nvSpPr>
          <p:cNvPr id="11" name="TextBox 2">
            <a:hlinkClick r:id="rId3"/>
            <a:extLst>
              <a:ext uri="{FF2B5EF4-FFF2-40B4-BE49-F238E27FC236}">
                <a16:creationId xmlns:a16="http://schemas.microsoft.com/office/drawing/2014/main" id="{B92AA9E9-0735-3C75-510D-B51CA42FD424}"/>
              </a:ext>
            </a:extLst>
          </p:cNvPr>
          <p:cNvSpPr txBox="1"/>
          <p:nvPr/>
        </p:nvSpPr>
        <p:spPr>
          <a:xfrm>
            <a:off x="522317" y="6463048"/>
            <a:ext cx="4331464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GCS / </a:t>
            </a:r>
            <a:r>
              <a:rPr lang="en-US" sz="1600" dirty="0" err="1">
                <a:solidFill>
                  <a:schemeClr val="tx1"/>
                </a:solidFill>
              </a:rPr>
              <a:t>hyde-datalake</a:t>
            </a:r>
            <a:r>
              <a:rPr lang="en-US" sz="1600" dirty="0">
                <a:solidFill>
                  <a:schemeClr val="tx1"/>
                </a:solidFill>
              </a:rPr>
              <a:t> (Test)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1C03FF-9FB0-C786-170E-329FC0AED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666" y="1063171"/>
            <a:ext cx="9144000" cy="491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5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3BD75-4AAE-A967-9FE8-90EB5CE93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2233A-7CE8-2E0A-05C7-B12CEF4AA6BB}"/>
              </a:ext>
            </a:extLst>
          </p:cNvPr>
          <p:cNvSpPr txBox="1">
            <a:spLocks/>
          </p:cNvSpPr>
          <p:nvPr/>
        </p:nvSpPr>
        <p:spPr>
          <a:xfrm>
            <a:off x="365759" y="394952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da-DK" sz="2400" dirty="0"/>
              <a:t>Generate HyDE bundle for a single student</a:t>
            </a:r>
            <a:endParaRPr lang="en-US" sz="2400" dirty="0">
              <a:cs typeface="Poppins Light"/>
            </a:endParaRPr>
          </a:p>
        </p:txBody>
      </p:sp>
      <p:sp>
        <p:nvSpPr>
          <p:cNvPr id="7" name="TextBox 2">
            <a:hlinkClick r:id="rId2"/>
            <a:extLst>
              <a:ext uri="{FF2B5EF4-FFF2-40B4-BE49-F238E27FC236}">
                <a16:creationId xmlns:a16="http://schemas.microsoft.com/office/drawing/2014/main" id="{7755FBE3-5BEC-504D-862B-1190A8A0B683}"/>
              </a:ext>
            </a:extLst>
          </p:cNvPr>
          <p:cNvSpPr txBox="1"/>
          <p:nvPr/>
        </p:nvSpPr>
        <p:spPr>
          <a:xfrm>
            <a:off x="522317" y="6124494"/>
            <a:ext cx="3830608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chemeClr val="tx1"/>
                </a:solidFill>
              </a:rPr>
              <a:t>HyDE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recommentdation</a:t>
            </a:r>
            <a:r>
              <a:rPr lang="en-US" sz="1600" dirty="0">
                <a:solidFill>
                  <a:schemeClr val="tx1"/>
                </a:solidFill>
              </a:rPr>
              <a:t> core engine API</a:t>
            </a:r>
          </a:p>
        </p:txBody>
      </p:sp>
      <p:sp>
        <p:nvSpPr>
          <p:cNvPr id="11" name="TextBox 2">
            <a:hlinkClick r:id="rId3"/>
            <a:extLst>
              <a:ext uri="{FF2B5EF4-FFF2-40B4-BE49-F238E27FC236}">
                <a16:creationId xmlns:a16="http://schemas.microsoft.com/office/drawing/2014/main" id="{50754EA3-1B2B-8E31-8AD0-D4A2AC26B374}"/>
              </a:ext>
            </a:extLst>
          </p:cNvPr>
          <p:cNvSpPr txBox="1"/>
          <p:nvPr/>
        </p:nvSpPr>
        <p:spPr>
          <a:xfrm>
            <a:off x="522317" y="6463048"/>
            <a:ext cx="4331464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GCS / </a:t>
            </a:r>
            <a:r>
              <a:rPr lang="en-US" sz="1600" dirty="0" err="1">
                <a:solidFill>
                  <a:schemeClr val="tx1"/>
                </a:solidFill>
              </a:rPr>
              <a:t>hyde-datalake</a:t>
            </a:r>
            <a:r>
              <a:rPr lang="en-US" sz="1600" dirty="0">
                <a:solidFill>
                  <a:schemeClr val="tx1"/>
                </a:solidFill>
              </a:rPr>
              <a:t> (Test)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9B40F-AD47-7F2E-15E1-6DAF2CA40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666" y="985753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28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6F04-6EE9-7CEF-C9C8-71E72BF06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8E6A-CCE3-7795-456F-AA6B731C7F45}"/>
              </a:ext>
            </a:extLst>
          </p:cNvPr>
          <p:cNvSpPr txBox="1">
            <a:spLocks/>
          </p:cNvSpPr>
          <p:nvPr/>
        </p:nvSpPr>
        <p:spPr>
          <a:xfrm>
            <a:off x="365759" y="394952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da-DK" sz="2400" dirty="0"/>
              <a:t>Generate HyDE bundle for a single student</a:t>
            </a:r>
            <a:endParaRPr lang="en-US" sz="2400" dirty="0">
              <a:cs typeface="Poppins Light"/>
            </a:endParaRPr>
          </a:p>
        </p:txBody>
      </p:sp>
      <p:sp>
        <p:nvSpPr>
          <p:cNvPr id="7" name="TextBox 2">
            <a:hlinkClick r:id="rId2"/>
            <a:extLst>
              <a:ext uri="{FF2B5EF4-FFF2-40B4-BE49-F238E27FC236}">
                <a16:creationId xmlns:a16="http://schemas.microsoft.com/office/drawing/2014/main" id="{B7DBD1C8-EAF4-E6F6-4FB4-E868F01FE28D}"/>
              </a:ext>
            </a:extLst>
          </p:cNvPr>
          <p:cNvSpPr txBox="1"/>
          <p:nvPr/>
        </p:nvSpPr>
        <p:spPr>
          <a:xfrm>
            <a:off x="522317" y="6124494"/>
            <a:ext cx="3830608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chemeClr val="tx1"/>
                </a:solidFill>
              </a:rPr>
              <a:t>HyDE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recommentdation</a:t>
            </a:r>
            <a:r>
              <a:rPr lang="en-US" sz="1600" dirty="0">
                <a:solidFill>
                  <a:schemeClr val="tx1"/>
                </a:solidFill>
              </a:rPr>
              <a:t> core engine API</a:t>
            </a:r>
          </a:p>
        </p:txBody>
      </p:sp>
      <p:sp>
        <p:nvSpPr>
          <p:cNvPr id="11" name="TextBox 2">
            <a:hlinkClick r:id="rId3"/>
            <a:extLst>
              <a:ext uri="{FF2B5EF4-FFF2-40B4-BE49-F238E27FC236}">
                <a16:creationId xmlns:a16="http://schemas.microsoft.com/office/drawing/2014/main" id="{37E7C733-E2AD-813A-5055-5CC12BCF572B}"/>
              </a:ext>
            </a:extLst>
          </p:cNvPr>
          <p:cNvSpPr txBox="1"/>
          <p:nvPr/>
        </p:nvSpPr>
        <p:spPr>
          <a:xfrm>
            <a:off x="522317" y="6463048"/>
            <a:ext cx="4331464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GCS / </a:t>
            </a:r>
            <a:r>
              <a:rPr lang="en-US" sz="1600" dirty="0" err="1">
                <a:solidFill>
                  <a:schemeClr val="tx1"/>
                </a:solidFill>
              </a:rPr>
              <a:t>hyde-datalake</a:t>
            </a:r>
            <a:r>
              <a:rPr lang="en-US" sz="1600" dirty="0">
                <a:solidFill>
                  <a:schemeClr val="tx1"/>
                </a:solidFill>
              </a:rPr>
              <a:t> (Test)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4BF8F7-9B03-AEB2-2119-A6C10BD98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666" y="983079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8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FE81-CFD9-426F-21FD-0519776F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CA89-4C19-6A73-D2A9-53DE83536724}"/>
              </a:ext>
            </a:extLst>
          </p:cNvPr>
          <p:cNvSpPr txBox="1">
            <a:spLocks/>
          </p:cNvSpPr>
          <p:nvPr/>
        </p:nvSpPr>
        <p:spPr>
          <a:xfrm>
            <a:off x="365759" y="394952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da-DK" sz="2400" dirty="0"/>
              <a:t>Generate HyDE bundle for a single student</a:t>
            </a:r>
            <a:endParaRPr lang="en-US" sz="2400" dirty="0">
              <a:cs typeface="Poppins Light"/>
            </a:endParaRPr>
          </a:p>
        </p:txBody>
      </p:sp>
      <p:sp>
        <p:nvSpPr>
          <p:cNvPr id="7" name="TextBox 2">
            <a:hlinkClick r:id="rId2"/>
            <a:extLst>
              <a:ext uri="{FF2B5EF4-FFF2-40B4-BE49-F238E27FC236}">
                <a16:creationId xmlns:a16="http://schemas.microsoft.com/office/drawing/2014/main" id="{0DDFC57F-7F3A-7A34-5538-A1D11E99EF95}"/>
              </a:ext>
            </a:extLst>
          </p:cNvPr>
          <p:cNvSpPr txBox="1"/>
          <p:nvPr/>
        </p:nvSpPr>
        <p:spPr>
          <a:xfrm>
            <a:off x="522317" y="6124494"/>
            <a:ext cx="3830608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chemeClr val="tx1"/>
                </a:solidFill>
              </a:rPr>
              <a:t>HyDE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recommentdation</a:t>
            </a:r>
            <a:r>
              <a:rPr lang="en-US" sz="1600" dirty="0">
                <a:solidFill>
                  <a:schemeClr val="tx1"/>
                </a:solidFill>
              </a:rPr>
              <a:t> core engine API</a:t>
            </a:r>
          </a:p>
        </p:txBody>
      </p:sp>
      <p:sp>
        <p:nvSpPr>
          <p:cNvPr id="11" name="TextBox 2">
            <a:hlinkClick r:id="rId3"/>
            <a:extLst>
              <a:ext uri="{FF2B5EF4-FFF2-40B4-BE49-F238E27FC236}">
                <a16:creationId xmlns:a16="http://schemas.microsoft.com/office/drawing/2014/main" id="{F0E3CC55-E344-04A0-7BD2-DA342141CE99}"/>
              </a:ext>
            </a:extLst>
          </p:cNvPr>
          <p:cNvSpPr txBox="1"/>
          <p:nvPr/>
        </p:nvSpPr>
        <p:spPr>
          <a:xfrm>
            <a:off x="522317" y="6463048"/>
            <a:ext cx="4331464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GCS / </a:t>
            </a:r>
            <a:r>
              <a:rPr lang="en-US" sz="1600" dirty="0" err="1">
                <a:solidFill>
                  <a:schemeClr val="tx1"/>
                </a:solidFill>
              </a:rPr>
              <a:t>hyde-datalake</a:t>
            </a:r>
            <a:r>
              <a:rPr lang="en-US" sz="1600" dirty="0">
                <a:solidFill>
                  <a:schemeClr val="tx1"/>
                </a:solidFill>
              </a:rPr>
              <a:t> (Test)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DE1CD-DB7E-8C04-1C86-8AF9EACB2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666" y="983079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14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5BF5-1DE8-5147-0015-81AA67712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59D2-0285-C6DF-5260-F6E5888CC44F}"/>
              </a:ext>
            </a:extLst>
          </p:cNvPr>
          <p:cNvSpPr txBox="1">
            <a:spLocks/>
          </p:cNvSpPr>
          <p:nvPr/>
        </p:nvSpPr>
        <p:spPr>
          <a:xfrm>
            <a:off x="365759" y="394952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da-DK" sz="2400" dirty="0"/>
              <a:t>Generate HyDE bundle for a single student</a:t>
            </a:r>
            <a:endParaRPr lang="en-US" sz="2400" dirty="0">
              <a:cs typeface="Poppins Light"/>
            </a:endParaRPr>
          </a:p>
        </p:txBody>
      </p:sp>
      <p:sp>
        <p:nvSpPr>
          <p:cNvPr id="7" name="TextBox 2">
            <a:hlinkClick r:id="rId2"/>
            <a:extLst>
              <a:ext uri="{FF2B5EF4-FFF2-40B4-BE49-F238E27FC236}">
                <a16:creationId xmlns:a16="http://schemas.microsoft.com/office/drawing/2014/main" id="{507264E4-5473-7F05-5675-52C7877719B7}"/>
              </a:ext>
            </a:extLst>
          </p:cNvPr>
          <p:cNvSpPr txBox="1"/>
          <p:nvPr/>
        </p:nvSpPr>
        <p:spPr>
          <a:xfrm>
            <a:off x="522317" y="6124494"/>
            <a:ext cx="3830608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chemeClr val="tx1"/>
                </a:solidFill>
              </a:rPr>
              <a:t>HyDE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recommentdation</a:t>
            </a:r>
            <a:r>
              <a:rPr lang="en-US" sz="1600" dirty="0">
                <a:solidFill>
                  <a:schemeClr val="tx1"/>
                </a:solidFill>
              </a:rPr>
              <a:t> core engine API</a:t>
            </a:r>
          </a:p>
        </p:txBody>
      </p:sp>
      <p:sp>
        <p:nvSpPr>
          <p:cNvPr id="11" name="TextBox 2">
            <a:hlinkClick r:id="rId3"/>
            <a:extLst>
              <a:ext uri="{FF2B5EF4-FFF2-40B4-BE49-F238E27FC236}">
                <a16:creationId xmlns:a16="http://schemas.microsoft.com/office/drawing/2014/main" id="{DEAAC102-4A9E-8897-C772-3097E368A32C}"/>
              </a:ext>
            </a:extLst>
          </p:cNvPr>
          <p:cNvSpPr txBox="1"/>
          <p:nvPr/>
        </p:nvSpPr>
        <p:spPr>
          <a:xfrm>
            <a:off x="522317" y="6463048"/>
            <a:ext cx="4331464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GCS / </a:t>
            </a:r>
            <a:r>
              <a:rPr lang="en-US" sz="1600" dirty="0" err="1">
                <a:solidFill>
                  <a:schemeClr val="tx1"/>
                </a:solidFill>
              </a:rPr>
              <a:t>hyde-datalake</a:t>
            </a:r>
            <a:r>
              <a:rPr lang="en-US" sz="1600" dirty="0">
                <a:solidFill>
                  <a:schemeClr val="tx1"/>
                </a:solidFill>
              </a:rPr>
              <a:t> (Test)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E0EA98-42C4-CEF8-22A5-4BB9B8C64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666" y="983079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50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22234-6F64-8279-E74C-EF53D67F1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98D0-CF59-65D6-6AC0-A947F9210BBE}"/>
              </a:ext>
            </a:extLst>
          </p:cNvPr>
          <p:cNvSpPr txBox="1">
            <a:spLocks/>
          </p:cNvSpPr>
          <p:nvPr/>
        </p:nvSpPr>
        <p:spPr>
          <a:xfrm>
            <a:off x="365759" y="394952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– </a:t>
            </a:r>
            <a:r>
              <a:rPr lang="da-DK" sz="2400" dirty="0"/>
              <a:t>Fetch result</a:t>
            </a:r>
            <a:endParaRPr lang="en-US" sz="2400" dirty="0">
              <a:cs typeface="Poppins Light"/>
            </a:endParaRPr>
          </a:p>
        </p:txBody>
      </p:sp>
      <p:sp>
        <p:nvSpPr>
          <p:cNvPr id="7" name="TextBox 2">
            <a:hlinkClick r:id="rId2"/>
            <a:extLst>
              <a:ext uri="{FF2B5EF4-FFF2-40B4-BE49-F238E27FC236}">
                <a16:creationId xmlns:a16="http://schemas.microsoft.com/office/drawing/2014/main" id="{1F305EFC-64A5-F50F-B38D-67A01733493F}"/>
              </a:ext>
            </a:extLst>
          </p:cNvPr>
          <p:cNvSpPr txBox="1"/>
          <p:nvPr/>
        </p:nvSpPr>
        <p:spPr>
          <a:xfrm>
            <a:off x="522317" y="6124494"/>
            <a:ext cx="3830608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chemeClr val="tx1"/>
                </a:solidFill>
              </a:rPr>
              <a:t>HyDE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recommentdation</a:t>
            </a:r>
            <a:r>
              <a:rPr lang="en-US" sz="1600" dirty="0">
                <a:solidFill>
                  <a:schemeClr val="tx1"/>
                </a:solidFill>
              </a:rPr>
              <a:t> core engine API</a:t>
            </a:r>
          </a:p>
        </p:txBody>
      </p:sp>
      <p:sp>
        <p:nvSpPr>
          <p:cNvPr id="11" name="TextBox 2">
            <a:hlinkClick r:id="rId3"/>
            <a:extLst>
              <a:ext uri="{FF2B5EF4-FFF2-40B4-BE49-F238E27FC236}">
                <a16:creationId xmlns:a16="http://schemas.microsoft.com/office/drawing/2014/main" id="{F76C497C-7893-378E-AB9F-C9273F721380}"/>
              </a:ext>
            </a:extLst>
          </p:cNvPr>
          <p:cNvSpPr txBox="1"/>
          <p:nvPr/>
        </p:nvSpPr>
        <p:spPr>
          <a:xfrm>
            <a:off x="522317" y="6463048"/>
            <a:ext cx="4331464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GCS / </a:t>
            </a:r>
            <a:r>
              <a:rPr lang="en-US" sz="1600" dirty="0" err="1">
                <a:solidFill>
                  <a:schemeClr val="tx1"/>
                </a:solidFill>
              </a:rPr>
              <a:t>hyde-datalake</a:t>
            </a:r>
            <a:r>
              <a:rPr lang="en-US" sz="1600" dirty="0">
                <a:solidFill>
                  <a:schemeClr val="tx1"/>
                </a:solidFill>
              </a:rPr>
              <a:t> (Test)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27D2E-2677-EBF2-E7E8-496F249DD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666" y="983079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74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E176-4A0E-0629-3D59-1426D743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51517-E103-6F56-2A0E-BF571A965489}"/>
              </a:ext>
            </a:extLst>
          </p:cNvPr>
          <p:cNvSpPr txBox="1">
            <a:spLocks/>
          </p:cNvSpPr>
          <p:nvPr/>
        </p:nvSpPr>
        <p:spPr>
          <a:xfrm>
            <a:off x="365759" y="394952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– </a:t>
            </a:r>
            <a:r>
              <a:rPr lang="da-DK" sz="2400" dirty="0"/>
              <a:t>Fetch result</a:t>
            </a:r>
            <a:endParaRPr lang="en-US" sz="2400" dirty="0">
              <a:cs typeface="Poppins Light"/>
            </a:endParaRPr>
          </a:p>
        </p:txBody>
      </p:sp>
      <p:sp>
        <p:nvSpPr>
          <p:cNvPr id="7" name="TextBox 2">
            <a:hlinkClick r:id="rId2"/>
            <a:extLst>
              <a:ext uri="{FF2B5EF4-FFF2-40B4-BE49-F238E27FC236}">
                <a16:creationId xmlns:a16="http://schemas.microsoft.com/office/drawing/2014/main" id="{D7753B6E-ADB3-4FA7-078D-3F9E5030726C}"/>
              </a:ext>
            </a:extLst>
          </p:cNvPr>
          <p:cNvSpPr txBox="1"/>
          <p:nvPr/>
        </p:nvSpPr>
        <p:spPr>
          <a:xfrm>
            <a:off x="522317" y="6124494"/>
            <a:ext cx="3830608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chemeClr val="tx1"/>
                </a:solidFill>
              </a:rPr>
              <a:t>HyDE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recommentdation</a:t>
            </a:r>
            <a:r>
              <a:rPr lang="en-US" sz="1600" dirty="0">
                <a:solidFill>
                  <a:schemeClr val="tx1"/>
                </a:solidFill>
              </a:rPr>
              <a:t> core engine API</a:t>
            </a:r>
          </a:p>
        </p:txBody>
      </p:sp>
      <p:sp>
        <p:nvSpPr>
          <p:cNvPr id="11" name="TextBox 2">
            <a:hlinkClick r:id="rId3"/>
            <a:extLst>
              <a:ext uri="{FF2B5EF4-FFF2-40B4-BE49-F238E27FC236}">
                <a16:creationId xmlns:a16="http://schemas.microsoft.com/office/drawing/2014/main" id="{6F023A72-9880-3F1B-902D-EF34E4A37BAC}"/>
              </a:ext>
            </a:extLst>
          </p:cNvPr>
          <p:cNvSpPr txBox="1"/>
          <p:nvPr/>
        </p:nvSpPr>
        <p:spPr>
          <a:xfrm>
            <a:off x="522317" y="6463048"/>
            <a:ext cx="4331464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GCS / </a:t>
            </a:r>
            <a:r>
              <a:rPr lang="en-US" sz="1600" dirty="0" err="1">
                <a:solidFill>
                  <a:schemeClr val="tx1"/>
                </a:solidFill>
              </a:rPr>
              <a:t>hyde-datalake</a:t>
            </a:r>
            <a:r>
              <a:rPr lang="en-US" sz="1600" dirty="0">
                <a:solidFill>
                  <a:schemeClr val="tx1"/>
                </a:solidFill>
              </a:rPr>
              <a:t> (Test)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29084-FB9C-1010-7159-C9236643E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666" y="983079"/>
            <a:ext cx="9144000" cy="51414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EF7273-3206-955D-BD73-82963020C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462" y="983078"/>
            <a:ext cx="4552295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34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DE03D-5923-ADE8-53AE-51C11C88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7BB332C-A8BB-641A-E510-B1783BEF2DE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563E37-7449-88E7-531F-DD47615EAE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E0AC960-2F31-AB42-5C7D-B07A8E626685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3E04B-E6D8-9C9A-582C-CFA6FCEB9DDB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E31D81-69E6-E1A2-72D2-A350899F9FA0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C0B0219-A335-D2B9-72C5-4416AFDA42A0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FE77D8-46BC-623B-D5BE-3C351C8CA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96" y="1378594"/>
            <a:ext cx="4552295" cy="514141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A9A4EE7-2CA5-04BD-4196-13C2CA674887}"/>
              </a:ext>
            </a:extLst>
          </p:cNvPr>
          <p:cNvSpPr txBox="1">
            <a:spLocks/>
          </p:cNvSpPr>
          <p:nvPr/>
        </p:nvSpPr>
        <p:spPr>
          <a:xfrm>
            <a:off x="365759" y="326856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097234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C11BF-70DD-E177-A2A0-E72D99A7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9F3D829-9CE2-A388-614F-B7F7167F8B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BB332C-A8BB-641A-E510-B1783BEF2D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270E2B7-F67B-E305-80EF-6CBB4928E2B0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178DA8-9C6E-6180-78B7-290F6A8854EA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6219DF-E267-4EAC-7875-07754772C6A9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C0D5CBE-AC51-9265-0FD8-1AC7DEC042AF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B31FA2-9E3B-70A0-52A3-9BBF2D671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96" y="1378594"/>
            <a:ext cx="4552295" cy="5141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F85A1B-01EC-96BE-2E64-B0B0E7519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852" y="1739501"/>
            <a:ext cx="4689948" cy="4419600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BC481F5-7F68-39EC-F081-E24BE354E36B}"/>
              </a:ext>
            </a:extLst>
          </p:cNvPr>
          <p:cNvCxnSpPr>
            <a:cxnSpLocks/>
          </p:cNvCxnSpPr>
          <p:nvPr/>
        </p:nvCxnSpPr>
        <p:spPr>
          <a:xfrm>
            <a:off x="5618391" y="1739501"/>
            <a:ext cx="955220" cy="349817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BE8538CC-3613-BEFD-298A-B8FCAEB1B97E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818920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FA9C6-B787-387B-05A7-F3B43636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97BD07D-EA7E-1D6D-EFDF-F1F97F93C5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F3D829-9CE2-A388-614F-B7F7167F8B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A3191FC-A01B-1C87-D8D5-C4AD6506FB02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E24675-BC37-DD07-FB80-A36E2E6FCBEE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EF9D27-BDE5-A4B9-3B54-0985EA2EB4B3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DD7FDD7-D549-B5AB-DD2D-B9E036EA2CEB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2A62C7-F741-4164-2599-84C877BFD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96" y="1378594"/>
            <a:ext cx="4552295" cy="51414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8CA30E-C5FE-62B7-A1B8-D8FFB1559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852" y="1739501"/>
            <a:ext cx="4689948" cy="3032405"/>
          </a:xfrm>
          <a:prstGeom prst="rect">
            <a:avLst/>
          </a:prstGeom>
        </p:spPr>
      </p:pic>
      <p:pic>
        <p:nvPicPr>
          <p:cNvPr id="12" name="Picture 4" descr="Google Cloud Storage: solution for data lakes - Flowygo">
            <a:extLst>
              <a:ext uri="{FF2B5EF4-FFF2-40B4-BE49-F238E27FC236}">
                <a16:creationId xmlns:a16="http://schemas.microsoft.com/office/drawing/2014/main" id="{7DF2DD97-00E4-90B1-DD77-A4171D496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657" y="5300160"/>
            <a:ext cx="1576747" cy="111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What Is BigQuery And How Do You Load Data Into It? - Seattle Data Guy">
            <a:extLst>
              <a:ext uri="{FF2B5EF4-FFF2-40B4-BE49-F238E27FC236}">
                <a16:creationId xmlns:a16="http://schemas.microsoft.com/office/drawing/2014/main" id="{AB453E88-2DBC-92C0-7F9C-A653C1ACE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6119" y="5300160"/>
            <a:ext cx="1689785" cy="950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332354EF-FE57-FC73-2448-6090EF7E106D}"/>
              </a:ext>
            </a:extLst>
          </p:cNvPr>
          <p:cNvSpPr/>
          <p:nvPr/>
        </p:nvSpPr>
        <p:spPr>
          <a:xfrm>
            <a:off x="6971746" y="5067076"/>
            <a:ext cx="1585658" cy="1585658"/>
          </a:xfrm>
          <a:prstGeom prst="mathMultiply">
            <a:avLst>
              <a:gd name="adj1" fmla="val 5798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D76EA3-823E-C92D-2445-C43DE88E30BB}"/>
              </a:ext>
            </a:extLst>
          </p:cNvPr>
          <p:cNvCxnSpPr/>
          <p:nvPr/>
        </p:nvCxnSpPr>
        <p:spPr>
          <a:xfrm>
            <a:off x="8729932" y="5859905"/>
            <a:ext cx="569343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D7288F9-8FAB-F484-02BE-13BAF9E73F26}"/>
              </a:ext>
            </a:extLst>
          </p:cNvPr>
          <p:cNvCxnSpPr>
            <a:cxnSpLocks/>
          </p:cNvCxnSpPr>
          <p:nvPr/>
        </p:nvCxnSpPr>
        <p:spPr>
          <a:xfrm flipV="1">
            <a:off x="2863970" y="2089318"/>
            <a:ext cx="3709641" cy="326078"/>
          </a:xfrm>
          <a:prstGeom prst="bentConnector3">
            <a:avLst>
              <a:gd name="adj1" fmla="val 8813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CEC49167-7B2B-5C70-F4FA-9F6E8868D218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3BB0B5-FC0A-2A8B-616F-61F2E5969DDA}"/>
              </a:ext>
            </a:extLst>
          </p:cNvPr>
          <p:cNvSpPr txBox="1"/>
          <p:nvPr/>
        </p:nvSpPr>
        <p:spPr>
          <a:xfrm>
            <a:off x="12378249" y="3618268"/>
            <a:ext cx="1937826" cy="313730"/>
          </a:xfrm>
          <a:prstGeom prst="roundRect">
            <a:avLst>
              <a:gd name="adj" fmla="val 4406"/>
            </a:avLst>
          </a:prstGeom>
          <a:solidFill>
            <a:srgbClr val="E96060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2.5 -&gt; gemini-3.0</a:t>
            </a:r>
          </a:p>
        </p:txBody>
      </p:sp>
    </p:spTree>
    <p:extLst>
      <p:ext uri="{BB962C8B-B14F-4D97-AF65-F5344CB8AC3E}">
        <p14:creationId xmlns:p14="http://schemas.microsoft.com/office/powerpoint/2010/main" val="1905234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F91A7-D98B-44A2-CCB0-3FFD6D308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CCF8882-FAD6-6DCE-2F05-118649EFA6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F3D829-9CE2-A388-614F-B7F7167F8B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2C8CE53-04F1-A31D-BDD7-66AC5C72E203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408920-66E2-0E25-94AB-1FD7D73BBFE1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3F3859-E96B-7E2F-593A-C4F7B3BCB7EE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F6BF057-2A69-9CA9-B5B7-E3A43EF66CDA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193133-D3F6-6A04-F079-9B46FF90B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96" y="1378594"/>
            <a:ext cx="4552295" cy="51414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C5C535-5029-5AB6-3D97-774B201ECD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881" y="3309178"/>
            <a:ext cx="5290449" cy="1452603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E87A348-24EF-C554-1EFD-95520CE0B4C6}"/>
              </a:ext>
            </a:extLst>
          </p:cNvPr>
          <p:cNvCxnSpPr>
            <a:cxnSpLocks/>
          </p:cNvCxnSpPr>
          <p:nvPr/>
        </p:nvCxnSpPr>
        <p:spPr>
          <a:xfrm flipV="1">
            <a:off x="4226943" y="3429000"/>
            <a:ext cx="2060796" cy="366623"/>
          </a:xfrm>
          <a:prstGeom prst="bentConnector3">
            <a:avLst>
              <a:gd name="adj1" fmla="val 9186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7E876344-446F-803C-C12B-BBAC8C2C29C2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48494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156A1-3390-7810-1739-AE5D4B47D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6B1512-68DA-B526-491E-5B1E4015E4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CF8882-FAD6-6DCE-2F05-118649EFA6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E37F567-C436-964B-66C6-A47CF477E587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BCC7D-2AEC-4C37-2C69-5A818C3F6991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0B33DC-27BB-C173-3147-372020C8B3E3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E735444-4A89-0643-F3D3-DD7A8852FF7D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62351-9D29-A077-ACA4-BE5324091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96" y="1378594"/>
            <a:ext cx="4552295" cy="5141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86B501-9330-1461-122C-0EDE9E553D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0875" y="1119236"/>
            <a:ext cx="3617649" cy="5141415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941B954-E0BD-6C80-D9E3-636061A62186}"/>
              </a:ext>
            </a:extLst>
          </p:cNvPr>
          <p:cNvCxnSpPr>
            <a:cxnSpLocks/>
          </p:cNvCxnSpPr>
          <p:nvPr/>
        </p:nvCxnSpPr>
        <p:spPr>
          <a:xfrm flipV="1">
            <a:off x="2553419" y="1378594"/>
            <a:ext cx="4537494" cy="2969119"/>
          </a:xfrm>
          <a:prstGeom prst="bentConnector3">
            <a:avLst>
              <a:gd name="adj1" fmla="val 7965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CF63507F-C6F8-D32A-C385-36201931EED7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128027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353A-BEA9-C130-6649-A75D2E3D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9B3FFD-6BB4-EB75-79F3-8A75996C6369}"/>
              </a:ext>
            </a:extLst>
          </p:cNvPr>
          <p:cNvCxnSpPr>
            <a:cxnSpLocks/>
          </p:cNvCxnSpPr>
          <p:nvPr/>
        </p:nvCxnSpPr>
        <p:spPr>
          <a:xfrm>
            <a:off x="1509457" y="2929855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14E0457-00D3-47C3-7FE7-F4000F5A6C22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F4DB6A1-3402-17A0-4B0E-8B0A809258AB}"/>
              </a:ext>
            </a:extLst>
          </p:cNvPr>
          <p:cNvCxnSpPr>
            <a:cxnSpLocks/>
          </p:cNvCxnSpPr>
          <p:nvPr/>
        </p:nvCxnSpPr>
        <p:spPr>
          <a:xfrm>
            <a:off x="7394679" y="2903206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765AEC1-FE98-3CDF-B403-B2D066111491}"/>
              </a:ext>
            </a:extLst>
          </p:cNvPr>
          <p:cNvGrpSpPr/>
          <p:nvPr/>
        </p:nvGrpSpPr>
        <p:grpSpPr>
          <a:xfrm>
            <a:off x="365759" y="1777334"/>
            <a:ext cx="1005791" cy="2305042"/>
            <a:chOff x="213358" y="2209804"/>
            <a:chExt cx="1167768" cy="230504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7AE313F-CD1E-E9BB-E0DC-5434FA7C2EF4}"/>
                </a:ext>
              </a:extLst>
            </p:cNvPr>
            <p:cNvSpPr/>
            <p:nvPr/>
          </p:nvSpPr>
          <p:spPr>
            <a:xfrm>
              <a:off x="213358" y="2209804"/>
              <a:ext cx="1167768" cy="23050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CCA780-31A6-2714-91B0-47BE6CB38F70}"/>
                </a:ext>
              </a:extLst>
            </p:cNvPr>
            <p:cNvSpPr/>
            <p:nvPr/>
          </p:nvSpPr>
          <p:spPr>
            <a:xfrm>
              <a:off x="479440" y="2703419"/>
              <a:ext cx="662191" cy="3701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.</a:t>
              </a:r>
              <a:r>
                <a:rPr lang="en-US" sz="1000" dirty="0" err="1">
                  <a:solidFill>
                    <a:srgbClr val="272428"/>
                  </a:solidFill>
                  <a:latin typeface="Poppins Light"/>
                  <a:cs typeface="Sarabun Light"/>
                </a:rPr>
                <a:t>npy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BFA858-01DF-35F6-75E2-C67F939821AF}"/>
                </a:ext>
              </a:extLst>
            </p:cNvPr>
            <p:cNvSpPr/>
            <p:nvPr/>
          </p:nvSpPr>
          <p:spPr>
            <a:xfrm>
              <a:off x="479440" y="3141390"/>
              <a:ext cx="662191" cy="3701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.</a:t>
              </a:r>
              <a:r>
                <a:rPr lang="en-US" sz="1000" dirty="0" err="1">
                  <a:solidFill>
                    <a:srgbClr val="272428"/>
                  </a:solidFill>
                  <a:latin typeface="Poppins Light"/>
                  <a:cs typeface="Sarabun Light"/>
                </a:rPr>
                <a:t>faiss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640A621-4255-A044-B551-B8DF4D36D2F3}"/>
                </a:ext>
              </a:extLst>
            </p:cNvPr>
            <p:cNvSpPr/>
            <p:nvPr/>
          </p:nvSpPr>
          <p:spPr>
            <a:xfrm>
              <a:off x="479440" y="3579361"/>
              <a:ext cx="662191" cy="3701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.</a:t>
              </a:r>
              <a:r>
                <a:rPr lang="en-US" sz="1000" dirty="0" err="1">
                  <a:solidFill>
                    <a:srgbClr val="272428"/>
                  </a:solidFill>
                  <a:latin typeface="Poppins Light"/>
                  <a:cs typeface="Sarabun Light"/>
                </a:rPr>
                <a:t>json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4F7BEA-EF5B-BBB2-9B8E-012FDDCF8EA6}"/>
                </a:ext>
              </a:extLst>
            </p:cNvPr>
            <p:cNvSpPr/>
            <p:nvPr/>
          </p:nvSpPr>
          <p:spPr>
            <a:xfrm>
              <a:off x="479440" y="4017493"/>
              <a:ext cx="662191" cy="3701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.</a:t>
              </a:r>
              <a:r>
                <a:rPr lang="en-US" sz="1000" dirty="0" err="1">
                  <a:solidFill>
                    <a:srgbClr val="272428"/>
                  </a:solidFill>
                  <a:latin typeface="Poppins Light"/>
                  <a:cs typeface="Sarabun Light"/>
                </a:rPr>
                <a:t>yaml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98845CA-A972-EE96-22CE-A5589202CFD4}"/>
                </a:ext>
              </a:extLst>
            </p:cNvPr>
            <p:cNvSpPr txBox="1"/>
            <p:nvPr/>
          </p:nvSpPr>
          <p:spPr>
            <a:xfrm>
              <a:off x="302938" y="2299610"/>
              <a:ext cx="9787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4814D16-3EF3-1903-4466-48B5AA721E96}"/>
              </a:ext>
            </a:extLst>
          </p:cNvPr>
          <p:cNvGrpSpPr/>
          <p:nvPr/>
        </p:nvGrpSpPr>
        <p:grpSpPr>
          <a:xfrm>
            <a:off x="7852615" y="1692958"/>
            <a:ext cx="3893906" cy="1495360"/>
            <a:chOff x="213358" y="1919130"/>
            <a:chExt cx="1283172" cy="1495360"/>
          </a:xfrm>
          <a:solidFill>
            <a:schemeClr val="bg1">
              <a:lumMod val="85000"/>
            </a:schemeClr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EC99EDB-64F7-A67A-5DBE-BC72BBCB76F2}"/>
                </a:ext>
              </a:extLst>
            </p:cNvPr>
            <p:cNvSpPr/>
            <p:nvPr/>
          </p:nvSpPr>
          <p:spPr>
            <a:xfrm>
              <a:off x="213358" y="1919130"/>
              <a:ext cx="1283172" cy="149536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9EF57D9-8EE2-C4C5-782B-83EDA193674C}"/>
                </a:ext>
              </a:extLst>
            </p:cNvPr>
            <p:cNvSpPr/>
            <p:nvPr/>
          </p:nvSpPr>
          <p:spPr>
            <a:xfrm>
              <a:off x="259738" y="2429685"/>
              <a:ext cx="278147" cy="3701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vector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82F7516-AC2F-D058-2F2C-6605708EEC7F}"/>
                </a:ext>
              </a:extLst>
            </p:cNvPr>
            <p:cNvSpPr/>
            <p:nvPr/>
          </p:nvSpPr>
          <p:spPr>
            <a:xfrm>
              <a:off x="869945" y="2427304"/>
              <a:ext cx="278147" cy="3701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recency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2B21780-EA40-B652-05FF-ECF576345D47}"/>
                </a:ext>
              </a:extLst>
            </p:cNvPr>
            <p:cNvSpPr/>
            <p:nvPr/>
          </p:nvSpPr>
          <p:spPr>
            <a:xfrm>
              <a:off x="1174409" y="2427304"/>
              <a:ext cx="278147" cy="3701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popularity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9305753-D356-4BC4-1A49-062CEBE1D7DF}"/>
                </a:ext>
              </a:extLst>
            </p:cNvPr>
            <p:cNvSpPr txBox="1"/>
            <p:nvPr/>
          </p:nvSpPr>
          <p:spPr>
            <a:xfrm>
              <a:off x="236548" y="2012175"/>
              <a:ext cx="123679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Subscore function</a:t>
              </a:r>
              <a:endParaRPr lang="en-US" sz="105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C1ECD3D-BAA1-50C9-FBC5-A1C4D303F278}"/>
                </a:ext>
              </a:extLst>
            </p:cNvPr>
            <p:cNvSpPr/>
            <p:nvPr/>
          </p:nvSpPr>
          <p:spPr>
            <a:xfrm>
              <a:off x="564202" y="2429832"/>
              <a:ext cx="278147" cy="3701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language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D2188C-B864-F45D-1F5F-6C4B5E44DEAC}"/>
              </a:ext>
            </a:extLst>
          </p:cNvPr>
          <p:cNvSpPr/>
          <p:nvPr/>
        </p:nvSpPr>
        <p:spPr>
          <a:xfrm>
            <a:off x="9002664" y="3561203"/>
            <a:ext cx="1593806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138ED22-0025-3D83-9465-C2E11221EDFD}"/>
              </a:ext>
            </a:extLst>
          </p:cNvPr>
          <p:cNvCxnSpPr>
            <a:cxnSpLocks/>
          </p:cNvCxnSpPr>
          <p:nvPr/>
        </p:nvCxnSpPr>
        <p:spPr>
          <a:xfrm>
            <a:off x="9803393" y="4074066"/>
            <a:ext cx="0" cy="30977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5A47105-1684-8B27-169F-6EDD0C629491}"/>
              </a:ext>
            </a:extLst>
          </p:cNvPr>
          <p:cNvSpPr/>
          <p:nvPr/>
        </p:nvSpPr>
        <p:spPr>
          <a:xfrm>
            <a:off x="9004577" y="4456902"/>
            <a:ext cx="1593806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02C7F45-B2C3-5374-772A-5D930CBE5016}"/>
              </a:ext>
            </a:extLst>
          </p:cNvPr>
          <p:cNvSpPr/>
          <p:nvPr/>
        </p:nvSpPr>
        <p:spPr>
          <a:xfrm>
            <a:off x="9002664" y="5358742"/>
            <a:ext cx="1593806" cy="4397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C783D14-4F4B-349C-C22B-F3FA85DAC235}"/>
              </a:ext>
            </a:extLst>
          </p:cNvPr>
          <p:cNvGrpSpPr/>
          <p:nvPr/>
        </p:nvGrpSpPr>
        <p:grpSpPr>
          <a:xfrm>
            <a:off x="442914" y="4958641"/>
            <a:ext cx="1758365" cy="1333699"/>
            <a:chOff x="310230" y="5605659"/>
            <a:chExt cx="1758365" cy="133369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5CABCC98-E78C-2C1A-F3A7-C40AABC96120}"/>
                </a:ext>
              </a:extLst>
            </p:cNvPr>
            <p:cNvGrpSpPr/>
            <p:nvPr/>
          </p:nvGrpSpPr>
          <p:grpSpPr>
            <a:xfrm>
              <a:off x="310231" y="5963091"/>
              <a:ext cx="1758364" cy="976267"/>
              <a:chOff x="10285063" y="608166"/>
              <a:chExt cx="1836174" cy="976267"/>
            </a:xfrm>
          </p:grpSpPr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A575C14-D773-F7F2-943B-F27C7FC106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85065" y="1544858"/>
                <a:ext cx="31748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Rounded Rectangle 29">
                <a:extLst>
                  <a:ext uri="{FF2B5EF4-FFF2-40B4-BE49-F238E27FC236}">
                    <a16:creationId xmlns:a16="http://schemas.microsoft.com/office/drawing/2014/main" id="{162AD472-375D-9447-6A7B-75F96C8E3566}"/>
                  </a:ext>
                </a:extLst>
              </p:cNvPr>
              <p:cNvSpPr/>
              <p:nvPr/>
            </p:nvSpPr>
            <p:spPr>
              <a:xfrm>
                <a:off x="10285065" y="892606"/>
                <a:ext cx="1541315" cy="211431"/>
              </a:xfrm>
              <a:prstGeom prst="roundRect">
                <a:avLst>
                  <a:gd name="adj" fmla="val 1282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rebuchet MS" panose="020B0703020202090204" pitchFamily="34" charset="0"/>
                    <a:ea typeface="+mn-ea"/>
                    <a:cs typeface="Sarabun Light"/>
                  </a:rPr>
                  <a:t>Process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10" name="Rounded Rectangle 30">
                <a:extLst>
                  <a:ext uri="{FF2B5EF4-FFF2-40B4-BE49-F238E27FC236}">
                    <a16:creationId xmlns:a16="http://schemas.microsoft.com/office/drawing/2014/main" id="{7130C49E-31B7-A785-9F60-3BF59E17A95D}"/>
                  </a:ext>
                </a:extLst>
              </p:cNvPr>
              <p:cNvSpPr/>
              <p:nvPr/>
            </p:nvSpPr>
            <p:spPr>
              <a:xfrm>
                <a:off x="10285063" y="1167222"/>
                <a:ext cx="1541315" cy="228150"/>
              </a:xfrm>
              <a:prstGeom prst="roundRect">
                <a:avLst>
                  <a:gd name="adj" fmla="val 1282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>
                        <a:lumMod val="10000"/>
                      </a:schemeClr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Output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11" name="TextBox 37">
                <a:extLst>
                  <a:ext uri="{FF2B5EF4-FFF2-40B4-BE49-F238E27FC236}">
                    <a16:creationId xmlns:a16="http://schemas.microsoft.com/office/drawing/2014/main" id="{1C8904ED-CFEA-5F38-3C54-5415C64D8D75}"/>
                  </a:ext>
                </a:extLst>
              </p:cNvPr>
              <p:cNvSpPr txBox="1"/>
              <p:nvPr/>
            </p:nvSpPr>
            <p:spPr>
              <a:xfrm>
                <a:off x="10647876" y="1445934"/>
                <a:ext cx="1473361" cy="138499"/>
              </a:xfrm>
              <a:prstGeom prst="rect">
                <a:avLst/>
              </a:prstGeom>
              <a:noFill/>
            </p:spPr>
            <p:txBody>
              <a:bodyPr wrap="square" lIns="36000" tIns="0" rIns="0" bIns="0" rtlCol="0" anchor="ctr">
                <a:spAutoFit/>
              </a:bodyPr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Process</a:t>
                </a:r>
                <a:endParaRPr kumimoji="0" lang="en-T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12" name="Rounded Rectangle 40">
                <a:extLst>
                  <a:ext uri="{FF2B5EF4-FFF2-40B4-BE49-F238E27FC236}">
                    <a16:creationId xmlns:a16="http://schemas.microsoft.com/office/drawing/2014/main" id="{153E892B-6E93-DDBA-A914-B953F3A93F8D}"/>
                  </a:ext>
                </a:extLst>
              </p:cNvPr>
              <p:cNvSpPr/>
              <p:nvPr/>
            </p:nvSpPr>
            <p:spPr>
              <a:xfrm>
                <a:off x="10285064" y="608166"/>
                <a:ext cx="1541315" cy="211025"/>
              </a:xfrm>
              <a:prstGeom prst="roundRect">
                <a:avLst>
                  <a:gd name="adj" fmla="val 1282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Input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</p:grpSp>
        <p:sp>
          <p:nvSpPr>
            <p:cNvPr id="107" name="TextBox 12">
              <a:extLst>
                <a:ext uri="{FF2B5EF4-FFF2-40B4-BE49-F238E27FC236}">
                  <a16:creationId xmlns:a16="http://schemas.microsoft.com/office/drawing/2014/main" id="{421004EB-F6CB-D415-6965-C7D051100858}"/>
                </a:ext>
              </a:extLst>
            </p:cNvPr>
            <p:cNvSpPr txBox="1"/>
            <p:nvPr/>
          </p:nvSpPr>
          <p:spPr>
            <a:xfrm>
              <a:off x="310230" y="5605659"/>
              <a:ext cx="14109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H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rPr>
                <a:t>Legend</a:t>
              </a:r>
            </a:p>
          </p:txBody>
        </p:sp>
      </p:grp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372A227-6F7C-A32E-AFF7-66CF6D25D6C7}"/>
              </a:ext>
            </a:extLst>
          </p:cNvPr>
          <p:cNvCxnSpPr>
            <a:cxnSpLocks/>
          </p:cNvCxnSpPr>
          <p:nvPr/>
        </p:nvCxnSpPr>
        <p:spPr>
          <a:xfrm>
            <a:off x="9803640" y="4958641"/>
            <a:ext cx="0" cy="30977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5E96AC4-C14A-C393-CE72-77324D7B292D}"/>
              </a:ext>
            </a:extLst>
          </p:cNvPr>
          <p:cNvSpPr/>
          <p:nvPr/>
        </p:nvSpPr>
        <p:spPr>
          <a:xfrm>
            <a:off x="1871113" y="1685929"/>
            <a:ext cx="5423030" cy="25337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061A733-4345-AB10-9AC9-E9FF198735F6}"/>
              </a:ext>
            </a:extLst>
          </p:cNvPr>
          <p:cNvSpPr/>
          <p:nvPr/>
        </p:nvSpPr>
        <p:spPr>
          <a:xfrm>
            <a:off x="1930351" y="2739438"/>
            <a:ext cx="1355834" cy="3701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Load + Validate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905F33B-9D66-5270-610D-18C6BBAAA5CD}"/>
              </a:ext>
            </a:extLst>
          </p:cNvPr>
          <p:cNvCxnSpPr>
            <a:cxnSpLocks/>
          </p:cNvCxnSpPr>
          <p:nvPr/>
        </p:nvCxnSpPr>
        <p:spPr>
          <a:xfrm>
            <a:off x="4431762" y="2331646"/>
            <a:ext cx="0" cy="25472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28F56458-1274-4AC6-6946-7A5F1A4F4A26}"/>
              </a:ext>
            </a:extLst>
          </p:cNvPr>
          <p:cNvCxnSpPr>
            <a:cxnSpLocks/>
          </p:cNvCxnSpPr>
          <p:nvPr/>
        </p:nvCxnSpPr>
        <p:spPr>
          <a:xfrm flipV="1">
            <a:off x="2608268" y="1983632"/>
            <a:ext cx="876300" cy="686151"/>
          </a:xfrm>
          <a:prstGeom prst="bentConnector3">
            <a:avLst>
              <a:gd name="adj1" fmla="val -1359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52240B15-FBA4-8C48-27B6-02AA07E7537E}"/>
              </a:ext>
            </a:extLst>
          </p:cNvPr>
          <p:cNvCxnSpPr>
            <a:cxnSpLocks/>
          </p:cNvCxnSpPr>
          <p:nvPr/>
        </p:nvCxnSpPr>
        <p:spPr>
          <a:xfrm>
            <a:off x="2608268" y="3149880"/>
            <a:ext cx="876300" cy="682519"/>
          </a:xfrm>
          <a:prstGeom prst="bentConnector3">
            <a:avLst>
              <a:gd name="adj1" fmla="val -99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CB3F2AD-D445-1A8C-6FEC-69BB91975A9F}"/>
              </a:ext>
            </a:extLst>
          </p:cNvPr>
          <p:cNvSpPr/>
          <p:nvPr/>
        </p:nvSpPr>
        <p:spPr>
          <a:xfrm>
            <a:off x="3613101" y="1798561"/>
            <a:ext cx="1355834" cy="3701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Load FAISS Index </a:t>
            </a: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read_index</a:t>
            </a: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()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580669D-7D3B-BA76-4351-E9FB4192577C}"/>
              </a:ext>
            </a:extLst>
          </p:cNvPr>
          <p:cNvSpPr/>
          <p:nvPr/>
        </p:nvSpPr>
        <p:spPr>
          <a:xfrm>
            <a:off x="3613101" y="3647327"/>
            <a:ext cx="1355834" cy="4642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User 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(1 – 5 queries)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B688E06-26C4-7286-02DC-D5A92C4AF1AD}"/>
              </a:ext>
            </a:extLst>
          </p:cNvPr>
          <p:cNvSpPr/>
          <p:nvPr/>
        </p:nvSpPr>
        <p:spPr>
          <a:xfrm>
            <a:off x="3753845" y="2711909"/>
            <a:ext cx="1355834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FAISS Search Top 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Score + indices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C041799-219E-5027-C185-DCF84D87DA53}"/>
              </a:ext>
            </a:extLst>
          </p:cNvPr>
          <p:cNvCxnSpPr>
            <a:cxnSpLocks/>
          </p:cNvCxnSpPr>
          <p:nvPr/>
        </p:nvCxnSpPr>
        <p:spPr>
          <a:xfrm flipV="1">
            <a:off x="4431762" y="3236413"/>
            <a:ext cx="0" cy="25472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EDA4A3C6-EE96-82FB-6C42-5035F59D19A6}"/>
              </a:ext>
            </a:extLst>
          </p:cNvPr>
          <p:cNvCxnSpPr>
            <a:cxnSpLocks/>
          </p:cNvCxnSpPr>
          <p:nvPr/>
        </p:nvCxnSpPr>
        <p:spPr>
          <a:xfrm>
            <a:off x="5230325" y="2924509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9F7E029-A177-6FF6-3E2F-7E7EF8913BF7}"/>
              </a:ext>
            </a:extLst>
          </p:cNvPr>
          <p:cNvSpPr/>
          <p:nvPr/>
        </p:nvSpPr>
        <p:spPr>
          <a:xfrm>
            <a:off x="5632602" y="2702872"/>
            <a:ext cx="1593806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Map Indices &lt;-&gt; Meta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Candidates (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feed_id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)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6E6E4F1-FEF6-65D5-0224-0FFFEE0EE47D}"/>
              </a:ext>
            </a:extLst>
          </p:cNvPr>
          <p:cNvSpPr txBox="1"/>
          <p:nvPr/>
        </p:nvSpPr>
        <p:spPr>
          <a:xfrm>
            <a:off x="6627655" y="1775833"/>
            <a:ext cx="66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Shin</a:t>
            </a:r>
            <a:endParaRPr lang="en-US" sz="10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E0A7744-E2F4-BE6C-C950-2DE141672CB4}"/>
              </a:ext>
            </a:extLst>
          </p:cNvPr>
          <p:cNvGrpSpPr/>
          <p:nvPr/>
        </p:nvGrpSpPr>
        <p:grpSpPr>
          <a:xfrm>
            <a:off x="7852614" y="1706527"/>
            <a:ext cx="3893906" cy="1495360"/>
            <a:chOff x="1382298" y="2429185"/>
            <a:chExt cx="3893906" cy="149536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E6AEE6B-A9D8-5FBE-4B77-6EBBED564E7C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solidFill>
              <a:schemeClr val="bg1">
                <a:lumMod val="85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10F8CA-AFDF-95F4-597A-52FE69C0EE6E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34CE420-A0AF-9758-6418-69DD6475E7A3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E179FE2-900F-2537-8AFB-3D06F2974AE5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rgbClr val="272428"/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3EF19CB-E753-DCA0-6668-5D4EAEB9F551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Subscore function</a:t>
                </a:r>
                <a:endParaRPr lang="en-US" sz="105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A0DEC68-1133-DC9E-5E04-C0E8B2885AD7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D8E3A00-CFC5-F838-75FA-028599229E3E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..…</a:t>
                </a:r>
                <a:endParaRPr lang="en-US" sz="1050" dirty="0"/>
              </a:p>
            </p:txBody>
          </p:sp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95EC060-04AF-65A4-49D9-79A4CB3DB607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05125AE7-2E73-A078-DED9-270C83B7F5A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768B1297-FA2B-02D7-43F3-411F2EB55BC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E90CDE6A-CEA1-E0F9-A569-EE8B2187AEEB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3F7F8687-55C4-0740-3ABA-8139E559FCF1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ABF7EC-AA9C-C15E-BFA2-560237B82D5C}"/>
              </a:ext>
            </a:extLst>
          </p:cNvPr>
          <p:cNvCxnSpPr>
            <a:cxnSpLocks/>
          </p:cNvCxnSpPr>
          <p:nvPr/>
        </p:nvCxnSpPr>
        <p:spPr>
          <a:xfrm>
            <a:off x="9801480" y="3076075"/>
            <a:ext cx="0" cy="37872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16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4E9D-82FE-ABCF-E7D8-596AFBE2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563E37-7449-88E7-531F-DD47615EAE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12317A-D09F-EFF2-C875-46B4197122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0207D98-3AEE-A2C0-DB07-F7C6BA7777AE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133C71-30BE-A9F1-A5A6-6CACFB2661C5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F1D59A-6A6B-4BCD-B009-8D9614F47532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9FAD9D9-09F0-C2E8-4BA5-8EF90876A2C0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471108E-0CB2-34E8-8985-9EF77DAFED80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213358" y="1919130"/>
            <a:chExt cx="1283172" cy="1495360"/>
          </a:xfrm>
          <a:solidFill>
            <a:schemeClr val="bg1">
              <a:lumMod val="85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0EC03F2-64D0-86BA-B3D8-B13A3FD2205A}"/>
                </a:ext>
              </a:extLst>
            </p:cNvPr>
            <p:cNvSpPr/>
            <p:nvPr/>
          </p:nvSpPr>
          <p:spPr>
            <a:xfrm>
              <a:off x="213358" y="1919130"/>
              <a:ext cx="1283172" cy="149536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346D41F-7650-2E3D-7F69-A8EF456DAD7E}"/>
                </a:ext>
              </a:extLst>
            </p:cNvPr>
            <p:cNvSpPr/>
            <p:nvPr/>
          </p:nvSpPr>
          <p:spPr>
            <a:xfrm>
              <a:off x="259738" y="2429685"/>
              <a:ext cx="278147" cy="3701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vector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77DC2D9-24AD-D02B-7EB8-3AFA24FE219C}"/>
                </a:ext>
              </a:extLst>
            </p:cNvPr>
            <p:cNvSpPr/>
            <p:nvPr/>
          </p:nvSpPr>
          <p:spPr>
            <a:xfrm>
              <a:off x="869945" y="2427304"/>
              <a:ext cx="278147" cy="3701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recency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48DC336-83AE-F030-D3D9-6AF38E576CF2}"/>
                </a:ext>
              </a:extLst>
            </p:cNvPr>
            <p:cNvSpPr/>
            <p:nvPr/>
          </p:nvSpPr>
          <p:spPr>
            <a:xfrm>
              <a:off x="1174409" y="2427304"/>
              <a:ext cx="278147" cy="3701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popularity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74EDE2-DE4F-ACBE-D1CD-62C38B4F767A}"/>
                </a:ext>
              </a:extLst>
            </p:cNvPr>
            <p:cNvSpPr txBox="1"/>
            <p:nvPr/>
          </p:nvSpPr>
          <p:spPr>
            <a:xfrm>
              <a:off x="240830" y="2000737"/>
              <a:ext cx="123679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Subscore function</a:t>
              </a:r>
              <a:endParaRPr lang="en-US" sz="105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70E0B11-0E08-8A51-1FEC-50960C044A06}"/>
                </a:ext>
              </a:extLst>
            </p:cNvPr>
            <p:cNvSpPr/>
            <p:nvPr/>
          </p:nvSpPr>
          <p:spPr>
            <a:xfrm>
              <a:off x="564202" y="2429832"/>
              <a:ext cx="278147" cy="3701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language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168D6686-89C1-C69E-7700-3E42482BD5D1}"/>
              </a:ext>
            </a:extLst>
          </p:cNvPr>
          <p:cNvSpPr/>
          <p:nvPr/>
        </p:nvSpPr>
        <p:spPr>
          <a:xfrm>
            <a:off x="3219863" y="3496554"/>
            <a:ext cx="218775" cy="218775"/>
          </a:xfrm>
          <a:prstGeom prst="ellipse">
            <a:avLst/>
          </a:prstGeom>
        </p:spPr>
        <p:style>
          <a:lnRef idx="1">
            <a:schemeClr val="dk1"/>
          </a:lnRef>
          <a:fillRef idx="1002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96CED02-FFE2-A722-645B-6E24A7CB53D1}"/>
              </a:ext>
            </a:extLst>
          </p:cNvPr>
          <p:cNvCxnSpPr>
            <a:cxnSpLocks/>
          </p:cNvCxnSpPr>
          <p:nvPr/>
        </p:nvCxnSpPr>
        <p:spPr>
          <a:xfrm>
            <a:off x="2864833" y="3414814"/>
            <a:ext cx="285151" cy="145465"/>
          </a:xfrm>
          <a:prstGeom prst="bentConnector3">
            <a:avLst>
              <a:gd name="adj1" fmla="val 32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EB54D67-E7ED-7534-05CB-D120A1A9571E}"/>
              </a:ext>
            </a:extLst>
          </p:cNvPr>
          <p:cNvCxnSpPr>
            <a:cxnSpLocks/>
          </p:cNvCxnSpPr>
          <p:nvPr/>
        </p:nvCxnSpPr>
        <p:spPr>
          <a:xfrm>
            <a:off x="1945073" y="3448329"/>
            <a:ext cx="1204911" cy="211472"/>
          </a:xfrm>
          <a:prstGeom prst="bentConnector3">
            <a:avLst>
              <a:gd name="adj1" fmla="val -7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876AECEE-E23B-9A5F-8CEC-BB2BFB092C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08517" y="3408600"/>
            <a:ext cx="285151" cy="145465"/>
          </a:xfrm>
          <a:prstGeom prst="bentConnector3">
            <a:avLst>
              <a:gd name="adj1" fmla="val 32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D20CF27-E296-CEC9-9BA1-35436660E2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12821" y="3443748"/>
            <a:ext cx="1204911" cy="211472"/>
          </a:xfrm>
          <a:prstGeom prst="bentConnector3">
            <a:avLst>
              <a:gd name="adj1" fmla="val -7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BB2AC6-0A72-F98C-75D2-6A9E86932B15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28B0C6E-8C35-077E-CAE4-B53AF7828286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5110F05-288A-C1FD-C6F3-F39A4945E24F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99E5E69-58E4-12C7-E916-DC318EDC6571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35256E-E243-2B41-C61E-E60437A662AF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0C9292-BAD7-C0BF-1877-6ED4A4C5D0F0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927AEFB-A76E-E448-3ECC-069460DCFBF2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BE55D54-34E1-9437-60DF-85543AF56F1F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EF347C6-7739-F72B-A0E3-5A8AB1305966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6DAEC91-5854-85A8-0920-E7F87FF8C688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FB94F6F-0378-0DBC-FB6D-A8D1CAAEDB81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5FF820D-76D3-DD5C-F3C6-A639AE8CE4E9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itle 1">
            <a:extLst>
              <a:ext uri="{FF2B5EF4-FFF2-40B4-BE49-F238E27FC236}">
                <a16:creationId xmlns:a16="http://schemas.microsoft.com/office/drawing/2014/main" id="{9FA5D99E-E6DE-48C5-C466-1A0AE1BAB550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5077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45594-519C-BE0C-1757-09039F93A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412317A-D09F-EFF2-C875-46B4197122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69F37A-CF64-C48B-D116-6DAFFAB89B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4A656C5-F5D5-269A-E195-6A93D0901851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81347B-51E8-65AE-127D-AA5A32F1A9C7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220FE5-1DC5-E096-59BE-32BFCE01C76C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A9FEF29-C9FF-4B0D-5BBE-786816058058}"/>
              </a:ext>
            </a:extLst>
          </p:cNvPr>
          <p:cNvCxnSpPr>
            <a:cxnSpLocks/>
          </p:cNvCxnSpPr>
          <p:nvPr/>
        </p:nvCxnSpPr>
        <p:spPr>
          <a:xfrm>
            <a:off x="4424666" y="1763742"/>
            <a:ext cx="2157109" cy="2007134"/>
          </a:xfrm>
          <a:prstGeom prst="bentConnector3">
            <a:avLst>
              <a:gd name="adj1" fmla="val 79585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EF73F69C-0C1F-7EBE-BFA5-2FB242CBE595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2891DF-1064-DFEE-2B4D-6041C3EE30E1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213358" y="1919130"/>
            <a:chExt cx="1283172" cy="1495360"/>
          </a:xfrm>
          <a:solidFill>
            <a:srgbClr val="EAF3F8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F6432-7F06-5C1F-EA27-82B562BA8F47}"/>
                </a:ext>
              </a:extLst>
            </p:cNvPr>
            <p:cNvSpPr/>
            <p:nvPr/>
          </p:nvSpPr>
          <p:spPr>
            <a:xfrm>
              <a:off x="213358" y="1919130"/>
              <a:ext cx="1283172" cy="1495360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1EF3998-A10A-3FF8-784B-69CAE498955E}"/>
                </a:ext>
              </a:extLst>
            </p:cNvPr>
            <p:cNvSpPr/>
            <p:nvPr/>
          </p:nvSpPr>
          <p:spPr>
            <a:xfrm>
              <a:off x="259738" y="2429685"/>
              <a:ext cx="278147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Poppins Light"/>
                  <a:cs typeface="Sarabun Light"/>
                </a:rPr>
                <a:t>vector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6D454AD-D130-20E5-D617-F1739891A1DD}"/>
                </a:ext>
              </a:extLst>
            </p:cNvPr>
            <p:cNvSpPr/>
            <p:nvPr/>
          </p:nvSpPr>
          <p:spPr>
            <a:xfrm>
              <a:off x="869945" y="2427304"/>
              <a:ext cx="278147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recency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1CB45C9-F548-143E-69B6-BCFDF6DF8FA6}"/>
                </a:ext>
              </a:extLst>
            </p:cNvPr>
            <p:cNvSpPr/>
            <p:nvPr/>
          </p:nvSpPr>
          <p:spPr>
            <a:xfrm>
              <a:off x="1174409" y="2427304"/>
              <a:ext cx="278147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Poppins Light"/>
                  <a:cs typeface="Sarabun Light"/>
                </a:rPr>
                <a:t>popularity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BA05F9A-455C-E693-5C46-2AFBEE83525A}"/>
                </a:ext>
              </a:extLst>
            </p:cNvPr>
            <p:cNvSpPr txBox="1"/>
            <p:nvPr/>
          </p:nvSpPr>
          <p:spPr>
            <a:xfrm>
              <a:off x="240830" y="2000737"/>
              <a:ext cx="1236792" cy="261610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>
                      <a:lumMod val="85000"/>
                    </a:schemeClr>
                  </a:solidFill>
                </a:rPr>
                <a:t>Subscore function</a:t>
              </a:r>
              <a:endParaRPr lang="en-US" sz="105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D5900E3-32F4-4766-3EC3-CEB4AD9D0BE8}"/>
                </a:ext>
              </a:extLst>
            </p:cNvPr>
            <p:cNvSpPr/>
            <p:nvPr/>
          </p:nvSpPr>
          <p:spPr>
            <a:xfrm>
              <a:off x="564202" y="2429832"/>
              <a:ext cx="278147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language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1C45376E-D6B8-D99D-69AF-4D68DA471265}"/>
              </a:ext>
            </a:extLst>
          </p:cNvPr>
          <p:cNvSpPr/>
          <p:nvPr/>
        </p:nvSpPr>
        <p:spPr>
          <a:xfrm>
            <a:off x="3219863" y="3496554"/>
            <a:ext cx="218775" cy="218775"/>
          </a:xfrm>
          <a:prstGeom prst="ellipse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1002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EF6E033-55B1-DEC0-2EC3-E9C016E6463F}"/>
              </a:ext>
            </a:extLst>
          </p:cNvPr>
          <p:cNvCxnSpPr>
            <a:cxnSpLocks/>
          </p:cNvCxnSpPr>
          <p:nvPr/>
        </p:nvCxnSpPr>
        <p:spPr>
          <a:xfrm>
            <a:off x="2864833" y="3414814"/>
            <a:ext cx="285151" cy="145465"/>
          </a:xfrm>
          <a:prstGeom prst="bentConnector3">
            <a:avLst>
              <a:gd name="adj1" fmla="val 323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69E44FC-725B-BEE5-E931-6AC310E76525}"/>
              </a:ext>
            </a:extLst>
          </p:cNvPr>
          <p:cNvCxnSpPr>
            <a:cxnSpLocks/>
          </p:cNvCxnSpPr>
          <p:nvPr/>
        </p:nvCxnSpPr>
        <p:spPr>
          <a:xfrm>
            <a:off x="1945073" y="3448329"/>
            <a:ext cx="1204911" cy="211472"/>
          </a:xfrm>
          <a:prstGeom prst="bentConnector3">
            <a:avLst>
              <a:gd name="adj1" fmla="val -791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D316B90-41EB-105A-0881-5A897E5779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08517" y="3408600"/>
            <a:ext cx="285151" cy="145465"/>
          </a:xfrm>
          <a:prstGeom prst="bentConnector3">
            <a:avLst>
              <a:gd name="adj1" fmla="val 323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22C76C5-5170-1513-7FBA-93FF6071046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12821" y="3443748"/>
            <a:ext cx="1204911" cy="211472"/>
          </a:xfrm>
          <a:prstGeom prst="bentConnector3">
            <a:avLst>
              <a:gd name="adj1" fmla="val -791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D409CC3-6763-4AB4-850A-4EE0A6707CEE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F76015A-7AE5-F2A6-F7EC-D198992E760E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C7FB823-E1C3-0FE9-F8AD-C805A30F97B6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985525-FBF1-FC54-1BAA-05A220086B2C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D31339-DD70-D931-D14C-B2E19A042153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B29E37C-A279-81A9-1730-4F1CE8F07966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D4DAB0-5E19-F052-DEF6-2213190977A5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0225100-D0CC-12AF-F979-52159EAE1FF6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2FFA875-0EF1-75D3-D800-D89459F900B7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835A5B1-85CA-74B0-BF5D-5F41D736C6A6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DBF2AE-8306-8A3C-F27F-E1AEB62E091F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8D23E93-A175-33FE-F64E-4F3366995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361" y="1524278"/>
            <a:ext cx="4737798" cy="473137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B2743EA5-7AB5-6F0F-7BCA-71017BCA6B53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  <a:solidFill>
            <a:srgbClr val="EAF3F8"/>
          </a:solid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8FC226A-EAED-B484-7E92-65AD95DB02AB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grpFill/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E8FF67-4F1C-F398-F610-009ED6FA9D3E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A018568-8852-1235-BF28-F24B3047C867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78EE70A-CA54-D888-6429-26469192F112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F0D9EF4-C48B-157A-2490-7B545816138B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solidFill>
                <a:srgbClr val="EAF3F8"/>
              </a:solidFill>
              <a:ln>
                <a:solidFill>
                  <a:srgbClr val="EAF3F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Subscore function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4053970-BE13-D663-B14D-483FA039059A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58D2B0C-911F-DBA9-28CB-6A5DD6B48C91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  <a:ln>
                <a:solidFill>
                  <a:srgbClr val="EAF3F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..…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20BBFFD-E072-9135-C4B6-0A2662E22B62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1C6268DE-32F1-166C-8A2B-71D8816B369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84B40231-D718-E1FB-AAB0-C486BF71F46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67F6FDBF-36CB-F794-C722-5AA85A37DE9B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0F4F1E4D-9BCD-1505-A5DA-621145A30E4C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14A5430-ED2C-93AB-933E-4022EDEB2C9A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itle 1">
            <a:extLst>
              <a:ext uri="{FF2B5EF4-FFF2-40B4-BE49-F238E27FC236}">
                <a16:creationId xmlns:a16="http://schemas.microsoft.com/office/drawing/2014/main" id="{A774E6D4-1560-CFB3-8AAC-C60187592858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63201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723A2-BAFD-96D1-B9E6-EC7E9143D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248C7DB-AB72-EA8B-09B5-CEE68C641A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12317A-D09F-EFF2-C875-46B4197122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14FC34F-4B8F-14DD-89A6-8E6D49B23489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131A40-4EAB-9B36-F658-3EE6B344C7AF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C9C6E1-310B-0535-7AE5-AE00523680CD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8738FBB-C9A7-F484-4E25-95BD2344DE98}"/>
              </a:ext>
            </a:extLst>
          </p:cNvPr>
          <p:cNvCxnSpPr>
            <a:cxnSpLocks/>
          </p:cNvCxnSpPr>
          <p:nvPr/>
        </p:nvCxnSpPr>
        <p:spPr>
          <a:xfrm>
            <a:off x="4336919" y="2312979"/>
            <a:ext cx="2931760" cy="1462154"/>
          </a:xfrm>
          <a:prstGeom prst="bentConnector3">
            <a:avLst>
              <a:gd name="adj1" fmla="val 62671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10993FC-A740-05D8-7BB0-04A25FAACF76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BCBEC6-6E8A-1FB2-3540-72D99CE96DC8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79D052-F790-6690-C5C0-28118DF7FF46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DF5A861-6D96-DA63-B584-2A63C43C765F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40C9F4-4DE7-0DBE-4574-DB603D8048A9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BF5D95-59D2-9994-0A2B-765B6120543F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FE1F1FE-9F65-0D56-9481-1E0DA4FD2736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3F51F6-948E-4214-379D-0D4345E1E01C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3CFFBA0-7900-462B-7DB1-E8B4C9A7A497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FA0B320-A474-E2CC-07CA-55500E71A737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DB6CF18-EEF4-D851-7FF1-A3E86CA28E3E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AFD4F2C-3A42-C4EF-FC69-CE2747E06ECE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B7B39A7-5FAD-CC73-5F0B-4F0A472FA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620" y="1119236"/>
            <a:ext cx="3298992" cy="5479406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3AC01373-17C2-0477-DDD3-2C2E3F190909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  <a:solidFill>
            <a:srgbClr val="EAF3F8"/>
          </a:solid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0807C64-C7B8-63E5-957A-37D0E0129BFE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grpFill/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3922170-6C23-E26D-DE16-9FC6028956A0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15A1EB48-5644-CB7D-710B-ACD6786AEB9E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6ED65D0-050E-80CB-FAA8-D7353DD5325B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85B8865-03E7-931C-CE27-AEAFBA9E2880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solidFill>
                <a:srgbClr val="EAF3F8"/>
              </a:solidFill>
              <a:ln>
                <a:solidFill>
                  <a:srgbClr val="EAF3F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Subscore function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26B6A24-7B8D-E5BC-D316-4D4BF98445CF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E7181E6-D6C3-2A75-8D47-D6122BF53F76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  <a:ln>
                <a:solidFill>
                  <a:srgbClr val="EAF3F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..…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51075AA-3E2C-7E7E-F350-C76F7F7C5774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1C72B69A-E424-492D-8FAD-0D05F807AEB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4E05F5A1-6970-EF25-855E-BD7795C5290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4C04D171-C5AB-E747-E245-D5B311CFFD98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65C0CA04-251B-CCA1-CAE4-53D0F7712FED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BA02801-144E-4ABD-9216-E5ABB683026B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itle 1">
            <a:extLst>
              <a:ext uri="{FF2B5EF4-FFF2-40B4-BE49-F238E27FC236}">
                <a16:creationId xmlns:a16="http://schemas.microsoft.com/office/drawing/2014/main" id="{FBD09A45-9B62-23BC-40EC-1517CB234641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014516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7A2A8-2BBD-1FAB-AE6E-7A94817A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B117EBD-B359-09D7-824C-FD288B49D8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F02565-9BD3-8B54-4586-807BD81F8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AD7FAE-94D8-3F36-80BC-D0D2C475A6EC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109CA9-FB45-7808-42A9-75EAE46DC87C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2025BA-7943-1D33-BC92-A487335C1506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600" b="1" dirty="0">
                <a:solidFill>
                  <a:schemeClr val="tx1"/>
                </a:solidFill>
                <a:cs typeface="Poppins Light"/>
              </a:rPr>
              <a:t>Overview</a:t>
            </a:r>
            <a:endParaRPr lang="en-GB" sz="1400" b="1" dirty="0">
              <a:solidFill>
                <a:schemeClr val="tx1"/>
              </a:solidFill>
              <a:cs typeface="Poppins Light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C55A8D0-1077-A0FC-8B26-218552473424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B532A52-197D-551E-C22D-F8455A5BFAB9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  <a:solidFill>
            <a:srgbClr val="EAF3F8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75CB9AE-E280-7622-F80F-AA66C6706986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B5881E4-D292-D8FE-AAE5-EE88B21EC8A2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73A94C9-D6CC-A25B-A246-3F5085FC645E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  <a:ln>
              <a:solidFill>
                <a:srgbClr val="EAF3F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47F9FEC-6D63-B5CB-1CC0-768BD3B6ADDF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E3BB53B-0521-6051-FE2C-8A9D320214B5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D937F98-FBB0-2362-A2A3-50BAE97BED40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0D5ED3-BF63-040F-689C-B79DDFF8988C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B06F27F-98E2-A3C6-46DE-F2C690CE449D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A48C33-4B1A-B765-032D-318AEEB0CAFA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5E2E22-6C84-0AD2-8A1D-E0B1B43AB5B9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60C1516-4C1C-011A-F848-6B516CC9DF8D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52B0AE4-788E-3A1D-17D4-5D0D9AE7D5D4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solidFill>
              <a:schemeClr val="bg1">
                <a:lumMod val="85000"/>
              </a:schemeClr>
            </a:solidFill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0B8B9C1-B7D9-1AEB-C1C8-A070A5D10DF2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6D24E9C-47D2-F228-E748-34BAD6527B58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1543E57-F9E7-0997-5CE8-18DD214D9263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rgbClr val="272428"/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E363FD-5969-E474-6A3B-A50D7C9EF879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Subscore function</a:t>
                </a:r>
                <a:endParaRPr lang="en-US" sz="105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E0341EA-ACBA-3B50-BDFA-8C1C12985886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F51BF4E-B292-05D0-8DCA-274F639EAE3E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..…</a:t>
                </a:r>
                <a:endParaRPr lang="en-US" sz="1050" dirty="0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1D8B076-668A-5641-EEE1-426501E1028F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1CD61B43-96C3-2970-E17A-CD88CE2AA8E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C91B314F-E0BF-F89A-694A-D28B9CC1756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39A9ED73-D39D-D559-4957-2B6A34FCFCF3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6FA11DD8-72C6-22AA-AC43-53EE3E65E9F3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C3215B-40E4-7597-EE8E-7F59612F290A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34772BD-380B-5B05-C84E-1491EC5A802D}"/>
              </a:ext>
            </a:extLst>
          </p:cNvPr>
          <p:cNvSpPr txBox="1"/>
          <p:nvPr/>
        </p:nvSpPr>
        <p:spPr>
          <a:xfrm>
            <a:off x="6382369" y="950934"/>
            <a:ext cx="5294661" cy="141577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Mapping retrieval outputs to real feed items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We got internal vector ids (indices), NOT business ids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We convert `</a:t>
            </a:r>
            <a:r>
              <a:rPr lang="en-US" sz="1400" dirty="0" err="1">
                <a:solidFill>
                  <a:schemeClr val="tx1"/>
                </a:solidFill>
                <a:cs typeface="Poppins Light"/>
              </a:rPr>
              <a:t>index_id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` -&gt; `</a:t>
            </a:r>
            <a:r>
              <a:rPr lang="en-US" sz="1400" dirty="0" err="1">
                <a:solidFill>
                  <a:schemeClr val="tx1"/>
                </a:solidFill>
                <a:cs typeface="Poppins Light"/>
              </a:rPr>
              <a:t>feed_id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` via aligned metadata array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Then join `</a:t>
            </a:r>
            <a:r>
              <a:rPr lang="en-US" sz="1400" dirty="0" err="1">
                <a:solidFill>
                  <a:schemeClr val="tx1"/>
                </a:solidFill>
                <a:cs typeface="Poppins Light"/>
              </a:rPr>
              <a:t>feed_id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` -&gt; full feed metadata from </a:t>
            </a:r>
            <a:r>
              <a:rPr lang="en-US" sz="1400" dirty="0" err="1">
                <a:solidFill>
                  <a:schemeClr val="tx1"/>
                </a:solidFill>
                <a:cs typeface="Poppins Light"/>
              </a:rPr>
              <a:t>feeds_meta.jsonl</a:t>
            </a:r>
            <a:endParaRPr lang="en-US" sz="1400" dirty="0">
              <a:solidFill>
                <a:schemeClr val="tx1"/>
              </a:solidFill>
              <a:cs typeface="Poppins Light"/>
            </a:endParaRP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</a:t>
            </a:r>
            <a:r>
              <a:rPr lang="en-US" sz="1400" dirty="0" err="1">
                <a:solidFill>
                  <a:schemeClr val="tx1"/>
                </a:solidFill>
                <a:cs typeface="Poppins Light"/>
              </a:rPr>
              <a:t>Resuts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 candidates become “real feed items” with fields like title, language </a:t>
            </a:r>
            <a:r>
              <a:rPr lang="en-US" sz="1400" dirty="0" err="1">
                <a:solidFill>
                  <a:schemeClr val="tx1"/>
                </a:solidFill>
                <a:cs typeface="Poppins Light"/>
              </a:rPr>
              <a:t>created_at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, views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537747-22FA-EC83-C61B-F9B53CDBAFD9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73914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BAA11-DA03-B9FB-A84C-5033CFF5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7F02565-9BD3-8B54-4586-807BD81F85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563E37-7449-88E7-531F-DD47615EAE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FC47A65-0FD0-5E9C-767F-CB343CF229AE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F5733A-6FF5-7179-5781-38489A58A312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CAF373-93D0-9A63-EC39-A26C04A4C8DA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600" b="1" dirty="0">
                <a:solidFill>
                  <a:schemeClr val="tx1"/>
                </a:solidFill>
                <a:cs typeface="Poppins Light"/>
              </a:rPr>
              <a:t>Overview</a:t>
            </a:r>
            <a:endParaRPr lang="en-GB" sz="1400" b="1" dirty="0">
              <a:solidFill>
                <a:schemeClr val="tx1"/>
              </a:solidFill>
              <a:cs typeface="Poppins Light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E0383DA-6807-3554-D7E2-C9EB51F35CE2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806CB42-170B-9154-488A-AAC77F752229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  <a:solidFill>
            <a:srgbClr val="EAF3F8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79C701E-3041-66E3-DB3E-BDE611CE82B9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65C9E0D-D850-1766-0BB1-B69D5FCD44EB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3AF1C36-05FC-163D-89B4-288C166FA09B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  <a:ln>
              <a:solidFill>
                <a:srgbClr val="EAF3F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45A8785-5199-6A40-8F16-79F45DEFB426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95CB878-6260-8C40-5472-27EA74373D0E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6C41C58-6C81-1955-31BC-2BD22E9E6B65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A20E62-6D42-F24F-7535-680DB0E1770F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0919DF4-846A-9BD3-2FEA-574DD5E67EA8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05988-D4C8-87D8-8AE4-33D13215F46F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329614-7E00-4B22-321B-31217723F48B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BA004AC-E2EB-5B2E-366B-542EAE8DB7E8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084A2FE-9CBC-5A09-50B4-EFE54A6471CE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solidFill>
              <a:schemeClr val="bg1">
                <a:lumMod val="85000"/>
              </a:schemeClr>
            </a:solidFill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B78ED10-A28A-78C6-3E1F-70B1945030FC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3381439-17D9-E29D-4B8D-48A86E01CB1A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950B6F-0F9D-C48B-0B4F-3B7F80CAAC94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rgbClr val="272428"/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54762C-4CF6-6294-AF4E-06B583090291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Subscore function</a:t>
                </a:r>
                <a:endParaRPr lang="en-US" sz="105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605E307-AB19-74CD-B4CF-F542AEA5C7FD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0ECE1FA-697A-0E06-05CF-7AB7D0AA735E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..…</a:t>
                </a:r>
                <a:endParaRPr lang="en-US" sz="1050" dirty="0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55FED49-11BB-6A2A-0ED9-4EDFECC47DD0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E701BFF8-81E7-2BE2-1BD0-4D891FF006C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7C35158C-31B2-C660-BE07-BF3B680D769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63D863BA-4A40-7348-8CF9-CF84331D9B14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9C504984-90DC-DBFF-4287-FA8B71CFB646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8030BF9-BE0D-8E5B-D9D6-56EE69043C08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7383AE0-AB7A-A26B-1CF0-A18C356BE24D}"/>
              </a:ext>
            </a:extLst>
          </p:cNvPr>
          <p:cNvSpPr txBox="1"/>
          <p:nvPr/>
        </p:nvSpPr>
        <p:spPr>
          <a:xfrm>
            <a:off x="6404638" y="879576"/>
            <a:ext cx="5282538" cy="163121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Deterministic Subscore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We compute 3 interpretable signals per feed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 1. </a:t>
            </a:r>
            <a:r>
              <a:rPr lang="en-US" sz="1400" dirty="0" err="1">
                <a:solidFill>
                  <a:schemeClr val="tx1"/>
                </a:solidFill>
                <a:ea typeface="+mn-lt"/>
                <a:cs typeface="+mn-lt"/>
              </a:rPr>
              <a:t>Language_match</a:t>
            </a: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: exact match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 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2. Recency : exponential decay using half-life days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         3. Popularity : log-normalized engagement (views/likes/etc.)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All score are bounded in [0,1]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Subscore are deterministic (same inputs -&gt; same output0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A1AA7F7-D28D-060F-3A9C-C287CF96F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884" y="2866973"/>
            <a:ext cx="5268767" cy="910486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D5C0CC68-2522-F08B-E8CF-8819A90CF6BF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464423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1CC8C-A038-C7B6-04ED-43DC63E5A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DBC14B8-CF74-78B7-9501-415068190D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F02565-9BD3-8B54-4586-807BD81F8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37D2DE4-6678-77A4-4300-7E4B2D0F4BA2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C4329-E7B8-D867-EDC0-BE3EC96001D2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A562E7-7B34-7137-CDCF-FF45FF0BF6A6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600" b="1" dirty="0">
                <a:solidFill>
                  <a:schemeClr val="tx1"/>
                </a:solidFill>
                <a:cs typeface="Poppins Light"/>
              </a:rPr>
              <a:t>Overview</a:t>
            </a:r>
            <a:endParaRPr lang="en-GB" sz="1400" b="1" dirty="0">
              <a:solidFill>
                <a:schemeClr val="tx1"/>
              </a:solidFill>
              <a:cs typeface="Poppins Light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C5A754-3506-DC46-B281-6A095EB928B2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CE54055-44A9-29CA-51B8-E7999A1F21E8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  <a:solidFill>
            <a:srgbClr val="EAF3F8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9B54DAC-6A05-1C02-AD9F-B4D2020B37F4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FA6D93F-1673-B531-18B6-88923AB850E1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0228F97-1C2E-D8EF-F4F1-1499CB3C82BF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  <a:ln>
              <a:solidFill>
                <a:srgbClr val="EAF3F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B5FC451-3D27-398D-36C9-16BFA0D5F410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0FE8E83-545A-BF46-2722-7F3CCE1E869A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D5B2714-16B5-A232-100A-4CEECD667A95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94CF2A-0110-7006-70AE-58733A01FAC2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6B7732E-D467-C8AE-2FC3-E43245A36528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1B63B-4769-0E45-4293-69C3A674CC7B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FA9A62-D97D-429D-FF00-6D2A7B5B491F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C17C06-C580-4D0B-CF84-12555808DF27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DAF0763-D9DE-B8F1-FE15-16236BDBAFB8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solidFill>
              <a:schemeClr val="bg1">
                <a:lumMod val="85000"/>
              </a:schemeClr>
            </a:solidFill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877B49C-B947-5435-CCEB-E643B1933039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DA011A5-F2F2-5DE5-1B4B-1E2E97A87B06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0B8E3ED-3B3D-131D-945C-A7ACD819A53A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rgbClr val="272428"/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85FF01-274E-5C84-D570-537D09EA013F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Subscore function</a:t>
                </a:r>
                <a:endParaRPr lang="en-US" sz="105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EB5F3BC-0904-1503-2661-5ED41D177E8C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0002C70-98C4-EA0D-F1F2-277B2214F44D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..…</a:t>
                </a:r>
                <a:endParaRPr lang="en-US" sz="1050" dirty="0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BC3B381-7EBE-72B0-3AFA-893443EC901A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D2945243-53B9-8704-9DF3-D011A3E450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0543E9D4-DF09-E494-BD2E-B8F28B94F0E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64012070-0FEE-E5BA-D70D-DAE2DFB29F68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5A0123B6-D1AC-4905-677B-BB8B5B4A9752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B2D342-F359-3F30-0885-E4659E0169BA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360D693-86A8-3B13-6724-93D771819668}"/>
              </a:ext>
            </a:extLst>
          </p:cNvPr>
          <p:cNvSpPr txBox="1"/>
          <p:nvPr/>
        </p:nvSpPr>
        <p:spPr>
          <a:xfrm>
            <a:off x="6404638" y="879576"/>
            <a:ext cx="5282538" cy="120032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Deterministic Subscore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We compute 3 interpretable signals per feed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 1. </a:t>
            </a:r>
            <a:r>
              <a:rPr lang="en-US" sz="1400" dirty="0" err="1">
                <a:solidFill>
                  <a:schemeClr val="tx1"/>
                </a:solidFill>
                <a:ea typeface="+mn-lt"/>
                <a:cs typeface="+mn-lt"/>
              </a:rPr>
              <a:t>Language_match</a:t>
            </a: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: exact match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        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cs typeface="Poppins Light"/>
              </a:rPr>
              <a:t>2. Recency : exponential decay using half-life days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  <a:cs typeface="Poppins Light"/>
              </a:rPr>
              <a:t>         3. Popularity : log-normalized engagement (views/likes/etc.)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B13D69-EABA-0B75-8D79-A9C283686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431" y="3460877"/>
            <a:ext cx="5282538" cy="18156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0C9B75A-3DE5-3B36-C3A6-F3607A83A785}"/>
              </a:ext>
            </a:extLst>
          </p:cNvPr>
          <p:cNvSpPr txBox="1"/>
          <p:nvPr/>
        </p:nvSpPr>
        <p:spPr>
          <a:xfrm>
            <a:off x="6404638" y="2148444"/>
            <a:ext cx="5282538" cy="954107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Read feed language from : </a:t>
            </a:r>
            <a:r>
              <a:rPr lang="en-US" sz="1400" dirty="0" err="1">
                <a:solidFill>
                  <a:schemeClr val="tx1"/>
                </a:solidFill>
                <a:ea typeface="+mn-lt"/>
                <a:cs typeface="+mn-lt"/>
              </a:rPr>
              <a:t>feed_meta</a:t>
            </a: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["lang"]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If equal user language -&gt; 1.0 else -&gt;0.0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It’s a hard match (not similarity, just exact match)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If user prefers "</a:t>
            </a:r>
            <a:r>
              <a:rPr lang="en-US" sz="1400" dirty="0" err="1">
                <a:solidFill>
                  <a:schemeClr val="tx1"/>
                </a:solidFill>
                <a:cs typeface="Poppins Light"/>
              </a:rPr>
              <a:t>th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" , Thai content gets a boost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049E155-47D1-EFAC-DEB8-9C281AEA6243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529535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D4918-0ABD-0C97-756A-23C5A65B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392DB5E-A91A-8357-C5DE-D625739D2A0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BC14B8-CF74-78B7-9501-415068190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7C06489-2CFE-58F2-66D1-C49554AFD358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2BDFC8-3B70-998C-093D-71F6AF881802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365400-A5D7-76BE-32D1-B7522ADAD361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600" b="1" dirty="0">
                <a:solidFill>
                  <a:schemeClr val="tx1"/>
                </a:solidFill>
                <a:cs typeface="Poppins Light"/>
              </a:rPr>
              <a:t>Overview</a:t>
            </a:r>
            <a:endParaRPr lang="en-GB" sz="1400" b="1" dirty="0">
              <a:solidFill>
                <a:schemeClr val="tx1"/>
              </a:solidFill>
              <a:cs typeface="Poppins Light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38B223-8DF6-4384-E2B7-E581CAA3F662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AF117AC-8250-178D-BE1A-7F5D674822E8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  <a:solidFill>
            <a:srgbClr val="EAF3F8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87A6233-302C-E9B6-B73B-46B4E7FA6243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83F8C8E-AA9C-487D-B674-38393B9341CC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54A4FC4-917B-F4D9-B5C0-2C8324D53879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  <a:ln>
              <a:solidFill>
                <a:srgbClr val="EAF3F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9232A0B-1A4C-E7A7-6864-4CC4C6B79D88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87AEE92-66BE-8B0E-2CF6-B97C4A206CAF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A4D5E8E-6292-D7B9-7BBF-19157849CC83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1F9A90-4F80-4E95-004A-DD1BD143F6DC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3149DD6-A744-43A0-9113-236A886977DF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8BE398-D5EF-3747-8A3B-392A52644AD8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2A42F5-33F7-BA9C-A5D2-BEBC1D1EC48E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3F2E92B-82C1-C168-91D0-CE1B6ECB043C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33B1DBA-BFEE-42FB-8B74-FAC8FEBFC029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solidFill>
              <a:schemeClr val="bg1">
                <a:lumMod val="85000"/>
              </a:schemeClr>
            </a:solidFill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E4622D7-B505-47CF-7483-9E76C5C8ED4A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34B87CB-8157-2492-3867-55E70F7675C3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B677785-AB9E-3631-B426-A895FB662595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rgbClr val="272428"/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4093D7-E2B7-B427-C0B8-8FB769622B94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Subscore function</a:t>
                </a:r>
                <a:endParaRPr lang="en-US" sz="105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B79193A-EDCC-0F9A-785E-DFD4B5DC6A6D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725548-8A1D-97FB-AE84-D5932C278C85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..…</a:t>
                </a:r>
                <a:endParaRPr lang="en-US" sz="1050" dirty="0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2F73136-56D1-F8A3-E224-AD3B29B6959F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EEB64928-C099-2368-7450-FFCD95443FF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EE2DEB9C-8296-1682-47BD-F98057DC376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9DD9F6FD-0DF9-4F02-2A89-7483315C310A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376CC44B-7571-3626-7369-93194BCFCC65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990276-48F5-C567-D20A-5428401D7C6F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571BFCE-3A30-AE35-5736-0E912ECF49DE}"/>
              </a:ext>
            </a:extLst>
          </p:cNvPr>
          <p:cNvSpPr txBox="1"/>
          <p:nvPr/>
        </p:nvSpPr>
        <p:spPr>
          <a:xfrm>
            <a:off x="6404638" y="879576"/>
            <a:ext cx="5282538" cy="120032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Deterministic Subscore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We compute 3 interpretable signals per feed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1.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Language_match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 : exact match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 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2. Recency : exponential decay using half-life days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  <a:cs typeface="Poppins Light"/>
              </a:rPr>
              <a:t>         3. Popularity : log-normalized engagement (views/likes/etc.)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82AFA85-6CBD-E805-554A-8A5490AF0007}"/>
                  </a:ext>
                </a:extLst>
              </p:cNvPr>
              <p:cNvSpPr txBox="1"/>
              <p:nvPr/>
            </p:nvSpPr>
            <p:spPr>
              <a:xfrm>
                <a:off x="7707575" y="2201348"/>
                <a:ext cx="2644250" cy="440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𝑟𝑒𝑐𝑒𝑛𝑐𝑦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𝑑𝑎𝑦𝑠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𝑎𝑙𝑓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𝑙𝑖𝑓𝑒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𝑑𝑎𝑦𝑠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82AFA85-6CBD-E805-554A-8A5490AF0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575" y="2201348"/>
                <a:ext cx="2644250" cy="4402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Picture 47">
            <a:extLst>
              <a:ext uri="{FF2B5EF4-FFF2-40B4-BE49-F238E27FC236}">
                <a16:creationId xmlns:a16="http://schemas.microsoft.com/office/drawing/2014/main" id="{74DF67C0-43A4-2324-0D5D-784EA39228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897" y="2858950"/>
            <a:ext cx="4832019" cy="3756554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DF5C407E-AB73-86D1-06A9-15AD8E60DC23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933103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39F05-698A-DC23-F86C-A7F0533DC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44A1350-3AA1-C79C-AE05-03FFA159CF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92DB5E-A91A-8357-C5DE-D625739D2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C67EF69-9187-982E-269C-9B68D47C0C48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1A2835-88D7-2F97-0AD0-906C0B0C910E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235209-A1DD-B307-EC8D-70609BDCE3D2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600" b="1" dirty="0">
                <a:solidFill>
                  <a:schemeClr val="tx1"/>
                </a:solidFill>
                <a:cs typeface="Poppins Light"/>
              </a:rPr>
              <a:t>Overview</a:t>
            </a:r>
            <a:endParaRPr lang="en-GB" sz="1400" b="1" dirty="0">
              <a:solidFill>
                <a:schemeClr val="tx1"/>
              </a:solidFill>
              <a:cs typeface="Poppins Light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74BB245-A65F-E0F3-BB41-7C380398A757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DE17FC4-CA79-D8A7-7F48-01AA6FBA35A4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  <a:solidFill>
            <a:srgbClr val="EAF3F8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C8E34DA-F70F-936B-1994-3054E19510D1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C18BA04-3B82-7B91-7B18-CB22D364EDBE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D9F765C-43D3-21DD-2E90-3EB3CFF5F26A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  <a:ln>
              <a:solidFill>
                <a:srgbClr val="EAF3F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088EE78-286E-1951-FC1E-D8A456313CDD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0246640-7F72-6F6A-5FC5-E76047D71C83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A4C73F2-15D3-FFCF-6E80-A862E6BE8AEA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006245-F699-3C2D-CB84-20E9E0EA9E55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F652944-AAA3-FEFE-3B91-33B83A90652D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78DECE-8127-FC8B-6CB4-2D9427BA1E9E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053D1E-83D2-3CBA-59C4-ABDC9DCDBD9D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1EDC035-2A8A-1BE0-F228-DF94245CBD43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44FD97A-F13E-371F-7FB1-D10B0EEE9751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solidFill>
              <a:schemeClr val="bg1">
                <a:lumMod val="85000"/>
              </a:schemeClr>
            </a:solidFill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7B7A5CA-9E06-FD41-60E3-69D4E656FB4C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F86CEEA-BAB7-A0E4-E1B0-1A17CDA18B8D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1E53ADA-0B44-CD9C-0657-875DEDD3A69A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rgbClr val="272428"/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C687EE-03F4-E051-63CD-DCD2F0BCD139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Subscore function</a:t>
                </a:r>
                <a:endParaRPr lang="en-US" sz="105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115D5F9-54E7-2C69-F0DA-DD106BEE1753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6505D8-90E3-5DC8-158F-209CBDD2C8DE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..…</a:t>
                </a:r>
                <a:endParaRPr lang="en-US" sz="1050" dirty="0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AE2C73-0869-4B62-D08B-C14C407C1760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2561F284-7C8F-750B-9762-95F53ACDFAF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D0C08F1B-6A77-DFDB-7158-3AAAC988FA9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91FC0682-EBA6-9EA4-5126-173DFE75B022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E1D6F5F4-C680-B4E1-3CFA-83F53BDFFE5C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F26C16D-83CA-2819-173B-55C6D8BB4497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CC79386-6326-A45D-46ED-1FA1905D96E4}"/>
              </a:ext>
            </a:extLst>
          </p:cNvPr>
          <p:cNvSpPr txBox="1"/>
          <p:nvPr/>
        </p:nvSpPr>
        <p:spPr>
          <a:xfrm>
            <a:off x="6404638" y="879576"/>
            <a:ext cx="5282538" cy="120032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Deterministic Subscore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We compute 3 interpretable signals per feed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1.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Language_match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 : exact match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 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2. Recency : exponential decay using half-life days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  <a:cs typeface="Poppins Light"/>
              </a:rPr>
              <a:t>         3. Popularity : log-normalized engagement (views/likes/etc.)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4D478D-E6C2-FEB7-F48F-7FD9A21328E4}"/>
              </a:ext>
            </a:extLst>
          </p:cNvPr>
          <p:cNvSpPr txBox="1"/>
          <p:nvPr/>
        </p:nvSpPr>
        <p:spPr>
          <a:xfrm>
            <a:off x="6404638" y="2867781"/>
            <a:ext cx="5282538" cy="138499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This is a “freshness score”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- age =   0 days -&gt; recency = 1.0       (2**(-0/30)    -&gt; 1.0)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- age = 15 days -&gt; recency = 0.707 (2**(-15/30)  -&gt; 0.707)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- age = 30 days -&gt; recency = 0.5      (2**(-30/30)  -&gt; 0.5)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- age = 60 days -&gt; recency = 0.25   ( 2**(-60/30) -&gt; 0.25)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The half - life is configurable (recency_half_life_days from YAML)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088C4F-3B91-777A-6F69-3742D820833F}"/>
                  </a:ext>
                </a:extLst>
              </p:cNvPr>
              <p:cNvSpPr txBox="1"/>
              <p:nvPr/>
            </p:nvSpPr>
            <p:spPr>
              <a:xfrm>
                <a:off x="7707575" y="2201348"/>
                <a:ext cx="2644250" cy="440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𝑟𝑒𝑐𝑒𝑛𝑐𝑦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𝑑𝑎𝑦𝑠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h𝑎𝑙𝑓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𝑙𝑖𝑓𝑒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𝑑𝑎𝑦𝑠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088C4F-3B91-777A-6F69-3742D8208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575" y="2201348"/>
                <a:ext cx="2644250" cy="4402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itle 1">
            <a:extLst>
              <a:ext uri="{FF2B5EF4-FFF2-40B4-BE49-F238E27FC236}">
                <a16:creationId xmlns:a16="http://schemas.microsoft.com/office/drawing/2014/main" id="{3E663FA4-6399-23C3-9A44-37F5E60C27AD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619C2C3-2D38-8DAE-AB10-6DBE10C942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749"/>
          <a:stretch>
            <a:fillRect/>
          </a:stretch>
        </p:blipFill>
        <p:spPr>
          <a:xfrm>
            <a:off x="6375620" y="4436905"/>
            <a:ext cx="2658728" cy="20198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AF9643A-9B28-066D-16E4-668F2FEDE3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8833" y="4436905"/>
            <a:ext cx="2568343" cy="201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43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AA83E-9A99-07B9-2AD9-72DE5597C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B59B9B-D094-F95A-0081-D6C1101365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C065D9-DDDD-5425-432E-A1095A99DC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98C0A14-926B-3E47-9222-8156E03EBA5C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36FC82-5D7F-CE9A-1897-39F80DD3A9B2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5A9054-B80E-645A-06E0-6C03B8178E39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600" b="1" dirty="0">
                <a:solidFill>
                  <a:schemeClr val="tx1"/>
                </a:solidFill>
                <a:cs typeface="Poppins Light"/>
              </a:rPr>
              <a:t>Overview</a:t>
            </a:r>
            <a:endParaRPr lang="en-GB" sz="1400" b="1" dirty="0">
              <a:solidFill>
                <a:schemeClr val="tx1"/>
              </a:solidFill>
              <a:cs typeface="Poppins Light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3DEE601-7ACC-D35F-19C8-D83AFA2B7771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EE39990-A019-0BB4-2020-686993CC2608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  <a:solidFill>
            <a:srgbClr val="EAF3F8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DFA1978-4935-5BE2-1C47-C5E5F86E77A2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42A66CB-CB7A-0D33-F77E-08965595F1D1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722828D-1642-D5E6-0B26-4B0A06B19AB6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  <a:ln>
              <a:solidFill>
                <a:srgbClr val="EAF3F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B39A458-FE8B-3AB5-F895-FF7E6D606F95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F116DAD-8112-C910-7BBA-D2AB50D1B233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7DF89FA-2F44-6F8E-F835-AF89EE8B494F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8E8996-945C-DF39-9E9A-300E58956C84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7F5D4DB-1B84-F5FE-2DB4-EA0482FDAE5C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00DD6-8E82-D7B1-C119-0C655B16E441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D0C22D-26B4-401F-C355-E872397207B7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A0331B-D658-ED59-9D9A-1809C9161FB6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304F55-4268-A85A-083A-FC40695D6E71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solidFill>
              <a:schemeClr val="bg1">
                <a:lumMod val="85000"/>
              </a:schemeClr>
            </a:solidFill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D5B6B43-5C3B-25D3-BD52-1A9557D31588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BB455B5-20AF-2062-E585-95657E1496D0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192545-205D-2EE3-623C-B3E272752F4F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rgbClr val="272428"/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33C6993-F455-9BA4-FF5D-2F141BE460B6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Subscore function</a:t>
                </a:r>
                <a:endParaRPr lang="en-US" sz="105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92B7810-E091-6BA8-028C-A697E03DBD77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7AD383-0510-917F-BAA5-06F898676591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..…</a:t>
                </a:r>
                <a:endParaRPr lang="en-US" sz="1050" dirty="0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C54B572-FF0D-D267-3974-BBC412EC0D35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1078F405-DBA9-626B-7760-0B3500EB4BA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735135E0-433C-7AD0-C8D3-BD00B9E4982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3E815509-8577-D51E-7FCB-E5D680568B94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D43F83D1-7F56-9417-939B-C6AD2CB43EB7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DF371F-9137-5D48-C9EF-CCB4E1ADA85E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4D29A01-FFEB-519C-9308-61B821C575F5}"/>
              </a:ext>
            </a:extLst>
          </p:cNvPr>
          <p:cNvSpPr txBox="1"/>
          <p:nvPr/>
        </p:nvSpPr>
        <p:spPr>
          <a:xfrm>
            <a:off x="6404638" y="879576"/>
            <a:ext cx="5282538" cy="120032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Deterministic Subscore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We compute 3 interpretable signals per feed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1.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Language_match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 : exact match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        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cs typeface="Poppins Light"/>
              </a:rPr>
              <a:t>2. Recency : exponential decay using half-life days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         3. Popularity : log-normalized engagement (views/likes/etc.)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2AE602A-DF3E-11C5-50B2-18B0AB5C7BCD}"/>
                  </a:ext>
                </a:extLst>
              </p:cNvPr>
              <p:cNvSpPr txBox="1"/>
              <p:nvPr/>
            </p:nvSpPr>
            <p:spPr>
              <a:xfrm>
                <a:off x="7007641" y="2189041"/>
                <a:ext cx="4280274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𝑝𝑜𝑝𝑢𝑙𝑎𝑟𝑖𝑡𝑦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(1+1,000,000)</m:t>
                                  </m:r>
                                </m:e>
                              </m:func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2AE602A-DF3E-11C5-50B2-18B0AB5C7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641" y="2189041"/>
                <a:ext cx="4280274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C2D33B4-2771-C433-99AE-FC86FD6B64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897" y="3076852"/>
            <a:ext cx="4832019" cy="284771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CFAEDFA7-941C-D721-55DE-1ADF2E9EF86B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671886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48EFD-49C7-69E2-85DE-2C146176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C04ACD7-86C6-742A-4BFD-6BD23465ED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B59B9B-D094-F95A-0081-D6C110136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47E63B7-E9CD-466B-7D18-14EC4C584892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AA741-10FA-4F38-3EF4-330AD660F826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0B246-3A3D-5AE6-3F2F-8BDC13B29974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600" b="1" dirty="0">
                <a:solidFill>
                  <a:schemeClr val="tx1"/>
                </a:solidFill>
                <a:cs typeface="Poppins Light"/>
              </a:rPr>
              <a:t>Overview</a:t>
            </a:r>
            <a:endParaRPr lang="en-GB" sz="1400" b="1" dirty="0">
              <a:solidFill>
                <a:schemeClr val="tx1"/>
              </a:solidFill>
              <a:cs typeface="Poppins Light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73723F8-16ED-1FFD-92EA-80BF45A20AD2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15B4AD7-5173-BD85-D8B0-20F1C85C1D5B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  <a:solidFill>
            <a:srgbClr val="EAF3F8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6EA4412-24DC-25E8-C5B5-3F74C4B61B43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D11B4AA-64A0-18F1-CBBE-B814829DFD8B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8F56399-A7BB-A48C-2C62-F1DA621D1B1E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  <a:ln>
              <a:solidFill>
                <a:srgbClr val="EAF3F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5961D6C-2FBE-CBC3-47E8-E287DEA82F23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4116A67-CF50-A241-F794-4FB1FCBBD0C6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6125CC9-C0AD-EB05-B2C0-A17124763530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2F94C5-55AD-D0E6-BEB7-3202E6F33C70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0D251BB-7EB1-5EE4-EBCE-F5C18549E6AB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C89F84-7790-3871-EDF4-01F12F743B2E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4ACD62-AC21-860C-99ED-8CF9F9AC049F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D75F052-F424-E0B3-7961-5F1D1C68752B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3B39559-68E5-29CF-00E6-DCD1448ED382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solidFill>
              <a:schemeClr val="bg1">
                <a:lumMod val="85000"/>
              </a:schemeClr>
            </a:solidFill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A0554FF-677B-5A5A-5DB3-1DCF72E4CFBA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C6F7302-D9D9-1803-B816-590FE9D158B0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DE4D623-27CC-3ED0-7BAC-51AB2AAF031C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rgbClr val="272428"/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11D753-2602-6C47-7533-69B13E28B3EF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Subscore function</a:t>
                </a:r>
                <a:endParaRPr lang="en-US" sz="105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4E0BC76-C166-D515-497F-EDD7FBCDDB50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2428"/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860AE6-436A-AF1D-386C-64734BCDE855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..…</a:t>
                </a:r>
                <a:endParaRPr lang="en-US" sz="1050" dirty="0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A3BA291-9F72-9644-F0D3-236F4338B77B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FF771BE9-C45C-DF5F-0287-FE3001C2DFB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B3095A37-3492-8BEC-B3A6-B888194A2C7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044F30C1-4A7B-A091-3615-C39B033CB389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2F51D05C-92E5-8DB4-E0B1-4EB062C77332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2E912A-B5AE-40B6-48C5-C12B8150AEBC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C051E73-4396-680D-E4D1-229693D671E2}"/>
              </a:ext>
            </a:extLst>
          </p:cNvPr>
          <p:cNvSpPr txBox="1"/>
          <p:nvPr/>
        </p:nvSpPr>
        <p:spPr>
          <a:xfrm>
            <a:off x="6404638" y="879576"/>
            <a:ext cx="5282538" cy="120032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Deterministic Subscore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We compute 3 interpretable signals per feed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1.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Language_match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 : exact match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        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cs typeface="Poppins Light"/>
              </a:rPr>
              <a:t>2. Recency : exponential decay using half-life days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         3. Popularity : log-normalized engagement (views/likes/etc.)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CCB4254-4AF8-954B-5B91-C699C4097ADD}"/>
                  </a:ext>
                </a:extLst>
              </p:cNvPr>
              <p:cNvSpPr txBox="1"/>
              <p:nvPr/>
            </p:nvSpPr>
            <p:spPr>
              <a:xfrm>
                <a:off x="7007641" y="2189041"/>
                <a:ext cx="4280274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𝑝𝑜𝑝𝑢𝑙𝑎𝑟𝑖𝑡𝑦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(1+1,000,000)</m:t>
                                  </m:r>
                                </m:e>
                              </m:func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CCB4254-4AF8-954B-5B91-C699C4097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641" y="2189041"/>
                <a:ext cx="4280274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4311B85-D91A-D392-ED69-E8204AE53595}"/>
              </a:ext>
            </a:extLst>
          </p:cNvPr>
          <p:cNvSpPr txBox="1"/>
          <p:nvPr/>
        </p:nvSpPr>
        <p:spPr>
          <a:xfrm>
            <a:off x="6404638" y="2920527"/>
            <a:ext cx="5282538" cy="175432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This is a “popularity score”</a:t>
            </a:r>
          </a:p>
          <a:p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     - view = 0                    -&gt; popularity = 0.0 (log(1) / 13.8155 -&gt; 0)</a:t>
            </a:r>
          </a:p>
          <a:p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     - view = 10,000        -&gt; popularity = 0.67 (log(10,001) / 13.8155 -&gt; 0.67)</a:t>
            </a:r>
          </a:p>
          <a:p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     - view = 100,000     -&gt; popularity = 0.83 (log(100,001) / 13.8155 -&gt; 0.83)</a:t>
            </a:r>
          </a:p>
          <a:p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     - view = 1,000,000 -&gt; popularity = 1.0 (log(1,000,001) / 13.8155  -&gt; 1.0)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Popular feeds get boost But they do NOT overpower semantic similarity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We clamp to 1 (Prevents runaway values)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52D95F09-9AE4-B363-02BA-FC94E4620D19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9B18A54-D101-A9F3-0613-8BA445D2D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0615" y="4670037"/>
            <a:ext cx="2519874" cy="191849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8153AD6-C691-2C8B-B3B6-2751A8ED97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428" y="4665219"/>
            <a:ext cx="2401293" cy="191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01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C4FA8-7602-3F9C-CAB1-57CDD067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4718078-E4D6-6272-74CE-0963166097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563E37-7449-88E7-531F-DD47615EAE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FF07D16-3344-862F-121A-7B3ED82A2A92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54B300-08AC-2A77-6CC4-C105A11090D8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9E58-EEFD-D866-28FB-BA24FD7420A6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B2FDEE8-0DAF-45B8-178B-B7C7ACDE67B6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C8AAD3-0016-62D8-76B7-06AAA689F929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5B2A1B-2B02-11CC-675A-00E79E54F3F3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  <a:solidFill>
            <a:srgbClr val="EAF3F8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43EB5D-FD29-D266-60FE-EF234B4BA5FA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1666040-E07F-0CCF-3671-E5568954BBCE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E9EAF6-47DF-D18C-ACA1-08F87D3BB5A3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  <a:ln>
              <a:solidFill>
                <a:srgbClr val="EAF3F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0B6B7A-2B59-7458-1F5C-C2D38AD67522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9BB35D-5E87-C7D2-C4CD-0376BF9070F4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474C00-0EA6-B063-7121-7F45EDF95099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AB4566A-4357-D8F1-F3E2-58571386C494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A7BA54-8303-A654-406B-BDAF076FC64B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EDCDE8E-1913-C5DE-F3FB-0438286A286F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A600C25-D5BA-ADD2-60C0-6688096A5FDF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  <a:solidFill>
            <a:srgbClr val="EAF3F8"/>
          </a:solidFill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025F275-AAF4-D68C-F18C-BD3B2C22536C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grpFill/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62774A1-FCE3-728A-D78F-C4B228EF35CE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4534B9D-9C15-2615-3E53-E05761894F7F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932D324-C293-2197-D5A8-94CF6B09E9EC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E619F42-EEC7-931E-D786-2FFC1FA9E350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solidFill>
                <a:srgbClr val="EAF3F8"/>
              </a:solidFill>
              <a:ln>
                <a:solidFill>
                  <a:srgbClr val="EAF3F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Subscore function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58F5A67E-F145-3800-5077-5AAD479748E6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1575402-1C2B-940B-C133-45D932A1769B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  <a:ln>
                <a:solidFill>
                  <a:srgbClr val="EAF3F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..…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6B65138-52C6-F68F-18D4-3BFC24E173C7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66C9F9BB-ED04-7779-4B40-EB0FF5713DD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C4A3AAD9-3B14-4B50-46BC-064DBC1E8CB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: Elbow 64">
              <a:extLst>
                <a:ext uri="{FF2B5EF4-FFF2-40B4-BE49-F238E27FC236}">
                  <a16:creationId xmlns:a16="http://schemas.microsoft.com/office/drawing/2014/main" id="{234B302F-FA10-EAD8-FF55-464471896D07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: Elbow 65">
              <a:extLst>
                <a:ext uri="{FF2B5EF4-FFF2-40B4-BE49-F238E27FC236}">
                  <a16:creationId xmlns:a16="http://schemas.microsoft.com/office/drawing/2014/main" id="{D6A1A89C-8BDD-801B-3C63-55510118F91A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CAEEF54-FA15-A356-1F5E-1FD482DDC6D0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24BB166-38F0-5B5E-4209-A8F8F77D49CC}"/>
              </a:ext>
            </a:extLst>
          </p:cNvPr>
          <p:cNvSpPr txBox="1"/>
          <p:nvPr/>
        </p:nvSpPr>
        <p:spPr>
          <a:xfrm>
            <a:off x="6404638" y="879576"/>
            <a:ext cx="5282538" cy="553998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Weighted Aggregation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Subscore + vector score are combined into one </a:t>
            </a:r>
            <a:r>
              <a:rPr lang="en-US" sz="1400" dirty="0" err="1">
                <a:solidFill>
                  <a:schemeClr val="tx1"/>
                </a:solidFill>
                <a:ea typeface="+mn-lt"/>
                <a:cs typeface="+mn-lt"/>
              </a:rPr>
              <a:t>final_score</a:t>
            </a:r>
            <a:endParaRPr lang="en-US" sz="1400" dirty="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3BE178-3FD4-7570-8DE9-3F8CDC51E135}"/>
              </a:ext>
            </a:extLst>
          </p:cNvPr>
          <p:cNvSpPr txBox="1"/>
          <p:nvPr/>
        </p:nvSpPr>
        <p:spPr>
          <a:xfrm>
            <a:off x="6404638" y="2625719"/>
            <a:ext cx="5282538" cy="116955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- YAML controls weights (easy to tune without touching code)</a:t>
            </a:r>
            <a:br>
              <a:rPr lang="en-US" sz="1400" dirty="0">
                <a:solidFill>
                  <a:schemeClr val="tx1"/>
                </a:solidFill>
                <a:cs typeface="Poppins Light"/>
              </a:rPr>
            </a:br>
            <a:r>
              <a:rPr lang="en-US" sz="1400" dirty="0">
                <a:solidFill>
                  <a:schemeClr val="tx1"/>
                </a:solidFill>
                <a:cs typeface="Poppins Light"/>
              </a:rPr>
              <a:t>    - which features participate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    - their weights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    - whether to clamp inputs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    - whether to renormalize weights (sum to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1D7CBA2-0608-B590-F65E-79A83DEAF646}"/>
                  </a:ext>
                </a:extLst>
              </p:cNvPr>
              <p:cNvSpPr txBox="1"/>
              <p:nvPr/>
            </p:nvSpPr>
            <p:spPr>
              <a:xfrm>
                <a:off x="6873899" y="1690147"/>
                <a:ext cx="4339265" cy="67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𝑓𝑖𝑎𝑛𝑙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𝑤𝑒𝑖𝑔h𝑡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𝑐𝑙𝑎𝑚𝑝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1D7CBA2-0608-B590-F65E-79A83DEAF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99" y="1690147"/>
                <a:ext cx="4339265" cy="672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" name="Picture 77">
            <a:extLst>
              <a:ext uri="{FF2B5EF4-FFF2-40B4-BE49-F238E27FC236}">
                <a16:creationId xmlns:a16="http://schemas.microsoft.com/office/drawing/2014/main" id="{46FA11A8-ECED-B3BF-120A-9436B81B15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4638" y="3822417"/>
            <a:ext cx="5282538" cy="2701988"/>
          </a:xfrm>
          <a:prstGeom prst="rect">
            <a:avLst/>
          </a:prstGeom>
        </p:spPr>
      </p:pic>
      <p:sp>
        <p:nvSpPr>
          <p:cNvPr id="79" name="Title 1">
            <a:extLst>
              <a:ext uri="{FF2B5EF4-FFF2-40B4-BE49-F238E27FC236}">
                <a16:creationId xmlns:a16="http://schemas.microsoft.com/office/drawing/2014/main" id="{336E4D0F-3682-149F-E16F-5C36275AA983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990294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DB70A-E69F-F792-4602-BD521B80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FAAEF65-EE5E-0251-BFF8-3150207266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718078-E4D6-6272-74CE-0963166097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1F7EBAF-FF63-145C-ECC9-7973BCF6F83D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957D21-8D67-7652-F26B-C961125B89FF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1430F0-96BD-99B3-EEF0-B8051BC34F90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BBF7A26-B7E7-3204-5789-1C9E499FB0C7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213CD6-27DE-20F9-B12D-FA0A356C8A64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  <a:solidFill>
            <a:srgbClr val="EAF3F8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4E3BBC0-580E-F4EC-0086-511D5CA2F4C7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0BA921-0A0D-6912-5955-F60FD403A921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C410E8-E5CA-CE1B-EEBD-2BB022AC1CC9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  <a:ln>
              <a:solidFill>
                <a:srgbClr val="EAF3F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2DD8D3-B7AC-B862-03BF-176443DD39DA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F48ED4-B928-0C9E-FE8D-06EB15512417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A3F79625-7510-E7EC-353A-C26D358F14DE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E9B8A6-A942-5D87-7240-E67803FBF268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956D82-B2A6-E241-B82A-FF032ED18D6E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AF61E8C-8FA7-9F32-8DA4-0DC3E97D6657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554D24-2324-82C6-BCE1-42A919A4B993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A78148-40A9-8CDE-4FBE-7C27C158F52B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  <a:solidFill>
            <a:srgbClr val="EAF3F8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FBA0625-3158-9883-E774-1C94D9474287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grpFill/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11F5B7D-3DC2-3C23-192F-85EEA726ECD2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51DD4C9-A25A-68F9-66D3-587261F48DD7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DA67603-D2F0-D2B6-7FEB-11A374255302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BFD5469-268E-08FD-2E6D-A8E606F957B7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solidFill>
                <a:srgbClr val="EAF3F8"/>
              </a:solidFill>
              <a:ln>
                <a:solidFill>
                  <a:srgbClr val="EAF3F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Subscore function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D336C60-C5DD-837A-2DA1-8306F7DE450A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C45D0E6-EE74-E692-6CA4-52BF032A2A24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  <a:ln>
                <a:solidFill>
                  <a:srgbClr val="EAF3F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..…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0BD8AD2-E4C3-898A-2729-65E08D156C57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C9361505-B98F-DCD0-D3E7-B6C14188142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D570957A-4BCB-E5C3-8401-B542F9B3639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E5E5AF8D-4DE4-7DAC-0963-84FA52243229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342AE918-26FB-BBBF-BFE1-FBCDC091A5B4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0B21DD0-1C2E-28F0-46D7-4E00DDD464D0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A9DBF9A-8FA0-FAC6-04CD-3B54D26404EC}"/>
              </a:ext>
            </a:extLst>
          </p:cNvPr>
          <p:cNvSpPr txBox="1"/>
          <p:nvPr/>
        </p:nvSpPr>
        <p:spPr>
          <a:xfrm>
            <a:off x="6404638" y="879576"/>
            <a:ext cx="5282538" cy="2062103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Sort + Top-N + Final output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Sort candidates by ranking score key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Return </a:t>
            </a:r>
            <a:b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</a:b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- </a:t>
            </a:r>
            <a:r>
              <a:rPr lang="en-US" sz="1400" dirty="0" err="1">
                <a:solidFill>
                  <a:schemeClr val="tx1"/>
                </a:solidFill>
                <a:ea typeface="+mn-lt"/>
                <a:cs typeface="+mn-lt"/>
              </a:rPr>
              <a:t>student_id</a:t>
            </a:r>
            <a:endParaRPr lang="en-US" sz="1400" dirty="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- meta configuration for debugging / reproducibility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        - candidate list (previews/top-N)</a:t>
            </a:r>
          </a:p>
          <a:p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- Candidate includes both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        - raw retrieval score (</a:t>
            </a:r>
            <a:r>
              <a:rPr lang="en-US" sz="1400" dirty="0" err="1">
                <a:solidFill>
                  <a:schemeClr val="tx1"/>
                </a:solidFill>
                <a:cs typeface="Poppins Light"/>
              </a:rPr>
              <a:t>vector_score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  <a:cs typeface="Poppins Light"/>
              </a:rPr>
              <a:t>        - interpretable </a:t>
            </a:r>
            <a:r>
              <a:rPr lang="en-US" sz="1400" dirty="0" err="1">
                <a:solidFill>
                  <a:schemeClr val="tx1"/>
                </a:solidFill>
                <a:cs typeface="Poppins Light"/>
              </a:rPr>
              <a:t>subscores</a:t>
            </a:r>
            <a:r>
              <a:rPr lang="en-US" sz="1400" dirty="0">
                <a:solidFill>
                  <a:schemeClr val="tx1"/>
                </a:solidFill>
                <a:cs typeface="Poppins Light"/>
              </a:rPr>
              <a:t> (why it ranked)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ED973128-8746-162B-0A32-DCDEF4881DC8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822384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CD04-7D98-DDB3-275D-5C0FEA91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33D35D-96A9-729A-4E9D-A452F5AC51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AAEF65-EE5E-0251-BFF8-3150207266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769A074-9FF6-3E43-46CB-643AFCA5C725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2CC470-6759-C0F2-A74F-7880AE284D16}"/>
              </a:ext>
            </a:extLst>
          </p:cNvPr>
          <p:cNvSpPr/>
          <p:nvPr/>
        </p:nvSpPr>
        <p:spPr>
          <a:xfrm>
            <a:off x="638383" y="859879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3A4145-7337-E2BE-48B9-158C457DE0A3}"/>
              </a:ext>
            </a:extLst>
          </p:cNvPr>
          <p:cNvSpPr/>
          <p:nvPr/>
        </p:nvSpPr>
        <p:spPr>
          <a:xfrm>
            <a:off x="638383" y="859879"/>
            <a:ext cx="5265878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tx1"/>
                </a:solidFill>
                <a:cs typeface="Poppins Light"/>
              </a:rPr>
              <a:t>Overview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A17A32E-307D-9D32-C187-DDBB319480FA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886A172-BD52-4F13-1BAF-878147FE2575}"/>
              </a:ext>
            </a:extLst>
          </p:cNvPr>
          <p:cNvGrpSpPr/>
          <p:nvPr/>
        </p:nvGrpSpPr>
        <p:grpSpPr>
          <a:xfrm>
            <a:off x="2341726" y="1413742"/>
            <a:ext cx="1975048" cy="775299"/>
            <a:chOff x="10490" y="2427201"/>
            <a:chExt cx="1033571" cy="775299"/>
          </a:xfrm>
          <a:solidFill>
            <a:srgbClr val="EAF3F8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76153C1-D61C-4A39-D8EE-9D4E4930DDBD}"/>
                </a:ext>
              </a:extLst>
            </p:cNvPr>
            <p:cNvSpPr/>
            <p:nvPr/>
          </p:nvSpPr>
          <p:spPr>
            <a:xfrm>
              <a:off x="10490" y="2427201"/>
              <a:ext cx="1033571" cy="775299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C354C3-29BF-5DDE-6E8E-E0368CB436E1}"/>
                </a:ext>
              </a:extLst>
            </p:cNvPr>
            <p:cNvSpPr/>
            <p:nvPr/>
          </p:nvSpPr>
          <p:spPr>
            <a:xfrm>
              <a:off x="101747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scores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5F097A-1C03-21AE-0A0F-5C808DEED370}"/>
                </a:ext>
              </a:extLst>
            </p:cNvPr>
            <p:cNvSpPr txBox="1"/>
            <p:nvPr/>
          </p:nvSpPr>
          <p:spPr>
            <a:xfrm>
              <a:off x="97803" y="2437180"/>
              <a:ext cx="876269" cy="261610"/>
            </a:xfrm>
            <a:prstGeom prst="rect">
              <a:avLst/>
            </a:prstGeom>
            <a:noFill/>
            <a:ln>
              <a:solidFill>
                <a:srgbClr val="EAF3F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Inputs</a:t>
              </a:r>
              <a:endParaRPr lang="en-US" sz="105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01664F-67CD-6AE0-36B9-5D7B3719123F}"/>
                </a:ext>
              </a:extLst>
            </p:cNvPr>
            <p:cNvSpPr/>
            <p:nvPr/>
          </p:nvSpPr>
          <p:spPr>
            <a:xfrm>
              <a:off x="556345" y="2777201"/>
              <a:ext cx="404274" cy="370142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indices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A2A70B-B634-D2C0-E30C-5A1DA22DBA2C}"/>
              </a:ext>
            </a:extLst>
          </p:cNvPr>
          <p:cNvCxnSpPr>
            <a:cxnSpLocks/>
          </p:cNvCxnSpPr>
          <p:nvPr/>
        </p:nvCxnSpPr>
        <p:spPr>
          <a:xfrm flipH="1">
            <a:off x="3329250" y="2233306"/>
            <a:ext cx="1" cy="159346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292C17-6C3F-3710-7E49-63D51B5507D3}"/>
              </a:ext>
            </a:extLst>
          </p:cNvPr>
          <p:cNvCxnSpPr>
            <a:cxnSpLocks/>
          </p:cNvCxnSpPr>
          <p:nvPr/>
        </p:nvCxnSpPr>
        <p:spPr>
          <a:xfrm>
            <a:off x="3333076" y="4810293"/>
            <a:ext cx="0" cy="30977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B47D3E6-076D-2BF4-D26C-74FBF2F41731}"/>
              </a:ext>
            </a:extLst>
          </p:cNvPr>
          <p:cNvSpPr/>
          <p:nvPr/>
        </p:nvSpPr>
        <p:spPr>
          <a:xfrm>
            <a:off x="2534260" y="5193129"/>
            <a:ext cx="1593806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7E1400-129E-D16F-7786-111F4803D63B}"/>
              </a:ext>
            </a:extLst>
          </p:cNvPr>
          <p:cNvSpPr/>
          <p:nvPr/>
        </p:nvSpPr>
        <p:spPr>
          <a:xfrm>
            <a:off x="2532347" y="4297430"/>
            <a:ext cx="1593806" cy="439797"/>
          </a:xfrm>
          <a:prstGeom prst="rect">
            <a:avLst/>
          </a:prstGeom>
          <a:solidFill>
            <a:srgbClr val="EAF3F8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A54AD2-CADE-ADDC-743E-F00E18FC50C8}"/>
              </a:ext>
            </a:extLst>
          </p:cNvPr>
          <p:cNvGrpSpPr/>
          <p:nvPr/>
        </p:nvGrpSpPr>
        <p:grpSpPr>
          <a:xfrm>
            <a:off x="1382298" y="2429185"/>
            <a:ext cx="3893906" cy="1495360"/>
            <a:chOff x="1382298" y="2429185"/>
            <a:chExt cx="3893906" cy="1495360"/>
          </a:xfrm>
          <a:solidFill>
            <a:srgbClr val="EAF3F8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A5A01E9-8B73-19DF-8E7B-BF0362BA37E6}"/>
                </a:ext>
              </a:extLst>
            </p:cNvPr>
            <p:cNvGrpSpPr/>
            <p:nvPr/>
          </p:nvGrpSpPr>
          <p:grpSpPr>
            <a:xfrm>
              <a:off x="1382298" y="2429185"/>
              <a:ext cx="3893906" cy="1495360"/>
              <a:chOff x="213358" y="1919130"/>
              <a:chExt cx="1283172" cy="1495360"/>
            </a:xfrm>
            <a:grpFill/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0B08CBE-9D28-3243-EF1E-1A39688506EF}"/>
                  </a:ext>
                </a:extLst>
              </p:cNvPr>
              <p:cNvSpPr/>
              <p:nvPr/>
            </p:nvSpPr>
            <p:spPr>
              <a:xfrm>
                <a:off x="213358" y="1919130"/>
                <a:ext cx="1283172" cy="149536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46A17D4-B5D6-A81A-B968-B118C17B664F}"/>
                  </a:ext>
                </a:extLst>
              </p:cNvPr>
              <p:cNvSpPr/>
              <p:nvPr/>
            </p:nvSpPr>
            <p:spPr>
              <a:xfrm>
                <a:off x="869945" y="2427304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recency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5EF1BA9-9DC9-1409-EBA8-5C5227EE6559}"/>
                  </a:ext>
                </a:extLst>
              </p:cNvPr>
              <p:cNvSpPr/>
              <p:nvPr/>
            </p:nvSpPr>
            <p:spPr>
              <a:xfrm>
                <a:off x="1174409" y="2427304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chemeClr val="bg1">
                        <a:lumMod val="85000"/>
                      </a:schemeClr>
                    </a:solidFill>
                    <a:latin typeface="Poppins Light"/>
                    <a:cs typeface="Sarabun Light"/>
                  </a:rPr>
                  <a:t>popularity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91E05A3-291C-BBDD-512E-F23BA1212B5A}"/>
                  </a:ext>
                </a:extLst>
              </p:cNvPr>
              <p:cNvSpPr txBox="1"/>
              <p:nvPr/>
            </p:nvSpPr>
            <p:spPr>
              <a:xfrm>
                <a:off x="240830" y="2000737"/>
                <a:ext cx="1236792" cy="261610"/>
              </a:xfrm>
              <a:prstGeom prst="rect">
                <a:avLst/>
              </a:prstGeom>
              <a:solidFill>
                <a:srgbClr val="EAF3F8"/>
              </a:solidFill>
              <a:ln>
                <a:solidFill>
                  <a:srgbClr val="EAF3F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Subscore function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1E32084-B913-4415-D0B3-055B1CC7648E}"/>
                  </a:ext>
                </a:extLst>
              </p:cNvPr>
              <p:cNvSpPr/>
              <p:nvPr/>
            </p:nvSpPr>
            <p:spPr>
              <a:xfrm>
                <a:off x="263504" y="2429832"/>
                <a:ext cx="278147" cy="370142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uLnTx/>
                    <a:uFillTx/>
                    <a:latin typeface="Poppins Light"/>
                    <a:ea typeface="+mn-ea"/>
                    <a:cs typeface="Sarabun Light"/>
                  </a:rPr>
                  <a:t>language</a:t>
                </a:r>
                <a:endParaRPr kumimoji="0" lang="en-T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897057F-9545-16C0-01BB-1D964DB494B3}"/>
                  </a:ext>
                </a:extLst>
              </p:cNvPr>
              <p:cNvSpPr txBox="1"/>
              <p:nvPr/>
            </p:nvSpPr>
            <p:spPr>
              <a:xfrm>
                <a:off x="566725" y="2435991"/>
                <a:ext cx="278147" cy="261610"/>
              </a:xfrm>
              <a:prstGeom prst="rect">
                <a:avLst/>
              </a:prstGeom>
              <a:grpFill/>
              <a:ln>
                <a:solidFill>
                  <a:srgbClr val="EAF3F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..…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9A4A720-32B8-BBCA-2418-31881FC3FD79}"/>
                </a:ext>
              </a:extLst>
            </p:cNvPr>
            <p:cNvSpPr/>
            <p:nvPr/>
          </p:nvSpPr>
          <p:spPr>
            <a:xfrm>
              <a:off x="3219863" y="3496554"/>
              <a:ext cx="218775" cy="218775"/>
            </a:xfrm>
            <a:prstGeom prst="ellips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1002">
              <a:schemeClr val="lt2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B61C9D33-B4DA-F6D5-5C5C-57EE51A833D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8517" y="3408600"/>
              <a:ext cx="285151" cy="145465"/>
            </a:xfrm>
            <a:prstGeom prst="bentConnector3">
              <a:avLst>
                <a:gd name="adj1" fmla="val 3235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CC9DF323-DD2B-B87C-0682-8C73046C8B2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12821" y="3443748"/>
              <a:ext cx="1204911" cy="211472"/>
            </a:xfrm>
            <a:prstGeom prst="bentConnector3">
              <a:avLst>
                <a:gd name="adj1" fmla="val -791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F6D0A03E-8B33-9558-C583-D1FBEF2BAE4A}"/>
                </a:ext>
              </a:extLst>
            </p:cNvPr>
            <p:cNvCxnSpPr>
              <a:cxnSpLocks/>
            </p:cNvCxnSpPr>
            <p:nvPr/>
          </p:nvCxnSpPr>
          <p:spPr>
            <a:xfrm>
              <a:off x="2864833" y="3414814"/>
              <a:ext cx="285151" cy="145465"/>
            </a:xfrm>
            <a:prstGeom prst="bentConnector3">
              <a:avLst>
                <a:gd name="adj1" fmla="val 3235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0EAAE398-AFA7-841F-9065-D782A67E70AC}"/>
                </a:ext>
              </a:extLst>
            </p:cNvPr>
            <p:cNvCxnSpPr>
              <a:cxnSpLocks/>
            </p:cNvCxnSpPr>
            <p:nvPr/>
          </p:nvCxnSpPr>
          <p:spPr>
            <a:xfrm>
              <a:off x="1945073" y="3448329"/>
              <a:ext cx="1204911" cy="211472"/>
            </a:xfrm>
            <a:prstGeom prst="bentConnector3">
              <a:avLst>
                <a:gd name="adj1" fmla="val -791"/>
              </a:avLst>
            </a:prstGeom>
            <a:grp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8A8366F-E167-87C0-780F-2BC380B36722}"/>
              </a:ext>
            </a:extLst>
          </p:cNvPr>
          <p:cNvCxnSpPr>
            <a:cxnSpLocks/>
          </p:cNvCxnSpPr>
          <p:nvPr/>
        </p:nvCxnSpPr>
        <p:spPr>
          <a:xfrm>
            <a:off x="3331163" y="3812302"/>
            <a:ext cx="0" cy="37872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3A3CD5D-1605-0914-D5FB-DA7A09B8A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635" y="1238128"/>
            <a:ext cx="4132130" cy="53568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2A4FA0-ABDF-C328-CA50-AFB46F45CD52}"/>
              </a:ext>
            </a:extLst>
          </p:cNvPr>
          <p:cNvSpPr txBox="1"/>
          <p:nvPr/>
        </p:nvSpPr>
        <p:spPr>
          <a:xfrm>
            <a:off x="6404638" y="879576"/>
            <a:ext cx="5282538" cy="33855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Sort + Top-N + Final output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2C8385-C90E-2777-9734-FDDC31E4AB4E}"/>
              </a:ext>
            </a:extLst>
          </p:cNvPr>
          <p:cNvSpPr/>
          <p:nvPr/>
        </p:nvSpPr>
        <p:spPr>
          <a:xfrm>
            <a:off x="2532347" y="6094969"/>
            <a:ext cx="1593806" cy="4397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E7B271-5982-599F-C54B-741BC61267D3}"/>
              </a:ext>
            </a:extLst>
          </p:cNvPr>
          <p:cNvCxnSpPr>
            <a:cxnSpLocks/>
          </p:cNvCxnSpPr>
          <p:nvPr/>
        </p:nvCxnSpPr>
        <p:spPr>
          <a:xfrm>
            <a:off x="3333323" y="5694868"/>
            <a:ext cx="0" cy="30977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86B1882E-CD11-7CB3-E288-C144D854FDCF}"/>
              </a:ext>
            </a:extLst>
          </p:cNvPr>
          <p:cNvSpPr txBox="1">
            <a:spLocks/>
          </p:cNvSpPr>
          <p:nvPr/>
        </p:nvSpPr>
        <p:spPr>
          <a:xfrm>
            <a:off x="365759" y="234845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>
                <a:ea typeface="+mn-lt"/>
                <a:cs typeface="+mn-lt"/>
              </a:rPr>
              <a:t>Subscore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8642016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F5AA-2FB3-DF51-4954-123B1CDFB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53937A-482A-20D9-1DCC-DA2E519C38E7}"/>
              </a:ext>
            </a:extLst>
          </p:cNvPr>
          <p:cNvSpPr txBox="1">
            <a:spLocks/>
          </p:cNvSpPr>
          <p:nvPr/>
        </p:nvSpPr>
        <p:spPr>
          <a:xfrm>
            <a:off x="479425" y="2444115"/>
            <a:ext cx="11233150" cy="984885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algn="ctr"/>
            <a:r>
              <a:rPr lang="en-US" b="1" dirty="0"/>
              <a:t>Sprint review #10</a:t>
            </a:r>
            <a:br>
              <a:rPr lang="en-US" b="1" dirty="0"/>
            </a:br>
            <a:r>
              <a:rPr lang="en-US" b="1" dirty="0" err="1"/>
              <a:t>HyDE</a:t>
            </a:r>
            <a:r>
              <a:rPr lang="en-US" b="1" dirty="0"/>
              <a:t> feed recommendation</a:t>
            </a:r>
            <a:endParaRPr lang="en-US" sz="2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856F8-1B34-DF94-104F-3C7CE2CFB747}"/>
              </a:ext>
            </a:extLst>
          </p:cNvPr>
          <p:cNvSpPr txBox="1">
            <a:spLocks/>
          </p:cNvSpPr>
          <p:nvPr/>
        </p:nvSpPr>
        <p:spPr>
          <a:xfrm>
            <a:off x="152399" y="5233942"/>
            <a:ext cx="11820525" cy="139903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accent1">
                    <a:lumMod val="10000"/>
                  </a:schemeClr>
                </a:solidFill>
              </a:rPr>
              <a:t>API Spec Link : </a:t>
            </a:r>
            <a:endParaRPr lang="en-US" sz="1100" b="1" dirty="0">
              <a:solidFill>
                <a:srgbClr val="509BC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accent1">
                    <a:lumMod val="10000"/>
                  </a:schemeClr>
                </a:solidFill>
              </a:rPr>
              <a:t>Orchestrator : </a:t>
            </a:r>
            <a:endParaRPr lang="en-US" sz="1100" b="1" dirty="0">
              <a:solidFill>
                <a:srgbClr val="509BC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accent1">
                    <a:lumMod val="10000"/>
                  </a:schemeClr>
                </a:solidFill>
              </a:rPr>
              <a:t>API core evaluation link : </a:t>
            </a:r>
            <a:r>
              <a:rPr lang="en-US" sz="1100" b="1" dirty="0">
                <a:solidFill>
                  <a:srgbClr val="509BCA"/>
                </a:solidFill>
                <a:hlinkClick r:id="rId2"/>
              </a:rPr>
              <a:t>https://hyderecomment-service-v1-1-0-du7yhkyaqq-as.a.run.app/docs#/</a:t>
            </a:r>
            <a:endParaRPr lang="en-US" sz="1100" b="1" dirty="0">
              <a:solidFill>
                <a:srgbClr val="509BC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 err="1">
                <a:solidFill>
                  <a:schemeClr val="accent1">
                    <a:lumMod val="10000"/>
                  </a:schemeClr>
                </a:solidFill>
              </a:rPr>
              <a:t>Github</a:t>
            </a:r>
            <a:r>
              <a:rPr lang="en-US" sz="1100" b="1" dirty="0">
                <a:solidFill>
                  <a:schemeClr val="accent1">
                    <a:lumMod val="10000"/>
                  </a:schemeClr>
                </a:solidFill>
              </a:rPr>
              <a:t> :</a:t>
            </a:r>
            <a:r>
              <a:rPr lang="en-US" sz="1100" b="1" dirty="0">
                <a:solidFill>
                  <a:srgbClr val="509BCA"/>
                </a:solidFill>
              </a:rPr>
              <a:t> </a:t>
            </a:r>
            <a:r>
              <a:rPr lang="en-US" sz="1100" b="1" dirty="0">
                <a:solidFill>
                  <a:srgbClr val="509BCA"/>
                </a:solidFill>
                <a:hlinkClick r:id="rId3"/>
              </a:rPr>
              <a:t>https://github.com/TunKedsaro/Hyde</a:t>
            </a:r>
            <a:endParaRPr lang="en-US" sz="1100" b="1" dirty="0">
              <a:solidFill>
                <a:srgbClr val="509BC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/>
              <a:t>QA</a:t>
            </a:r>
            <a:r>
              <a:rPr lang="en-US" sz="1100" b="1" dirty="0">
                <a:solidFill>
                  <a:srgbClr val="509BCA"/>
                </a:solidFill>
              </a:rPr>
              <a:t> : https://humanintelligence.atlassian.net/wiki/spaces/CPM/pages/134611027/QA+Test+Plan+CV+Evaluation+Pipeline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A87737-0B57-7014-8810-9BFEA45D90DE}"/>
              </a:ext>
            </a:extLst>
          </p:cNvPr>
          <p:cNvSpPr txBox="1">
            <a:spLocks/>
          </p:cNvSpPr>
          <p:nvPr/>
        </p:nvSpPr>
        <p:spPr>
          <a:xfrm>
            <a:off x="152399" y="5933461"/>
            <a:ext cx="11820525" cy="2299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endParaRPr lang="en-US" sz="110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18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E3108-B005-42B2-A96E-6D196B46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16A4-FF4B-4A1B-03E2-77BB1FCCE783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699D74F-99B7-4092-4F9B-C74F49ACFF70}"/>
              </a:ext>
            </a:extLst>
          </p:cNvPr>
          <p:cNvGrpSpPr/>
          <p:nvPr/>
        </p:nvGrpSpPr>
        <p:grpSpPr>
          <a:xfrm>
            <a:off x="7852615" y="1692958"/>
            <a:ext cx="3893906" cy="1495360"/>
            <a:chOff x="213358" y="1919130"/>
            <a:chExt cx="1283172" cy="149536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F9B0A35-2BE7-36B7-32CA-412B8828FA89}"/>
                </a:ext>
              </a:extLst>
            </p:cNvPr>
            <p:cNvSpPr/>
            <p:nvPr/>
          </p:nvSpPr>
          <p:spPr>
            <a:xfrm>
              <a:off x="213358" y="1919130"/>
              <a:ext cx="1283172" cy="14953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4F9D6B7-0CB3-9F0D-1BE4-50DDA214BE6A}"/>
                </a:ext>
              </a:extLst>
            </p:cNvPr>
            <p:cNvSpPr/>
            <p:nvPr/>
          </p:nvSpPr>
          <p:spPr>
            <a:xfrm>
              <a:off x="259738" y="2429685"/>
              <a:ext cx="278147" cy="3701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vector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FCB8A93-70BF-F62F-7CB7-EFDBC7706A24}"/>
                </a:ext>
              </a:extLst>
            </p:cNvPr>
            <p:cNvSpPr/>
            <p:nvPr/>
          </p:nvSpPr>
          <p:spPr>
            <a:xfrm>
              <a:off x="869945" y="2427304"/>
              <a:ext cx="278147" cy="3701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recency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0EE38DA-69BB-3386-EE5E-0C7A72A8CC18}"/>
                </a:ext>
              </a:extLst>
            </p:cNvPr>
            <p:cNvSpPr/>
            <p:nvPr/>
          </p:nvSpPr>
          <p:spPr>
            <a:xfrm>
              <a:off x="1174409" y="2427304"/>
              <a:ext cx="278147" cy="3701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popularity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D143143-F02D-D0A8-DD2D-8CD33365D142}"/>
                </a:ext>
              </a:extLst>
            </p:cNvPr>
            <p:cNvSpPr txBox="1"/>
            <p:nvPr/>
          </p:nvSpPr>
          <p:spPr>
            <a:xfrm>
              <a:off x="213358" y="2002005"/>
              <a:ext cx="12831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Subscore function</a:t>
              </a:r>
              <a:endParaRPr lang="en-US" sz="105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FD29C34-BE17-4131-0947-89EE8CBA755E}"/>
                </a:ext>
              </a:extLst>
            </p:cNvPr>
            <p:cNvSpPr/>
            <p:nvPr/>
          </p:nvSpPr>
          <p:spPr>
            <a:xfrm>
              <a:off x="564202" y="2429832"/>
              <a:ext cx="278147" cy="3701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language</a:t>
              </a:r>
              <a:endPara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6A45E7CF-2722-D5C5-6438-9552C61CCEB0}"/>
              </a:ext>
            </a:extLst>
          </p:cNvPr>
          <p:cNvSpPr/>
          <p:nvPr/>
        </p:nvSpPr>
        <p:spPr>
          <a:xfrm>
            <a:off x="9690180" y="2760327"/>
            <a:ext cx="218775" cy="218775"/>
          </a:xfrm>
          <a:prstGeom prst="ellipse">
            <a:avLst/>
          </a:prstGeom>
        </p:spPr>
        <p:style>
          <a:lnRef idx="1">
            <a:schemeClr val="dk1"/>
          </a:lnRef>
          <a:fillRef idx="1002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E1C9462D-C44B-11AC-BC35-0387D8420C5B}"/>
              </a:ext>
            </a:extLst>
          </p:cNvPr>
          <p:cNvCxnSpPr>
            <a:cxnSpLocks/>
          </p:cNvCxnSpPr>
          <p:nvPr/>
        </p:nvCxnSpPr>
        <p:spPr>
          <a:xfrm>
            <a:off x="9335150" y="2678587"/>
            <a:ext cx="285151" cy="145465"/>
          </a:xfrm>
          <a:prstGeom prst="bentConnector3">
            <a:avLst>
              <a:gd name="adj1" fmla="val 32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C06FA5A9-BDA8-61EF-4A44-C40D94D0C797}"/>
              </a:ext>
            </a:extLst>
          </p:cNvPr>
          <p:cNvCxnSpPr>
            <a:cxnSpLocks/>
          </p:cNvCxnSpPr>
          <p:nvPr/>
        </p:nvCxnSpPr>
        <p:spPr>
          <a:xfrm>
            <a:off x="8415390" y="2712102"/>
            <a:ext cx="1204911" cy="211472"/>
          </a:xfrm>
          <a:prstGeom prst="bentConnector3">
            <a:avLst>
              <a:gd name="adj1" fmla="val -7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A319B761-4AB0-7EC6-E1F2-4B4CAC1F8A95}"/>
              </a:ext>
            </a:extLst>
          </p:cNvPr>
          <p:cNvCxnSpPr>
            <a:cxnSpLocks/>
          </p:cNvCxnSpPr>
          <p:nvPr/>
        </p:nvCxnSpPr>
        <p:spPr>
          <a:xfrm rot="10800000" flipV="1">
            <a:off x="9978834" y="2672373"/>
            <a:ext cx="285151" cy="145465"/>
          </a:xfrm>
          <a:prstGeom prst="bentConnector3">
            <a:avLst>
              <a:gd name="adj1" fmla="val 32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FEE43F30-98CF-1FCB-6C05-0B5A8DEEC959}"/>
              </a:ext>
            </a:extLst>
          </p:cNvPr>
          <p:cNvCxnSpPr>
            <a:cxnSpLocks/>
          </p:cNvCxnSpPr>
          <p:nvPr/>
        </p:nvCxnSpPr>
        <p:spPr>
          <a:xfrm rot="10800000" flipV="1">
            <a:off x="9983138" y="2707521"/>
            <a:ext cx="1204911" cy="211472"/>
          </a:xfrm>
          <a:prstGeom prst="bentConnector3">
            <a:avLst>
              <a:gd name="adj1" fmla="val -7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6785734-C630-71E8-4286-A1F5E1D83C41}"/>
              </a:ext>
            </a:extLst>
          </p:cNvPr>
          <p:cNvCxnSpPr>
            <a:cxnSpLocks/>
          </p:cNvCxnSpPr>
          <p:nvPr/>
        </p:nvCxnSpPr>
        <p:spPr>
          <a:xfrm>
            <a:off x="9801480" y="3076075"/>
            <a:ext cx="0" cy="37872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84BBE1E1-9ECE-495C-983E-993DEA77D182}"/>
              </a:ext>
            </a:extLst>
          </p:cNvPr>
          <p:cNvSpPr/>
          <p:nvPr/>
        </p:nvSpPr>
        <p:spPr>
          <a:xfrm>
            <a:off x="9002664" y="3561203"/>
            <a:ext cx="1593806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Weighted Aggregation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A32EABA-9612-3DF5-B5E7-C3EDDDD63901}"/>
              </a:ext>
            </a:extLst>
          </p:cNvPr>
          <p:cNvCxnSpPr>
            <a:cxnSpLocks/>
          </p:cNvCxnSpPr>
          <p:nvPr/>
        </p:nvCxnSpPr>
        <p:spPr>
          <a:xfrm>
            <a:off x="9803393" y="4074066"/>
            <a:ext cx="0" cy="30977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E94A9B1-B78C-F931-BA66-AD0D28AB46E5}"/>
              </a:ext>
            </a:extLst>
          </p:cNvPr>
          <p:cNvSpPr/>
          <p:nvPr/>
        </p:nvSpPr>
        <p:spPr>
          <a:xfrm>
            <a:off x="9004577" y="4456902"/>
            <a:ext cx="1593806" cy="439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Sort + Top-N + Final Output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B3B67C8-4953-4FA1-0DA7-C6221C3C2F1F}"/>
              </a:ext>
            </a:extLst>
          </p:cNvPr>
          <p:cNvSpPr/>
          <p:nvPr/>
        </p:nvSpPr>
        <p:spPr>
          <a:xfrm>
            <a:off x="9002664" y="5358742"/>
            <a:ext cx="1593806" cy="4397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Json response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D63312C-FFD9-ADDC-84C0-D8576A5F69DD}"/>
              </a:ext>
            </a:extLst>
          </p:cNvPr>
          <p:cNvCxnSpPr>
            <a:cxnSpLocks/>
          </p:cNvCxnSpPr>
          <p:nvPr/>
        </p:nvCxnSpPr>
        <p:spPr>
          <a:xfrm>
            <a:off x="9803640" y="4958641"/>
            <a:ext cx="0" cy="30977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083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541B-0A76-72C4-4D15-795DD2EF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BE3ADA1-3A9A-8FE9-47EA-F3F0D8B5717E}"/>
              </a:ext>
            </a:extLst>
          </p:cNvPr>
          <p:cNvSpPr/>
          <p:nvPr/>
        </p:nvSpPr>
        <p:spPr>
          <a:xfrm>
            <a:off x="2038350" y="1980000"/>
            <a:ext cx="8134350" cy="295394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4AC729-C05D-3FFB-9999-A4FEE5F91023}"/>
              </a:ext>
            </a:extLst>
          </p:cNvPr>
          <p:cNvSpPr/>
          <p:nvPr/>
        </p:nvSpPr>
        <p:spPr>
          <a:xfrm>
            <a:off x="2133682" y="3196625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Prepare_history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27D3CA-C4EB-E98B-981D-1BEA1A288E34}"/>
              </a:ext>
            </a:extLst>
          </p:cNvPr>
          <p:cNvCxnSpPr>
            <a:cxnSpLocks/>
          </p:cNvCxnSpPr>
          <p:nvPr/>
        </p:nvCxnSpPr>
        <p:spPr>
          <a:xfrm>
            <a:off x="3589725" y="34290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4FFC1ED-2DFE-D4EA-4CFE-7E315B0FAB25}"/>
              </a:ext>
            </a:extLst>
          </p:cNvPr>
          <p:cNvSpPr/>
          <p:nvPr/>
        </p:nvSpPr>
        <p:spPr>
          <a:xfrm>
            <a:off x="3962040" y="3196625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User_context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95956C-8490-E250-2BA7-2BBB7B60E0CE}"/>
              </a:ext>
            </a:extLst>
          </p:cNvPr>
          <p:cNvCxnSpPr>
            <a:cxnSpLocks/>
          </p:cNvCxnSpPr>
          <p:nvPr/>
        </p:nvCxnSpPr>
        <p:spPr>
          <a:xfrm>
            <a:off x="5418083" y="34290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CEAB85F-FE59-ACA9-18E1-40B13A4BD6E9}"/>
              </a:ext>
            </a:extLst>
          </p:cNvPr>
          <p:cNvSpPr/>
          <p:nvPr/>
        </p:nvSpPr>
        <p:spPr>
          <a:xfrm>
            <a:off x="5418083" y="408245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HyDE_prompt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4FB5F0-C653-871F-A6B3-0BC610396C5C}"/>
              </a:ext>
            </a:extLst>
          </p:cNvPr>
          <p:cNvCxnSpPr>
            <a:cxnSpLocks/>
          </p:cNvCxnSpPr>
          <p:nvPr/>
        </p:nvCxnSpPr>
        <p:spPr>
          <a:xfrm>
            <a:off x="6395481" y="343795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6D0BEB7-DD1B-3C1F-A5C0-1D788BB285DC}"/>
              </a:ext>
            </a:extLst>
          </p:cNvPr>
          <p:cNvSpPr/>
          <p:nvPr/>
        </p:nvSpPr>
        <p:spPr>
          <a:xfrm>
            <a:off x="5418083" y="227155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Llm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</a:t>
            </a: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_flast_2.5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B305CD-D448-E9CC-858B-069405BC5979}"/>
              </a:ext>
            </a:extLst>
          </p:cNvPr>
          <p:cNvCxnSpPr>
            <a:cxnSpLocks/>
          </p:cNvCxnSpPr>
          <p:nvPr/>
        </p:nvCxnSpPr>
        <p:spPr>
          <a:xfrm>
            <a:off x="6096000" y="2845400"/>
            <a:ext cx="0" cy="25775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6123FEF-8A19-CEB0-6CC1-7DC2EBA72904}"/>
              </a:ext>
            </a:extLst>
          </p:cNvPr>
          <p:cNvCxnSpPr>
            <a:cxnSpLocks/>
          </p:cNvCxnSpPr>
          <p:nvPr/>
        </p:nvCxnSpPr>
        <p:spPr>
          <a:xfrm flipV="1">
            <a:off x="6096000" y="3747100"/>
            <a:ext cx="0" cy="25775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EDFB595-41B9-03DA-6445-757C17A095A7}"/>
              </a:ext>
            </a:extLst>
          </p:cNvPr>
          <p:cNvSpPr/>
          <p:nvPr/>
        </p:nvSpPr>
        <p:spPr>
          <a:xfrm>
            <a:off x="6874126" y="317700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gemini-embedding-001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41BAFBD-D06A-3196-01A3-E148C91683CA}"/>
              </a:ext>
            </a:extLst>
          </p:cNvPr>
          <p:cNvCxnSpPr>
            <a:cxnSpLocks/>
          </p:cNvCxnSpPr>
          <p:nvPr/>
        </p:nvCxnSpPr>
        <p:spPr>
          <a:xfrm>
            <a:off x="8330169" y="34290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A37595C-0CE4-03FC-C84A-0E688B87E3B1}"/>
              </a:ext>
            </a:extLst>
          </p:cNvPr>
          <p:cNvSpPr/>
          <p:nvPr/>
        </p:nvSpPr>
        <p:spPr>
          <a:xfrm>
            <a:off x="8702484" y="317700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Embedded vector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61E1171-43ED-6EF2-3743-8E68578D339D}"/>
              </a:ext>
            </a:extLst>
          </p:cNvPr>
          <p:cNvSpPr/>
          <p:nvPr/>
        </p:nvSpPr>
        <p:spPr>
          <a:xfrm>
            <a:off x="5896850" y="3249475"/>
            <a:ext cx="398300" cy="398300"/>
          </a:xfrm>
          <a:prstGeom prst="ellipse">
            <a:avLst/>
          </a:prstGeom>
        </p:spPr>
        <p:style>
          <a:lnRef idx="1">
            <a:schemeClr val="dk1"/>
          </a:lnRef>
          <a:fillRef idx="1002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AC1DBE4-AEAD-2582-7B89-975D56CFB72A}"/>
              </a:ext>
            </a:extLst>
          </p:cNvPr>
          <p:cNvSpPr/>
          <p:nvPr/>
        </p:nvSpPr>
        <p:spPr>
          <a:xfrm>
            <a:off x="213358" y="3200925"/>
            <a:ext cx="1355834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Interactions.csv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00B4546-E99B-97F6-ECEB-173CBDDBC945}"/>
              </a:ext>
            </a:extLst>
          </p:cNvPr>
          <p:cNvCxnSpPr>
            <a:cxnSpLocks/>
          </p:cNvCxnSpPr>
          <p:nvPr/>
        </p:nvCxnSpPr>
        <p:spPr>
          <a:xfrm>
            <a:off x="1669401" y="34333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D265FA9-8EA5-E7B9-FDA0-74D105D771D9}"/>
              </a:ext>
            </a:extLst>
          </p:cNvPr>
          <p:cNvSpPr/>
          <p:nvPr/>
        </p:nvSpPr>
        <p:spPr>
          <a:xfrm>
            <a:off x="213358" y="3859025"/>
            <a:ext cx="1355834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Students.csv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A772040-F7F5-2396-3C8E-11729F40DFAD}"/>
              </a:ext>
            </a:extLst>
          </p:cNvPr>
          <p:cNvSpPr/>
          <p:nvPr/>
        </p:nvSpPr>
        <p:spPr>
          <a:xfrm>
            <a:off x="213358" y="2542825"/>
            <a:ext cx="1355834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feeds.jsonl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E52E076-C485-76E9-C2FC-12446C44FBFB}"/>
              </a:ext>
            </a:extLst>
          </p:cNvPr>
          <p:cNvSpPr/>
          <p:nvPr/>
        </p:nvSpPr>
        <p:spPr>
          <a:xfrm>
            <a:off x="10622808" y="2851150"/>
            <a:ext cx="1355834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stu_p001.npy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C327EB-52ED-7955-27F5-2252BF22826D}"/>
              </a:ext>
            </a:extLst>
          </p:cNvPr>
          <p:cNvSpPr/>
          <p:nvPr/>
        </p:nvSpPr>
        <p:spPr>
          <a:xfrm>
            <a:off x="10622808" y="3509250"/>
            <a:ext cx="1355834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stu_p001.json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E636E6E-ABB6-E275-C736-DEA53B728896}"/>
              </a:ext>
            </a:extLst>
          </p:cNvPr>
          <p:cNvCxnSpPr>
            <a:cxnSpLocks/>
          </p:cNvCxnSpPr>
          <p:nvPr/>
        </p:nvCxnSpPr>
        <p:spPr>
          <a:xfrm>
            <a:off x="10239375" y="3428049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3803B61-030D-A8C4-1BAD-C3CB757F025F}"/>
              </a:ext>
            </a:extLst>
          </p:cNvPr>
          <p:cNvGrpSpPr/>
          <p:nvPr/>
        </p:nvGrpSpPr>
        <p:grpSpPr>
          <a:xfrm>
            <a:off x="10474617" y="5418270"/>
            <a:ext cx="1758365" cy="1333699"/>
            <a:chOff x="310230" y="5605659"/>
            <a:chExt cx="1758365" cy="133369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9DA09E-1598-02C6-8CB3-60B1DD41AD20}"/>
                </a:ext>
              </a:extLst>
            </p:cNvPr>
            <p:cNvGrpSpPr/>
            <p:nvPr/>
          </p:nvGrpSpPr>
          <p:grpSpPr>
            <a:xfrm>
              <a:off x="310231" y="5963091"/>
              <a:ext cx="1758364" cy="976267"/>
              <a:chOff x="10285063" y="608166"/>
              <a:chExt cx="1836174" cy="976267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52DF7D03-F799-EEE0-CCF5-3CE13BD2EC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85065" y="1544858"/>
                <a:ext cx="31748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Rounded Rectangle 29">
                <a:extLst>
                  <a:ext uri="{FF2B5EF4-FFF2-40B4-BE49-F238E27FC236}">
                    <a16:creationId xmlns:a16="http://schemas.microsoft.com/office/drawing/2014/main" id="{0032A9CA-D757-1CA8-5E22-1E728C4CBBA7}"/>
                  </a:ext>
                </a:extLst>
              </p:cNvPr>
              <p:cNvSpPr/>
              <p:nvPr/>
            </p:nvSpPr>
            <p:spPr>
              <a:xfrm>
                <a:off x="10285065" y="892606"/>
                <a:ext cx="1541315" cy="211431"/>
              </a:xfrm>
              <a:prstGeom prst="roundRect">
                <a:avLst>
                  <a:gd name="adj" fmla="val 1282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rebuchet MS" panose="020B0703020202090204" pitchFamily="34" charset="0"/>
                    <a:ea typeface="+mn-ea"/>
                    <a:cs typeface="Sarabun Light"/>
                  </a:rPr>
                  <a:t>Process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9" name="Rounded Rectangle 30">
                <a:extLst>
                  <a:ext uri="{FF2B5EF4-FFF2-40B4-BE49-F238E27FC236}">
                    <a16:creationId xmlns:a16="http://schemas.microsoft.com/office/drawing/2014/main" id="{E6B563B5-F8CF-8602-7894-C02949FE5449}"/>
                  </a:ext>
                </a:extLst>
              </p:cNvPr>
              <p:cNvSpPr/>
              <p:nvPr/>
            </p:nvSpPr>
            <p:spPr>
              <a:xfrm>
                <a:off x="10285063" y="1167222"/>
                <a:ext cx="1541315" cy="228150"/>
              </a:xfrm>
              <a:prstGeom prst="roundRect">
                <a:avLst>
                  <a:gd name="adj" fmla="val 1282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>
                        <a:lumMod val="10000"/>
                      </a:schemeClr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Output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0" name="TextBox 37">
                <a:extLst>
                  <a:ext uri="{FF2B5EF4-FFF2-40B4-BE49-F238E27FC236}">
                    <a16:creationId xmlns:a16="http://schemas.microsoft.com/office/drawing/2014/main" id="{DB856E54-FB83-0744-5970-1F16F0D88995}"/>
                  </a:ext>
                </a:extLst>
              </p:cNvPr>
              <p:cNvSpPr txBox="1"/>
              <p:nvPr/>
            </p:nvSpPr>
            <p:spPr>
              <a:xfrm>
                <a:off x="10647876" y="1445934"/>
                <a:ext cx="1473361" cy="138499"/>
              </a:xfrm>
              <a:prstGeom prst="rect">
                <a:avLst/>
              </a:prstGeom>
              <a:noFill/>
            </p:spPr>
            <p:txBody>
              <a:bodyPr wrap="square" lIns="36000" tIns="0" rIns="0" bIns="0" rtlCol="0" anchor="ctr">
                <a:spAutoFit/>
              </a:bodyPr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Process</a:t>
                </a:r>
                <a:endParaRPr kumimoji="0" lang="en-T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2" name="Rounded Rectangle 40">
                <a:extLst>
                  <a:ext uri="{FF2B5EF4-FFF2-40B4-BE49-F238E27FC236}">
                    <a16:creationId xmlns:a16="http://schemas.microsoft.com/office/drawing/2014/main" id="{1FC3DC5B-3214-8558-AE26-38D4F6EAC18D}"/>
                  </a:ext>
                </a:extLst>
              </p:cNvPr>
              <p:cNvSpPr/>
              <p:nvPr/>
            </p:nvSpPr>
            <p:spPr>
              <a:xfrm>
                <a:off x="10285064" y="608166"/>
                <a:ext cx="1541315" cy="211025"/>
              </a:xfrm>
              <a:prstGeom prst="roundRect">
                <a:avLst>
                  <a:gd name="adj" fmla="val 1282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Input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</p:grpSp>
        <p:sp>
          <p:nvSpPr>
            <p:cNvPr id="5" name="TextBox 12">
              <a:extLst>
                <a:ext uri="{FF2B5EF4-FFF2-40B4-BE49-F238E27FC236}">
                  <a16:creationId xmlns:a16="http://schemas.microsoft.com/office/drawing/2014/main" id="{486FD62C-C13E-699C-CA8E-86925D5A14B6}"/>
                </a:ext>
              </a:extLst>
            </p:cNvPr>
            <p:cNvSpPr txBox="1"/>
            <p:nvPr/>
          </p:nvSpPr>
          <p:spPr>
            <a:xfrm>
              <a:off x="310230" y="5605659"/>
              <a:ext cx="14109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H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rPr>
                <a:t>Legend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996943-308A-3F81-9B8F-4FF388D1CE41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085563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9D3EC-AFF5-567E-E3A0-3150C0D2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888B5FE1-B1EE-48AE-0122-ADD0802056CE}"/>
              </a:ext>
            </a:extLst>
          </p:cNvPr>
          <p:cNvSpPr/>
          <p:nvPr/>
        </p:nvSpPr>
        <p:spPr>
          <a:xfrm>
            <a:off x="1265795" y="3476850"/>
            <a:ext cx="1355834" cy="504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Interactions.csv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B2808-7D52-F428-2F20-78BE0A3A13F6}"/>
              </a:ext>
            </a:extLst>
          </p:cNvPr>
          <p:cNvCxnSpPr>
            <a:cxnSpLocks/>
          </p:cNvCxnSpPr>
          <p:nvPr/>
        </p:nvCxnSpPr>
        <p:spPr>
          <a:xfrm>
            <a:off x="2855188" y="3709225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5BADBA4E-44A1-92EE-AD49-AC89F95BF31D}"/>
              </a:ext>
            </a:extLst>
          </p:cNvPr>
          <p:cNvSpPr/>
          <p:nvPr/>
        </p:nvSpPr>
        <p:spPr>
          <a:xfrm>
            <a:off x="1265795" y="4134950"/>
            <a:ext cx="1355834" cy="504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Students.csv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CDE6DC-B4A8-04C0-5503-190D811805EF}"/>
              </a:ext>
            </a:extLst>
          </p:cNvPr>
          <p:cNvSpPr/>
          <p:nvPr/>
        </p:nvSpPr>
        <p:spPr>
          <a:xfrm>
            <a:off x="1265795" y="2818750"/>
            <a:ext cx="1355834" cy="504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feeds.jsonl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pic>
        <p:nvPicPr>
          <p:cNvPr id="1026" name="Picture 2" descr="What Is BigQuery And How Do You Load Data Into It? - Seattle Data Guy">
            <a:extLst>
              <a:ext uri="{FF2B5EF4-FFF2-40B4-BE49-F238E27FC236}">
                <a16:creationId xmlns:a16="http://schemas.microsoft.com/office/drawing/2014/main" id="{F9602F6A-EFA2-16D3-10D7-431656411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437" y="3136996"/>
            <a:ext cx="2019300" cy="1135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9E74994-9AB4-C632-1081-59D8C36CDD17}"/>
              </a:ext>
            </a:extLst>
          </p:cNvPr>
          <p:cNvCxnSpPr>
            <a:cxnSpLocks/>
          </p:cNvCxnSpPr>
          <p:nvPr/>
        </p:nvCxnSpPr>
        <p:spPr>
          <a:xfrm>
            <a:off x="5514256" y="3704575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E7BE979-4626-6F9B-335F-2560BD679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68521"/>
            <a:ext cx="5137039" cy="44728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7EA77-AB81-EF31-E372-18A4CEAF26A8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08206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769FB-DED0-8C57-812D-3C47B8D7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4857E63-1039-14CD-3789-1829EC5E2EEF}"/>
              </a:ext>
            </a:extLst>
          </p:cNvPr>
          <p:cNvCxnSpPr>
            <a:cxnSpLocks/>
          </p:cNvCxnSpPr>
          <p:nvPr/>
        </p:nvCxnSpPr>
        <p:spPr>
          <a:xfrm>
            <a:off x="8405622" y="3547522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C7A1D03-1E3E-C6EF-A65E-3FAD28E3B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701" y="2135742"/>
            <a:ext cx="2975113" cy="3086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228ACE-7E12-03DD-1D84-437FA364B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114" y="1544525"/>
            <a:ext cx="2891556" cy="25106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5B0E25-8271-57D6-F055-52F62F20F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903" y="3678805"/>
            <a:ext cx="3840746" cy="206362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82F0E2-4112-B0B1-4C60-4A92DCE998B7}"/>
              </a:ext>
            </a:extLst>
          </p:cNvPr>
          <p:cNvCxnSpPr>
            <a:cxnSpLocks/>
          </p:cNvCxnSpPr>
          <p:nvPr/>
        </p:nvCxnSpPr>
        <p:spPr>
          <a:xfrm>
            <a:off x="3435339" y="3547522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BBD4B735-61B9-459E-30AB-7CFF24E70E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74" y="2118360"/>
            <a:ext cx="3010551" cy="2621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230067-3A14-5E10-B915-F7C71C60E21E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163200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A3B11-B2A2-3BA1-172B-2251B8AFA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8F8DE6C-8983-0BAA-1C8B-DDA548291FC9}"/>
              </a:ext>
            </a:extLst>
          </p:cNvPr>
          <p:cNvSpPr/>
          <p:nvPr/>
        </p:nvSpPr>
        <p:spPr>
          <a:xfrm>
            <a:off x="2038350" y="1980000"/>
            <a:ext cx="8134350" cy="295394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EF39C0-BCB3-7255-F716-67701DBCC1EC}"/>
              </a:ext>
            </a:extLst>
          </p:cNvPr>
          <p:cNvSpPr/>
          <p:nvPr/>
        </p:nvSpPr>
        <p:spPr>
          <a:xfrm>
            <a:off x="2133682" y="3196625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Prepare_history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8D229DD-9626-7C08-EA70-6B35351B4182}"/>
              </a:ext>
            </a:extLst>
          </p:cNvPr>
          <p:cNvCxnSpPr>
            <a:cxnSpLocks/>
          </p:cNvCxnSpPr>
          <p:nvPr/>
        </p:nvCxnSpPr>
        <p:spPr>
          <a:xfrm>
            <a:off x="3589725" y="34290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BB66556-2583-7F92-2AF8-D6C9F18602F0}"/>
              </a:ext>
            </a:extLst>
          </p:cNvPr>
          <p:cNvSpPr/>
          <p:nvPr/>
        </p:nvSpPr>
        <p:spPr>
          <a:xfrm>
            <a:off x="3962040" y="3196625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User_context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EB32BE-9EDA-A3A1-A2E0-1BD17DE500DA}"/>
              </a:ext>
            </a:extLst>
          </p:cNvPr>
          <p:cNvCxnSpPr>
            <a:cxnSpLocks/>
          </p:cNvCxnSpPr>
          <p:nvPr/>
        </p:nvCxnSpPr>
        <p:spPr>
          <a:xfrm>
            <a:off x="5418083" y="34290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29A5CCA-01DB-08F4-18D0-9FFB6C071F2B}"/>
              </a:ext>
            </a:extLst>
          </p:cNvPr>
          <p:cNvSpPr/>
          <p:nvPr/>
        </p:nvSpPr>
        <p:spPr>
          <a:xfrm>
            <a:off x="5418083" y="408245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HyDE_prompt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5D804C-6D86-14DA-5F65-0B6B9BA847E5}"/>
              </a:ext>
            </a:extLst>
          </p:cNvPr>
          <p:cNvCxnSpPr>
            <a:cxnSpLocks/>
          </p:cNvCxnSpPr>
          <p:nvPr/>
        </p:nvCxnSpPr>
        <p:spPr>
          <a:xfrm>
            <a:off x="6395481" y="343795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A6DEFDA-DFBF-6FC3-9033-84515C1E44CD}"/>
              </a:ext>
            </a:extLst>
          </p:cNvPr>
          <p:cNvSpPr/>
          <p:nvPr/>
        </p:nvSpPr>
        <p:spPr>
          <a:xfrm>
            <a:off x="5418083" y="227155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Llm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</a:t>
            </a: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_flast_2.5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811FB4-E982-E197-4A6C-7C6B1A573914}"/>
              </a:ext>
            </a:extLst>
          </p:cNvPr>
          <p:cNvCxnSpPr>
            <a:cxnSpLocks/>
          </p:cNvCxnSpPr>
          <p:nvPr/>
        </p:nvCxnSpPr>
        <p:spPr>
          <a:xfrm>
            <a:off x="6096000" y="2845400"/>
            <a:ext cx="0" cy="25775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CFC8C04-E477-2A24-67BA-CC930C28B45B}"/>
              </a:ext>
            </a:extLst>
          </p:cNvPr>
          <p:cNvCxnSpPr>
            <a:cxnSpLocks/>
          </p:cNvCxnSpPr>
          <p:nvPr/>
        </p:nvCxnSpPr>
        <p:spPr>
          <a:xfrm flipV="1">
            <a:off x="6096000" y="3747100"/>
            <a:ext cx="0" cy="25775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B9ADC7C-CAF6-BCCC-E34F-E7FDF6E27468}"/>
              </a:ext>
            </a:extLst>
          </p:cNvPr>
          <p:cNvSpPr/>
          <p:nvPr/>
        </p:nvSpPr>
        <p:spPr>
          <a:xfrm>
            <a:off x="6874126" y="317700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gemini-embedding-001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7609BE7-05CE-2857-8B3D-A49199716E46}"/>
              </a:ext>
            </a:extLst>
          </p:cNvPr>
          <p:cNvCxnSpPr>
            <a:cxnSpLocks/>
          </p:cNvCxnSpPr>
          <p:nvPr/>
        </p:nvCxnSpPr>
        <p:spPr>
          <a:xfrm>
            <a:off x="8330169" y="3429000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9EAC0BD-B423-80EB-93EE-A832DFF07215}"/>
              </a:ext>
            </a:extLst>
          </p:cNvPr>
          <p:cNvSpPr/>
          <p:nvPr/>
        </p:nvSpPr>
        <p:spPr>
          <a:xfrm>
            <a:off x="8702484" y="3177000"/>
            <a:ext cx="1355834" cy="50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Embedded vector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5DE9790-D272-7767-2D31-636922DA1CE4}"/>
              </a:ext>
            </a:extLst>
          </p:cNvPr>
          <p:cNvSpPr/>
          <p:nvPr/>
        </p:nvSpPr>
        <p:spPr>
          <a:xfrm>
            <a:off x="5896850" y="3249475"/>
            <a:ext cx="398300" cy="398300"/>
          </a:xfrm>
          <a:prstGeom prst="ellipse">
            <a:avLst/>
          </a:prstGeom>
        </p:spPr>
        <p:style>
          <a:lnRef idx="1">
            <a:schemeClr val="dk1"/>
          </a:lnRef>
          <a:fillRef idx="1002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B448FAF-A242-7883-0F02-04485E6C2C98}"/>
              </a:ext>
            </a:extLst>
          </p:cNvPr>
          <p:cNvSpPr/>
          <p:nvPr/>
        </p:nvSpPr>
        <p:spPr>
          <a:xfrm>
            <a:off x="10622808" y="2851150"/>
            <a:ext cx="1355834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stu_p001.npy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558804C-3681-E570-1617-085DFEA0C1E6}"/>
              </a:ext>
            </a:extLst>
          </p:cNvPr>
          <p:cNvSpPr/>
          <p:nvPr/>
        </p:nvSpPr>
        <p:spPr>
          <a:xfrm>
            <a:off x="10622808" y="3509250"/>
            <a:ext cx="1355834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stu_p001.json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1F40847-CBB0-AEEC-189E-47EEEB7E9119}"/>
              </a:ext>
            </a:extLst>
          </p:cNvPr>
          <p:cNvCxnSpPr>
            <a:cxnSpLocks/>
          </p:cNvCxnSpPr>
          <p:nvPr/>
        </p:nvCxnSpPr>
        <p:spPr>
          <a:xfrm>
            <a:off x="10239375" y="3428049"/>
            <a:ext cx="27210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631E7D3-C7E7-C1F1-CA85-B57721FEED4B}"/>
              </a:ext>
            </a:extLst>
          </p:cNvPr>
          <p:cNvGrpSpPr/>
          <p:nvPr/>
        </p:nvGrpSpPr>
        <p:grpSpPr>
          <a:xfrm>
            <a:off x="10474617" y="5418270"/>
            <a:ext cx="1758365" cy="1333699"/>
            <a:chOff x="310230" y="5605659"/>
            <a:chExt cx="1758365" cy="133369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5EB0891-F2A2-BA24-CB07-F6281F0B8966}"/>
                </a:ext>
              </a:extLst>
            </p:cNvPr>
            <p:cNvGrpSpPr/>
            <p:nvPr/>
          </p:nvGrpSpPr>
          <p:grpSpPr>
            <a:xfrm>
              <a:off x="310231" y="5963091"/>
              <a:ext cx="1758364" cy="976267"/>
              <a:chOff x="10285063" y="608166"/>
              <a:chExt cx="1836174" cy="976267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DF0AB815-FDFA-F598-6AD4-FE34959C8D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85065" y="1544858"/>
                <a:ext cx="31748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Rounded Rectangle 29">
                <a:extLst>
                  <a:ext uri="{FF2B5EF4-FFF2-40B4-BE49-F238E27FC236}">
                    <a16:creationId xmlns:a16="http://schemas.microsoft.com/office/drawing/2014/main" id="{20730BC9-7502-1BD7-37EB-82A62774131D}"/>
                  </a:ext>
                </a:extLst>
              </p:cNvPr>
              <p:cNvSpPr/>
              <p:nvPr/>
            </p:nvSpPr>
            <p:spPr>
              <a:xfrm>
                <a:off x="10285065" y="892606"/>
                <a:ext cx="1541315" cy="211431"/>
              </a:xfrm>
              <a:prstGeom prst="roundRect">
                <a:avLst>
                  <a:gd name="adj" fmla="val 1282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rebuchet MS" panose="020B0703020202090204" pitchFamily="34" charset="0"/>
                    <a:ea typeface="+mn-ea"/>
                    <a:cs typeface="Sarabun Light"/>
                  </a:rPr>
                  <a:t>Process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9" name="Rounded Rectangle 30">
                <a:extLst>
                  <a:ext uri="{FF2B5EF4-FFF2-40B4-BE49-F238E27FC236}">
                    <a16:creationId xmlns:a16="http://schemas.microsoft.com/office/drawing/2014/main" id="{3183D21D-B876-46CC-9782-5D4998E8FE77}"/>
                  </a:ext>
                </a:extLst>
              </p:cNvPr>
              <p:cNvSpPr/>
              <p:nvPr/>
            </p:nvSpPr>
            <p:spPr>
              <a:xfrm>
                <a:off x="10285063" y="1167222"/>
                <a:ext cx="1541315" cy="228150"/>
              </a:xfrm>
              <a:prstGeom prst="roundRect">
                <a:avLst>
                  <a:gd name="adj" fmla="val 1282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>
                        <a:lumMod val="10000"/>
                      </a:schemeClr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Output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0" name="TextBox 37">
                <a:extLst>
                  <a:ext uri="{FF2B5EF4-FFF2-40B4-BE49-F238E27FC236}">
                    <a16:creationId xmlns:a16="http://schemas.microsoft.com/office/drawing/2014/main" id="{E5C540BB-C1EE-2AAC-7CED-27E058AD2490}"/>
                  </a:ext>
                </a:extLst>
              </p:cNvPr>
              <p:cNvSpPr txBox="1"/>
              <p:nvPr/>
            </p:nvSpPr>
            <p:spPr>
              <a:xfrm>
                <a:off x="10647876" y="1445934"/>
                <a:ext cx="1473361" cy="138499"/>
              </a:xfrm>
              <a:prstGeom prst="rect">
                <a:avLst/>
              </a:prstGeom>
              <a:noFill/>
            </p:spPr>
            <p:txBody>
              <a:bodyPr wrap="square" lIns="36000" tIns="0" rIns="0" bIns="0" rtlCol="0" anchor="ctr">
                <a:spAutoFit/>
              </a:bodyPr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Process</a:t>
                </a:r>
                <a:endParaRPr kumimoji="0" lang="en-T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2" name="Rounded Rectangle 40">
                <a:extLst>
                  <a:ext uri="{FF2B5EF4-FFF2-40B4-BE49-F238E27FC236}">
                    <a16:creationId xmlns:a16="http://schemas.microsoft.com/office/drawing/2014/main" id="{00716CF0-652E-B754-01C9-B8080258E112}"/>
                  </a:ext>
                </a:extLst>
              </p:cNvPr>
              <p:cNvSpPr/>
              <p:nvPr/>
            </p:nvSpPr>
            <p:spPr>
              <a:xfrm>
                <a:off x="10285064" y="608166"/>
                <a:ext cx="1541315" cy="211025"/>
              </a:xfrm>
              <a:prstGeom prst="roundRect">
                <a:avLst>
                  <a:gd name="adj" fmla="val 1282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Input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</p:grpSp>
        <p:sp>
          <p:nvSpPr>
            <p:cNvPr id="5" name="TextBox 12">
              <a:extLst>
                <a:ext uri="{FF2B5EF4-FFF2-40B4-BE49-F238E27FC236}">
                  <a16:creationId xmlns:a16="http://schemas.microsoft.com/office/drawing/2014/main" id="{DD0324BA-7F7C-50F1-1F7D-AEA735BBD6FD}"/>
                </a:ext>
              </a:extLst>
            </p:cNvPr>
            <p:cNvSpPr txBox="1"/>
            <p:nvPr/>
          </p:nvSpPr>
          <p:spPr>
            <a:xfrm>
              <a:off x="310230" y="5605659"/>
              <a:ext cx="14109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H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rPr>
                <a:t>Legend</a:t>
              </a:r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AC9E817-E835-3D61-4B38-A4C10FA27EDD}"/>
              </a:ext>
            </a:extLst>
          </p:cNvPr>
          <p:cNvCxnSpPr>
            <a:cxnSpLocks/>
          </p:cNvCxnSpPr>
          <p:nvPr/>
        </p:nvCxnSpPr>
        <p:spPr>
          <a:xfrm>
            <a:off x="1669401" y="34333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2" descr="What Is BigQuery And How Do You Load Data Into It? - Seattle Data Guy">
            <a:extLst>
              <a:ext uri="{FF2B5EF4-FFF2-40B4-BE49-F238E27FC236}">
                <a16:creationId xmlns:a16="http://schemas.microsoft.com/office/drawing/2014/main" id="{AA84E98D-4943-20DD-2539-EC704766E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42" y="3052552"/>
            <a:ext cx="1335100" cy="75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A59CF53-033A-A89B-CB43-6BF0DA0FF845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906357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63D9-98D8-5832-D511-E91CA178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8E5F587-4F76-A33C-93F2-31333F28C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049" y="1622939"/>
            <a:ext cx="4392950" cy="25742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F4F0EB-63FB-00FF-DD17-4E6E1C129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050" y="4547732"/>
            <a:ext cx="4392950" cy="181247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562333F-AEB7-0F56-F1B6-947ADE6FF60F}"/>
              </a:ext>
            </a:extLst>
          </p:cNvPr>
          <p:cNvGrpSpPr/>
          <p:nvPr/>
        </p:nvGrpSpPr>
        <p:grpSpPr>
          <a:xfrm>
            <a:off x="1107225" y="4106334"/>
            <a:ext cx="7891043" cy="504000"/>
            <a:chOff x="1107225" y="3853115"/>
            <a:chExt cx="7891043" cy="504000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4566BFE-1FB8-0348-67DF-9483951DC271}"/>
                </a:ext>
              </a:extLst>
            </p:cNvPr>
            <p:cNvCxnSpPr>
              <a:cxnSpLocks/>
            </p:cNvCxnSpPr>
            <p:nvPr/>
          </p:nvCxnSpPr>
          <p:spPr>
            <a:xfrm>
              <a:off x="1107225" y="4105115"/>
              <a:ext cx="272106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9486AF0-5E26-98DD-16ED-C3783758EBC3}"/>
                </a:ext>
              </a:extLst>
            </p:cNvPr>
            <p:cNvCxnSpPr>
              <a:cxnSpLocks/>
            </p:cNvCxnSpPr>
            <p:nvPr/>
          </p:nvCxnSpPr>
          <p:spPr>
            <a:xfrm>
              <a:off x="8726162" y="4105115"/>
              <a:ext cx="272106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B58924D-ACF3-0596-BAEB-8014B88216CA}"/>
                </a:ext>
              </a:extLst>
            </p:cNvPr>
            <p:cNvCxnSpPr>
              <a:cxnSpLocks/>
            </p:cNvCxnSpPr>
            <p:nvPr/>
          </p:nvCxnSpPr>
          <p:spPr>
            <a:xfrm>
              <a:off x="3589754" y="4105115"/>
              <a:ext cx="272106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19CDBD7-1DEB-4EA4-8E6A-B93EE96837C8}"/>
                </a:ext>
              </a:extLst>
            </p:cNvPr>
            <p:cNvSpPr/>
            <p:nvPr/>
          </p:nvSpPr>
          <p:spPr>
            <a:xfrm>
              <a:off x="1555430" y="3853115"/>
              <a:ext cx="1849346" cy="504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272428"/>
                  </a:solidFill>
                  <a:latin typeface="Poppins Light"/>
                  <a:cs typeface="Sarabun Light"/>
                </a:rPr>
                <a:t>Embedding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H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272428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gemini-embedding-001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8110993-58DB-29C3-9A6E-C78C3FD75815}"/>
              </a:ext>
            </a:extLst>
          </p:cNvPr>
          <p:cNvSpPr/>
          <p:nvPr/>
        </p:nvSpPr>
        <p:spPr>
          <a:xfrm>
            <a:off x="8679052" y="1622939"/>
            <a:ext cx="1672010" cy="3284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accent1">
                    <a:lumMod val="40000"/>
                    <a:lumOff val="60000"/>
                  </a:schemeClr>
                </a:solidFill>
                <a:cs typeface="Poppins Light"/>
              </a:rPr>
              <a:t>Metadata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AD5DFD-C4C2-711B-9BA0-9B21EE3E729D}"/>
              </a:ext>
            </a:extLst>
          </p:cNvPr>
          <p:cNvSpPr/>
          <p:nvPr/>
        </p:nvSpPr>
        <p:spPr>
          <a:xfrm>
            <a:off x="8679051" y="5755283"/>
            <a:ext cx="1672011" cy="6124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 dirty="0">
                <a:solidFill>
                  <a:schemeClr val="accent1">
                    <a:lumMod val="40000"/>
                    <a:lumOff val="60000"/>
                  </a:schemeClr>
                </a:solidFill>
                <a:cs typeface="Poppins Light"/>
              </a:rPr>
              <a:t>Embedded vector</a:t>
            </a:r>
          </a:p>
          <a:p>
            <a:pPr algn="ctr">
              <a:defRPr/>
            </a:pPr>
            <a:r>
              <a:rPr lang="en-GB" sz="1400" b="1" dirty="0">
                <a:solidFill>
                  <a:schemeClr val="accent1">
                    <a:lumMod val="40000"/>
                    <a:lumOff val="60000"/>
                  </a:schemeClr>
                </a:solidFill>
                <a:cs typeface="Poppins Light"/>
              </a:rPr>
              <a:t>Shape = (5,768)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18883-D4E9-E8EE-7DAE-D2E45DBBFCFC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0A081E-D4D0-8194-5821-F06EFBA541AB}"/>
              </a:ext>
            </a:extLst>
          </p:cNvPr>
          <p:cNvGrpSpPr/>
          <p:nvPr/>
        </p:nvGrpSpPr>
        <p:grpSpPr>
          <a:xfrm>
            <a:off x="9289735" y="3886636"/>
            <a:ext cx="913648" cy="932038"/>
            <a:chOff x="10794977" y="2064264"/>
            <a:chExt cx="913648" cy="932038"/>
          </a:xfrm>
        </p:grpSpPr>
        <p:pic>
          <p:nvPicPr>
            <p:cNvPr id="5" name="Picture 2" descr="Data Lake Icon">
              <a:extLst>
                <a:ext uri="{FF2B5EF4-FFF2-40B4-BE49-F238E27FC236}">
                  <a16:creationId xmlns:a16="http://schemas.microsoft.com/office/drawing/2014/main" id="{D1D5548E-EE7C-CC60-68FE-4615658C42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64858" y="2064264"/>
              <a:ext cx="773887" cy="6242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2648CC-D239-6E71-CD7F-9174251A2228}"/>
                </a:ext>
              </a:extLst>
            </p:cNvPr>
            <p:cNvSpPr txBox="1"/>
            <p:nvPr/>
          </p:nvSpPr>
          <p:spPr>
            <a:xfrm>
              <a:off x="10794977" y="2688525"/>
              <a:ext cx="9136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lake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3239ACE-E83F-03C0-CFA4-C3923D24460C}"/>
              </a:ext>
            </a:extLst>
          </p:cNvPr>
          <p:cNvSpPr txBox="1"/>
          <p:nvPr/>
        </p:nvSpPr>
        <p:spPr>
          <a:xfrm>
            <a:off x="-90222" y="6978217"/>
            <a:ext cx="2667000" cy="972562"/>
          </a:xfrm>
          <a:prstGeom prst="roundRect">
            <a:avLst>
              <a:gd name="adj" fmla="val 4406"/>
            </a:avLst>
          </a:prstGeom>
          <a:solidFill>
            <a:srgbClr val="BADF55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Gemini-2.5-flash -&gt; gemini-3-flash-preview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Consolas" panose="020B0609020204030204" pitchFamily="49" charset="0"/>
              </a:rPr>
              <a:t>Temperature = 1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Consolas" panose="020B0609020204030204" pitchFamily="49" charset="0"/>
              </a:rPr>
              <a:t>Rethink = </a:t>
            </a:r>
            <a:r>
              <a:rPr lang="en-US" sz="1400" dirty="0" err="1">
                <a:latin typeface="Consolas" panose="020B0609020204030204" pitchFamily="49" charset="0"/>
              </a:rPr>
              <a:t>defualt</a:t>
            </a: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76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1111D-0B1D-2DA4-A74D-E0197897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6735AE0-A108-8AB1-F05A-3BD8615D4100}"/>
              </a:ext>
            </a:extLst>
          </p:cNvPr>
          <p:cNvSpPr/>
          <p:nvPr/>
        </p:nvSpPr>
        <p:spPr>
          <a:xfrm>
            <a:off x="2038350" y="1980000"/>
            <a:ext cx="8134350" cy="295394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092DAE-7B89-71EA-2126-068A8929DDCD}"/>
              </a:ext>
            </a:extLst>
          </p:cNvPr>
          <p:cNvSpPr/>
          <p:nvPr/>
        </p:nvSpPr>
        <p:spPr>
          <a:xfrm>
            <a:off x="2133682" y="3196625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Prepare_history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B9E3AA4-997C-56E7-68C5-D64C4652AD8C}"/>
              </a:ext>
            </a:extLst>
          </p:cNvPr>
          <p:cNvCxnSpPr>
            <a:cxnSpLocks/>
          </p:cNvCxnSpPr>
          <p:nvPr/>
        </p:nvCxnSpPr>
        <p:spPr>
          <a:xfrm>
            <a:off x="3589725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E6AD224-C2DC-598B-484A-AE4E4F22C059}"/>
              </a:ext>
            </a:extLst>
          </p:cNvPr>
          <p:cNvSpPr/>
          <p:nvPr/>
        </p:nvSpPr>
        <p:spPr>
          <a:xfrm>
            <a:off x="3962040" y="3196625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User_context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AE21AB-01D8-44C6-74E4-F0B00D792298}"/>
              </a:ext>
            </a:extLst>
          </p:cNvPr>
          <p:cNvCxnSpPr>
            <a:cxnSpLocks/>
          </p:cNvCxnSpPr>
          <p:nvPr/>
        </p:nvCxnSpPr>
        <p:spPr>
          <a:xfrm>
            <a:off x="5418083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A82D746-8E81-EB40-0E68-53491A9CFCD6}"/>
              </a:ext>
            </a:extLst>
          </p:cNvPr>
          <p:cNvSpPr/>
          <p:nvPr/>
        </p:nvSpPr>
        <p:spPr>
          <a:xfrm>
            <a:off x="5418083" y="4082450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HyDE_prompt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B56695-E608-2267-7BA4-8600D70BB14F}"/>
              </a:ext>
            </a:extLst>
          </p:cNvPr>
          <p:cNvCxnSpPr>
            <a:cxnSpLocks/>
          </p:cNvCxnSpPr>
          <p:nvPr/>
        </p:nvCxnSpPr>
        <p:spPr>
          <a:xfrm>
            <a:off x="6395481" y="343795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CB3BAFE-11BD-DEC7-EC6A-AC4A1E9032A8}"/>
              </a:ext>
            </a:extLst>
          </p:cNvPr>
          <p:cNvSpPr/>
          <p:nvPr/>
        </p:nvSpPr>
        <p:spPr>
          <a:xfrm>
            <a:off x="5418083" y="2271550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Llm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</a:t>
            </a: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_flast_2.5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B5DB8AA-E792-4D6D-6FEA-852C7CC1FB0F}"/>
              </a:ext>
            </a:extLst>
          </p:cNvPr>
          <p:cNvCxnSpPr>
            <a:cxnSpLocks/>
          </p:cNvCxnSpPr>
          <p:nvPr/>
        </p:nvCxnSpPr>
        <p:spPr>
          <a:xfrm>
            <a:off x="6096000" y="2845400"/>
            <a:ext cx="0" cy="25775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84AD198-4AD1-4C4D-E93F-74C360E16F9A}"/>
              </a:ext>
            </a:extLst>
          </p:cNvPr>
          <p:cNvCxnSpPr>
            <a:cxnSpLocks/>
          </p:cNvCxnSpPr>
          <p:nvPr/>
        </p:nvCxnSpPr>
        <p:spPr>
          <a:xfrm flipV="1">
            <a:off x="6096000" y="3747100"/>
            <a:ext cx="0" cy="25775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6D49376-6CA0-A399-3333-79C3221F7D5A}"/>
              </a:ext>
            </a:extLst>
          </p:cNvPr>
          <p:cNvSpPr/>
          <p:nvPr/>
        </p:nvSpPr>
        <p:spPr>
          <a:xfrm>
            <a:off x="6874126" y="3177000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gemini-embedding-001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8E22E9-E258-54E7-C9D1-C2D1C90B8498}"/>
              </a:ext>
            </a:extLst>
          </p:cNvPr>
          <p:cNvCxnSpPr>
            <a:cxnSpLocks/>
          </p:cNvCxnSpPr>
          <p:nvPr/>
        </p:nvCxnSpPr>
        <p:spPr>
          <a:xfrm>
            <a:off x="8330169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F544796E-334F-EDD1-4F71-4FBE40183F31}"/>
              </a:ext>
            </a:extLst>
          </p:cNvPr>
          <p:cNvSpPr/>
          <p:nvPr/>
        </p:nvSpPr>
        <p:spPr>
          <a:xfrm>
            <a:off x="5896850" y="3249475"/>
            <a:ext cx="398300" cy="398300"/>
          </a:xfrm>
          <a:prstGeom prst="ellipse">
            <a:avLst/>
          </a:prstGeom>
        </p:spPr>
        <p:style>
          <a:lnRef idx="1">
            <a:schemeClr val="dk1"/>
          </a:lnRef>
          <a:fillRef idx="1002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AC45468-CE16-8800-12CB-47058D54FAEB}"/>
              </a:ext>
            </a:extLst>
          </p:cNvPr>
          <p:cNvCxnSpPr>
            <a:cxnSpLocks/>
          </p:cNvCxnSpPr>
          <p:nvPr/>
        </p:nvCxnSpPr>
        <p:spPr>
          <a:xfrm>
            <a:off x="1669401" y="34333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F60BC38-F253-BEF5-9551-372FE354459C}"/>
              </a:ext>
            </a:extLst>
          </p:cNvPr>
          <p:cNvCxnSpPr>
            <a:cxnSpLocks/>
          </p:cNvCxnSpPr>
          <p:nvPr/>
        </p:nvCxnSpPr>
        <p:spPr>
          <a:xfrm>
            <a:off x="10239375" y="3428049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2" descr="What Is BigQuery And How Do You Load Data Into It? - Seattle Data Guy">
            <a:extLst>
              <a:ext uri="{FF2B5EF4-FFF2-40B4-BE49-F238E27FC236}">
                <a16:creationId xmlns:a16="http://schemas.microsoft.com/office/drawing/2014/main" id="{0A1C04B8-63C4-1674-0894-49B89CDDE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42" y="3052552"/>
            <a:ext cx="1335100" cy="75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67CE45-0B9C-D680-6AFB-6B60D88E1C5F}"/>
              </a:ext>
            </a:extLst>
          </p:cNvPr>
          <p:cNvSpPr/>
          <p:nvPr/>
        </p:nvSpPr>
        <p:spPr>
          <a:xfrm>
            <a:off x="8702484" y="2802454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Embedded vector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9CF52-19A3-0A51-2EB6-BDEEBB769DEC}"/>
              </a:ext>
            </a:extLst>
          </p:cNvPr>
          <p:cNvSpPr/>
          <p:nvPr/>
        </p:nvSpPr>
        <p:spPr>
          <a:xfrm>
            <a:off x="8709570" y="3551546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metadata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7AD9FA3-C023-431B-7D5D-D959E9AE15E9}"/>
              </a:ext>
            </a:extLst>
          </p:cNvPr>
          <p:cNvGrpSpPr/>
          <p:nvPr/>
        </p:nvGrpSpPr>
        <p:grpSpPr>
          <a:xfrm>
            <a:off x="10794978" y="2990955"/>
            <a:ext cx="913648" cy="932038"/>
            <a:chOff x="10794977" y="2064264"/>
            <a:chExt cx="913648" cy="932038"/>
          </a:xfrm>
        </p:grpSpPr>
        <p:pic>
          <p:nvPicPr>
            <p:cNvPr id="1026" name="Picture 2" descr="Data Lake Icon">
              <a:extLst>
                <a:ext uri="{FF2B5EF4-FFF2-40B4-BE49-F238E27FC236}">
                  <a16:creationId xmlns:a16="http://schemas.microsoft.com/office/drawing/2014/main" id="{BA5EF408-CA12-4052-0B40-FCB9FFE2F1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64858" y="2064264"/>
              <a:ext cx="773887" cy="6242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F84FBC-AD76-F063-D0D9-B7D80DA652C3}"/>
                </a:ext>
              </a:extLst>
            </p:cNvPr>
            <p:cNvSpPr txBox="1"/>
            <p:nvPr/>
          </p:nvSpPr>
          <p:spPr>
            <a:xfrm>
              <a:off x="10794977" y="2688525"/>
              <a:ext cx="9136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lake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2E3C5A5-495C-5343-A300-519C1676CA2A}"/>
              </a:ext>
            </a:extLst>
          </p:cNvPr>
          <p:cNvGrpSpPr/>
          <p:nvPr/>
        </p:nvGrpSpPr>
        <p:grpSpPr>
          <a:xfrm>
            <a:off x="10474617" y="5418270"/>
            <a:ext cx="1758365" cy="1333699"/>
            <a:chOff x="310230" y="5605659"/>
            <a:chExt cx="1758365" cy="133369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FC44BE-0A8E-1744-E214-FE26C59A86E0}"/>
                </a:ext>
              </a:extLst>
            </p:cNvPr>
            <p:cNvGrpSpPr/>
            <p:nvPr/>
          </p:nvGrpSpPr>
          <p:grpSpPr>
            <a:xfrm>
              <a:off x="310231" y="5963091"/>
              <a:ext cx="1758364" cy="976267"/>
              <a:chOff x="10285063" y="608166"/>
              <a:chExt cx="1836174" cy="976267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676459D-62FE-D7D6-E0D6-AF119E9824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85065" y="1544858"/>
                <a:ext cx="31748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ounded Rectangle 29">
                <a:extLst>
                  <a:ext uri="{FF2B5EF4-FFF2-40B4-BE49-F238E27FC236}">
                    <a16:creationId xmlns:a16="http://schemas.microsoft.com/office/drawing/2014/main" id="{7E25C6C4-76CB-9F10-4236-C04693FA02E2}"/>
                  </a:ext>
                </a:extLst>
              </p:cNvPr>
              <p:cNvSpPr/>
              <p:nvPr/>
            </p:nvSpPr>
            <p:spPr>
              <a:xfrm>
                <a:off x="10285065" y="892606"/>
                <a:ext cx="1541315" cy="211431"/>
              </a:xfrm>
              <a:prstGeom prst="roundRect">
                <a:avLst>
                  <a:gd name="adj" fmla="val 1282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rebuchet MS" panose="020B0703020202090204" pitchFamily="34" charset="0"/>
                    <a:ea typeface="+mn-ea"/>
                    <a:cs typeface="Sarabun Light"/>
                  </a:rPr>
                  <a:t>Process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4" name="Rounded Rectangle 30">
                <a:extLst>
                  <a:ext uri="{FF2B5EF4-FFF2-40B4-BE49-F238E27FC236}">
                    <a16:creationId xmlns:a16="http://schemas.microsoft.com/office/drawing/2014/main" id="{806CA3E1-65F3-1E47-0598-A8910D3FB7B7}"/>
                  </a:ext>
                </a:extLst>
              </p:cNvPr>
              <p:cNvSpPr/>
              <p:nvPr/>
            </p:nvSpPr>
            <p:spPr>
              <a:xfrm>
                <a:off x="10285063" y="1167222"/>
                <a:ext cx="1541315" cy="228150"/>
              </a:xfrm>
              <a:prstGeom prst="roundRect">
                <a:avLst>
                  <a:gd name="adj" fmla="val 1282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>
                        <a:lumMod val="10000"/>
                      </a:schemeClr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Output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5" name="TextBox 37">
                <a:extLst>
                  <a:ext uri="{FF2B5EF4-FFF2-40B4-BE49-F238E27FC236}">
                    <a16:creationId xmlns:a16="http://schemas.microsoft.com/office/drawing/2014/main" id="{B56D5389-3C79-1BE9-4240-6C74D256ED1A}"/>
                  </a:ext>
                </a:extLst>
              </p:cNvPr>
              <p:cNvSpPr txBox="1"/>
              <p:nvPr/>
            </p:nvSpPr>
            <p:spPr>
              <a:xfrm>
                <a:off x="10647876" y="1445934"/>
                <a:ext cx="1473361" cy="138499"/>
              </a:xfrm>
              <a:prstGeom prst="rect">
                <a:avLst/>
              </a:prstGeom>
              <a:noFill/>
            </p:spPr>
            <p:txBody>
              <a:bodyPr wrap="square" lIns="36000" tIns="0" rIns="0" bIns="0" rtlCol="0" anchor="ctr">
                <a:spAutoFit/>
              </a:bodyPr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Process</a:t>
                </a:r>
                <a:endParaRPr kumimoji="0" lang="en-T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6" name="Rounded Rectangle 40">
                <a:extLst>
                  <a:ext uri="{FF2B5EF4-FFF2-40B4-BE49-F238E27FC236}">
                    <a16:creationId xmlns:a16="http://schemas.microsoft.com/office/drawing/2014/main" id="{B5990303-B72C-C6A7-7460-B21D2352DBD6}"/>
                  </a:ext>
                </a:extLst>
              </p:cNvPr>
              <p:cNvSpPr/>
              <p:nvPr/>
            </p:nvSpPr>
            <p:spPr>
              <a:xfrm>
                <a:off x="10285064" y="608166"/>
                <a:ext cx="1541315" cy="211025"/>
              </a:xfrm>
              <a:prstGeom prst="roundRect">
                <a:avLst>
                  <a:gd name="adj" fmla="val 1282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Input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</p:grpSp>
        <p:sp>
          <p:nvSpPr>
            <p:cNvPr id="11" name="TextBox 12">
              <a:extLst>
                <a:ext uri="{FF2B5EF4-FFF2-40B4-BE49-F238E27FC236}">
                  <a16:creationId xmlns:a16="http://schemas.microsoft.com/office/drawing/2014/main" id="{1286B851-9D9D-63E3-55ED-77EDD930FA17}"/>
                </a:ext>
              </a:extLst>
            </p:cNvPr>
            <p:cNvSpPr txBox="1"/>
            <p:nvPr/>
          </p:nvSpPr>
          <p:spPr>
            <a:xfrm>
              <a:off x="310230" y="5605659"/>
              <a:ext cx="14109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H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rPr>
                <a:t>Legend</a:t>
              </a: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49C90FB5-9FF0-AA2C-A8AD-B4510FC7F3DE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45665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76802-D8CB-FFAB-D8B6-9B0A191B9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7E0BC5-6072-3F3A-F13D-1543FA2E3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066" y="1315075"/>
            <a:ext cx="9087867" cy="5109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C1E9EF-CD19-760C-68DB-FD55E24F2F09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49356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5A5E-A6BE-CB01-643B-1EF137BE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EE592A6-DA06-FA52-ACB7-DC5F34D8B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3721"/>
            <a:ext cx="4034790" cy="3126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75A839-97B5-56DB-B724-E824372A5948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4955326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561681D-0D2D-B241-8F5B-619966596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3721"/>
            <a:ext cx="4034790" cy="31264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00B92B-2E7F-DE62-0D37-F3A2508E7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942" y="2173721"/>
            <a:ext cx="6506483" cy="3143689"/>
          </a:xfrm>
          <a:prstGeom prst="rect">
            <a:avLst/>
          </a:prstGeom>
        </p:spPr>
      </p:pic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9E1512D-3DD6-AB5C-1CE6-F4B229B100C5}"/>
              </a:ext>
            </a:extLst>
          </p:cNvPr>
          <p:cNvCxnSpPr>
            <a:cxnSpLocks/>
          </p:cNvCxnSpPr>
          <p:nvPr/>
        </p:nvCxnSpPr>
        <p:spPr>
          <a:xfrm flipV="1">
            <a:off x="3090672" y="2468880"/>
            <a:ext cx="2688336" cy="649224"/>
          </a:xfrm>
          <a:prstGeom prst="bentConnector3">
            <a:avLst>
              <a:gd name="adj1" fmla="val 7721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8A915FA-0CAC-DCD0-A765-722A2E3D03BD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5958362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B307C-32A1-09F3-EAE7-F883FA1A9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D4BBB6-2E53-0DCD-A53F-CC8EA99F4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73721"/>
            <a:ext cx="4034790" cy="31264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E4C01D-1CEA-8739-2513-F12D5A356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520"/>
          <a:stretch>
            <a:fillRect/>
          </a:stretch>
        </p:blipFill>
        <p:spPr>
          <a:xfrm>
            <a:off x="5508808" y="1577817"/>
            <a:ext cx="6477904" cy="4868703"/>
          </a:xfrm>
          <a:prstGeom prst="rect">
            <a:avLst/>
          </a:prstGeom>
        </p:spPr>
      </p:pic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6EB918F4-B3A0-FF49-983C-0611A3B34B0A}"/>
              </a:ext>
            </a:extLst>
          </p:cNvPr>
          <p:cNvCxnSpPr>
            <a:cxnSpLocks/>
          </p:cNvCxnSpPr>
          <p:nvPr/>
        </p:nvCxnSpPr>
        <p:spPr>
          <a:xfrm flipV="1">
            <a:off x="3246120" y="1865376"/>
            <a:ext cx="2596896" cy="1664208"/>
          </a:xfrm>
          <a:prstGeom prst="bentConnector3">
            <a:avLst>
              <a:gd name="adj1" fmla="val 7429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0BFEBE3-05DE-C11F-554F-94796C9F6A36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229960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2F9F3-CC07-1F7E-ADC0-BBCACA62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9902-F86B-3ECA-A30D-50D0035461CC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  <p:sp>
        <p:nvSpPr>
          <p:cNvPr id="3" name="TextBox 2">
            <a:hlinkClick r:id="rId2"/>
            <a:extLst>
              <a:ext uri="{FF2B5EF4-FFF2-40B4-BE49-F238E27FC236}">
                <a16:creationId xmlns:a16="http://schemas.microsoft.com/office/drawing/2014/main" id="{4E1EF699-73EC-2CCB-A383-D6BDA02C90D7}"/>
              </a:ext>
            </a:extLst>
          </p:cNvPr>
          <p:cNvSpPr txBox="1"/>
          <p:nvPr/>
        </p:nvSpPr>
        <p:spPr>
          <a:xfrm>
            <a:off x="5581601" y="342900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7830821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C59B6-EF6A-0AC3-788D-1E211A03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30FB75-E3DB-DFD5-E3D6-459C06632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055606"/>
              </p:ext>
            </p:extLst>
          </p:nvPr>
        </p:nvGraphicFramePr>
        <p:xfrm>
          <a:off x="837752" y="2182999"/>
          <a:ext cx="10516048" cy="36456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2045">
                  <a:extLst>
                    <a:ext uri="{9D8B030D-6E8A-4147-A177-3AD203B41FA5}">
                      <a16:colId xmlns:a16="http://schemas.microsoft.com/office/drawing/2014/main" val="2615654620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666134677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474476578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3016239017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40374584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3587445227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485861284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157593774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3157606185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166079545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905451035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079900472"/>
                    </a:ext>
                  </a:extLst>
                </a:gridCol>
              </a:tblGrid>
              <a:tr h="78860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050" b="1" i="0" u="none" strike="noStrike" baseline="0" noProof="0" dirty="0">
                        <a:solidFill>
                          <a:schemeClr val="tx1"/>
                        </a:solidFill>
                        <a:latin typeface="Poppins Ligh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 dirty="0">
                          <a:solidFill>
                            <a:schemeClr val="tx1"/>
                          </a:solidFill>
                          <a:latin typeface="Poppins Light"/>
                        </a:rPr>
                        <a:t>Stu_p001</a:t>
                      </a:r>
                      <a:endParaRPr lang="en-GB" sz="1050" b="1" i="0" u="none" strike="noStrike" baseline="0" noProof="0" dirty="0">
                        <a:solidFill>
                          <a:schemeClr val="tx1"/>
                        </a:solidFill>
                        <a:latin typeface="Poppins Ligh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Stu_p002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Stu_p003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Stu_p004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Stu_p005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Stu_p006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 dirty="0">
                          <a:solidFill>
                            <a:schemeClr val="tx1"/>
                          </a:solidFill>
                          <a:latin typeface="Poppins Light"/>
                        </a:rPr>
                        <a:t>Stu_p007</a:t>
                      </a:r>
                      <a:endParaRPr lang="en-GB" sz="1050" b="1" i="0" u="none" strike="noStrike" baseline="0" noProof="0" dirty="0">
                        <a:solidFill>
                          <a:schemeClr val="tx1"/>
                        </a:solidFill>
                        <a:latin typeface="Poppins Light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Stu_p008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Stu_p009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Stu_p010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average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995445"/>
                  </a:ext>
                </a:extLst>
              </a:tr>
              <a:tr h="46540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1" i="0" u="none" strike="noStrike" noProof="0" dirty="0" err="1">
                          <a:solidFill>
                            <a:schemeClr val="tx1"/>
                          </a:solidFill>
                          <a:latin typeface="+mj-lt"/>
                        </a:rPr>
                        <a:t>query_sec</a:t>
                      </a:r>
                      <a:endParaRPr lang="en-GB" sz="1200" b="1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0.00101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0.00065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0.00058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0.00064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0.00067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0.00354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0.00077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0.00056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0.00056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0.00066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0.00096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768461"/>
                  </a:ext>
                </a:extLst>
              </a:tr>
              <a:tr h="478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latin typeface="+mj-lt"/>
                        </a:rPr>
                        <a:t>history_sec</a:t>
                      </a:r>
                      <a:endParaRPr lang="en-US" sz="1200" b="1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0.01339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0.01010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0.00979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0.00971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0.01111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0.01051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0.00888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0.00944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0.00959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0.01291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0.01054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855725"/>
                  </a:ext>
                </a:extLst>
              </a:tr>
              <a:tr h="478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latin typeface="+mj-lt"/>
                        </a:rPr>
                        <a:t>embed_sec</a:t>
                      </a:r>
                      <a:endParaRPr lang="en-US" sz="1200" b="1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1.81636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1.77266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2.03714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1.69645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1.79597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1.75972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1.76440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1.72077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1.75303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1.78368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360638"/>
                  </a:ext>
                </a:extLst>
              </a:tr>
              <a:tr h="478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u="none" strike="noStrike" noProof="0" dirty="0" err="1">
                          <a:solidFill>
                            <a:schemeClr val="tx1"/>
                          </a:solidFill>
                          <a:latin typeface="+mj-lt"/>
                        </a:rPr>
                        <a:t>metadata.json</a:t>
                      </a:r>
                      <a:endParaRPr lang="en-GB" sz="1200" b="1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0.18499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0.12241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0.10613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0.11913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0.10847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0.11897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0.12841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0.11524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0.11533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0.12951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0.12486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23139"/>
                  </a:ext>
                </a:extLst>
              </a:tr>
              <a:tr h="478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+mj-lt"/>
                        </a:rPr>
                        <a:t>embedding0n.npy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1.23484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1.28129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1.28272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1.16481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1.15355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1.12040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1.15927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1.15244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1.21216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1.12801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1.18895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493401"/>
                  </a:ext>
                </a:extLst>
              </a:tr>
              <a:tr h="478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latin typeface="+mj-lt"/>
                        </a:rPr>
                        <a:t>total_sec</a:t>
                      </a:r>
                      <a:endParaRPr lang="en-US" sz="1200" b="1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3.25059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3.18711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3.43636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2.99074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2.99306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3.04939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3.05705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3.04208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3.05841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3.02412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3.10898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33573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044F518A-03FE-9661-571B-2CD104C8421B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</a:t>
            </a:r>
          </a:p>
          <a:p>
            <a:r>
              <a:rPr lang="en-US" sz="2400" dirty="0">
                <a:cs typeface="Poppins Light"/>
              </a:rPr>
              <a:t>Pipeline Execution Time Breakdown per Student (seconds)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64631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FDC69-AA87-9E3A-E2F2-A8E5E81F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5E3079-F5DE-5835-F7D3-FAD07FA71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676868"/>
              </p:ext>
            </p:extLst>
          </p:nvPr>
        </p:nvGraphicFramePr>
        <p:xfrm>
          <a:off x="838196" y="2562826"/>
          <a:ext cx="10515604" cy="22106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1">
                  <a:extLst>
                    <a:ext uri="{9D8B030D-6E8A-4147-A177-3AD203B41FA5}">
                      <a16:colId xmlns:a16="http://schemas.microsoft.com/office/drawing/2014/main" val="2615654620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666134677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474476578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3016239017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40374584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3587445227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485861284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157593774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3157606185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166079545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905451035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079900472"/>
                    </a:ext>
                  </a:extLst>
                </a:gridCol>
              </a:tblGrid>
              <a:tr h="78860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050" b="1" i="0" u="none" strike="noStrike" baseline="0" noProof="0" dirty="0">
                        <a:solidFill>
                          <a:schemeClr val="tx1"/>
                        </a:solidFill>
                        <a:latin typeface="Poppins Ligh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 dirty="0">
                          <a:solidFill>
                            <a:schemeClr val="tx1"/>
                          </a:solidFill>
                          <a:latin typeface="Poppins Light"/>
                        </a:rPr>
                        <a:t>Stu_p001</a:t>
                      </a:r>
                      <a:endParaRPr lang="en-GB" sz="1050" b="1" i="0" u="none" strike="noStrike" baseline="0" noProof="0" dirty="0">
                        <a:solidFill>
                          <a:schemeClr val="tx1"/>
                        </a:solidFill>
                        <a:latin typeface="Poppins Ligh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Stu_p002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Stu_p003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Stu_p004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Stu_p005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Stu_p006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 dirty="0">
                          <a:solidFill>
                            <a:schemeClr val="tx1"/>
                          </a:solidFill>
                          <a:latin typeface="Poppins Light"/>
                        </a:rPr>
                        <a:t>Stu_p007</a:t>
                      </a:r>
                      <a:endParaRPr lang="en-GB" sz="1050" b="1" i="0" u="none" strike="noStrike" baseline="0" noProof="0" dirty="0">
                        <a:solidFill>
                          <a:schemeClr val="tx1"/>
                        </a:solidFill>
                        <a:latin typeface="Poppins Light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Stu_p008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Stu_p009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Stu_p010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 Light"/>
                          <a:ea typeface="+mn-ea"/>
                          <a:cs typeface="+mn-cs"/>
                        </a:rPr>
                        <a:t>average</a:t>
                      </a:r>
                      <a:endParaRPr kumimoji="0" lang="en-GB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 Light"/>
                        <a:ea typeface="+mn-ea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995445"/>
                  </a:ext>
                </a:extLst>
              </a:tr>
              <a:tr h="46540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1" i="0" u="none" strike="noStrike" noProof="0" dirty="0" err="1">
                          <a:solidFill>
                            <a:schemeClr val="tx1"/>
                          </a:solidFill>
                          <a:latin typeface="+mj-lt"/>
                        </a:rPr>
                        <a:t>metadata.json</a:t>
                      </a:r>
                      <a:endParaRPr lang="en-GB" sz="1200" b="1" i="0" u="none" strike="noStrike" noProof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dirty="0">
                          <a:solidFill>
                            <a:schemeClr val="tx1"/>
                          </a:solidFill>
                          <a:latin typeface="+mj-lt"/>
                        </a:rPr>
                        <a:t>0.06906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0.0565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0.09909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0.06359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0.07367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0.06569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0.07023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0.0673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0.07545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0.07149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0.07514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768461"/>
                  </a:ext>
                </a:extLst>
              </a:tr>
              <a:tr h="478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+mj-lt"/>
                        </a:rPr>
                        <a:t>embedding0n.npy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0.07413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0.06238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0.06575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0.07541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0.05905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0.06792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0.06209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0.06646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0.06743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0.06615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0.06786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855725"/>
                  </a:ext>
                </a:extLst>
              </a:tr>
              <a:tr h="478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latin typeface="+mj-lt"/>
                        </a:rPr>
                        <a:t>total_sec</a:t>
                      </a:r>
                      <a:endParaRPr lang="en-US" sz="1200" b="1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0.14319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0.11888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0.16484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0.13272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0.13361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0.13232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0.13376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0.14288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0.13764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417090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D755A43B-2784-3472-F7B9-1A0550F9F7F2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</a:t>
            </a:r>
          </a:p>
          <a:p>
            <a:r>
              <a:rPr lang="en-US" sz="2400" dirty="0"/>
              <a:t>Storage retrieval from GCS </a:t>
            </a:r>
            <a:r>
              <a:rPr lang="en-US" sz="2400" dirty="0">
                <a:cs typeface="Poppins Light"/>
              </a:rPr>
              <a:t>(seconds)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18638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D5F95-DA6C-ADC3-0B2F-285A8CFE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7C18500-11AD-EF54-8498-C94A518A9F3F}"/>
              </a:ext>
            </a:extLst>
          </p:cNvPr>
          <p:cNvSpPr/>
          <p:nvPr/>
        </p:nvSpPr>
        <p:spPr>
          <a:xfrm>
            <a:off x="2038350" y="1980000"/>
            <a:ext cx="8134350" cy="295394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2BFB88-8018-07D1-63C0-EFBFECE8B619}"/>
              </a:ext>
            </a:extLst>
          </p:cNvPr>
          <p:cNvSpPr/>
          <p:nvPr/>
        </p:nvSpPr>
        <p:spPr>
          <a:xfrm>
            <a:off x="2133682" y="3196625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Prepare_history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3D4969-8A2D-E8E1-A272-CF7113BAD56A}"/>
              </a:ext>
            </a:extLst>
          </p:cNvPr>
          <p:cNvCxnSpPr>
            <a:cxnSpLocks/>
          </p:cNvCxnSpPr>
          <p:nvPr/>
        </p:nvCxnSpPr>
        <p:spPr>
          <a:xfrm>
            <a:off x="3589725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AD7C1C2-AD9F-8666-A75F-AC79E8CE6930}"/>
              </a:ext>
            </a:extLst>
          </p:cNvPr>
          <p:cNvSpPr/>
          <p:nvPr/>
        </p:nvSpPr>
        <p:spPr>
          <a:xfrm>
            <a:off x="3962040" y="3196625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User_context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44E83D-1405-339E-49EE-A64543911362}"/>
              </a:ext>
            </a:extLst>
          </p:cNvPr>
          <p:cNvCxnSpPr>
            <a:cxnSpLocks/>
          </p:cNvCxnSpPr>
          <p:nvPr/>
        </p:nvCxnSpPr>
        <p:spPr>
          <a:xfrm>
            <a:off x="5418083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37813B3-E580-520B-BEA0-F26614F9A0B4}"/>
              </a:ext>
            </a:extLst>
          </p:cNvPr>
          <p:cNvSpPr/>
          <p:nvPr/>
        </p:nvSpPr>
        <p:spPr>
          <a:xfrm>
            <a:off x="5418083" y="4082450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HyDE_prompt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C6EC71-8E3C-835F-EAE6-26DA61C0660E}"/>
              </a:ext>
            </a:extLst>
          </p:cNvPr>
          <p:cNvCxnSpPr>
            <a:cxnSpLocks/>
          </p:cNvCxnSpPr>
          <p:nvPr/>
        </p:nvCxnSpPr>
        <p:spPr>
          <a:xfrm>
            <a:off x="6395481" y="343795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43C6700-78B4-E8AA-CD46-C0648E5CEA4C}"/>
              </a:ext>
            </a:extLst>
          </p:cNvPr>
          <p:cNvSpPr/>
          <p:nvPr/>
        </p:nvSpPr>
        <p:spPr>
          <a:xfrm>
            <a:off x="5418083" y="2271550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Llm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</a:t>
            </a: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_flast_2.5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DB39CB6-CDCD-67CA-21FE-D0FF2DD58883}"/>
              </a:ext>
            </a:extLst>
          </p:cNvPr>
          <p:cNvCxnSpPr>
            <a:cxnSpLocks/>
          </p:cNvCxnSpPr>
          <p:nvPr/>
        </p:nvCxnSpPr>
        <p:spPr>
          <a:xfrm>
            <a:off x="6096000" y="2845400"/>
            <a:ext cx="0" cy="25775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923559-3EF5-3015-9E1D-77EFA1EF038B}"/>
              </a:ext>
            </a:extLst>
          </p:cNvPr>
          <p:cNvCxnSpPr>
            <a:cxnSpLocks/>
          </p:cNvCxnSpPr>
          <p:nvPr/>
        </p:nvCxnSpPr>
        <p:spPr>
          <a:xfrm flipV="1">
            <a:off x="6096000" y="3747100"/>
            <a:ext cx="0" cy="25775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D41DA9D-5003-9721-3AD7-ED2B6D79EB2C}"/>
              </a:ext>
            </a:extLst>
          </p:cNvPr>
          <p:cNvSpPr/>
          <p:nvPr/>
        </p:nvSpPr>
        <p:spPr>
          <a:xfrm>
            <a:off x="6874126" y="3177000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gemini-embedding-001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213D4B1-7085-9780-481F-0DF09EAE28D1}"/>
              </a:ext>
            </a:extLst>
          </p:cNvPr>
          <p:cNvCxnSpPr>
            <a:cxnSpLocks/>
          </p:cNvCxnSpPr>
          <p:nvPr/>
        </p:nvCxnSpPr>
        <p:spPr>
          <a:xfrm>
            <a:off x="8330169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7BB9AD29-2C86-BFAA-23CA-632F520A4EE0}"/>
              </a:ext>
            </a:extLst>
          </p:cNvPr>
          <p:cNvSpPr/>
          <p:nvPr/>
        </p:nvSpPr>
        <p:spPr>
          <a:xfrm>
            <a:off x="5896850" y="3249475"/>
            <a:ext cx="398300" cy="398300"/>
          </a:xfrm>
          <a:prstGeom prst="ellipse">
            <a:avLst/>
          </a:prstGeom>
        </p:spPr>
        <p:style>
          <a:lnRef idx="1">
            <a:schemeClr val="dk1"/>
          </a:lnRef>
          <a:fillRef idx="1002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56D6BEE-3F2B-85CD-6CFA-596DDE50D086}"/>
              </a:ext>
            </a:extLst>
          </p:cNvPr>
          <p:cNvCxnSpPr>
            <a:cxnSpLocks/>
          </p:cNvCxnSpPr>
          <p:nvPr/>
        </p:nvCxnSpPr>
        <p:spPr>
          <a:xfrm>
            <a:off x="1669401" y="34333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B2A706A-BB6C-A084-117C-8583B3EEE5B6}"/>
              </a:ext>
            </a:extLst>
          </p:cNvPr>
          <p:cNvCxnSpPr>
            <a:cxnSpLocks/>
          </p:cNvCxnSpPr>
          <p:nvPr/>
        </p:nvCxnSpPr>
        <p:spPr>
          <a:xfrm>
            <a:off x="10239375" y="3428049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2" descr="What Is BigQuery And How Do You Load Data Into It? - Seattle Data Guy">
            <a:extLst>
              <a:ext uri="{FF2B5EF4-FFF2-40B4-BE49-F238E27FC236}">
                <a16:creationId xmlns:a16="http://schemas.microsoft.com/office/drawing/2014/main" id="{9A4D959B-6B3F-D932-AD7C-43A4C3EE0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42" y="3052552"/>
            <a:ext cx="1335100" cy="75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CE1D61-8202-9D3A-DE2A-CC7455F600DC}"/>
              </a:ext>
            </a:extLst>
          </p:cNvPr>
          <p:cNvSpPr/>
          <p:nvPr/>
        </p:nvSpPr>
        <p:spPr>
          <a:xfrm>
            <a:off x="8702484" y="2802454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Embedded vector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915341-2D43-DC30-7432-FB096D1B3940}"/>
              </a:ext>
            </a:extLst>
          </p:cNvPr>
          <p:cNvSpPr/>
          <p:nvPr/>
        </p:nvSpPr>
        <p:spPr>
          <a:xfrm>
            <a:off x="8709570" y="3551546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metadata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256DAC-6681-DF78-4CD9-0C71B5484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4252" y="3231117"/>
            <a:ext cx="1335100" cy="41366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9000708-904D-BF3D-CCAD-D560FA655BCC}"/>
              </a:ext>
            </a:extLst>
          </p:cNvPr>
          <p:cNvGrpSpPr/>
          <p:nvPr/>
        </p:nvGrpSpPr>
        <p:grpSpPr>
          <a:xfrm>
            <a:off x="10474617" y="5418270"/>
            <a:ext cx="1758365" cy="1333699"/>
            <a:chOff x="310230" y="5605659"/>
            <a:chExt cx="1758365" cy="133369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2AD7B30-AC4A-E3B2-2B22-38DFCA6983BE}"/>
                </a:ext>
              </a:extLst>
            </p:cNvPr>
            <p:cNvGrpSpPr/>
            <p:nvPr/>
          </p:nvGrpSpPr>
          <p:grpSpPr>
            <a:xfrm>
              <a:off x="310231" y="5963091"/>
              <a:ext cx="1758364" cy="976267"/>
              <a:chOff x="10285063" y="608166"/>
              <a:chExt cx="1836174" cy="976267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282D4AE-26F1-3D54-AD2F-D3620AD4B4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85065" y="1544858"/>
                <a:ext cx="31748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ounded Rectangle 29">
                <a:extLst>
                  <a:ext uri="{FF2B5EF4-FFF2-40B4-BE49-F238E27FC236}">
                    <a16:creationId xmlns:a16="http://schemas.microsoft.com/office/drawing/2014/main" id="{1355A4EF-786E-2106-1200-3129A62B000F}"/>
                  </a:ext>
                </a:extLst>
              </p:cNvPr>
              <p:cNvSpPr/>
              <p:nvPr/>
            </p:nvSpPr>
            <p:spPr>
              <a:xfrm>
                <a:off x="10285065" y="892606"/>
                <a:ext cx="1541315" cy="211431"/>
              </a:xfrm>
              <a:prstGeom prst="roundRect">
                <a:avLst>
                  <a:gd name="adj" fmla="val 1282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rebuchet MS" panose="020B0703020202090204" pitchFamily="34" charset="0"/>
                    <a:ea typeface="+mn-ea"/>
                    <a:cs typeface="Sarabun Light"/>
                  </a:rPr>
                  <a:t>Process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4" name="Rounded Rectangle 30">
                <a:extLst>
                  <a:ext uri="{FF2B5EF4-FFF2-40B4-BE49-F238E27FC236}">
                    <a16:creationId xmlns:a16="http://schemas.microsoft.com/office/drawing/2014/main" id="{7ADC7A81-A415-696A-F9C9-6B6707D8AF70}"/>
                  </a:ext>
                </a:extLst>
              </p:cNvPr>
              <p:cNvSpPr/>
              <p:nvPr/>
            </p:nvSpPr>
            <p:spPr>
              <a:xfrm>
                <a:off x="10285063" y="1167222"/>
                <a:ext cx="1541315" cy="228150"/>
              </a:xfrm>
              <a:prstGeom prst="roundRect">
                <a:avLst>
                  <a:gd name="adj" fmla="val 1282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>
                        <a:lumMod val="10000"/>
                      </a:schemeClr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Output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5" name="TextBox 37">
                <a:extLst>
                  <a:ext uri="{FF2B5EF4-FFF2-40B4-BE49-F238E27FC236}">
                    <a16:creationId xmlns:a16="http://schemas.microsoft.com/office/drawing/2014/main" id="{7716F570-172D-F670-B375-2454ED7C6DE8}"/>
                  </a:ext>
                </a:extLst>
              </p:cNvPr>
              <p:cNvSpPr txBox="1"/>
              <p:nvPr/>
            </p:nvSpPr>
            <p:spPr>
              <a:xfrm>
                <a:off x="10647876" y="1445934"/>
                <a:ext cx="1473361" cy="138499"/>
              </a:xfrm>
              <a:prstGeom prst="rect">
                <a:avLst/>
              </a:prstGeom>
              <a:noFill/>
            </p:spPr>
            <p:txBody>
              <a:bodyPr wrap="square" lIns="36000" tIns="0" rIns="0" bIns="0" rtlCol="0" anchor="ctr">
                <a:spAutoFit/>
              </a:bodyPr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Process</a:t>
                </a:r>
                <a:endParaRPr kumimoji="0" lang="en-T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6" name="Rounded Rectangle 40">
                <a:extLst>
                  <a:ext uri="{FF2B5EF4-FFF2-40B4-BE49-F238E27FC236}">
                    <a16:creationId xmlns:a16="http://schemas.microsoft.com/office/drawing/2014/main" id="{57F3D18C-3633-9485-830B-F2257316294D}"/>
                  </a:ext>
                </a:extLst>
              </p:cNvPr>
              <p:cNvSpPr/>
              <p:nvPr/>
            </p:nvSpPr>
            <p:spPr>
              <a:xfrm>
                <a:off x="10285064" y="608166"/>
                <a:ext cx="1541315" cy="211025"/>
              </a:xfrm>
              <a:prstGeom prst="roundRect">
                <a:avLst>
                  <a:gd name="adj" fmla="val 1282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Input</a:t>
                </a:r>
                <a:endParaRPr kumimoji="0" lang="en-TH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</p:grpSp>
        <p:sp>
          <p:nvSpPr>
            <p:cNvPr id="11" name="TextBox 12">
              <a:extLst>
                <a:ext uri="{FF2B5EF4-FFF2-40B4-BE49-F238E27FC236}">
                  <a16:creationId xmlns:a16="http://schemas.microsoft.com/office/drawing/2014/main" id="{C8C2DA7C-597D-50DD-D361-D2368DD722E8}"/>
                </a:ext>
              </a:extLst>
            </p:cNvPr>
            <p:cNvSpPr txBox="1"/>
            <p:nvPr/>
          </p:nvSpPr>
          <p:spPr>
            <a:xfrm>
              <a:off x="310230" y="5605659"/>
              <a:ext cx="14109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H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rPr>
                <a:t>Legend</a:t>
              </a: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DA94666-91E8-CC3C-C608-5A81FE204063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4719816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BBE4B-4A90-0AF0-8F66-DF7445A04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ython (programming language) - Wikipedia">
            <a:extLst>
              <a:ext uri="{FF2B5EF4-FFF2-40B4-BE49-F238E27FC236}">
                <a16:creationId xmlns:a16="http://schemas.microsoft.com/office/drawing/2014/main" id="{7558C346-DE27-A956-4676-1859B13F3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8798" y="1976599"/>
            <a:ext cx="1160526" cy="116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astAPI · GitHub">
            <a:extLst>
              <a:ext uri="{FF2B5EF4-FFF2-40B4-BE49-F238E27FC236}">
                <a16:creationId xmlns:a16="http://schemas.microsoft.com/office/drawing/2014/main" id="{855D1AA6-EBDE-F14E-DEDA-B41BF7D5B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78" y="3524073"/>
            <a:ext cx="1331214" cy="133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รูปภาพGemini – เลือกดูภาพถ่ายสต็อก เวกเตอร์ และวิดีโอ74,249 | Adobe Stock">
            <a:extLst>
              <a:ext uri="{FF2B5EF4-FFF2-40B4-BE49-F238E27FC236}">
                <a16:creationId xmlns:a16="http://schemas.microsoft.com/office/drawing/2014/main" id="{22E3C64C-AE8F-51D5-DA83-3907C22BC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346" y="3600408"/>
            <a:ext cx="2863850" cy="114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hat Is BigQuery And How Do You Load Data Into It? - Seattle Data Guy">
            <a:extLst>
              <a:ext uri="{FF2B5EF4-FFF2-40B4-BE49-F238E27FC236}">
                <a16:creationId xmlns:a16="http://schemas.microsoft.com/office/drawing/2014/main" id="{A030075D-3E5E-15F1-6377-932F1CC17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789" y="4794906"/>
            <a:ext cx="2353733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What is Docker ? How to use it ? - NashTech Blog">
            <a:extLst>
              <a:ext uri="{FF2B5EF4-FFF2-40B4-BE49-F238E27FC236}">
                <a16:creationId xmlns:a16="http://schemas.microsoft.com/office/drawing/2014/main" id="{2BA49730-AF03-6D55-974D-7885BA76D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259" y="1851207"/>
            <a:ext cx="2353733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GitHub - jupyterlab/jupyterlab: JupyterLab computational environment.">
            <a:extLst>
              <a:ext uri="{FF2B5EF4-FFF2-40B4-BE49-F238E27FC236}">
                <a16:creationId xmlns:a16="http://schemas.microsoft.com/office/drawing/2014/main" id="{15A8AB89-8C13-214E-E901-852D83950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838" y="1970973"/>
            <a:ext cx="1407653" cy="140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Cloud Run vs App Engine vs Cloud Function (Pros and Cons)">
            <a:extLst>
              <a:ext uri="{FF2B5EF4-FFF2-40B4-BE49-F238E27FC236}">
                <a16:creationId xmlns:a16="http://schemas.microsoft.com/office/drawing/2014/main" id="{529B08C3-47D8-32EA-D13B-1922DE3E9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720" y="5412401"/>
            <a:ext cx="2513146" cy="962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oogle Cloud Storage: solution for data lakes - Flowygo">
            <a:extLst>
              <a:ext uri="{FF2B5EF4-FFF2-40B4-BE49-F238E27FC236}">
                <a16:creationId xmlns:a16="http://schemas.microsoft.com/office/drawing/2014/main" id="{22FE7497-B4F7-5F32-2032-702334A4A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932" y="3636936"/>
            <a:ext cx="2281412" cy="161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isual Studio Code - Download and install on Windows | Microsoft Store">
            <a:extLst>
              <a:ext uri="{FF2B5EF4-FFF2-40B4-BE49-F238E27FC236}">
                <a16:creationId xmlns:a16="http://schemas.microsoft.com/office/drawing/2014/main" id="{01EEC46E-48C9-84E6-33F5-A113A0DFF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611" y="2513195"/>
            <a:ext cx="1167982" cy="116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YAML File Format Icon SVG Vector &amp; PNG Free Download | UXWing">
            <a:extLst>
              <a:ext uri="{FF2B5EF4-FFF2-40B4-BE49-F238E27FC236}">
                <a16:creationId xmlns:a16="http://schemas.microsoft.com/office/drawing/2014/main" id="{F4E999C6-217F-7104-506D-339041577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713" y="4884124"/>
            <a:ext cx="1145540" cy="114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59C146-EE72-EBE5-AE83-924130D139C8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System Architecture &amp; Technology Stack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7309667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6B22-0473-04F9-85F9-5E187DB4D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44697C-7150-FFF1-EC0E-DA02EFC6F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427620"/>
            <a:ext cx="9486900" cy="51098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91456F-E2A6-B73B-EBF7-559ECA452B13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System Architecture &amp; Technology Stack</a:t>
            </a:r>
            <a:endParaRPr lang="en-US" sz="24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98174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D2FE-96D7-DD42-D64C-0E3C44E7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843A-37A8-7E78-56C1-F959554448A7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Future Work</a:t>
            </a:r>
            <a:endParaRPr lang="en-US" sz="2400" dirty="0">
              <a:cs typeface="Poppins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A87FB-2FFC-027B-D5E5-C96FB0C851B7}"/>
              </a:ext>
            </a:extLst>
          </p:cNvPr>
          <p:cNvSpPr txBox="1"/>
          <p:nvPr/>
        </p:nvSpPr>
        <p:spPr>
          <a:xfrm>
            <a:off x="0" y="6949440"/>
            <a:ext cx="2730056" cy="972562"/>
          </a:xfrm>
          <a:prstGeom prst="roundRect">
            <a:avLst>
              <a:gd name="adj" fmla="val 4406"/>
            </a:avLst>
          </a:prstGeom>
          <a:solidFill>
            <a:srgbClr val="FFD100"/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latin typeface="Consolas" panose="020B0609020204030204" pitchFamily="49" charset="0"/>
              </a:rPr>
              <a:t>Add endpoint get student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Consolas" panose="020B0609020204030204" pitchFamily="49" charset="0"/>
              </a:rPr>
              <a:t>Update intent core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60981D-86EB-AD87-EAEB-7A329296C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750" y="1305757"/>
            <a:ext cx="9429831" cy="530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714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05D7B-EDF6-5F9B-FCF3-923CFAAD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AAB85E2C-B8F5-A58B-F930-70CE7F3E0CC6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</a:t>
            </a:r>
            <a:r>
              <a:rPr lang="en-TH" sz="2400" dirty="0"/>
              <a:t>– </a:t>
            </a:r>
            <a:r>
              <a:rPr lang="en-US" sz="2400" dirty="0"/>
              <a:t>Future Work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C8AC74-4A46-293E-66F1-F81BC7E1E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285" y="1485575"/>
            <a:ext cx="3654890" cy="45299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D6FB7D-793F-9368-D167-7596F41BE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29" y="1485575"/>
            <a:ext cx="4167888" cy="45299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1E6D40-55B4-7187-0EAB-242263D915D4}"/>
              </a:ext>
            </a:extLst>
          </p:cNvPr>
          <p:cNvSpPr txBox="1"/>
          <p:nvPr/>
        </p:nvSpPr>
        <p:spPr>
          <a:xfrm>
            <a:off x="5941951" y="35658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137678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BD8A-8D45-2434-7F86-A7B3D8DA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9223EE7-F282-49F6-E483-75F8BADCFA22}"/>
              </a:ext>
            </a:extLst>
          </p:cNvPr>
          <p:cNvSpPr txBox="1">
            <a:spLocks/>
          </p:cNvSpPr>
          <p:nvPr/>
        </p:nvSpPr>
        <p:spPr>
          <a:xfrm>
            <a:off x="152399" y="5933461"/>
            <a:ext cx="11820525" cy="2299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endParaRPr lang="en-US" sz="1100">
              <a:solidFill>
                <a:srgbClr val="0432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B0FF0E-A6A2-98AF-B9D8-1ECC79F8D2E2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934109-FB6B-51BF-602B-1988ED13AD7B}"/>
              </a:ext>
            </a:extLst>
          </p:cNvPr>
          <p:cNvSpPr txBox="1">
            <a:spLocks/>
          </p:cNvSpPr>
          <p:nvPr/>
        </p:nvSpPr>
        <p:spPr>
          <a:xfrm>
            <a:off x="479425" y="3121223"/>
            <a:ext cx="11233150" cy="61555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algn="ctr"/>
            <a:r>
              <a:rPr lang="en-US" sz="40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Team stand up</a:t>
            </a:r>
          </a:p>
        </p:txBody>
      </p:sp>
    </p:spTree>
    <p:extLst>
      <p:ext uri="{BB962C8B-B14F-4D97-AF65-F5344CB8AC3E}">
        <p14:creationId xmlns:p14="http://schemas.microsoft.com/office/powerpoint/2010/main" val="363001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7EB9D-BC4E-CFB7-65B4-D57B60001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1F61-F94E-9D8E-AF80-BBC948144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66"/>
            <a:ext cx="10515600" cy="625474"/>
          </a:xfrm>
        </p:spPr>
        <p:txBody>
          <a:bodyPr>
            <a:noAutofit/>
          </a:bodyPr>
          <a:lstStyle/>
          <a:p>
            <a:r>
              <a:rPr lang="en-US" sz="3200" dirty="0"/>
              <a:t>Tue,260224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4EDA9-0040-E8C3-0509-331038A59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019175"/>
            <a:ext cx="11515724" cy="5206072"/>
          </a:xfrm>
        </p:spPr>
        <p:txBody>
          <a:bodyPr>
            <a:normAutofit/>
          </a:bodyPr>
          <a:lstStyle/>
          <a:p>
            <a:r>
              <a:rPr lang="en-US" sz="2400" dirty="0"/>
              <a:t>Done</a:t>
            </a:r>
          </a:p>
          <a:p>
            <a:pPr lvl="1"/>
            <a:r>
              <a:rPr lang="en-US" sz="2000" dirty="0"/>
              <a:t>Completed </a:t>
            </a:r>
            <a:r>
              <a:rPr lang="en-US" dirty="0"/>
              <a:t>calc_subscore.py</a:t>
            </a:r>
            <a:r>
              <a:rPr lang="en-US" sz="2000" dirty="0"/>
              <a:t> (Local version)</a:t>
            </a:r>
          </a:p>
          <a:p>
            <a:pPr lvl="1"/>
            <a:r>
              <a:rPr lang="en-US" sz="2000" dirty="0"/>
              <a:t>Developed </a:t>
            </a:r>
            <a:r>
              <a:rPr lang="en-US" dirty="0"/>
              <a:t>calc_subscore_dev.py</a:t>
            </a:r>
            <a:r>
              <a:rPr lang="en-US" sz="2000" dirty="0"/>
              <a:t> (Online version, ~60% done)</a:t>
            </a:r>
          </a:p>
          <a:p>
            <a:pPr lvl="2"/>
            <a:r>
              <a:rPr lang="en-US" sz="1600" b="1" dirty="0"/>
              <a:t>New </a:t>
            </a:r>
            <a:r>
              <a:rPr lang="en-US" sz="1600" b="1" dirty="0" err="1"/>
              <a:t>datalake</a:t>
            </a:r>
            <a:r>
              <a:rPr lang="en-US" sz="1600" b="1" dirty="0"/>
              <a:t> design -&gt; Create new fetch API (/</a:t>
            </a:r>
            <a:r>
              <a:rPr lang="en-US" sz="1600" b="1" dirty="0" err="1"/>
              <a:t>hyde</a:t>
            </a:r>
            <a:r>
              <a:rPr lang="en-US" sz="1600" b="1" dirty="0"/>
              <a:t>/student/{</a:t>
            </a:r>
            <a:r>
              <a:rPr lang="en-US" sz="1600" b="1" dirty="0" err="1"/>
              <a:t>student_id</a:t>
            </a:r>
            <a:r>
              <a:rPr lang="en-US" sz="1600" b="1" dirty="0"/>
              <a:t>}/</a:t>
            </a:r>
            <a:r>
              <a:rPr lang="en-US" sz="1600" b="1" dirty="0" err="1"/>
              <a:t>json</a:t>
            </a:r>
            <a:endParaRPr lang="en-US" sz="1600" dirty="0"/>
          </a:p>
          <a:p>
            <a:r>
              <a:rPr lang="en-US" sz="2400" dirty="0"/>
              <a:t>Todo</a:t>
            </a:r>
          </a:p>
          <a:p>
            <a:pPr lvl="1"/>
            <a:r>
              <a:rPr lang="en-US" sz="2000" dirty="0"/>
              <a:t>Align score calculation and </a:t>
            </a:r>
            <a:r>
              <a:rPr lang="en-US" sz="2000" dirty="0" err="1"/>
              <a:t>feed_id</a:t>
            </a:r>
            <a:r>
              <a:rPr lang="en-US" sz="2000" dirty="0"/>
              <a:t> mapping with Shin</a:t>
            </a:r>
          </a:p>
          <a:p>
            <a:pPr lvl="1"/>
            <a:r>
              <a:rPr lang="en-US" sz="2000" dirty="0"/>
              <a:t>Create API</a:t>
            </a:r>
          </a:p>
          <a:p>
            <a:pPr lvl="2"/>
            <a:r>
              <a:rPr lang="en-US" sz="1600" dirty="0"/>
              <a:t>Feed map</a:t>
            </a:r>
          </a:p>
          <a:p>
            <a:pPr lvl="2"/>
            <a:r>
              <a:rPr lang="en-US" sz="1600" dirty="0"/>
              <a:t>Interaction map</a:t>
            </a:r>
          </a:p>
          <a:p>
            <a:pPr lvl="1"/>
            <a:r>
              <a:rPr lang="en-US" sz="2000" dirty="0"/>
              <a:t>Continue integration with Shin’s code</a:t>
            </a:r>
          </a:p>
          <a:p>
            <a:r>
              <a:rPr lang="en-US" sz="2400" dirty="0"/>
              <a:t>Issue</a:t>
            </a:r>
          </a:p>
          <a:p>
            <a:pPr lvl="1"/>
            <a:r>
              <a:rPr lang="en-US" sz="2000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35487543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5BE5B-E263-7F55-CFA7-43846B39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57CB-5C16-21C7-7FA1-141EDDDE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66"/>
            <a:ext cx="10515600" cy="625474"/>
          </a:xfrm>
        </p:spPr>
        <p:txBody>
          <a:bodyPr>
            <a:noAutofit/>
          </a:bodyPr>
          <a:lstStyle/>
          <a:p>
            <a:r>
              <a:rPr lang="en-US" sz="3200" dirty="0"/>
              <a:t>Tue,260224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CB2C67-BA99-54CA-FFD8-FB5821BB7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1125172"/>
            <a:ext cx="4552142" cy="46076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7A0516-C1CE-D8FA-B38F-CB30C11ED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142" y="1480503"/>
            <a:ext cx="6927187" cy="389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254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23EBA-6B74-9146-16BC-CDC77B67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06B57-3E80-FED0-BF68-C060FE5F2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66"/>
            <a:ext cx="10515600" cy="625474"/>
          </a:xfrm>
        </p:spPr>
        <p:txBody>
          <a:bodyPr>
            <a:noAutofit/>
          </a:bodyPr>
          <a:lstStyle/>
          <a:p>
            <a:r>
              <a:rPr lang="en-US" sz="3200"/>
              <a:t>Tue,260224</a:t>
            </a:r>
            <a:endParaRPr lang="en-US" sz="3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23952-08E3-00DA-C140-B053847C8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1480503"/>
            <a:ext cx="6927187" cy="38969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632D5B-8812-8A1C-329F-59CCC8156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978" y="963637"/>
            <a:ext cx="3875121" cy="493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600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8CC9-1433-8744-E0E1-CFCFE115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E309-D153-1113-1A32-1FA484ED3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66"/>
            <a:ext cx="10515600" cy="625474"/>
          </a:xfrm>
        </p:spPr>
        <p:txBody>
          <a:bodyPr>
            <a:noAutofit/>
          </a:bodyPr>
          <a:lstStyle/>
          <a:p>
            <a:r>
              <a:rPr lang="en-US" sz="3200" dirty="0"/>
              <a:t>Thu,260219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5ED0D-4F10-2C5E-A79B-B4018921D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019175"/>
            <a:ext cx="11515724" cy="5206072"/>
          </a:xfrm>
        </p:spPr>
        <p:txBody>
          <a:bodyPr>
            <a:normAutofit/>
          </a:bodyPr>
          <a:lstStyle/>
          <a:p>
            <a:r>
              <a:rPr lang="en-US" sz="2400" dirty="0"/>
              <a:t>Done</a:t>
            </a:r>
          </a:p>
          <a:p>
            <a:pPr lvl="1"/>
            <a:r>
              <a:rPr lang="en-US" sz="2000" b="1" dirty="0"/>
              <a:t>Start integrating </a:t>
            </a:r>
            <a:r>
              <a:rPr lang="en-US" sz="2000" b="1" dirty="0" err="1"/>
              <a:t>subscore</a:t>
            </a:r>
            <a:r>
              <a:rPr lang="en-US" sz="2000" b="1" dirty="0"/>
              <a:t> </a:t>
            </a:r>
            <a:r>
              <a:rPr lang="en-US" sz="2000" dirty="0"/>
              <a:t>into Shin’s project</a:t>
            </a:r>
          </a:p>
          <a:p>
            <a:pPr marL="457200" lvl="1" indent="0">
              <a:buNone/>
            </a:pPr>
            <a:r>
              <a:rPr lang="en-US" sz="2000" dirty="0"/>
              <a:t>      - Begin with mocking data</a:t>
            </a:r>
          </a:p>
          <a:p>
            <a:pPr marL="457200" lvl="1" indent="0">
              <a:buNone/>
            </a:pPr>
            <a:r>
              <a:rPr lang="en-US" sz="2000" dirty="0"/>
              <a:t>      - Adding .</a:t>
            </a:r>
            <a:r>
              <a:rPr lang="en-US" sz="2000" dirty="0" err="1"/>
              <a:t>yaml</a:t>
            </a:r>
            <a:r>
              <a:rPr lang="en-US" sz="2000" dirty="0"/>
              <a:t> file and </a:t>
            </a:r>
          </a:p>
          <a:p>
            <a:pPr marL="457200" lvl="1" indent="0">
              <a:buNone/>
            </a:pPr>
            <a:r>
              <a:rPr lang="en-US" sz="2000" dirty="0"/>
              <a:t>      - Gradually refactor and move related code into Shin’s folder structure (In progress)</a:t>
            </a:r>
          </a:p>
          <a:p>
            <a:r>
              <a:rPr lang="en-US" sz="2400" dirty="0"/>
              <a:t>Todo</a:t>
            </a:r>
          </a:p>
          <a:p>
            <a:pPr lvl="1"/>
            <a:r>
              <a:rPr lang="en-US" sz="2000" dirty="0"/>
              <a:t>Continue merging </a:t>
            </a:r>
            <a:r>
              <a:rPr lang="en-US" sz="2000" dirty="0" err="1"/>
              <a:t>subscore</a:t>
            </a:r>
            <a:r>
              <a:rPr lang="en-US" sz="2000" dirty="0"/>
              <a:t> into Shin’s pipeline</a:t>
            </a:r>
          </a:p>
          <a:p>
            <a:pPr lvl="1"/>
            <a:r>
              <a:rPr lang="en-US" sz="2000" dirty="0"/>
              <a:t>Connect score, index, and feed metadata flow</a:t>
            </a:r>
          </a:p>
          <a:p>
            <a:pPr lvl="2"/>
            <a:r>
              <a:rPr lang="en-US" sz="1600" dirty="0"/>
              <a:t>Score</a:t>
            </a:r>
          </a:p>
          <a:p>
            <a:pPr lvl="2"/>
            <a:r>
              <a:rPr lang="en-US" sz="1600" dirty="0"/>
              <a:t>Indices</a:t>
            </a:r>
          </a:p>
          <a:p>
            <a:pPr lvl="2"/>
            <a:r>
              <a:rPr lang="en-US" sz="1600" dirty="0"/>
              <a:t>Feed detail and metadata (</a:t>
            </a:r>
            <a:r>
              <a:rPr lang="en-US" sz="1600" dirty="0" err="1"/>
              <a:t>BigQuery</a:t>
            </a:r>
            <a:r>
              <a:rPr lang="en-US" sz="1600" dirty="0"/>
              <a:t> -&gt; </a:t>
            </a:r>
            <a:r>
              <a:rPr lang="en-US" sz="1600" dirty="0" err="1"/>
              <a:t>Redist</a:t>
            </a:r>
            <a:r>
              <a:rPr lang="en-US" sz="1600" dirty="0"/>
              <a:t> -&gt; </a:t>
            </a:r>
            <a:r>
              <a:rPr lang="en-US" sz="1600" dirty="0" err="1"/>
              <a:t>json</a:t>
            </a:r>
            <a:r>
              <a:rPr lang="en-US" sz="1600" dirty="0"/>
              <a:t>)</a:t>
            </a:r>
          </a:p>
          <a:p>
            <a:r>
              <a:rPr lang="en-US" sz="2400" dirty="0"/>
              <a:t>Issue</a:t>
            </a:r>
          </a:p>
          <a:p>
            <a:pPr lvl="1"/>
            <a:r>
              <a:rPr lang="en-US" sz="2000" dirty="0"/>
              <a:t>Code is quite complex</a:t>
            </a:r>
          </a:p>
          <a:p>
            <a:pPr lvl="1"/>
            <a:r>
              <a:rPr lang="en-US" sz="2000" dirty="0"/>
              <a:t>Integration with Shin’s code</a:t>
            </a:r>
          </a:p>
        </p:txBody>
      </p:sp>
    </p:spTree>
    <p:extLst>
      <p:ext uri="{BB962C8B-B14F-4D97-AF65-F5344CB8AC3E}">
        <p14:creationId xmlns:p14="http://schemas.microsoft.com/office/powerpoint/2010/main" val="2242758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C5B4E-C37B-229A-2211-8D252CB4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84D27-5A6B-E924-6273-9FE5DB585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66"/>
            <a:ext cx="10515600" cy="625474"/>
          </a:xfrm>
        </p:spPr>
        <p:txBody>
          <a:bodyPr>
            <a:noAutofit/>
          </a:bodyPr>
          <a:lstStyle/>
          <a:p>
            <a:r>
              <a:rPr lang="en-US" sz="3200" dirty="0"/>
              <a:t>Thu,120226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04FE1-682D-27AD-30D2-76CBB2B05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019175"/>
            <a:ext cx="11515724" cy="5206072"/>
          </a:xfrm>
        </p:spPr>
        <p:txBody>
          <a:bodyPr>
            <a:normAutofit/>
          </a:bodyPr>
          <a:lstStyle/>
          <a:p>
            <a:r>
              <a:rPr lang="en-US" sz="2400" dirty="0"/>
              <a:t>Done</a:t>
            </a:r>
          </a:p>
          <a:p>
            <a:pPr lvl="1"/>
            <a:r>
              <a:rPr lang="en-US" sz="2000" b="1" dirty="0"/>
              <a:t>Start integrating </a:t>
            </a:r>
            <a:r>
              <a:rPr lang="en-US" sz="2000" b="1" dirty="0" err="1"/>
              <a:t>subscore</a:t>
            </a:r>
            <a:r>
              <a:rPr lang="en-US" sz="2000" b="1" dirty="0"/>
              <a:t> </a:t>
            </a:r>
            <a:r>
              <a:rPr lang="en-US" sz="2000" dirty="0"/>
              <a:t>into Shin’s project</a:t>
            </a:r>
          </a:p>
          <a:p>
            <a:pPr marL="457200" lvl="1" indent="0">
              <a:buNone/>
            </a:pPr>
            <a:r>
              <a:rPr lang="en-US" sz="2000" dirty="0"/>
              <a:t>      - Begin with mocking data</a:t>
            </a:r>
          </a:p>
          <a:p>
            <a:pPr marL="457200" lvl="1" indent="0">
              <a:buNone/>
            </a:pPr>
            <a:r>
              <a:rPr lang="en-US" sz="2000" dirty="0"/>
              <a:t>      - Adding .</a:t>
            </a:r>
            <a:r>
              <a:rPr lang="en-US" sz="2000" dirty="0" err="1"/>
              <a:t>yaml</a:t>
            </a:r>
            <a:r>
              <a:rPr lang="en-US" sz="2000" dirty="0"/>
              <a:t> file and </a:t>
            </a:r>
          </a:p>
          <a:p>
            <a:pPr marL="457200" lvl="1" indent="0">
              <a:buNone/>
            </a:pPr>
            <a:r>
              <a:rPr lang="en-US" sz="2000" dirty="0"/>
              <a:t>      - Gradually refactor and move related code into Shin’s folder structure (In progress)</a:t>
            </a:r>
          </a:p>
          <a:p>
            <a:r>
              <a:rPr lang="en-US" sz="2400" dirty="0"/>
              <a:t>Todo</a:t>
            </a:r>
          </a:p>
          <a:p>
            <a:pPr lvl="1"/>
            <a:r>
              <a:rPr lang="en-US" sz="2000" dirty="0"/>
              <a:t>Continue merging </a:t>
            </a:r>
            <a:r>
              <a:rPr lang="en-US" sz="2000" dirty="0" err="1"/>
              <a:t>subscore</a:t>
            </a:r>
            <a:r>
              <a:rPr lang="en-US" sz="2000" dirty="0"/>
              <a:t> into Shin’s pipeline</a:t>
            </a:r>
          </a:p>
          <a:p>
            <a:pPr lvl="1"/>
            <a:r>
              <a:rPr lang="en-US" sz="2000" dirty="0"/>
              <a:t>Connect score, index, and feed metadata flow</a:t>
            </a:r>
          </a:p>
          <a:p>
            <a:pPr lvl="2"/>
            <a:r>
              <a:rPr lang="en-US" sz="1600" dirty="0"/>
              <a:t>Score</a:t>
            </a:r>
          </a:p>
          <a:p>
            <a:pPr lvl="2"/>
            <a:r>
              <a:rPr lang="en-US" sz="1600" dirty="0" err="1"/>
              <a:t>Indice</a:t>
            </a:r>
            <a:endParaRPr lang="en-US" sz="1600" dirty="0"/>
          </a:p>
          <a:p>
            <a:pPr lvl="2"/>
            <a:r>
              <a:rPr lang="en-US" sz="1600" dirty="0"/>
              <a:t>Feed detail and metadata (</a:t>
            </a:r>
            <a:r>
              <a:rPr lang="en-US" sz="1600" dirty="0" err="1"/>
              <a:t>BigQuery</a:t>
            </a:r>
            <a:r>
              <a:rPr lang="en-US" sz="1600" dirty="0"/>
              <a:t> -&gt; </a:t>
            </a:r>
            <a:r>
              <a:rPr lang="en-US" sz="1600" dirty="0" err="1"/>
              <a:t>Redist</a:t>
            </a:r>
            <a:r>
              <a:rPr lang="en-US" sz="1600" dirty="0"/>
              <a:t> -&gt; </a:t>
            </a:r>
            <a:r>
              <a:rPr lang="en-US" sz="1600" dirty="0" err="1"/>
              <a:t>json</a:t>
            </a:r>
            <a:r>
              <a:rPr lang="en-US" sz="1600" dirty="0"/>
              <a:t>)</a:t>
            </a:r>
          </a:p>
          <a:p>
            <a:r>
              <a:rPr lang="en-US" sz="2400" dirty="0"/>
              <a:t>Issue</a:t>
            </a:r>
          </a:p>
          <a:p>
            <a:pPr lvl="1"/>
            <a:r>
              <a:rPr lang="en-US" sz="2000" dirty="0"/>
              <a:t>Code is quite complex</a:t>
            </a:r>
          </a:p>
          <a:p>
            <a:pPr lvl="1"/>
            <a:r>
              <a:rPr lang="en-US" sz="2000" dirty="0"/>
              <a:t>Integration with Shin’s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D4A7C4-B63E-491B-1B7F-B2FB650B0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213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FA0D1-9FDE-1249-279B-D2B0F617E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BC12-1365-84DA-A88A-6A64C88C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66"/>
            <a:ext cx="10515600" cy="625474"/>
          </a:xfrm>
        </p:spPr>
        <p:txBody>
          <a:bodyPr>
            <a:noAutofit/>
          </a:bodyPr>
          <a:lstStyle/>
          <a:p>
            <a:r>
              <a:rPr lang="en-US" sz="3200" dirty="0"/>
              <a:t>Wed,180226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B3101-377A-A98B-11B8-D61708071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019175"/>
            <a:ext cx="11515724" cy="5206072"/>
          </a:xfrm>
        </p:spPr>
        <p:txBody>
          <a:bodyPr>
            <a:normAutofit/>
          </a:bodyPr>
          <a:lstStyle/>
          <a:p>
            <a:r>
              <a:rPr lang="en-US" sz="2400" dirty="0"/>
              <a:t>Done</a:t>
            </a:r>
          </a:p>
          <a:p>
            <a:pPr lvl="1"/>
            <a:r>
              <a:rPr lang="en-US" sz="2000" b="1" dirty="0"/>
              <a:t>Aligned with Shin</a:t>
            </a:r>
          </a:p>
          <a:p>
            <a:pPr lvl="1"/>
            <a:r>
              <a:rPr lang="en-US" sz="2000" b="1" dirty="0"/>
              <a:t>Clarified</a:t>
            </a:r>
            <a:r>
              <a:rPr lang="en-US" sz="2000" dirty="0"/>
              <a:t> </a:t>
            </a:r>
            <a:r>
              <a:rPr lang="en-US" sz="2000" dirty="0" err="1"/>
              <a:t>subscore</a:t>
            </a:r>
            <a:r>
              <a:rPr lang="en-US" sz="2000" dirty="0"/>
              <a:t> </a:t>
            </a:r>
            <a:r>
              <a:rPr lang="en-US" sz="2000" dirty="0" err="1"/>
              <a:t>poc</a:t>
            </a:r>
            <a:r>
              <a:rPr lang="en-US" sz="2000" dirty="0"/>
              <a:t> code</a:t>
            </a:r>
          </a:p>
          <a:p>
            <a:pPr lvl="1"/>
            <a:r>
              <a:rPr lang="en-US" sz="2000" dirty="0"/>
              <a:t>Drafted structure and explored how to collaborate within Shin’s </a:t>
            </a:r>
            <a:r>
              <a:rPr lang="en-US" sz="2000" dirty="0" err="1"/>
              <a:t>Github</a:t>
            </a:r>
            <a:r>
              <a:rPr lang="en-US" sz="2000" dirty="0"/>
              <a:t> repository</a:t>
            </a:r>
            <a:br>
              <a:rPr lang="en-US" sz="2000" dirty="0"/>
            </a:br>
            <a:endParaRPr lang="en-US" sz="2000" dirty="0"/>
          </a:p>
          <a:p>
            <a:r>
              <a:rPr lang="en-US" sz="2400" dirty="0"/>
              <a:t>Todo</a:t>
            </a:r>
          </a:p>
          <a:p>
            <a:pPr lvl="1"/>
            <a:r>
              <a:rPr lang="en-US" sz="1600" dirty="0"/>
              <a:t>Target completion : </a:t>
            </a:r>
            <a:r>
              <a:rPr lang="en-US" sz="1600" b="1" dirty="0"/>
              <a:t>tomorrow or Friday</a:t>
            </a:r>
          </a:p>
          <a:p>
            <a:r>
              <a:rPr lang="en-US" sz="2400" dirty="0"/>
              <a:t>Issue</a:t>
            </a:r>
          </a:p>
          <a:p>
            <a:pPr lvl="1"/>
            <a:r>
              <a:rPr lang="en-US" sz="2000" dirty="0"/>
              <a:t>-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281001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E5E4-2CE7-3F8F-D1BA-65872A25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5CEBD-4008-AA8C-CE34-E2F31FDEF0A5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– </a:t>
            </a:r>
            <a:r>
              <a:rPr lang="en-US" sz="2400" dirty="0"/>
              <a:t>Batch student </a:t>
            </a:r>
            <a:r>
              <a:rPr lang="en-US" sz="2400" dirty="0" err="1"/>
              <a:t>HyDE</a:t>
            </a:r>
            <a:r>
              <a:rPr lang="en-US" sz="2400" dirty="0"/>
              <a:t> generator</a:t>
            </a:r>
            <a:endParaRPr lang="en-US" sz="2400" dirty="0">
              <a:cs typeface="Poppins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7E3E89-0DFF-283D-611F-FF80DF3CB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94060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163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796A6-0C36-AE52-F3D9-28AC570A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C1C7-D010-D9D8-983D-17BEF96A9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66"/>
            <a:ext cx="10515600" cy="625474"/>
          </a:xfrm>
        </p:spPr>
        <p:txBody>
          <a:bodyPr>
            <a:noAutofit/>
          </a:bodyPr>
          <a:lstStyle/>
          <a:p>
            <a:r>
              <a:rPr lang="en-US" sz="3200" dirty="0"/>
              <a:t>Tue,100226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69BC6-2D02-EEC0-3CD2-298961C79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019175"/>
            <a:ext cx="11515724" cy="5206072"/>
          </a:xfrm>
        </p:spPr>
        <p:txBody>
          <a:bodyPr>
            <a:normAutofit/>
          </a:bodyPr>
          <a:lstStyle/>
          <a:p>
            <a:r>
              <a:rPr lang="en-US" sz="2400" dirty="0"/>
              <a:t>Done</a:t>
            </a:r>
          </a:p>
          <a:p>
            <a:pPr lvl="1"/>
            <a:r>
              <a:rPr lang="en-US" sz="2000" dirty="0"/>
              <a:t>Update 3 case hander retrieval support with </a:t>
            </a:r>
            <a:r>
              <a:rPr lang="en-US" sz="2000" dirty="0" err="1"/>
              <a:t>hyde</a:t>
            </a:r>
            <a:r>
              <a:rPr lang="en-US" sz="2000" dirty="0"/>
              <a:t> with </a:t>
            </a:r>
            <a:r>
              <a:rPr lang="en-US" sz="2000" dirty="0" err="1"/>
              <a:t>FastAPI</a:t>
            </a:r>
            <a:r>
              <a:rPr lang="en-US" sz="2000" dirty="0"/>
              <a:t> -&gt; Deploy</a:t>
            </a:r>
            <a:br>
              <a:rPr lang="en-US" sz="2000" dirty="0"/>
            </a:br>
            <a:endParaRPr lang="en-US" sz="2000" dirty="0"/>
          </a:p>
          <a:p>
            <a:r>
              <a:rPr lang="en-US" sz="2400" dirty="0"/>
              <a:t>Todo</a:t>
            </a:r>
          </a:p>
          <a:p>
            <a:pPr lvl="1"/>
            <a:r>
              <a:rPr lang="en-US" sz="2000" dirty="0"/>
              <a:t>Update GCS Retrieval with </a:t>
            </a:r>
            <a:r>
              <a:rPr lang="en-US" sz="2000" dirty="0" err="1"/>
              <a:t>handerling</a:t>
            </a:r>
            <a:r>
              <a:rPr lang="en-US" sz="2000" dirty="0"/>
              <a:t> 3 cases with </a:t>
            </a:r>
            <a:r>
              <a:rPr lang="en-US" sz="2000" dirty="0" err="1"/>
              <a:t>FastAPI</a:t>
            </a:r>
            <a:endParaRPr lang="en-US" sz="2000" dirty="0"/>
          </a:p>
          <a:p>
            <a:pPr lvl="1"/>
            <a:r>
              <a:rPr lang="en-US" sz="2000" dirty="0" err="1"/>
              <a:t>HyDE</a:t>
            </a:r>
            <a:r>
              <a:rPr lang="en-US" sz="2000" dirty="0"/>
              <a:t> generator</a:t>
            </a:r>
          </a:p>
          <a:p>
            <a:pPr lvl="2"/>
            <a:r>
              <a:rPr lang="en-US" sz="1600" dirty="0"/>
              <a:t>Batch </a:t>
            </a:r>
            <a:r>
              <a:rPr lang="en-US" sz="1600" dirty="0" err="1"/>
              <a:t>HyDE</a:t>
            </a:r>
            <a:r>
              <a:rPr lang="en-US" sz="1600" dirty="0"/>
              <a:t> student generator</a:t>
            </a:r>
          </a:p>
          <a:p>
            <a:pPr lvl="2"/>
            <a:r>
              <a:rPr lang="en-US" sz="1600" dirty="0"/>
              <a:t>Single </a:t>
            </a:r>
            <a:r>
              <a:rPr lang="en-US" sz="1600" dirty="0" err="1"/>
              <a:t>HyDE</a:t>
            </a:r>
            <a:r>
              <a:rPr lang="en-US" sz="1600" dirty="0"/>
              <a:t> student generator</a:t>
            </a:r>
          </a:p>
          <a:p>
            <a:r>
              <a:rPr lang="en-US" sz="2400" dirty="0"/>
              <a:t>Issue</a:t>
            </a:r>
          </a:p>
          <a:p>
            <a:pPr lvl="1"/>
            <a:r>
              <a:rPr lang="en-US" sz="2000" dirty="0"/>
              <a:t>-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804641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BAF88-98C3-D016-BA8B-8AC67505A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2EC71-C3AB-E566-4ADD-3A3D8A15D073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– </a:t>
            </a:r>
            <a:r>
              <a:rPr lang="en-US" sz="2400" dirty="0"/>
              <a:t>Batch student </a:t>
            </a:r>
            <a:r>
              <a:rPr lang="en-US" sz="2400" dirty="0" err="1"/>
              <a:t>HyDE</a:t>
            </a:r>
            <a:r>
              <a:rPr lang="en-US" sz="2400" dirty="0"/>
              <a:t> generator</a:t>
            </a:r>
            <a:endParaRPr lang="en-US" sz="2400" dirty="0">
              <a:cs typeface="Poppi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98FEBB-5098-B044-49A1-CAC2AB6DC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94060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39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B3843-46C9-EFCC-C404-923699D6F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22021-840D-900B-8726-F7538398C2A6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Batch student </a:t>
            </a:r>
            <a:r>
              <a:rPr lang="en-US" sz="2400" dirty="0" err="1"/>
              <a:t>HyDE</a:t>
            </a:r>
            <a:r>
              <a:rPr lang="en-US" sz="2400" dirty="0"/>
              <a:t> generator</a:t>
            </a:r>
            <a:endParaRPr lang="en-US" sz="2400" dirty="0">
              <a:cs typeface="Poppins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2144B6-FBA6-79E8-987C-4F9FAC65C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740" y="1394060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527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6C67-350A-568F-5D87-8E55FD61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AAEB-0D7F-EB1A-8F86-ED900D7E518B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– </a:t>
            </a:r>
            <a:r>
              <a:rPr lang="en-US" sz="2400" dirty="0"/>
              <a:t>Single student </a:t>
            </a:r>
            <a:r>
              <a:rPr lang="en-US" sz="2400" dirty="0" err="1"/>
              <a:t>HyDE</a:t>
            </a:r>
            <a:r>
              <a:rPr lang="en-US" sz="2400" dirty="0"/>
              <a:t> generator</a:t>
            </a:r>
            <a:endParaRPr lang="en-US" sz="2400" dirty="0">
              <a:cs typeface="Poppins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DE272-12F8-95DB-3DB9-476DDE764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94060"/>
            <a:ext cx="9144000" cy="51414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E59E7-EB13-21BC-9F5B-35AFBB61A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394060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160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EDA2F-C34A-8761-240D-31D34208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3AD2-CFA4-44D3-12FB-B1F5B1F1119B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Single student </a:t>
            </a:r>
            <a:r>
              <a:rPr lang="en-US" sz="2400" dirty="0" err="1"/>
              <a:t>HyDE</a:t>
            </a:r>
            <a:r>
              <a:rPr lang="en-US" sz="2400" dirty="0"/>
              <a:t> generator</a:t>
            </a:r>
            <a:endParaRPr lang="en-US" sz="2400" dirty="0">
              <a:cs typeface="Poppins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E5C038-745A-2321-6B54-48D092759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94060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079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A212-2CFA-F8F2-C948-8B2D0C1CF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CB08-0B4E-FA23-8E60-6BC94176AD73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System Architecture &amp; Technology Stack</a:t>
            </a:r>
            <a:endParaRPr lang="en-US" sz="2400" dirty="0">
              <a:cs typeface="Poppins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5243E-86BD-1209-1F07-95E19A2C1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016" y="0"/>
            <a:ext cx="3319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93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4D43-FD65-857F-9EC7-74F20AF9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7F23-2801-E834-3C35-887E43F7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66"/>
            <a:ext cx="10515600" cy="625474"/>
          </a:xfrm>
        </p:spPr>
        <p:txBody>
          <a:bodyPr>
            <a:noAutofit/>
          </a:bodyPr>
          <a:lstStyle/>
          <a:p>
            <a:r>
              <a:rPr lang="en-US" sz="3200" dirty="0"/>
              <a:t>Mon,090226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BD4C6-8C93-D18D-FDCA-57F53A1E6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019175"/>
            <a:ext cx="11515724" cy="5206072"/>
          </a:xfrm>
        </p:spPr>
        <p:txBody>
          <a:bodyPr>
            <a:normAutofit/>
          </a:bodyPr>
          <a:lstStyle/>
          <a:p>
            <a:r>
              <a:rPr lang="en-US" sz="2400" dirty="0"/>
              <a:t>Done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Align </a:t>
            </a:r>
            <a:r>
              <a:rPr lang="en-US" sz="2000" dirty="0" err="1">
                <a:solidFill>
                  <a:srgbClr val="0070C0"/>
                </a:solidFill>
              </a:rPr>
              <a:t>CVEvaluation</a:t>
            </a:r>
            <a:r>
              <a:rPr lang="en-US" sz="2000" dirty="0">
                <a:solidFill>
                  <a:srgbClr val="0070C0"/>
                </a:solidFill>
              </a:rPr>
              <a:t> QA  with </a:t>
            </a:r>
            <a:r>
              <a:rPr lang="en-US" sz="2000" dirty="0" err="1">
                <a:solidFill>
                  <a:srgbClr val="0070C0"/>
                </a:solidFill>
              </a:rPr>
              <a:t>P’bloom</a:t>
            </a:r>
            <a:r>
              <a:rPr lang="en-US" sz="2000" dirty="0">
                <a:solidFill>
                  <a:srgbClr val="0070C0"/>
                </a:solidFill>
              </a:rPr>
              <a:t> and update confluence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Align Feed </a:t>
            </a:r>
            <a:r>
              <a:rPr lang="en-US" sz="2000" dirty="0" err="1">
                <a:solidFill>
                  <a:srgbClr val="0070C0"/>
                </a:solidFill>
              </a:rPr>
              <a:t>recommentdation</a:t>
            </a:r>
            <a:r>
              <a:rPr lang="en-US" sz="2000" dirty="0">
                <a:solidFill>
                  <a:srgbClr val="0070C0"/>
                </a:solidFill>
              </a:rPr>
              <a:t> (*pipeline with flowchart)</a:t>
            </a:r>
          </a:p>
          <a:p>
            <a:pPr lvl="2"/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Functions/core/subscore.py</a:t>
            </a:r>
          </a:p>
          <a:p>
            <a:pPr lvl="2"/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Pipeline_3_gold_validate.py</a:t>
            </a:r>
          </a:p>
          <a:p>
            <a:pPr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Align with shin about How vector embedding should be</a:t>
            </a:r>
          </a:p>
          <a:p>
            <a:pPr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Plan tasks for Sprint 11 in Jira</a:t>
            </a:r>
            <a:endParaRPr lang="th-T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en-US" sz="2400" dirty="0"/>
              <a:t>Todo</a:t>
            </a:r>
          </a:p>
          <a:p>
            <a:pPr lvl="1"/>
            <a:r>
              <a:rPr lang="en-US" sz="2000" dirty="0"/>
              <a:t>Update GCS Retrieval class with new 3 conditions</a:t>
            </a:r>
          </a:p>
          <a:p>
            <a:pPr lvl="1"/>
            <a:r>
              <a:rPr lang="en-US" sz="2000" dirty="0"/>
              <a:t>Develop pipeline to Update Embedding vector with shin format style</a:t>
            </a:r>
          </a:p>
          <a:p>
            <a:pPr lvl="1"/>
            <a:r>
              <a:rPr lang="en-US" sz="2000" dirty="0" err="1"/>
              <a:t>undle</a:t>
            </a:r>
            <a:r>
              <a:rPr lang="en-US" sz="2000" dirty="0"/>
              <a:t> data for each student (Pipeline_2_user_hyde_refresh.py)</a:t>
            </a:r>
          </a:p>
          <a:p>
            <a:r>
              <a:rPr lang="en-US" sz="2400" dirty="0"/>
              <a:t>Issue</a:t>
            </a:r>
          </a:p>
          <a:p>
            <a:pPr lvl="1"/>
            <a:r>
              <a:rPr lang="en-US" sz="2000" dirty="0"/>
              <a:t>-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62254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014A-F497-DAA7-0BF6-678F7DF1B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7D72-160A-773F-38D1-A3EEC448C2FE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System Architecture &amp; Technology Stack</a:t>
            </a:r>
            <a:endParaRPr lang="en-US" sz="2400" dirty="0">
              <a:cs typeface="Poppins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3A8E7-06DE-BDA1-2797-41DB50CB6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796" y="1177742"/>
            <a:ext cx="1246970" cy="568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450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ECC18-CB28-8EAB-EDAA-C75FD583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A6EC-ED28-FEB9-6AFD-B3A52684FDEE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System Architecture &amp; Technology Stack</a:t>
            </a:r>
            <a:endParaRPr lang="en-US" sz="2400" dirty="0">
              <a:cs typeface="Poppins Ligh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D5EFBE-B383-3956-79A1-1C6D55A95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89" y="1293244"/>
            <a:ext cx="9702015" cy="545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516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DF464-2CE4-50C9-2574-D601D1E9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E540-B353-689D-DE68-787DB2D0CB1B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System Architecture &amp; Technology Stack</a:t>
            </a:r>
            <a:endParaRPr lang="en-US" sz="2400" dirty="0">
              <a:cs typeface="Poppins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12C65-536F-D2E1-DDB2-024A9BAF5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91" y="1293244"/>
            <a:ext cx="9693026" cy="545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52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CEB06-4454-EDE4-5D84-FA4B1A66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EF0E-929C-71DC-75EE-C4CEF267D35E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System Architecture &amp; Technology Stack</a:t>
            </a:r>
            <a:endParaRPr lang="en-US" sz="2400" dirty="0">
              <a:cs typeface="Poppins Ligh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B86B12-3CC6-24E0-5DB4-2116CA6AA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91" y="1276215"/>
            <a:ext cx="9693026" cy="545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062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626DB-7C5A-0D4E-0C65-144C12E0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99B0-DE82-6391-145D-5993ECF07E9C}"/>
              </a:ext>
            </a:extLst>
          </p:cNvPr>
          <p:cNvSpPr txBox="1">
            <a:spLocks/>
          </p:cNvSpPr>
          <p:nvPr/>
        </p:nvSpPr>
        <p:spPr>
          <a:xfrm>
            <a:off x="365759" y="649487"/>
            <a:ext cx="11183815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US" sz="2400" dirty="0"/>
              <a:t>System Architecture &amp; Technology Stack</a:t>
            </a:r>
            <a:endParaRPr lang="en-US" sz="2400" dirty="0">
              <a:cs typeface="Poppins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8965C1-C6DE-5C70-2A5A-0D2173629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91" y="1276215"/>
            <a:ext cx="9702018" cy="545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035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6CF8-CEDF-B321-D1E2-68893F99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165E-22FA-444B-90D4-50234C61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66"/>
            <a:ext cx="10515600" cy="625474"/>
          </a:xfrm>
        </p:spPr>
        <p:txBody>
          <a:bodyPr>
            <a:noAutofit/>
          </a:bodyPr>
          <a:lstStyle/>
          <a:p>
            <a:r>
              <a:rPr lang="en-US" sz="3200" dirty="0"/>
              <a:t>Fri,060226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6D62D-ACC5-2127-C166-ECE08AFAA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019175"/>
            <a:ext cx="11515724" cy="5206072"/>
          </a:xfrm>
        </p:spPr>
        <p:txBody>
          <a:bodyPr>
            <a:normAutofit/>
          </a:bodyPr>
          <a:lstStyle/>
          <a:p>
            <a:r>
              <a:rPr lang="en-US" sz="2400" dirty="0"/>
              <a:t>Done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Align </a:t>
            </a:r>
            <a:r>
              <a:rPr lang="en-US" sz="2000" dirty="0" err="1">
                <a:solidFill>
                  <a:srgbClr val="0070C0"/>
                </a:solidFill>
              </a:rPr>
              <a:t>CVEvaluation</a:t>
            </a:r>
            <a:r>
              <a:rPr lang="en-US" sz="2000" dirty="0">
                <a:solidFill>
                  <a:srgbClr val="0070C0"/>
                </a:solidFill>
              </a:rPr>
              <a:t> QA  with </a:t>
            </a:r>
            <a:r>
              <a:rPr lang="en-US" sz="2000" dirty="0" err="1">
                <a:solidFill>
                  <a:srgbClr val="0070C0"/>
                </a:solidFill>
              </a:rPr>
              <a:t>P’bloom</a:t>
            </a:r>
            <a:r>
              <a:rPr lang="en-US" sz="2000" dirty="0">
                <a:solidFill>
                  <a:srgbClr val="0070C0"/>
                </a:solidFill>
              </a:rPr>
              <a:t> and update confluence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Align Feed </a:t>
            </a:r>
            <a:r>
              <a:rPr lang="en-US" sz="2000" dirty="0" err="1">
                <a:solidFill>
                  <a:srgbClr val="0070C0"/>
                </a:solidFill>
              </a:rPr>
              <a:t>recommentdation</a:t>
            </a:r>
            <a:r>
              <a:rPr lang="en-US" sz="2000" dirty="0">
                <a:solidFill>
                  <a:srgbClr val="0070C0"/>
                </a:solidFill>
              </a:rPr>
              <a:t> (*pipeline with flowchart)</a:t>
            </a:r>
          </a:p>
          <a:p>
            <a:pPr lvl="2"/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Functions/core/subscore.py</a:t>
            </a:r>
          </a:p>
          <a:p>
            <a:pPr lvl="2"/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Pipeline_3_gold_validate.py</a:t>
            </a:r>
          </a:p>
          <a:p>
            <a:pPr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Align with shin about How vector embedding should be</a:t>
            </a:r>
          </a:p>
          <a:p>
            <a:pPr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Plan tasks for Sprint 11 in Jira</a:t>
            </a:r>
            <a:endParaRPr lang="th-T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en-US" sz="2400" dirty="0"/>
              <a:t>Todo</a:t>
            </a:r>
          </a:p>
          <a:p>
            <a:pPr lvl="1"/>
            <a:r>
              <a:rPr lang="en-US" sz="2000" dirty="0"/>
              <a:t>Update GCS Retrieval class with new 3 conditions</a:t>
            </a:r>
          </a:p>
          <a:p>
            <a:pPr lvl="1"/>
            <a:r>
              <a:rPr lang="en-US" sz="2000" dirty="0"/>
              <a:t>Develop pipeline to Update Embedding vector with shin format style</a:t>
            </a:r>
          </a:p>
          <a:p>
            <a:pPr lvl="1"/>
            <a:r>
              <a:rPr lang="en-US" sz="2000" dirty="0" err="1"/>
              <a:t>undle</a:t>
            </a:r>
            <a:r>
              <a:rPr lang="en-US" sz="2000" dirty="0"/>
              <a:t> data for each student (Pipeline_2_user_hyde_refresh.py)</a:t>
            </a:r>
          </a:p>
          <a:p>
            <a:r>
              <a:rPr lang="en-US" sz="2400" dirty="0"/>
              <a:t>Issue</a:t>
            </a:r>
          </a:p>
          <a:p>
            <a:pPr lvl="1"/>
            <a:r>
              <a:rPr lang="en-US" sz="2000" dirty="0"/>
              <a:t>-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51592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E941F-70D2-FB27-A0B2-86FD51169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FEDE-DA0B-F13A-F573-9B4A1765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66"/>
            <a:ext cx="10515600" cy="625474"/>
          </a:xfrm>
        </p:spPr>
        <p:txBody>
          <a:bodyPr>
            <a:noAutofit/>
          </a:bodyPr>
          <a:lstStyle/>
          <a:p>
            <a:r>
              <a:rPr lang="en-US" sz="3200" dirty="0"/>
              <a:t>Thu,050226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23895-89DB-1145-D0B3-790DD0026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019175"/>
            <a:ext cx="11515724" cy="520607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Done</a:t>
            </a:r>
          </a:p>
          <a:p>
            <a:pPr lvl="1"/>
            <a:r>
              <a:rPr lang="en-US" sz="2000" dirty="0"/>
              <a:t>Read and understood the QA Test Plan for the CV Evaluation Pipeline link</a:t>
            </a:r>
          </a:p>
          <a:p>
            <a:pPr lvl="1"/>
            <a:r>
              <a:rPr lang="en-US" sz="2000" dirty="0"/>
              <a:t>Understanding task for sprint 11 then prepare material to discuss (B4 </a:t>
            </a:r>
            <a:r>
              <a:rPr lang="en-US" sz="2000" dirty="0" err="1"/>
              <a:t>P’bloom</a:t>
            </a:r>
            <a:r>
              <a:rPr lang="en-US" sz="2000" dirty="0"/>
              <a:t> vacation)</a:t>
            </a:r>
          </a:p>
          <a:p>
            <a:r>
              <a:rPr lang="en-US" sz="2400" dirty="0"/>
              <a:t>Todo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Align </a:t>
            </a:r>
            <a:r>
              <a:rPr lang="en-US" sz="2000" dirty="0" err="1">
                <a:solidFill>
                  <a:srgbClr val="0070C0"/>
                </a:solidFill>
              </a:rPr>
              <a:t>CVEvaluation</a:t>
            </a:r>
            <a:r>
              <a:rPr lang="en-US" sz="2000" dirty="0">
                <a:solidFill>
                  <a:srgbClr val="0070C0"/>
                </a:solidFill>
              </a:rPr>
              <a:t> QA  with </a:t>
            </a:r>
            <a:r>
              <a:rPr lang="en-US" sz="2000" dirty="0" err="1">
                <a:solidFill>
                  <a:srgbClr val="0070C0"/>
                </a:solidFill>
              </a:rPr>
              <a:t>P’bloom</a:t>
            </a:r>
            <a:endParaRPr lang="en-US" sz="2000" dirty="0">
              <a:solidFill>
                <a:srgbClr val="0070C0"/>
              </a:solidFill>
            </a:endParaRP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Align Feed </a:t>
            </a:r>
            <a:r>
              <a:rPr lang="en-US" sz="2000" dirty="0" err="1">
                <a:solidFill>
                  <a:srgbClr val="0070C0"/>
                </a:solidFill>
              </a:rPr>
              <a:t>recommentdation</a:t>
            </a:r>
            <a:r>
              <a:rPr lang="en-US" sz="2000" dirty="0">
                <a:solidFill>
                  <a:srgbClr val="0070C0"/>
                </a:solidFill>
              </a:rPr>
              <a:t> (*pipeline with flowchart)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Functions/core/subscore.py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Pipeline_3_gold_validate.py</a:t>
            </a:r>
          </a:p>
          <a:p>
            <a:pPr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Align with shin about How vector embedding should be</a:t>
            </a:r>
          </a:p>
          <a:p>
            <a:pPr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Plan tasks for Sprint 11 in Jira</a:t>
            </a:r>
            <a:endParaRPr lang="th-T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sz="2000" dirty="0"/>
              <a:t>Update GCS Retrieval class with new 3 conditions</a:t>
            </a:r>
          </a:p>
          <a:p>
            <a:pPr lvl="1"/>
            <a:r>
              <a:rPr lang="en-US" sz="2000" dirty="0"/>
              <a:t>Develop pipeline to </a:t>
            </a:r>
            <a:r>
              <a:rPr lang="en-US" sz="2000" dirty="0" err="1"/>
              <a:t>bUpdate</a:t>
            </a:r>
            <a:r>
              <a:rPr lang="en-US" sz="2000" dirty="0"/>
              <a:t> Embedding vector with shin format style</a:t>
            </a:r>
          </a:p>
          <a:p>
            <a:pPr lvl="1"/>
            <a:r>
              <a:rPr lang="en-US" sz="2000" dirty="0" err="1"/>
              <a:t>undle</a:t>
            </a:r>
            <a:r>
              <a:rPr lang="en-US" sz="2000" dirty="0"/>
              <a:t> data for each student (Pipeline_2_user_hyde_refresh.py)</a:t>
            </a:r>
          </a:p>
          <a:p>
            <a:r>
              <a:rPr lang="en-US" sz="2400" dirty="0"/>
              <a:t>Issue</a:t>
            </a:r>
          </a:p>
          <a:p>
            <a:pPr lvl="1"/>
            <a:r>
              <a:rPr lang="en-US" sz="2000" dirty="0"/>
              <a:t>Question in Slack</a:t>
            </a:r>
          </a:p>
          <a:p>
            <a:pPr lvl="1"/>
            <a:r>
              <a:rPr lang="en-US" sz="2000" dirty="0"/>
              <a:t>Question in Figma</a:t>
            </a:r>
          </a:p>
          <a:p>
            <a:endParaRPr lang="en-US" sz="24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27276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CD7D-98B3-51A9-3D8E-296579E16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3B09D-2D52-E43E-C6CF-3CA0AC97E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6050"/>
          </a:xfrm>
        </p:spPr>
        <p:txBody>
          <a:bodyPr>
            <a:normAutofit/>
          </a:bodyPr>
          <a:lstStyle/>
          <a:p>
            <a:r>
              <a:rPr lang="en-US" dirty="0"/>
              <a:t>Wed,040226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55007-E3D6-B60F-1520-AE698CA87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175"/>
            <a:ext cx="6477000" cy="4867422"/>
          </a:xfrm>
        </p:spPr>
        <p:txBody>
          <a:bodyPr>
            <a:normAutofit/>
          </a:bodyPr>
          <a:lstStyle/>
          <a:p>
            <a:r>
              <a:rPr lang="en-US" dirty="0"/>
              <a:t>Done</a:t>
            </a:r>
          </a:p>
          <a:p>
            <a:pPr lvl="1"/>
            <a:r>
              <a:rPr lang="en-US" dirty="0"/>
              <a:t>Sprint review deck for Sprint 10</a:t>
            </a:r>
          </a:p>
          <a:p>
            <a:pPr lvl="1"/>
            <a:r>
              <a:rPr lang="en-US" dirty="0"/>
              <a:t>Develop an endpoint to query data from Cloud Storage</a:t>
            </a:r>
          </a:p>
          <a:p>
            <a:r>
              <a:rPr lang="en-US" dirty="0"/>
              <a:t>Todo</a:t>
            </a:r>
          </a:p>
          <a:p>
            <a:pPr lvl="1"/>
            <a:r>
              <a:rPr lang="en-US" dirty="0"/>
              <a:t>Read and understood the QA Test Plan for the CV Evaluation Pipeline link</a:t>
            </a:r>
          </a:p>
          <a:p>
            <a:pPr lvl="1"/>
            <a:r>
              <a:rPr lang="en-US" dirty="0"/>
              <a:t>Plan tasks for Sprint 11 in Jira</a:t>
            </a:r>
          </a:p>
          <a:p>
            <a:pPr lvl="1"/>
            <a:r>
              <a:rPr lang="en-US" dirty="0"/>
              <a:t>Develop pipeline to bundle data for each student (Pipeline_2_user_hyde_refresh.py)</a:t>
            </a:r>
          </a:p>
          <a:p>
            <a:r>
              <a:rPr lang="en-US" dirty="0"/>
              <a:t>Issue</a:t>
            </a:r>
          </a:p>
          <a:p>
            <a:pPr lvl="1"/>
            <a:r>
              <a:rPr lang="en-US" dirty="0"/>
              <a:t> -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F566A-B162-9099-425A-040887AEE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076" y="365125"/>
            <a:ext cx="2757477" cy="632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016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46A3-8D06-E2BD-3022-2CE52E77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7554-4189-3912-5DD1-B564582E8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6050"/>
          </a:xfrm>
        </p:spPr>
        <p:txBody>
          <a:bodyPr>
            <a:normAutofit/>
          </a:bodyPr>
          <a:lstStyle/>
          <a:p>
            <a:r>
              <a:rPr lang="en-US" dirty="0"/>
              <a:t>Tue,050226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CABDD-1BA0-72C5-A353-2A5C1F28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175"/>
            <a:ext cx="10515600" cy="4867422"/>
          </a:xfrm>
        </p:spPr>
        <p:txBody>
          <a:bodyPr>
            <a:normAutofit/>
          </a:bodyPr>
          <a:lstStyle/>
          <a:p>
            <a:r>
              <a:rPr lang="en-US" dirty="0"/>
              <a:t>Done</a:t>
            </a:r>
          </a:p>
          <a:p>
            <a:pPr lvl="1"/>
            <a:r>
              <a:rPr lang="en-US" dirty="0"/>
              <a:t>Read and understood the QA Test Plan for the CV Evaluation Pipeline link</a:t>
            </a:r>
          </a:p>
          <a:p>
            <a:r>
              <a:rPr lang="en-US" dirty="0"/>
              <a:t>Todo</a:t>
            </a:r>
          </a:p>
          <a:p>
            <a:pPr lvl="1"/>
            <a:r>
              <a:rPr lang="en-US" dirty="0"/>
              <a:t>Plan tasks for Sprint 11 in Jira</a:t>
            </a:r>
          </a:p>
          <a:p>
            <a:pPr lvl="1"/>
            <a:r>
              <a:rPr lang="en-US" dirty="0"/>
              <a:t>Develop pipeline to bundle data for each student (Pipeline_2_user_hyde_refresh.py)</a:t>
            </a:r>
          </a:p>
          <a:p>
            <a:r>
              <a:rPr lang="en-US" dirty="0"/>
              <a:t>Issue</a:t>
            </a:r>
          </a:p>
          <a:p>
            <a:pPr lvl="1"/>
            <a:r>
              <a:rPr lang="en-US" dirty="0"/>
              <a:t> -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0070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BE9D7-86D7-D016-EC91-308E146D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A36735-67FC-AD35-8BC4-EC837B910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40" y="1962895"/>
            <a:ext cx="1704935" cy="5282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19E6855-EEF6-5783-F577-649B02043E73}"/>
              </a:ext>
            </a:extLst>
          </p:cNvPr>
          <p:cNvSpPr txBox="1">
            <a:spLocks/>
          </p:cNvSpPr>
          <p:nvPr/>
        </p:nvSpPr>
        <p:spPr>
          <a:xfrm>
            <a:off x="-343093" y="382201"/>
            <a:ext cx="7631973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- </a:t>
            </a:r>
            <a:r>
              <a:rPr lang="en-TH" sz="2400" dirty="0"/>
              <a:t>System Overview</a:t>
            </a:r>
            <a:endParaRPr lang="en-US" sz="2400" dirty="0">
              <a:cs typeface="Poppins 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55D806-6B92-7201-74D6-BE2CD15D1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91" y="2933708"/>
            <a:ext cx="4034790" cy="3126434"/>
          </a:xfrm>
          <a:prstGeom prst="rect">
            <a:avLst/>
          </a:prstGeom>
        </p:spPr>
      </p:pic>
      <p:pic>
        <p:nvPicPr>
          <p:cNvPr id="8" name="Picture 4" descr="FastAPI · GitHub">
            <a:extLst>
              <a:ext uri="{FF2B5EF4-FFF2-40B4-BE49-F238E27FC236}">
                <a16:creationId xmlns:a16="http://schemas.microsoft.com/office/drawing/2014/main" id="{054BDE27-EEAE-BF52-A6C1-4EF52174D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666" y="2763393"/>
            <a:ext cx="1331214" cy="133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6DE43A-CF1E-6357-A4CA-3D74CE8527BF}"/>
              </a:ext>
            </a:extLst>
          </p:cNvPr>
          <p:cNvCxnSpPr>
            <a:cxnSpLocks/>
          </p:cNvCxnSpPr>
          <p:nvPr/>
        </p:nvCxnSpPr>
        <p:spPr>
          <a:xfrm>
            <a:off x="5334118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668BA2-F026-7DC9-9B93-3EDDA3A40CE1}"/>
              </a:ext>
            </a:extLst>
          </p:cNvPr>
          <p:cNvCxnSpPr>
            <a:cxnSpLocks/>
          </p:cNvCxnSpPr>
          <p:nvPr/>
        </p:nvCxnSpPr>
        <p:spPr>
          <a:xfrm>
            <a:off x="7484130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BF387B3-2E8B-2A05-5A54-4C9508B25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7165" y="267286"/>
            <a:ext cx="2757477" cy="63234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1EAE8BC-BC2C-6A78-EE1F-556BBA1B5564}"/>
              </a:ext>
            </a:extLst>
          </p:cNvPr>
          <p:cNvSpPr txBox="1"/>
          <p:nvPr/>
        </p:nvSpPr>
        <p:spPr>
          <a:xfrm>
            <a:off x="357040" y="1021227"/>
            <a:ext cx="6958965" cy="1631394"/>
          </a:xfrm>
          <a:prstGeom prst="roundRect">
            <a:avLst>
              <a:gd name="adj" fmla="val 4406"/>
            </a:avLst>
          </a:prstGeom>
          <a:solidFill>
            <a:srgbClr val="E96060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Case 1 : </a:t>
            </a:r>
            <a:r>
              <a:rPr lang="th-TH" sz="1400" dirty="0">
                <a:latin typeface="Consolas" panose="020B0609020204030204" pitchFamily="49" charset="0"/>
              </a:rPr>
              <a:t>เจอ </a:t>
            </a:r>
            <a:r>
              <a:rPr lang="en-US" sz="1400" dirty="0" err="1">
                <a:latin typeface="Consolas" panose="020B0609020204030204" pitchFamily="49" charset="0"/>
              </a:rPr>
              <a:t>bucget</a:t>
            </a:r>
            <a:r>
              <a:rPr lang="en-US" sz="1400" dirty="0">
                <a:latin typeface="Consolas" panose="020B0609020204030204" pitchFamily="49" charset="0"/>
              </a:rPr>
              <a:t> + metadata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Case 2 : Storage(</a:t>
            </a:r>
            <a:r>
              <a:rPr lang="en-US" sz="1400" dirty="0" err="1">
                <a:latin typeface="Consolas" panose="020B0609020204030204" pitchFamily="49" charset="0"/>
              </a:rPr>
              <a:t>bugget</a:t>
            </a:r>
            <a:r>
              <a:rPr lang="en-US" sz="1400" dirty="0">
                <a:latin typeface="Consolas" panose="020B0609020204030204" pitchFamily="49" charset="0"/>
              </a:rPr>
              <a:t> x metadata)-&gt; return Only metadata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Case 3 : Have no </a:t>
            </a:r>
            <a:r>
              <a:rPr lang="en-US" sz="1400" dirty="0" err="1">
                <a:latin typeface="Consolas" panose="020B0609020204030204" pitchFamily="49" charset="0"/>
              </a:rPr>
              <a:t>bugget</a:t>
            </a:r>
            <a:r>
              <a:rPr lang="en-US" sz="1400" dirty="0">
                <a:latin typeface="Consolas" panose="020B0609020204030204" pitchFamily="49" charset="0"/>
              </a:rPr>
              <a:t> -&gt; return data from </a:t>
            </a:r>
            <a:r>
              <a:rPr lang="en-US" sz="1400" dirty="0" err="1">
                <a:latin typeface="Consolas" panose="020B0609020204030204" pitchFamily="49" charset="0"/>
              </a:rPr>
              <a:t>bigquery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If case 2 or case 3 -&gt; talk with shin what going on?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If some vector is missing or not complete return only complete vector and other “error”</a:t>
            </a:r>
          </a:p>
        </p:txBody>
      </p:sp>
    </p:spTree>
    <p:extLst>
      <p:ext uri="{BB962C8B-B14F-4D97-AF65-F5344CB8AC3E}">
        <p14:creationId xmlns:p14="http://schemas.microsoft.com/office/powerpoint/2010/main" val="9474462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D16A6-5009-1697-C160-8AF6CDCA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7164-399A-A263-CD90-2792F8A4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Tue,030226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96FA5-590C-C324-254E-A726932FE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Done</a:t>
            </a:r>
          </a:p>
          <a:p>
            <a:pPr lvl="1"/>
            <a:r>
              <a:rPr lang="en-US" dirty="0"/>
              <a:t>Prepared sprint review deck for Sprint 10</a:t>
            </a:r>
          </a:p>
          <a:p>
            <a:r>
              <a:rPr lang="en-US" dirty="0"/>
              <a:t>Todo</a:t>
            </a:r>
          </a:p>
          <a:p>
            <a:pPr lvl="1"/>
            <a:r>
              <a:rPr lang="en-US" dirty="0"/>
              <a:t>Implement item retirement on Cloud Storage (code + </a:t>
            </a:r>
            <a:r>
              <a:rPr lang="en-US" dirty="0" err="1"/>
              <a:t>cron</a:t>
            </a:r>
            <a:r>
              <a:rPr lang="en-US" dirty="0"/>
              <a:t> job)</a:t>
            </a:r>
          </a:p>
          <a:p>
            <a:pPr lvl="1"/>
            <a:r>
              <a:rPr lang="en-US" dirty="0"/>
              <a:t>Plan tasks for Sprint 11 in Jira</a:t>
            </a:r>
          </a:p>
          <a:p>
            <a:pPr lvl="1"/>
            <a:r>
              <a:rPr lang="en-US" dirty="0"/>
              <a:t>Develop pipeline to bundle data for each student</a:t>
            </a:r>
          </a:p>
          <a:p>
            <a:pPr lvl="1"/>
            <a:r>
              <a:rPr lang="en-US" dirty="0"/>
              <a:t>Read and understood the QA Test Plan for the CV Evaluation Pipeline link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3372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8FBA-8682-67FB-7403-762F28E85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73BB931-0887-2834-8B68-DE9282036EA5}"/>
              </a:ext>
            </a:extLst>
          </p:cNvPr>
          <p:cNvSpPr txBox="1">
            <a:spLocks/>
          </p:cNvSpPr>
          <p:nvPr/>
        </p:nvSpPr>
        <p:spPr>
          <a:xfrm>
            <a:off x="479425" y="3121223"/>
            <a:ext cx="11233150" cy="61555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algn="ctr"/>
            <a:r>
              <a:rPr lang="en-US" sz="4000" b="1" dirty="0"/>
              <a:t>Process of work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4781CD-06F9-A773-75B5-02AFD538D8FF}"/>
              </a:ext>
            </a:extLst>
          </p:cNvPr>
          <p:cNvSpPr txBox="1">
            <a:spLocks/>
          </p:cNvSpPr>
          <p:nvPr/>
        </p:nvSpPr>
        <p:spPr>
          <a:xfrm>
            <a:off x="152399" y="5933461"/>
            <a:ext cx="11820525" cy="2299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endParaRPr lang="en-US" sz="110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12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38AA2-1EF5-9E8F-CDFE-880FD0D6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D12FB-CD52-6225-8CBA-0447DEC20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2925"/>
            <a:ext cx="10515600" cy="5962650"/>
          </a:xfrm>
        </p:spPr>
        <p:txBody>
          <a:bodyPr>
            <a:normAutofit fontScale="92500" lnSpcReduction="10000"/>
          </a:bodyPr>
          <a:lstStyle/>
          <a:p>
            <a:pPr marL="914400" lvl="1" indent="-457200">
              <a:buAutoNum type="arabicPeriod"/>
            </a:pPr>
            <a:r>
              <a:rPr lang="en-US" dirty="0"/>
              <a:t>POC -&gt; MVP</a:t>
            </a:r>
            <a:br>
              <a:rPr lang="th-TH" dirty="0"/>
            </a:br>
            <a:r>
              <a:rPr lang="en-US" dirty="0"/>
              <a:t>- POC : all full pipeline code</a:t>
            </a:r>
            <a:br>
              <a:rPr lang="en-US" dirty="0"/>
            </a:br>
            <a:r>
              <a:rPr lang="en-US" dirty="0"/>
              <a:t>- MVP : POC + production plan + owner</a:t>
            </a:r>
          </a:p>
          <a:p>
            <a:pPr marL="914400" lvl="1" indent="-457200">
              <a:buAutoNum type="arabicPeriod"/>
            </a:pPr>
            <a:r>
              <a:rPr lang="en-US" dirty="0"/>
              <a:t>Estimate cost man-day and </a:t>
            </a:r>
            <a:r>
              <a:rPr lang="en-US"/>
              <a:t>grant chart</a:t>
            </a:r>
            <a:br>
              <a:rPr lang="en-US"/>
            </a:br>
            <a:endParaRPr lang="en-US" dirty="0"/>
          </a:p>
          <a:p>
            <a:pPr lvl="1"/>
            <a:r>
              <a:rPr lang="en-US" dirty="0"/>
              <a:t>1 Sprint = 2 weeks</a:t>
            </a:r>
          </a:p>
          <a:p>
            <a:pPr lvl="1"/>
            <a:r>
              <a:rPr lang="en-US" dirty="0"/>
              <a:t>We have sprint glooming before sprint start</a:t>
            </a:r>
          </a:p>
          <a:p>
            <a:pPr lvl="1"/>
            <a:r>
              <a:rPr lang="en-US" dirty="0"/>
              <a:t>We use Jira to estimate timeline and ticket</a:t>
            </a:r>
          </a:p>
          <a:p>
            <a:pPr lvl="1"/>
            <a:r>
              <a:rPr lang="en-US" dirty="0"/>
              <a:t>There are </a:t>
            </a:r>
            <a:r>
              <a:rPr lang="en-US" dirty="0" err="1"/>
              <a:t>ghostdeck</a:t>
            </a:r>
            <a:endParaRPr lang="en-US" dirty="0"/>
          </a:p>
          <a:p>
            <a:pPr lvl="1"/>
            <a:r>
              <a:rPr lang="en-US" dirty="0"/>
              <a:t>There are confluence for project detail</a:t>
            </a:r>
          </a:p>
          <a:p>
            <a:pPr lvl="1"/>
            <a:r>
              <a:rPr lang="en-US" dirty="0"/>
              <a:t>There are POC </a:t>
            </a:r>
            <a:endParaRPr lang="th-TH" dirty="0"/>
          </a:p>
          <a:p>
            <a:pPr lvl="1"/>
            <a:r>
              <a:rPr lang="en-US" dirty="0"/>
              <a:t>Estimate </a:t>
            </a:r>
            <a:r>
              <a:rPr lang="en-US" dirty="0" err="1"/>
              <a:t>manday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Design database</a:t>
            </a:r>
          </a:p>
          <a:p>
            <a:pPr lvl="1"/>
            <a:r>
              <a:rPr lang="en-US" dirty="0"/>
              <a:t>Architecture</a:t>
            </a:r>
          </a:p>
          <a:p>
            <a:pPr lvl="1"/>
            <a:r>
              <a:rPr lang="en-US" dirty="0"/>
              <a:t>RACI</a:t>
            </a:r>
          </a:p>
          <a:p>
            <a:pPr lvl="1"/>
            <a:r>
              <a:rPr lang="en-US" dirty="0"/>
              <a:t>SIT </a:t>
            </a:r>
            <a:r>
              <a:rPr lang="th-TH" dirty="0"/>
              <a:t>เหลืออีก </a:t>
            </a:r>
            <a:r>
              <a:rPr lang="en-US" dirty="0"/>
              <a:t>4 </a:t>
            </a:r>
            <a:r>
              <a:rPr lang="th-TH" dirty="0"/>
              <a:t>เดือน เดือน </a:t>
            </a:r>
            <a:r>
              <a:rPr lang="en-US" dirty="0" err="1"/>
              <a:t>june</a:t>
            </a:r>
            <a:endParaRPr lang="th-TH" dirty="0"/>
          </a:p>
          <a:p>
            <a:pPr lvl="1"/>
            <a:r>
              <a:rPr lang="en-US" dirty="0"/>
              <a:t>UAT </a:t>
            </a:r>
            <a:r>
              <a:rPr lang="th-TH" dirty="0"/>
              <a:t>เหลืออีก </a:t>
            </a:r>
            <a:r>
              <a:rPr lang="en-US" dirty="0"/>
              <a:t>6 </a:t>
            </a:r>
            <a:r>
              <a:rPr lang="th-TH" dirty="0"/>
              <a:t>เดือน </a:t>
            </a:r>
            <a:r>
              <a:rPr lang="en-US" dirty="0"/>
              <a:t> </a:t>
            </a:r>
            <a:r>
              <a:rPr lang="th-TH" dirty="0"/>
              <a:t>เดือน สิงหา</a:t>
            </a:r>
            <a:endParaRPr lang="en-US" dirty="0"/>
          </a:p>
          <a:p>
            <a:pPr lvl="1"/>
            <a:r>
              <a:rPr lang="en-US" dirty="0" err="1"/>
              <a:t>Golive</a:t>
            </a:r>
            <a:r>
              <a:rPr lang="en-US" dirty="0"/>
              <a:t> </a:t>
            </a:r>
            <a:r>
              <a:rPr lang="th-TH" dirty="0"/>
              <a:t>เหลืออีก </a:t>
            </a:r>
            <a:r>
              <a:rPr lang="en-US" dirty="0"/>
              <a:t>… </a:t>
            </a:r>
            <a:r>
              <a:rPr lang="th-TH" dirty="0"/>
              <a:t>เดือน เดือน </a:t>
            </a:r>
            <a:r>
              <a:rPr lang="en-US" dirty="0"/>
              <a:t>October</a:t>
            </a:r>
          </a:p>
        </p:txBody>
      </p:sp>
    </p:spTree>
    <p:extLst>
      <p:ext uri="{BB962C8B-B14F-4D97-AF65-F5344CB8AC3E}">
        <p14:creationId xmlns:p14="http://schemas.microsoft.com/office/powerpoint/2010/main" val="30364910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ED7353-2970-6DC6-6F08-FFBB9F22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60A4-B96A-E59F-E933-D09676A80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Tue,040226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52971-2CF5-C2EE-9210-11610FB3E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Done</a:t>
            </a:r>
          </a:p>
          <a:p>
            <a:pPr lvl="1"/>
            <a:r>
              <a:rPr lang="en-US" dirty="0" err="1"/>
              <a:t>Xxx</a:t>
            </a:r>
            <a:endParaRPr lang="en-US" dirty="0"/>
          </a:p>
          <a:p>
            <a:pPr lvl="1"/>
            <a:r>
              <a:rPr lang="en-US" dirty="0" err="1"/>
              <a:t>Xxx</a:t>
            </a:r>
            <a:endParaRPr lang="en-US" dirty="0"/>
          </a:p>
          <a:p>
            <a:pPr lvl="1"/>
            <a:r>
              <a:rPr lang="en-US" dirty="0"/>
              <a:t>xxx</a:t>
            </a:r>
          </a:p>
          <a:p>
            <a:r>
              <a:rPr lang="en-US" dirty="0"/>
              <a:t>Todo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3217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6F993C-7FE2-3978-4B21-01DDB569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569F37A-CF64-C48B-D116-6DAFFAB89B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69F37A-CF64-C48B-D116-6DAFFAB89B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09CF2A1-FF55-9BF4-CC33-2C80BADFC979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3ED79-517B-9B03-A091-6C98194ED556}"/>
              </a:ext>
            </a:extLst>
          </p:cNvPr>
          <p:cNvSpPr txBox="1"/>
          <p:nvPr/>
        </p:nvSpPr>
        <p:spPr>
          <a:xfrm>
            <a:off x="6463966" y="864211"/>
            <a:ext cx="4487897" cy="609397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"</a:t>
            </a:r>
            <a:r>
              <a:rPr lang="en-US" sz="1000" dirty="0" err="1">
                <a:solidFill>
                  <a:schemeClr val="tx1"/>
                </a:solidFill>
                <a:ea typeface="+mn-lt"/>
                <a:cs typeface="+mn-lt"/>
              </a:rPr>
              <a:t>resumeJson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":{</a:t>
            </a: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{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"</a:t>
            </a:r>
            <a:r>
              <a:rPr lang="en-US" sz="1000" b="1" dirty="0">
                <a:solidFill>
                  <a:schemeClr val="tx1"/>
                </a:solidFill>
                <a:ea typeface="+mn-lt"/>
                <a:cs typeface="+mn-lt"/>
              </a:rPr>
              <a:t>Profile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": {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    "name": "Juan Jose Carin",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         "email": "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juanjose.carin@gmail.com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",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         "</a:t>
            </a:r>
            <a:r>
              <a:rPr lang="en-US" sz="1000" dirty="0" err="1">
                <a:solidFill>
                  <a:schemeClr val="tx1"/>
                </a:solidFill>
                <a:ea typeface="+mn-lt"/>
                <a:cs typeface="+mn-lt"/>
              </a:rPr>
              <a:t>linkedin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": "linkedin.com/in/</a:t>
            </a:r>
            <a:r>
              <a:rPr lang="en-US" sz="1000" dirty="0" err="1">
                <a:solidFill>
                  <a:schemeClr val="tx1"/>
                </a:solidFill>
                <a:ea typeface="+mn-lt"/>
                <a:cs typeface="+mn-lt"/>
              </a:rPr>
              <a:t>juanjosecarin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"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             },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</a:t>
            </a:r>
            <a:r>
              <a:rPr lang="en-US" sz="1000" b="1" dirty="0">
                <a:solidFill>
                  <a:schemeClr val="tx1"/>
                </a:solidFill>
                <a:ea typeface="+mn-lt"/>
                <a:cs typeface="+mn-lt"/>
              </a:rPr>
              <a:t>"Summary"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: {</a:t>
            </a:r>
            <a:endParaRPr lang="en-US" sz="1000" dirty="0">
              <a:solidFill>
                <a:schemeClr val="tx1"/>
              </a:solidFill>
              <a:cs typeface="Poppins Light"/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         "</a:t>
            </a:r>
            <a:r>
              <a:rPr lang="en-US" sz="1000" dirty="0" err="1">
                <a:solidFill>
                  <a:schemeClr val="tx1"/>
                </a:solidFill>
                <a:ea typeface="+mn-lt"/>
                <a:cs typeface="+mn-lt"/>
              </a:rPr>
              <a:t>summary_points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": [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            "Experienced data scientist with analytical background."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         ]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            },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</a:t>
            </a:r>
            <a:r>
              <a:rPr lang="en-US" sz="1000" b="1" dirty="0">
                <a:solidFill>
                  <a:schemeClr val="tx1"/>
                </a:solidFill>
                <a:ea typeface="+mn-lt"/>
                <a:cs typeface="+mn-lt"/>
              </a:rPr>
              <a:t>"Education"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: [</a:t>
            </a: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              {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         "institution": "University of California, Berkeley",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         "degree": "MIDS",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         "</a:t>
            </a:r>
            <a:r>
              <a:rPr lang="en-US" sz="1000" dirty="0" err="1">
                <a:solidFill>
                  <a:schemeClr val="tx1"/>
                </a:solidFill>
                <a:ea typeface="+mn-lt"/>
                <a:cs typeface="+mn-lt"/>
              </a:rPr>
              <a:t>gpa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": "3.93"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         }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           ],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</a:t>
            </a:r>
            <a:r>
              <a:rPr lang="en-US" sz="1000" b="1" dirty="0">
                <a:solidFill>
                  <a:schemeClr val="tx1"/>
                </a:solidFill>
                <a:ea typeface="+mn-lt"/>
                <a:cs typeface="+mn-lt"/>
              </a:rPr>
              <a:t>"Experience"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: [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        {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         "title": "Data Scientist",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         "company": "CONENTO",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         "dates": "2016",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         "description": [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             "Built ETL pipelines and predictive models."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                 ]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              }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            ],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</a:t>
            </a:r>
            <a:r>
              <a:rPr lang="en-US" sz="1000" b="1" dirty="0">
                <a:solidFill>
                  <a:schemeClr val="tx1"/>
                </a:solidFill>
                <a:ea typeface="+mn-lt"/>
                <a:cs typeface="+mn-lt"/>
              </a:rPr>
              <a:t>"Activities":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[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              {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           "name": "LLM Evaluation Harness",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               }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            ],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</a:t>
            </a:r>
            <a:r>
              <a:rPr lang="en-US" sz="1000" b="1" dirty="0">
                <a:solidFill>
                  <a:schemeClr val="tx1"/>
                </a:solidFill>
                <a:ea typeface="+mn-lt"/>
                <a:cs typeface="+mn-lt"/>
              </a:rPr>
              <a:t>"Skills"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: {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              "skills": ["</a:t>
            </a:r>
            <a:r>
              <a:rPr lang="en-US" sz="1000" dirty="0" err="1">
                <a:solidFill>
                  <a:schemeClr val="tx1"/>
                </a:solidFill>
                <a:ea typeface="+mn-lt"/>
                <a:cs typeface="+mn-lt"/>
              </a:rPr>
              <a:t>Python","RAG""Data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Analysis", "Machine Learning"],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             }</a:t>
            </a:r>
          </a:p>
          <a:p>
            <a:r>
              <a:rPr lang="en-US" sz="1000" dirty="0">
                <a:solidFill>
                  <a:schemeClr val="tx1"/>
                </a:solidFill>
                <a:cs typeface="Poppins Ligh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7995E-1B4F-2E54-2A84-045BD2402496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D005D0-3C32-58B0-55A2-7F1E1A8D23CA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Input payload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1F42F652-44F6-5ED1-7D1C-14ABF3761346}"/>
              </a:ext>
            </a:extLst>
          </p:cNvPr>
          <p:cNvSpPr txBox="1"/>
          <p:nvPr/>
        </p:nvSpPr>
        <p:spPr>
          <a:xfrm>
            <a:off x="2020841" y="2995056"/>
            <a:ext cx="2688935" cy="229293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dirty="0" err="1">
                <a:solidFill>
                  <a:schemeClr val="tx1"/>
                </a:solidFill>
                <a:ea typeface="+mn-lt"/>
                <a:cs typeface="+mn-lt"/>
              </a:rPr>
              <a:t>outputLang</a:t>
            </a:r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100" dirty="0" err="1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en</a:t>
            </a:r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   </a:t>
            </a:r>
            <a:r>
              <a:rPr lang="en-US" sz="1100" dirty="0">
                <a:solidFill>
                  <a:schemeClr val="tx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 "</a:t>
            </a:r>
            <a:r>
              <a:rPr lang="en-US" sz="1100" dirty="0" err="1">
                <a:solidFill>
                  <a:schemeClr val="tx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targetRole</a:t>
            </a:r>
            <a:r>
              <a:rPr lang="en-US" sz="1100" dirty="0">
                <a:solidFill>
                  <a:schemeClr val="tx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": "</a:t>
            </a:r>
            <a:r>
              <a:rPr lang="en-US" sz="1100" dirty="0" err="1">
                <a:solidFill>
                  <a:schemeClr val="tx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role#ai_engineer</a:t>
            </a:r>
            <a:r>
              <a:rPr lang="en-US" sz="1100" dirty="0">
                <a:solidFill>
                  <a:schemeClr val="tx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",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dirty="0" err="1">
                <a:solidFill>
                  <a:schemeClr val="tx1"/>
                </a:solidFill>
                <a:ea typeface="+mn-lt"/>
                <a:cs typeface="+mn-lt"/>
              </a:rPr>
              <a:t>resumeJson</a:t>
            </a:r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Profile</a:t>
            </a:r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": {},</a:t>
            </a: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Summary</a:t>
            </a:r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":{},</a:t>
            </a: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Education</a:t>
            </a:r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":[],</a:t>
            </a: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Experience</a:t>
            </a:r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": [], </a:t>
            </a: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Activity</a:t>
            </a:r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": [], </a:t>
            </a: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Skills</a:t>
            </a:r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": {}</a:t>
            </a: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    }</a:t>
            </a:r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  <a:cs typeface="Poppins Light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B486FD3-533C-9A0C-CA7F-84B9C26FC3B1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FA802B5D-8EFB-26A4-4971-CECE8A27C10A}"/>
              </a:ext>
            </a:extLst>
          </p:cNvPr>
          <p:cNvSpPr txBox="1"/>
          <p:nvPr/>
        </p:nvSpPr>
        <p:spPr>
          <a:xfrm>
            <a:off x="630190" y="1385330"/>
            <a:ext cx="5194010" cy="1277273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a typeface="+mn-lt"/>
                <a:cs typeface="+mn-lt"/>
              </a:rPr>
              <a:t>The evaluation API accepts a lightweight request wrapper and a structured resume body.  The wrapper controls evaluation behavior, while the resume body contains the actual CV content.</a:t>
            </a:r>
          </a:p>
          <a:p>
            <a:r>
              <a:rPr lang="en-US" sz="1100" dirty="0">
                <a:solidFill>
                  <a:schemeClr val="tx1"/>
                </a:solidFill>
                <a:cs typeface="Poppins Light"/>
              </a:rPr>
              <a:t>Key point:</a:t>
            </a:r>
          </a:p>
          <a:p>
            <a:r>
              <a:rPr lang="en-US" sz="1100" dirty="0">
                <a:solidFill>
                  <a:schemeClr val="tx1"/>
                </a:solidFill>
                <a:cs typeface="Poppins Light"/>
              </a:rPr>
              <a:t>    - Actual resume content</a:t>
            </a:r>
          </a:p>
          <a:p>
            <a:r>
              <a:rPr lang="en-US" sz="1100" dirty="0">
                <a:solidFill>
                  <a:schemeClr val="tx1"/>
                </a:solidFill>
                <a:cs typeface="Poppins Light"/>
              </a:rPr>
              <a:t>    - Flexible : missing sections are allowed</a:t>
            </a:r>
          </a:p>
          <a:p>
            <a:r>
              <a:rPr lang="en-US" sz="1100" dirty="0">
                <a:solidFill>
                  <a:schemeClr val="tx1"/>
                </a:solidFill>
                <a:cs typeface="Poppins Light"/>
              </a:rPr>
              <a:t>    - Used as the main input for scoring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A2339AC-E1A4-8E96-3018-FED369D9A801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Resume Evaluation Input Structure</a:t>
            </a:r>
            <a:endParaRPr lang="en-US">
              <a:solidFill>
                <a:srgbClr val="519BC9"/>
              </a:solidFill>
              <a:ea typeface="+mj-lt"/>
              <a:cs typeface="+mj-lt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7CDB5DB-CCF2-1DF7-A137-4920EB61E5E0}"/>
              </a:ext>
            </a:extLst>
          </p:cNvPr>
          <p:cNvCxnSpPr>
            <a:cxnSpLocks/>
          </p:cNvCxnSpPr>
          <p:nvPr/>
        </p:nvCxnSpPr>
        <p:spPr>
          <a:xfrm flipV="1">
            <a:off x="3381375" y="1080445"/>
            <a:ext cx="2986427" cy="2529530"/>
          </a:xfrm>
          <a:prstGeom prst="bentConnector3">
            <a:avLst>
              <a:gd name="adj1" fmla="val 88592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4DF20318-6215-8BAE-A6DE-E6585AFA6BE5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7101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03DC-2268-4C53-E5FA-664DAFF6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2601290000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8FAED-9B33-CB58-A85F-B17D9BBDF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Done</a:t>
            </a:r>
          </a:p>
          <a:p>
            <a:pPr lvl="1"/>
            <a:r>
              <a:rPr lang="en-US" dirty="0"/>
              <a:t>Local data -&gt; </a:t>
            </a:r>
            <a:r>
              <a:rPr lang="en-US" dirty="0" err="1"/>
              <a:t>BigQuery</a:t>
            </a:r>
            <a:r>
              <a:rPr lang="en-US" dirty="0"/>
              <a:t> -&gt; Pipeline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986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FCAFD3-9891-20FB-C6ED-BAB18963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9205E-8C20-2365-D7D0-DCFD607D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2601290937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979E9-0985-0ED0-AD10-E816C336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Done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Local data -&gt;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BigQuery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-&gt; Pipeline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Upload Embedding output -&gt;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BigQuery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(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ไม่สมบูรณ์แค่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Upload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ขึ้น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Today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ออกแบบ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Json field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ที่มีเก็บรายละเอียดมากขึ้น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&amp;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ตกลงว่าจะเอา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Field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อะไรบ้าง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เขียยนโค้ดให้เป็นเรื่องราวมากขึ้น ไม่ใช้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spaghetti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ออกแบบระบบ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Retirer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30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วัน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ทำความเข้าใจ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pipeline_2-3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Issue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ไม่รู้ว่าจะต้องทำอะไร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ไม่รู้ว่าที่ทำมามันถูกใช่ไหม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แล้วหน้าตาสุดท้ายจะเป็นยังไง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029010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D4C233-AF9F-3A7C-CA6A-1C05EFC0E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8AF0-A03B-C1E4-B0C8-7A58EBFA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2601290937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731AC-B924-4F9C-2F6D-377DA3F7C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007"/>
            <a:ext cx="10515600" cy="497886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Done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Completed data flow local data to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BigQuery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and into the pipeline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Uploaded initial embedding outputs to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BigQuery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(next step : full integration)</a:t>
            </a:r>
          </a:p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Today</a:t>
            </a:r>
          </a:p>
          <a:p>
            <a:pPr lvl="1"/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Disigned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 richer JSON schema and finalized required fields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Refactored code to be more structured and readable (Reduced spaghetti code)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Designed a 30-day data retention system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Reviewed and gained understanding of pipeline_2 and pipeline_3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Issue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ไม่รู้ว่าที่ทำมามันถูกใช่ไหม</a:t>
            </a:r>
          </a:p>
          <a:p>
            <a:pPr lvl="1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แล้วหน้าตาสุดท้ายจะเป็นยังไง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lvl="2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ที่ใช้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BigQuery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ถูกไหม 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2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บน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FastAPI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ก็แค่เอาไว้ให้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 trigger update batch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 แบบ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individual</a:t>
            </a:r>
          </a:p>
        </p:txBody>
      </p:sp>
    </p:spTree>
    <p:extLst>
      <p:ext uri="{BB962C8B-B14F-4D97-AF65-F5344CB8AC3E}">
        <p14:creationId xmlns:p14="http://schemas.microsoft.com/office/powerpoint/2010/main" val="30388313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5EF17D-FAE3-8DB4-6D25-2B76EF5A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A241FB5-621C-03F2-E625-4BC0410C6F15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</a:t>
            </a:r>
            <a:r>
              <a:rPr lang="en-TH" sz="2400" dirty="0"/>
              <a:t>– System Overview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B044FC-3C25-B109-0DFE-A5FCFD7B33BA}"/>
              </a:ext>
            </a:extLst>
          </p:cNvPr>
          <p:cNvSpPr/>
          <p:nvPr/>
        </p:nvSpPr>
        <p:spPr>
          <a:xfrm>
            <a:off x="2038350" y="1980000"/>
            <a:ext cx="8134350" cy="295394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D2B16C-89F0-35F3-78C6-9069CFC28A43}"/>
              </a:ext>
            </a:extLst>
          </p:cNvPr>
          <p:cNvSpPr/>
          <p:nvPr/>
        </p:nvSpPr>
        <p:spPr>
          <a:xfrm>
            <a:off x="2133682" y="3196625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Prepare_history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B723D0-DEFC-8936-FBF4-81947C9BC744}"/>
              </a:ext>
            </a:extLst>
          </p:cNvPr>
          <p:cNvCxnSpPr>
            <a:cxnSpLocks/>
          </p:cNvCxnSpPr>
          <p:nvPr/>
        </p:nvCxnSpPr>
        <p:spPr>
          <a:xfrm>
            <a:off x="3589725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4919523-148F-FF94-9DAF-5F46B09CB3FA}"/>
              </a:ext>
            </a:extLst>
          </p:cNvPr>
          <p:cNvSpPr/>
          <p:nvPr/>
        </p:nvSpPr>
        <p:spPr>
          <a:xfrm>
            <a:off x="3962040" y="3196625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User_context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5D79ED-9135-4FF9-67E0-E265ADE89CF4}"/>
              </a:ext>
            </a:extLst>
          </p:cNvPr>
          <p:cNvCxnSpPr>
            <a:cxnSpLocks/>
          </p:cNvCxnSpPr>
          <p:nvPr/>
        </p:nvCxnSpPr>
        <p:spPr>
          <a:xfrm>
            <a:off x="5418083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B029560-46FF-8985-D830-40A19AEB958F}"/>
              </a:ext>
            </a:extLst>
          </p:cNvPr>
          <p:cNvSpPr/>
          <p:nvPr/>
        </p:nvSpPr>
        <p:spPr>
          <a:xfrm>
            <a:off x="5418083" y="4082450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HyDE_prompt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D295B83-5C26-F9FE-5378-F9DBAD445099}"/>
              </a:ext>
            </a:extLst>
          </p:cNvPr>
          <p:cNvCxnSpPr>
            <a:cxnSpLocks/>
          </p:cNvCxnSpPr>
          <p:nvPr/>
        </p:nvCxnSpPr>
        <p:spPr>
          <a:xfrm>
            <a:off x="6395481" y="343795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2AA0337-0CF7-B496-8CC5-B6A1936E9B07}"/>
              </a:ext>
            </a:extLst>
          </p:cNvPr>
          <p:cNvSpPr/>
          <p:nvPr/>
        </p:nvSpPr>
        <p:spPr>
          <a:xfrm>
            <a:off x="5418083" y="2271550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>
                <a:solidFill>
                  <a:srgbClr val="272428"/>
                </a:solidFill>
                <a:latin typeface="Poppins Light"/>
                <a:cs typeface="Sarabun Light"/>
              </a:rPr>
              <a:t>Llm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</a:t>
            </a: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_flast_2.5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05AA3B6-E697-8E8D-52F9-9CB120DDAEF7}"/>
              </a:ext>
            </a:extLst>
          </p:cNvPr>
          <p:cNvCxnSpPr>
            <a:cxnSpLocks/>
          </p:cNvCxnSpPr>
          <p:nvPr/>
        </p:nvCxnSpPr>
        <p:spPr>
          <a:xfrm>
            <a:off x="6096000" y="2845400"/>
            <a:ext cx="0" cy="25775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9869F6F-1596-3206-B079-5B87561C3A41}"/>
              </a:ext>
            </a:extLst>
          </p:cNvPr>
          <p:cNvCxnSpPr>
            <a:cxnSpLocks/>
          </p:cNvCxnSpPr>
          <p:nvPr/>
        </p:nvCxnSpPr>
        <p:spPr>
          <a:xfrm flipV="1">
            <a:off x="6096000" y="3747100"/>
            <a:ext cx="0" cy="25775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7663727E-27D6-B6EE-D101-E7052CF01EFD}"/>
              </a:ext>
            </a:extLst>
          </p:cNvPr>
          <p:cNvSpPr/>
          <p:nvPr/>
        </p:nvSpPr>
        <p:spPr>
          <a:xfrm>
            <a:off x="6874126" y="3177000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 dirty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gemini-embedding-001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356E6D-EE13-8DB2-A76A-70C771ED8A48}"/>
              </a:ext>
            </a:extLst>
          </p:cNvPr>
          <p:cNvCxnSpPr>
            <a:cxnSpLocks/>
          </p:cNvCxnSpPr>
          <p:nvPr/>
        </p:nvCxnSpPr>
        <p:spPr>
          <a:xfrm>
            <a:off x="8330169" y="34290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1947E0C-0891-CEAB-0B87-F7B88505A797}"/>
              </a:ext>
            </a:extLst>
          </p:cNvPr>
          <p:cNvSpPr/>
          <p:nvPr/>
        </p:nvSpPr>
        <p:spPr>
          <a:xfrm>
            <a:off x="8702484" y="3177000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72428"/>
                </a:solidFill>
                <a:latin typeface="Poppins Light"/>
                <a:cs typeface="Sarabun Light"/>
              </a:rPr>
              <a:t>Embedded vector</a:t>
            </a:r>
            <a:endParaRPr kumimoji="0" lang="en-TH" sz="1000" b="0" i="0" u="none" strike="noStrike" kern="1200" cap="none" spc="0" normalizeH="0" baseline="0" noProof="0" dirty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8A45AA8-736A-59A1-7663-9E6FA143E54A}"/>
              </a:ext>
            </a:extLst>
          </p:cNvPr>
          <p:cNvSpPr/>
          <p:nvPr/>
        </p:nvSpPr>
        <p:spPr>
          <a:xfrm>
            <a:off x="5896850" y="3249475"/>
            <a:ext cx="398300" cy="398300"/>
          </a:xfrm>
          <a:prstGeom prst="ellipse">
            <a:avLst/>
          </a:prstGeom>
        </p:spPr>
        <p:style>
          <a:lnRef idx="1">
            <a:schemeClr val="dk1"/>
          </a:lnRef>
          <a:fillRef idx="1002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C05D727-EAEC-3DBE-3EC9-3FBE8202ABA8}"/>
              </a:ext>
            </a:extLst>
          </p:cNvPr>
          <p:cNvCxnSpPr>
            <a:cxnSpLocks/>
          </p:cNvCxnSpPr>
          <p:nvPr/>
        </p:nvCxnSpPr>
        <p:spPr>
          <a:xfrm>
            <a:off x="1669401" y="3433300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399375C-6840-7176-C49B-35317A7B856D}"/>
              </a:ext>
            </a:extLst>
          </p:cNvPr>
          <p:cNvCxnSpPr>
            <a:cxnSpLocks/>
          </p:cNvCxnSpPr>
          <p:nvPr/>
        </p:nvCxnSpPr>
        <p:spPr>
          <a:xfrm>
            <a:off x="10239375" y="3428049"/>
            <a:ext cx="27210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2" descr="What Is BigQuery And How Do You Load Data Into It? - Seattle Data Guy">
            <a:extLst>
              <a:ext uri="{FF2B5EF4-FFF2-40B4-BE49-F238E27FC236}">
                <a16:creationId xmlns:a16="http://schemas.microsoft.com/office/drawing/2014/main" id="{1EAF1AC4-9CC6-86D3-8B4E-2C580EE97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42" y="3052552"/>
            <a:ext cx="1335100" cy="75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9343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FD6E4F-886B-CC67-1C51-230A6575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4999BE93-6CCF-E4B7-5BF4-0E87CB925488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cs typeface="Poppins Light"/>
              </a:rPr>
              <a:t>HyDE</a:t>
            </a:r>
            <a:r>
              <a:rPr lang="en-US" sz="2400" dirty="0">
                <a:cs typeface="Poppins Light"/>
              </a:rPr>
              <a:t> feed recommendation </a:t>
            </a:r>
            <a:r>
              <a:rPr lang="en-TH" sz="2400" dirty="0"/>
              <a:t>– System Overview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CDCDA4-6B4B-3FE4-35D5-F0B4A7FC4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066" y="1202535"/>
            <a:ext cx="9087867" cy="510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30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165DDE-FB04-76D7-3668-1C8FFAC2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F717AF79-CB6A-D8D0-8693-1E6DA71D85DF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cs typeface="Poppins Light"/>
              </a:rPr>
              <a:t>HyDE feed recommendation </a:t>
            </a:r>
            <a:r>
              <a:rPr lang="en-TH" sz="2400"/>
              <a:t>– System Overview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A8CDBD-395A-0A63-82F9-ADB110D12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41" y="1418944"/>
            <a:ext cx="8002117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79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899E40-7CCD-4EC1-3900-B7204DBE1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5F7C9388-6A03-7ADA-798A-97D03A90EB9E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cs typeface="Poppins Light"/>
              </a:rPr>
              <a:t>HyDE feed recommendation </a:t>
            </a:r>
            <a:r>
              <a:rPr lang="en-TH" sz="2400"/>
              <a:t>– System Overview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9E9D9D-6703-4F3A-D21D-98B2A7279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41" y="1418944"/>
            <a:ext cx="8002117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493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4C99A6-1D03-848C-AFA2-8E8826D5E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134E9C10-B91D-13B0-26A5-3E5F00DCA897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cs typeface="Poppins Light"/>
              </a:rPr>
              <a:t>HyDE feed recommendation </a:t>
            </a:r>
            <a:r>
              <a:rPr lang="en-TH" sz="2400"/>
              <a:t>– System Overview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FCBA73-BCEE-2FEF-5435-94246FC2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4" y="1118748"/>
            <a:ext cx="9391650" cy="52806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131BD0-0F3B-CD17-2D1D-8376C7594611}"/>
              </a:ext>
            </a:extLst>
          </p:cNvPr>
          <p:cNvSpPr txBox="1"/>
          <p:nvPr/>
        </p:nvSpPr>
        <p:spPr>
          <a:xfrm>
            <a:off x="838200" y="933450"/>
            <a:ext cx="1973282" cy="950119"/>
          </a:xfrm>
          <a:prstGeom prst="roundRect">
            <a:avLst>
              <a:gd name="adj" fmla="val 4406"/>
            </a:avLst>
          </a:prstGeom>
          <a:solidFill>
            <a:srgbClr val="FFD100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Dsxxxxxxxxxxxxxx</a:t>
            </a:r>
            <a:endParaRPr lang="en-US" dirty="0"/>
          </a:p>
          <a:p>
            <a:r>
              <a:rPr lang="en-US" dirty="0" err="1"/>
              <a:t>Xxxxxxxxxxxxxxxxx</a:t>
            </a:r>
            <a:endParaRPr lang="en-US" dirty="0"/>
          </a:p>
          <a:p>
            <a:r>
              <a:rPr lang="en-US" dirty="0" err="1"/>
              <a:t>xxxxxxxxxxxxxxxxx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1423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D175C7-B61D-A34A-6D20-6DB1FE3A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9A56-F9C0-CAB0-6C55-1DAAE48A8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2601290937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007C1-42CB-4D62-A2EF-F669884F7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007"/>
            <a:ext cx="10515600" cy="4978868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BigQuery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X</a:t>
            </a:r>
          </a:p>
          <a:p>
            <a:pPr lvl="1"/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Datalake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lvl="1"/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เพราะ ต้อง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similarity search</a:t>
            </a:r>
          </a:p>
          <a:p>
            <a:pPr lvl="1"/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แบ่งชื่อ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Folder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เอาไว้</a:t>
            </a:r>
          </a:p>
          <a:p>
            <a:pPr lvl="1"/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เก็บ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vector , meta</a:t>
            </a:r>
          </a:p>
          <a:p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Datalake</a:t>
            </a:r>
            <a:b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|- Student01</a:t>
            </a:r>
            <a:b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|- Vector 1 – 5</a:t>
            </a:r>
            <a:b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|- Metadata</a:t>
            </a:r>
            <a:b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|- student02 </a:t>
            </a:r>
            <a:b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… .</a:t>
            </a:r>
          </a:p>
        </p:txBody>
      </p:sp>
    </p:spTree>
    <p:extLst>
      <p:ext uri="{BB962C8B-B14F-4D97-AF65-F5344CB8AC3E}">
        <p14:creationId xmlns:p14="http://schemas.microsoft.com/office/powerpoint/2010/main" val="21411778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79D549-56EE-B4D6-6524-1BF9B3C07921}"/>
              </a:ext>
            </a:extLst>
          </p:cNvPr>
          <p:cNvSpPr txBox="1"/>
          <p:nvPr/>
        </p:nvSpPr>
        <p:spPr>
          <a:xfrm>
            <a:off x="904875" y="1690688"/>
            <a:ext cx="2667000" cy="972562"/>
          </a:xfrm>
          <a:prstGeom prst="roundRect">
            <a:avLst>
              <a:gd name="adj" fmla="val 4406"/>
            </a:avLst>
          </a:prstGeom>
          <a:solidFill>
            <a:srgbClr val="FFD100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Topic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</a:t>
            </a:r>
            <a:r>
              <a:rPr lang="en-US" sz="1400" dirty="0" err="1">
                <a:latin typeface="Consolas" panose="020B0609020204030204" pitchFamily="49" charset="0"/>
              </a:rPr>
              <a:t>loremipsum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- </a:t>
            </a:r>
            <a:r>
              <a:rPr lang="en-US" sz="1400" dirty="0" err="1">
                <a:latin typeface="Consolas" panose="020B0609020204030204" pitchFamily="49" charset="0"/>
              </a:rPr>
              <a:t>loremipsum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</a:t>
            </a:r>
            <a:r>
              <a:rPr lang="en-US" sz="1400" dirty="0" err="1">
                <a:latin typeface="Consolas" panose="020B0609020204030204" pitchFamily="49" charset="0"/>
              </a:rPr>
              <a:t>loremipsum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9EE50-88F3-8D68-7D08-391B1803C3CB}"/>
              </a:ext>
            </a:extLst>
          </p:cNvPr>
          <p:cNvSpPr txBox="1"/>
          <p:nvPr/>
        </p:nvSpPr>
        <p:spPr>
          <a:xfrm>
            <a:off x="904875" y="2942719"/>
            <a:ext cx="2667000" cy="972562"/>
          </a:xfrm>
          <a:prstGeom prst="roundRect">
            <a:avLst>
              <a:gd name="adj" fmla="val 4406"/>
            </a:avLst>
          </a:prstGeom>
          <a:solidFill>
            <a:srgbClr val="BADF55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Topic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</a:t>
            </a:r>
            <a:r>
              <a:rPr lang="en-US" sz="1400" dirty="0" err="1">
                <a:latin typeface="Consolas" panose="020B0609020204030204" pitchFamily="49" charset="0"/>
              </a:rPr>
              <a:t>loremipsum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- </a:t>
            </a:r>
            <a:r>
              <a:rPr lang="en-US" sz="1400" dirty="0" err="1">
                <a:latin typeface="Consolas" panose="020B0609020204030204" pitchFamily="49" charset="0"/>
              </a:rPr>
              <a:t>loremipsum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</a:t>
            </a:r>
            <a:r>
              <a:rPr lang="en-US" sz="1400" dirty="0" err="1">
                <a:latin typeface="Consolas" panose="020B0609020204030204" pitchFamily="49" charset="0"/>
              </a:rPr>
              <a:t>loremipsum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3808C-0547-AD5E-C87F-5314EC4D4167}"/>
              </a:ext>
            </a:extLst>
          </p:cNvPr>
          <p:cNvSpPr txBox="1"/>
          <p:nvPr/>
        </p:nvSpPr>
        <p:spPr>
          <a:xfrm>
            <a:off x="904875" y="4189988"/>
            <a:ext cx="2667000" cy="972562"/>
          </a:xfrm>
          <a:prstGeom prst="roundRect">
            <a:avLst>
              <a:gd name="adj" fmla="val 4406"/>
            </a:avLst>
          </a:prstGeom>
          <a:solidFill>
            <a:srgbClr val="E96060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Topic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</a:t>
            </a:r>
            <a:r>
              <a:rPr lang="en-US" sz="1400" dirty="0" err="1">
                <a:latin typeface="Consolas" panose="020B0609020204030204" pitchFamily="49" charset="0"/>
              </a:rPr>
              <a:t>loremipsum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- </a:t>
            </a:r>
            <a:r>
              <a:rPr lang="en-US" sz="1400" dirty="0" err="1">
                <a:latin typeface="Consolas" panose="020B0609020204030204" pitchFamily="49" charset="0"/>
              </a:rPr>
              <a:t>loremipsum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</a:t>
            </a:r>
            <a:r>
              <a:rPr lang="en-US" sz="1400" dirty="0" err="1">
                <a:latin typeface="Consolas" panose="020B0609020204030204" pitchFamily="49" charset="0"/>
              </a:rPr>
              <a:t>loremipsum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5D167B7-AC2E-1CCE-8986-19AEB6FEE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595"/>
            <a:ext cx="10515600" cy="528254"/>
          </a:xfrm>
        </p:spPr>
        <p:txBody>
          <a:bodyPr vert="horz" anchor="ctr">
            <a:normAutofit/>
          </a:bodyPr>
          <a:lstStyle/>
          <a:p>
            <a:pPr algn="ctr"/>
            <a:r>
              <a:rPr lang="en-US" sz="2400" dirty="0">
                <a:cs typeface="Poppins Light"/>
              </a:rPr>
              <a:t>Project</a:t>
            </a:r>
            <a:r>
              <a:rPr lang="en-TH" sz="2400" dirty="0"/>
              <a:t> – </a:t>
            </a:r>
            <a:r>
              <a:rPr lang="en-US" sz="2400" dirty="0"/>
              <a:t>Topic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64C543-9F9A-6DEE-6454-0A3BDAFF5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4529"/>
              </p:ext>
            </p:extLst>
          </p:nvPr>
        </p:nvGraphicFramePr>
        <p:xfrm>
          <a:off x="4514850" y="1367334"/>
          <a:ext cx="6962484" cy="31507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262">
                  <a:extLst>
                    <a:ext uri="{9D8B030D-6E8A-4147-A177-3AD203B41FA5}">
                      <a16:colId xmlns:a16="http://schemas.microsoft.com/office/drawing/2014/main" val="2615654620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2666134677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1474476578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3016239017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140374584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3587445227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485861284"/>
                    </a:ext>
                  </a:extLst>
                </a:gridCol>
              </a:tblGrid>
              <a:tr h="68154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Section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Complete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Content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Quality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Grammar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Length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Role</a:t>
                      </a:r>
                    </a:p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Relevance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Section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Weight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995445"/>
                  </a:ext>
                </a:extLst>
              </a:tr>
              <a:tr h="4022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 dirty="0">
                          <a:solidFill>
                            <a:schemeClr val="tx1"/>
                          </a:solidFill>
                          <a:latin typeface="Poppins Light"/>
                        </a:rPr>
                        <a:t>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</a:rPr>
                        <a:t>0.10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768461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</a:rPr>
                        <a:t>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</a:rPr>
                        <a:t>0.10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855725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i="0" u="none" strike="noStrike" noProof="0" dirty="0">
                          <a:solidFill>
                            <a:schemeClr val="tx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005145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i="0" u="none" strike="noStrike" noProof="0" dirty="0">
                          <a:solidFill>
                            <a:schemeClr val="tx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37563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chemeClr val="tx1"/>
                          </a:solidFill>
                        </a:rPr>
                        <a:t>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i="0" u="none" strike="noStrike" noProof="0" dirty="0">
                          <a:solidFill>
                            <a:schemeClr val="tx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775761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 dirty="0">
                          <a:solidFill>
                            <a:schemeClr val="tx1"/>
                          </a:solidFill>
                          <a:latin typeface="Poppins Light"/>
                        </a:rPr>
                        <a:t>Skills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i="0" u="none" strike="noStrike" noProof="0" dirty="0">
                          <a:solidFill>
                            <a:schemeClr val="tx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85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8602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5023</TotalTime>
  <Words>3836</Words>
  <Application>Microsoft Office PowerPoint</Application>
  <PresentationFormat>Widescreen</PresentationFormat>
  <Paragraphs>954</Paragraphs>
  <Slides>88</Slides>
  <Notes>7</Notes>
  <HiddenSlides>12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9" baseType="lpstr">
      <vt:lpstr>Aptos</vt:lpstr>
      <vt:lpstr>Aptos Display</vt:lpstr>
      <vt:lpstr>Arial</vt:lpstr>
      <vt:lpstr>Cambria Math</vt:lpstr>
      <vt:lpstr>Consolas</vt:lpstr>
      <vt:lpstr>Grandview</vt:lpstr>
      <vt:lpstr>Poppins Light</vt:lpstr>
      <vt:lpstr>TH SarabunPSK</vt:lpstr>
      <vt:lpstr>Trebuchet MS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Tue,260224</vt:lpstr>
      <vt:lpstr>Tue,260224</vt:lpstr>
      <vt:lpstr>Tue,260224</vt:lpstr>
      <vt:lpstr>Thu,260219</vt:lpstr>
      <vt:lpstr>Thu,120226</vt:lpstr>
      <vt:lpstr>Wed,180226</vt:lpstr>
      <vt:lpstr>PowerPoint Presentation</vt:lpstr>
      <vt:lpstr>Tue,100226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Mon,090226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Fri,060226</vt:lpstr>
      <vt:lpstr>Thu,050226</vt:lpstr>
      <vt:lpstr>Wed,040226</vt:lpstr>
      <vt:lpstr>Tue,050226</vt:lpstr>
      <vt:lpstr>PowerPoint Presentation</vt:lpstr>
      <vt:lpstr>Tue,030226</vt:lpstr>
      <vt:lpstr>PowerPoint Presentation</vt:lpstr>
      <vt:lpstr>PowerPoint Presentation</vt:lpstr>
      <vt:lpstr>Tue,040226</vt:lpstr>
      <vt:lpstr>PowerPoint Presentation</vt:lpstr>
      <vt:lpstr>2601290000</vt:lpstr>
      <vt:lpstr>2601290937</vt:lpstr>
      <vt:lpstr>2601290937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2601290937</vt:lpstr>
      <vt:lpstr>Project – Topic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Tun Kedsaro</dc:creator>
  <cp:lastModifiedBy>Tun Kedsaro</cp:lastModifiedBy>
  <cp:revision>70</cp:revision>
  <dcterms:created xsi:type="dcterms:W3CDTF">2026-01-29T03:40:55Z</dcterms:created>
  <dcterms:modified xsi:type="dcterms:W3CDTF">2026-02-24T07:44:03Z</dcterms:modified>
</cp:coreProperties>
</file>