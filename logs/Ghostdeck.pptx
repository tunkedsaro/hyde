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3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0"/>
  </p:notesMasterIdLst>
  <p:sldIdLst>
    <p:sldId id="2147481526" r:id="rId2"/>
    <p:sldId id="2147481527" r:id="rId3"/>
    <p:sldId id="2147481528" r:id="rId4"/>
    <p:sldId id="2147481529" r:id="rId5"/>
    <p:sldId id="2147481530" r:id="rId6"/>
    <p:sldId id="2147481531" r:id="rId7"/>
    <p:sldId id="2147481509" r:id="rId8"/>
    <p:sldId id="2147481510" r:id="rId9"/>
    <p:sldId id="2147481511" r:id="rId10"/>
    <p:sldId id="2147481512" r:id="rId11"/>
    <p:sldId id="2147481513" r:id="rId12"/>
    <p:sldId id="2147481515" r:id="rId13"/>
    <p:sldId id="2147481518" r:id="rId14"/>
    <p:sldId id="2147481522" r:id="rId15"/>
    <p:sldId id="2147481520" r:id="rId16"/>
    <p:sldId id="2147481521" r:id="rId17"/>
    <p:sldId id="2147481519" r:id="rId18"/>
    <p:sldId id="2147481523" r:id="rId19"/>
    <p:sldId id="2147481524" r:id="rId20"/>
    <p:sldId id="2147481525" r:id="rId21"/>
    <p:sldId id="2147481407" r:id="rId22"/>
    <p:sldId id="257" r:id="rId23"/>
    <p:sldId id="2147481480" r:id="rId24"/>
    <p:sldId id="2147481481" r:id="rId25"/>
    <p:sldId id="2147481482" r:id="rId26"/>
    <p:sldId id="2147481484" r:id="rId27"/>
    <p:sldId id="2147481485" r:id="rId28"/>
    <p:sldId id="2147481486" r:id="rId29"/>
    <p:sldId id="2147481487" r:id="rId30"/>
    <p:sldId id="2147481488" r:id="rId31"/>
    <p:sldId id="2147481489" r:id="rId32"/>
    <p:sldId id="2147481490" r:id="rId33"/>
    <p:sldId id="2147481492" r:id="rId34"/>
    <p:sldId id="2147481493" r:id="rId35"/>
    <p:sldId id="2147481474" r:id="rId36"/>
    <p:sldId id="2147481517" r:id="rId37"/>
    <p:sldId id="2147481472" r:id="rId38"/>
    <p:sldId id="2147481494" r:id="rId39"/>
    <p:sldId id="2147481495" r:id="rId40"/>
    <p:sldId id="2147481475" r:id="rId41"/>
    <p:sldId id="2147481496" r:id="rId42"/>
    <p:sldId id="2147481497" r:id="rId43"/>
    <p:sldId id="2147481499" r:id="rId44"/>
    <p:sldId id="2147481501" r:id="rId45"/>
    <p:sldId id="2147481502" r:id="rId46"/>
    <p:sldId id="2147481476" r:id="rId47"/>
    <p:sldId id="2147481478" r:id="rId48"/>
    <p:sldId id="2147481503" r:id="rId49"/>
    <p:sldId id="2147481473" r:id="rId50"/>
    <p:sldId id="2147481470" r:id="rId51"/>
    <p:sldId id="2147481468" r:id="rId52"/>
    <p:sldId id="2147481409" r:id="rId53"/>
    <p:sldId id="2147481410" r:id="rId54"/>
    <p:sldId id="2147481437" r:id="rId55"/>
    <p:sldId id="2147481424" r:id="rId56"/>
    <p:sldId id="2147481411" r:id="rId57"/>
    <p:sldId id="2147481418" r:id="rId58"/>
    <p:sldId id="2147481442" r:id="rId59"/>
    <p:sldId id="2147481433" r:id="rId60"/>
    <p:sldId id="2147481439" r:id="rId61"/>
    <p:sldId id="2147481443" r:id="rId62"/>
    <p:sldId id="2147481440" r:id="rId63"/>
    <p:sldId id="2147481441" r:id="rId64"/>
    <p:sldId id="2147481438" r:id="rId65"/>
    <p:sldId id="2147481415" r:id="rId66"/>
    <p:sldId id="2147481432" r:id="rId67"/>
    <p:sldId id="2147481414" r:id="rId68"/>
    <p:sldId id="2147481431" r:id="rId69"/>
    <p:sldId id="2147481412" r:id="rId70"/>
    <p:sldId id="2147481460" r:id="rId71"/>
    <p:sldId id="2147481507" r:id="rId72"/>
    <p:sldId id="2147481508" r:id="rId73"/>
    <p:sldId id="2147481506" r:id="rId74"/>
    <p:sldId id="2147481505" r:id="rId75"/>
    <p:sldId id="2147481504" r:id="rId76"/>
    <p:sldId id="2147481459" r:id="rId77"/>
    <p:sldId id="2147481466" r:id="rId78"/>
    <p:sldId id="2147481467" r:id="rId79"/>
    <p:sldId id="2147481465" r:id="rId80"/>
    <p:sldId id="2147481464" r:id="rId81"/>
    <p:sldId id="2147481463" r:id="rId82"/>
    <p:sldId id="2147481462" r:id="rId83"/>
    <p:sldId id="2147481455" r:id="rId84"/>
    <p:sldId id="2147481457" r:id="rId85"/>
    <p:sldId id="2147481461" r:id="rId86"/>
    <p:sldId id="2147481458" r:id="rId87"/>
    <p:sldId id="2147481454" r:id="rId88"/>
    <p:sldId id="2147481456" r:id="rId89"/>
    <p:sldId id="2147481453" r:id="rId90"/>
    <p:sldId id="2147481452" r:id="rId91"/>
    <p:sldId id="2147481446" r:id="rId92"/>
    <p:sldId id="2147481449" r:id="rId93"/>
    <p:sldId id="2147481448" r:id="rId94"/>
    <p:sldId id="2147481447" r:id="rId95"/>
    <p:sldId id="2147481451" r:id="rId96"/>
    <p:sldId id="2147481450" r:id="rId97"/>
    <p:sldId id="2147481445" r:id="rId98"/>
    <p:sldId id="2147481471" r:id="rId99"/>
    <p:sldId id="2147481413" r:id="rId100"/>
    <p:sldId id="2147481419" r:id="rId101"/>
    <p:sldId id="2147481427" r:id="rId102"/>
    <p:sldId id="2147481422" r:id="rId103"/>
    <p:sldId id="2147481423" r:id="rId104"/>
    <p:sldId id="2147481425" r:id="rId105"/>
    <p:sldId id="2147481426" r:id="rId106"/>
    <p:sldId id="2147481429" r:id="rId107"/>
    <p:sldId id="2147481428" r:id="rId108"/>
    <p:sldId id="2147481430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EAF3F8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6106" autoAdjust="0"/>
  </p:normalViewPr>
  <p:slideViewPr>
    <p:cSldViewPr snapToGrid="0">
      <p:cViewPr varScale="1">
        <p:scale>
          <a:sx n="119" d="100"/>
          <a:sy n="119" d="100"/>
        </p:scale>
        <p:origin x="282" y="1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339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load_params</a:t>
            </a:r>
            <a:r>
              <a:rPr lang="en-US" dirty="0"/>
              <a:t> : load </a:t>
            </a:r>
            <a:r>
              <a:rPr lang="en-US" dirty="0" err="1"/>
              <a:t>yaml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Extract_query</a:t>
            </a:r>
            <a:r>
              <a:rPr lang="en-US" dirty="0"/>
              <a:t> : </a:t>
            </a:r>
            <a:r>
              <a:rPr lang="th-TH" dirty="0"/>
              <a:t>เตรียม </a:t>
            </a:r>
            <a:r>
              <a:rPr lang="en-US" dirty="0"/>
              <a:t>vector </a:t>
            </a:r>
            <a:r>
              <a:rPr lang="th-TH" dirty="0"/>
              <a:t>ต่างๆ อาจจะเป็นการ </a:t>
            </a:r>
            <a:r>
              <a:rPr lang="en-US" dirty="0"/>
              <a:t>x weight </a:t>
            </a:r>
            <a:r>
              <a:rPr lang="th-TH" dirty="0"/>
              <a:t>เพื่อ </a:t>
            </a:r>
            <a:r>
              <a:rPr lang="en-US" dirty="0" err="1"/>
              <a:t>Normallize</a:t>
            </a:r>
            <a:r>
              <a:rPr lang="en-US" dirty="0"/>
              <a:t> </a:t>
            </a:r>
            <a:r>
              <a:rPr lang="th-TH" dirty="0"/>
              <a:t>ความสำคัญของ </a:t>
            </a:r>
            <a:r>
              <a:rPr lang="en-US" dirty="0"/>
              <a:t>vector score </a:t>
            </a:r>
            <a:r>
              <a:rPr lang="th-TH" dirty="0"/>
              <a:t>เหล่านั้น เราสามารถ </a:t>
            </a:r>
            <a:r>
              <a:rPr lang="en-US" dirty="0" err="1"/>
              <a:t>defual</a:t>
            </a:r>
            <a:r>
              <a:rPr lang="en-US" dirty="0"/>
              <a:t> = [1.0, 1.0, 1.0, 1.0, 1.0]</a:t>
            </a:r>
          </a:p>
          <a:p>
            <a:pPr marL="171450" indent="-171450">
              <a:buFontTx/>
              <a:buChar char="-"/>
            </a:pPr>
            <a:r>
              <a:rPr lang="en-US" dirty="0"/>
              <a:t>Vector retrieval : [5,50] -&gt; [1,50] </a:t>
            </a:r>
            <a:r>
              <a:rPr lang="th-TH" dirty="0"/>
              <a:t>เป็นการเปรียบเทียบคะแนนของแต่ละ </a:t>
            </a:r>
            <a:r>
              <a:rPr lang="en-US" dirty="0"/>
              <a:t>feed </a:t>
            </a:r>
            <a:r>
              <a:rPr lang="th-TH" dirty="0"/>
              <a:t>เพื่อหา </a:t>
            </a:r>
            <a:r>
              <a:rPr lang="en-US" dirty="0"/>
              <a:t>candidate return </a:t>
            </a:r>
            <a:r>
              <a:rPr lang="th-TH" dirty="0"/>
              <a:t>ออกพร้อม </a:t>
            </a:r>
            <a:r>
              <a:rPr lang="en-US" dirty="0"/>
              <a:t>{[</a:t>
            </a:r>
            <a:r>
              <a:rPr lang="en-US" dirty="0" err="1"/>
              <a:t>feed_id:score</a:t>
            </a:r>
            <a:r>
              <a:rPr lang="en-US" dirty="0"/>
              <a:t>]}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Exclude_seen</a:t>
            </a:r>
            <a:r>
              <a:rPr lang="en-US" dirty="0"/>
              <a:t> : </a:t>
            </a:r>
            <a:r>
              <a:rPr lang="th-TH" dirty="0"/>
              <a:t>ดึงข้อมูลจาก </a:t>
            </a:r>
            <a:r>
              <a:rPr lang="en-US" dirty="0"/>
              <a:t>metadata </a:t>
            </a:r>
            <a:r>
              <a:rPr lang="th-TH" dirty="0"/>
              <a:t>สำหรับแต่ละ </a:t>
            </a:r>
            <a:r>
              <a:rPr lang="en-US" dirty="0"/>
              <a:t>student -&gt; </a:t>
            </a:r>
            <a:r>
              <a:rPr lang="th-TH" dirty="0"/>
              <a:t>ตัด </a:t>
            </a:r>
            <a:r>
              <a:rPr lang="en-US" dirty="0"/>
              <a:t>feed </a:t>
            </a:r>
            <a:r>
              <a:rPr lang="th-TH" dirty="0"/>
              <a:t>ที่เคยเห็นออก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candidate : </a:t>
            </a:r>
            <a:r>
              <a:rPr lang="th-TH" dirty="0"/>
              <a:t>คำนวณ </a:t>
            </a:r>
            <a:r>
              <a:rPr lang="en-US" dirty="0" err="1"/>
              <a:t>subscore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Score aggregation : </a:t>
            </a:r>
            <a:r>
              <a:rPr lang="th-TH" dirty="0"/>
              <a:t>คูณน้ำหนักตาม </a:t>
            </a:r>
            <a:r>
              <a:rPr lang="en-US" dirty="0"/>
              <a:t>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03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umanintelligence.atlassian.net/wiki/spaces/CPM/pages/134611027/QA+Test+Plan+CV+Evaluation+Pipelin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9.png"/><Relationship Id="rId4" Type="http://schemas.openxmlformats.org/officeDocument/2006/relationships/image" Target="../media/image1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22.png"/><Relationship Id="rId4" Type="http://schemas.openxmlformats.org/officeDocument/2006/relationships/image" Target="../media/image1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1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23.png"/><Relationship Id="rId4" Type="http://schemas.openxmlformats.org/officeDocument/2006/relationships/image" Target="../media/image11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1.emf"/><Relationship Id="rId4" Type="http://schemas.openxmlformats.org/officeDocument/2006/relationships/oleObject" Target="../embeddings/oleObject2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nsole.cloud.google.com/storage/browser/hyde-datalake;tab=objects?forceOnBucketsSortingFiltering=true&amp;authuser=0&amp;project=poc-piloturl-nonprod&amp;prefix=&amp;forceOnObjectsSortingFiltering=false" TargetMode="External"/><Relationship Id="rId2" Type="http://schemas.openxmlformats.org/officeDocument/2006/relationships/hyperlink" Target="https://hyderecomment-service-dev-du7yhkyaqq-as.a.run.app/docs#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3" Type="http://schemas.openxmlformats.org/officeDocument/2006/relationships/oleObject" Target="../embeddings/oleObject2.bin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11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11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34.png"/><Relationship Id="rId4" Type="http://schemas.openxmlformats.org/officeDocument/2006/relationships/image" Target="../media/image11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35.png"/><Relationship Id="rId4" Type="http://schemas.openxmlformats.org/officeDocument/2006/relationships/image" Target="../media/image11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11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5" Type="http://schemas.openxmlformats.org/officeDocument/2006/relationships/image" Target="../media/image36.png"/><Relationship Id="rId4" Type="http://schemas.openxmlformats.org/officeDocument/2006/relationships/image" Target="../media/image11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5" Type="http://schemas.openxmlformats.org/officeDocument/2006/relationships/image" Target="../media/image37.png"/><Relationship Id="rId4" Type="http://schemas.openxmlformats.org/officeDocument/2006/relationships/image" Target="../media/image11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6" Type="http://schemas.openxmlformats.org/officeDocument/2006/relationships/image" Target="../media/image38.png"/><Relationship Id="rId5" Type="http://schemas.openxmlformats.org/officeDocument/2006/relationships/image" Target="../media/image200.png"/><Relationship Id="rId4" Type="http://schemas.openxmlformats.org/officeDocument/2006/relationships/image" Target="../media/image11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4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6" Type="http://schemas.openxmlformats.org/officeDocument/2006/relationships/image" Target="../media/image39.png"/><Relationship Id="rId5" Type="http://schemas.openxmlformats.org/officeDocument/2006/relationships/image" Target="../media/image200.png"/><Relationship Id="rId4" Type="http://schemas.openxmlformats.org/officeDocument/2006/relationships/image" Target="../media/image11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6" Type="http://schemas.openxmlformats.org/officeDocument/2006/relationships/image" Target="../media/image41.png"/><Relationship Id="rId5" Type="http://schemas.openxmlformats.org/officeDocument/2006/relationships/image" Target="../media/image240.png"/><Relationship Id="rId4" Type="http://schemas.openxmlformats.org/officeDocument/2006/relationships/image" Target="../media/image11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6" Type="http://schemas.openxmlformats.org/officeDocument/2006/relationships/image" Target="../media/image42.png"/><Relationship Id="rId5" Type="http://schemas.openxmlformats.org/officeDocument/2006/relationships/image" Target="../media/image240.png"/><Relationship Id="rId4" Type="http://schemas.openxmlformats.org/officeDocument/2006/relationships/image" Target="../media/image11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6" Type="http://schemas.openxmlformats.org/officeDocument/2006/relationships/image" Target="../media/image44.png"/><Relationship Id="rId5" Type="http://schemas.openxmlformats.org/officeDocument/2006/relationships/image" Target="../media/image280.png"/><Relationship Id="rId4" Type="http://schemas.openxmlformats.org/officeDocument/2006/relationships/image" Target="../media/image11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4" Type="http://schemas.openxmlformats.org/officeDocument/2006/relationships/image" Target="../media/image11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Relationship Id="rId5" Type="http://schemas.openxmlformats.org/officeDocument/2006/relationships/image" Target="../media/image45.png"/><Relationship Id="rId4" Type="http://schemas.openxmlformats.org/officeDocument/2006/relationships/image" Target="../media/image11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9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9.png"/><Relationship Id="rId7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11" Type="http://schemas.openxmlformats.org/officeDocument/2006/relationships/image" Target="../media/image65.png"/><Relationship Id="rId5" Type="http://schemas.openxmlformats.org/officeDocument/2006/relationships/image" Target="../media/image31.jpeg"/><Relationship Id="rId10" Type="http://schemas.openxmlformats.org/officeDocument/2006/relationships/image" Target="../media/image64.png"/><Relationship Id="rId4" Type="http://schemas.openxmlformats.org/officeDocument/2006/relationships/image" Target="../media/image60.jpeg"/><Relationship Id="rId9" Type="http://schemas.openxmlformats.org/officeDocument/2006/relationships/image" Target="../media/image3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59.png"/><Relationship Id="rId4" Type="http://schemas.openxmlformats.org/officeDocument/2006/relationships/image" Target="../media/image54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6" Type="http://schemas.openxmlformats.org/officeDocument/2006/relationships/hyperlink" Target="https://cvresume-eval-orchestrator-du7yhkyaqq-as.a.run.app/docs#/default/evaluate_resume_api_v1_resume_evaluations_post" TargetMode="External"/><Relationship Id="rId5" Type="http://schemas.openxmlformats.org/officeDocument/2006/relationships/hyperlink" Target="mailto:juanjose.carin@gmail.com" TargetMode="External"/><Relationship Id="rId4" Type="http://schemas.openxmlformats.org/officeDocument/2006/relationships/image" Target="../media/image11.emf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8543-B9C9-1AE6-4C35-745B91FBE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07883-E5B6-D5C9-6014-C1F7A448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7146F-BCFB-0305-125E-46DC419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Run API </a:t>
            </a:r>
            <a:r>
              <a:rPr lang="th-TH" sz="2000" dirty="0"/>
              <a:t>แบบ </a:t>
            </a:r>
            <a:r>
              <a:rPr lang="en-US" sz="2000" dirty="0"/>
              <a:t>concurrence 1000 samples student</a:t>
            </a:r>
          </a:p>
          <a:p>
            <a:pPr lvl="1"/>
            <a:r>
              <a:rPr lang="en-US" sz="2000" dirty="0"/>
              <a:t>Develop asynchronous API then test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endParaRPr lang="en-US" sz="20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14962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FD364-1E93-D95C-CBE9-39DCF8ED6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683ED1-AECF-7546-EC29-F129DE72A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28" y="1338056"/>
            <a:ext cx="5176670" cy="4666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0D1434-B2F6-5466-E427-E792B1ECD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212" y="1338056"/>
            <a:ext cx="5982744" cy="443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96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3CA8-6BAE-3C09-11CA-4180AAA77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5B7E0-3350-9192-8FE8-F85A76358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B20A-DE88-EE30-56AD-4810482FB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26" y="0"/>
            <a:ext cx="487626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D2A28-F43F-C1DF-0DC2-6DF4C45A4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763" y="0"/>
            <a:ext cx="5082611" cy="6858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02CB8D-0970-5782-710E-CB609A61481F}"/>
              </a:ext>
            </a:extLst>
          </p:cNvPr>
          <p:cNvCxnSpPr>
            <a:cxnSpLocks/>
          </p:cNvCxnSpPr>
          <p:nvPr/>
        </p:nvCxnSpPr>
        <p:spPr>
          <a:xfrm>
            <a:off x="5434308" y="3315331"/>
            <a:ext cx="1080455" cy="0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77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DF53C-3BD7-EEC7-DD96-04DFA703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A90E20-3C08-36EB-958D-9A8F0A82B050}"/>
              </a:ext>
            </a:extLst>
          </p:cNvPr>
          <p:cNvSpPr/>
          <p:nvPr/>
        </p:nvSpPr>
        <p:spPr>
          <a:xfrm>
            <a:off x="7686438" y="60225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5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queries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E42DD-A1B9-5E6E-4E40-9B2E407A0988}"/>
              </a:ext>
            </a:extLst>
          </p:cNvPr>
          <p:cNvSpPr/>
          <p:nvPr/>
        </p:nvSpPr>
        <p:spPr>
          <a:xfrm>
            <a:off x="2922307" y="60225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Prompts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069144-3FD1-BCDE-25B4-B7308648BE7F}"/>
              </a:ext>
            </a:extLst>
          </p:cNvPr>
          <p:cNvCxnSpPr>
            <a:cxnSpLocks/>
          </p:cNvCxnSpPr>
          <p:nvPr/>
        </p:nvCxnSpPr>
        <p:spPr>
          <a:xfrm>
            <a:off x="4694872" y="822157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EE4EEF7-7559-3876-EC3F-1C7549403AED}"/>
              </a:ext>
            </a:extLst>
          </p:cNvPr>
          <p:cNvSpPr/>
          <p:nvPr/>
        </p:nvSpPr>
        <p:spPr>
          <a:xfrm>
            <a:off x="5237186" y="60668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1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 call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AF795C2-59CE-680C-939C-4E8CB4877FBD}"/>
              </a:ext>
            </a:extLst>
          </p:cNvPr>
          <p:cNvCxnSpPr>
            <a:cxnSpLocks/>
          </p:cNvCxnSpPr>
          <p:nvPr/>
        </p:nvCxnSpPr>
        <p:spPr>
          <a:xfrm>
            <a:off x="7099067" y="827588"/>
            <a:ext cx="39417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598AF2D5-4B55-5937-E52B-EC845C3FF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666" y="1700464"/>
            <a:ext cx="3359206" cy="47244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8EDFD9-AD0B-7815-D389-AE455BF3B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6438" y="1704892"/>
            <a:ext cx="3372732" cy="455084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0A88CB6-CBF6-B67C-C945-59CB0BFED134}"/>
              </a:ext>
            </a:extLst>
          </p:cNvPr>
          <p:cNvCxnSpPr>
            <a:cxnSpLocks/>
          </p:cNvCxnSpPr>
          <p:nvPr/>
        </p:nvCxnSpPr>
        <p:spPr>
          <a:xfrm>
            <a:off x="5705708" y="3884826"/>
            <a:ext cx="780584" cy="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248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07FD7-4D64-46CF-6E49-A023B282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9801D62-0634-8E19-0FE2-98AEFE009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47606"/>
            <a:ext cx="4882627" cy="3610394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1FABAA4-93CF-B96D-5C93-B24813BF7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911695"/>
              </p:ext>
            </p:extLst>
          </p:nvPr>
        </p:nvGraphicFramePr>
        <p:xfrm>
          <a:off x="236220" y="393932"/>
          <a:ext cx="11590020" cy="24403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173738771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03167704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97278792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512978591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3301412424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635895859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635543262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732752965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2190803553"/>
                    </a:ext>
                  </a:extLst>
                </a:gridCol>
                <a:gridCol w="1159002">
                  <a:extLst>
                    <a:ext uri="{9D8B030D-6E8A-4147-A177-3AD203B41FA5}">
                      <a16:colId xmlns:a16="http://schemas.microsoft.com/office/drawing/2014/main" val="183390897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student_id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download_data_ms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read_config_ms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load_prompt_and_client_ms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build_context_ms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build_prompt_ms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llm_call_ms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embedding_ms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upload_gcs_ms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total_ms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5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6,676.34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10,569.14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1,858.89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2,698.69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21,852.45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5245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6,542.91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9,630.89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2,638.83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21,101.04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97757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6,484.72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6,540.38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1,900.97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2,749.61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17,721.76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225508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6,264.18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27.47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10,172.45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2,329.14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2,562.46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21,372.12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8705692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6,998.55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8,043.34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2,302.06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2,561.47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19,948.55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36731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7,063.04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9,127.42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1,891.49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2,626.31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20,755.28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176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6,686.17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14.59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10,783.59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2,279.08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2,743.67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22,534.26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597638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6,842.37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8,602.45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2,735.80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2,717.34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20,941.17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78404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6,655.42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25.62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9,007.64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2,245.55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2,631.08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20,580.48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915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stu_p010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6,770.32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61.37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21.09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33,046.21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2,331.73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2,523.96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44,755.40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63627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6,698.40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16.66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11,552.35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2,212.02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2,645.34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23,156.25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212146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131D7595-0226-214D-1937-74447D76D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585953"/>
            <a:ext cx="7858125" cy="108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9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9983AF0-9D8A-27BD-4EF3-1C3B6DAF5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77" y="473465"/>
            <a:ext cx="6788965" cy="274625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CC272A3-0496-0E58-3834-E35D8F2D4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028" y="3112168"/>
            <a:ext cx="4917240" cy="363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072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CE27E-4DA3-7B8A-B957-1FB43510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4107B8-7815-426C-59AE-8A4B17620A74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#12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8FCD8-14E8-5B39-1E5A-E9D4D7BD8D31}"/>
              </a:ext>
            </a:extLst>
          </p:cNvPr>
          <p:cNvSpPr txBox="1">
            <a:spLocks/>
          </p:cNvSpPr>
          <p:nvPr/>
        </p:nvSpPr>
        <p:spPr>
          <a:xfrm>
            <a:off x="152399" y="5087748"/>
            <a:ext cx="11820525" cy="169142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</a:rPr>
              <a:t>https://hyderecomment-service-du7yhkyaqq-as.a.run.app</a:t>
            </a: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</a:t>
            </a:r>
            <a:r>
              <a:rPr lang="en-US" sz="1100" b="1" dirty="0">
                <a:solidFill>
                  <a:srgbClr val="509BCA"/>
                </a:solidFill>
                <a:hlinkClick r:id="rId4"/>
              </a:rPr>
              <a:t>https://humanintelligence.atlassian.net/wiki/spaces/CPM/pages/134611027/QA+Test+Plan+CV+Evaluation+Pipeline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Test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https://humanintelligence.atlassian.net/wiki/spaces/CPM/pages/148636743/HyDE+Core+Recommendation+Engine+Test+Plan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52F34DB-0999-D71B-2C9E-F31472F08157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76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F665-81FB-6D5B-2B47-0F27EC69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849A6-E003-A495-D190-310854D4C07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C7CE62F-E970-8EC7-7328-B8268B32645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E483E2E-0160-AFC5-F617-E6FC028C240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948175-D804-9AA3-49F2-ECCCAEA3F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302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9765-C5EE-6156-4F7D-12AAC429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3490E33-E092-F315-95F5-F108195C20B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01A60A-E1AB-C01A-D0EB-25949EF538B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4CE5-5A68-53D5-9669-60E0F5B5C9B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802609-C615-3668-07EA-0A82FDF8FB0F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F8D8BD-B693-7273-106A-CF69BDF4A73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2CE743-22F0-042A-F251-1F526CEB4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B601FE-4ECA-8B8A-4FAF-E12E72DF79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8EBE845-A9C0-7D0F-C3E0-3E8328DC959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34925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8718-DD36-D4FC-AEDB-B9247E30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FD4FAE3-F4C8-E136-EAC5-D28D473F468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490E33-E092-F315-95F5-F108195C20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3E6CDA3-C7F6-86F0-275D-9390E1CED54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B9B446-67FC-79FA-9010-4132F3D7BAD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10C76C-B7C5-6CE2-3234-A7AF3A07F71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56A4904-2566-C732-227B-FAF429A65E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0E4F9A-C6DD-B5D9-3D6B-ECAE7CFD9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9E219A3-A05B-75BC-DA61-B361A68CC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67" y="2095794"/>
            <a:ext cx="5159707" cy="3358677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58ABFE-0460-4C3D-04E6-CDF888EB5085}"/>
              </a:ext>
            </a:extLst>
          </p:cNvPr>
          <p:cNvCxnSpPr>
            <a:cxnSpLocks/>
          </p:cNvCxnSpPr>
          <p:nvPr/>
        </p:nvCxnSpPr>
        <p:spPr>
          <a:xfrm>
            <a:off x="5935044" y="3678702"/>
            <a:ext cx="70539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859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13376-5ABC-055F-0568-949C1DA0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3287C8F-92CB-5A39-9F5B-818249E5B02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D4FAE3-F4C8-E136-EAC5-D28D473F46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79FDDD2-41C6-BC9F-EF2B-014C09DA3FE4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A9557-129E-8050-F2EB-DDE71A6C8C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42D6C3-3072-4CA4-8053-F02335176BE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1465E-431D-0428-2F0C-E8D7A6F1A85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 err="1"/>
              <a:t>HyDE</a:t>
            </a:r>
            <a:r>
              <a:rPr lang="en-US" sz="2400" dirty="0"/>
              <a:t> generation</a:t>
            </a:r>
            <a:endParaRPr lang="en-US" sz="2400" dirty="0">
              <a:cs typeface="Poppins Light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E59759-8F71-A667-363F-282C9791F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978628"/>
            <a:ext cx="4516253" cy="5593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C8C7F-551F-8C48-A10F-B69C955E4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2771" y="1286323"/>
            <a:ext cx="4339730" cy="4977618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9959315-A723-6C6C-A560-5C117693C21C}"/>
              </a:ext>
            </a:extLst>
          </p:cNvPr>
          <p:cNvCxnSpPr>
            <a:cxnSpLocks/>
          </p:cNvCxnSpPr>
          <p:nvPr/>
        </p:nvCxnSpPr>
        <p:spPr>
          <a:xfrm flipV="1">
            <a:off x="3080825" y="1589649"/>
            <a:ext cx="3921946" cy="87219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A1D4006-7DCC-1B44-241F-055613B940E5}"/>
              </a:ext>
            </a:extLst>
          </p:cNvPr>
          <p:cNvSpPr txBox="1"/>
          <p:nvPr/>
        </p:nvSpPr>
        <p:spPr>
          <a:xfrm>
            <a:off x="9405114" y="7196541"/>
            <a:ext cx="278688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th-TH" sz="1400" dirty="0">
                <a:latin typeface="Consolas" panose="020B0609020204030204" pitchFamily="49" charset="0"/>
              </a:rPr>
              <a:t>กำหนดให้ </a:t>
            </a:r>
            <a:r>
              <a:rPr lang="en-US" sz="1400" dirty="0" err="1">
                <a:latin typeface="Consolas" panose="020B0609020204030204" pitchFamily="49" charset="0"/>
              </a:rPr>
              <a:t>feed_metadata</a:t>
            </a:r>
            <a:r>
              <a:rPr lang="en-US" sz="1400" dirty="0">
                <a:latin typeface="Consolas" panose="020B0609020204030204" pitchFamily="49" charset="0"/>
              </a:rPr>
              <a:t> &lt; 100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หาจำนวนที่เพราะสม</a:t>
            </a:r>
          </a:p>
          <a:p>
            <a:r>
              <a:rPr lang="th-TH" sz="1400" dirty="0">
                <a:latin typeface="Consolas" panose="020B0609020204030204" pitchFamily="49" charset="0"/>
              </a:rPr>
              <a:t>บางส่วนอาจจะหายไปกับเพราะเวลา </a:t>
            </a:r>
            <a:r>
              <a:rPr lang="en-US" sz="1400" dirty="0">
                <a:latin typeface="Consolas" panose="020B0609020204030204" pitchFamily="49" charset="0"/>
              </a:rPr>
              <a:t>out of date</a:t>
            </a:r>
          </a:p>
        </p:txBody>
      </p:sp>
    </p:spTree>
    <p:extLst>
      <p:ext uri="{BB962C8B-B14F-4D97-AF65-F5344CB8AC3E}">
        <p14:creationId xmlns:p14="http://schemas.microsoft.com/office/powerpoint/2010/main" val="2857767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B90B-3F91-B9A6-76A0-BDA850840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0802C8B-4C49-EFFC-2351-A6769C0B22A0}"/>
              </a:ext>
            </a:extLst>
          </p:cNvPr>
          <p:cNvCxnSpPr>
            <a:cxnSpLocks/>
          </p:cNvCxnSpPr>
          <p:nvPr/>
        </p:nvCxnSpPr>
        <p:spPr>
          <a:xfrm>
            <a:off x="1509457" y="292985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3ECB28A-1F25-E81C-5B8F-D16C5718DA2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E25C237-9326-5E6A-EAA2-BA47EBF42C93}"/>
              </a:ext>
            </a:extLst>
          </p:cNvPr>
          <p:cNvCxnSpPr>
            <a:cxnSpLocks/>
          </p:cNvCxnSpPr>
          <p:nvPr/>
        </p:nvCxnSpPr>
        <p:spPr>
          <a:xfrm>
            <a:off x="7555545" y="2168703"/>
            <a:ext cx="108045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377FA6D-E896-46F5-F9D0-0CA827734A98}"/>
              </a:ext>
            </a:extLst>
          </p:cNvPr>
          <p:cNvGrpSpPr/>
          <p:nvPr/>
        </p:nvGrpSpPr>
        <p:grpSpPr>
          <a:xfrm>
            <a:off x="365759" y="1777334"/>
            <a:ext cx="1005791" cy="2305042"/>
            <a:chOff x="213358" y="2209804"/>
            <a:chExt cx="1167768" cy="230504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1B8037B-08EF-3E54-8F45-8D9B06810450}"/>
                </a:ext>
              </a:extLst>
            </p:cNvPr>
            <p:cNvSpPr/>
            <p:nvPr/>
          </p:nvSpPr>
          <p:spPr>
            <a:xfrm>
              <a:off x="213358" y="2209804"/>
              <a:ext cx="1167768" cy="23050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C5A30D4-1511-CD27-AE0E-D63513C615B7}"/>
                </a:ext>
              </a:extLst>
            </p:cNvPr>
            <p:cNvSpPr/>
            <p:nvPr/>
          </p:nvSpPr>
          <p:spPr>
            <a:xfrm>
              <a:off x="479440" y="2703419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npy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664F7B-FD87-8B03-EB74-C30F73F8AEF1}"/>
                </a:ext>
              </a:extLst>
            </p:cNvPr>
            <p:cNvSpPr/>
            <p:nvPr/>
          </p:nvSpPr>
          <p:spPr>
            <a:xfrm>
              <a:off x="479440" y="3141390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F9424-A448-AEE5-0D99-B45BD0748E1A}"/>
                </a:ext>
              </a:extLst>
            </p:cNvPr>
            <p:cNvSpPr/>
            <p:nvPr/>
          </p:nvSpPr>
          <p:spPr>
            <a:xfrm>
              <a:off x="479440" y="3579361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json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9B0673-A9B5-5CD1-A6A0-47B36A722166}"/>
                </a:ext>
              </a:extLst>
            </p:cNvPr>
            <p:cNvSpPr/>
            <p:nvPr/>
          </p:nvSpPr>
          <p:spPr>
            <a:xfrm>
              <a:off x="479440" y="4017493"/>
              <a:ext cx="662191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.</a:t>
              </a: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yaml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2503278-BF15-406D-D282-8BDA15C214A7}"/>
                </a:ext>
              </a:extLst>
            </p:cNvPr>
            <p:cNvSpPr txBox="1"/>
            <p:nvPr/>
          </p:nvSpPr>
          <p:spPr>
            <a:xfrm>
              <a:off x="302938" y="2299610"/>
              <a:ext cx="97871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BD6AC-14C1-E803-7ABC-0E5455BB037F}"/>
              </a:ext>
            </a:extLst>
          </p:cNvPr>
          <p:cNvGrpSpPr/>
          <p:nvPr/>
        </p:nvGrpSpPr>
        <p:grpSpPr>
          <a:xfrm>
            <a:off x="442914" y="4958641"/>
            <a:ext cx="1758365" cy="1333699"/>
            <a:chOff x="310230" y="5605659"/>
            <a:chExt cx="1758365" cy="1333699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C4567ED2-C94E-D1C2-0813-5AC95572BF7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EAA77467-F129-FB39-E452-4C29258CD6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9" name="Rounded Rectangle 29">
                <a:extLst>
                  <a:ext uri="{FF2B5EF4-FFF2-40B4-BE49-F238E27FC236}">
                    <a16:creationId xmlns:a16="http://schemas.microsoft.com/office/drawing/2014/main" id="{23BFDF69-FC72-6869-A5E4-788430F50C6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0" name="Rounded Rectangle 30">
                <a:extLst>
                  <a:ext uri="{FF2B5EF4-FFF2-40B4-BE49-F238E27FC236}">
                    <a16:creationId xmlns:a16="http://schemas.microsoft.com/office/drawing/2014/main" id="{14739B05-FD63-8AF6-3EB0-7F7050E16D3D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1" name="TextBox 37">
                <a:extLst>
                  <a:ext uri="{FF2B5EF4-FFF2-40B4-BE49-F238E27FC236}">
                    <a16:creationId xmlns:a16="http://schemas.microsoft.com/office/drawing/2014/main" id="{6F21E760-5529-4FFA-C36E-D4CF1E1E5ADC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12" name="Rounded Rectangle 40">
                <a:extLst>
                  <a:ext uri="{FF2B5EF4-FFF2-40B4-BE49-F238E27FC236}">
                    <a16:creationId xmlns:a16="http://schemas.microsoft.com/office/drawing/2014/main" id="{1B24B10A-5939-A002-EC94-8FD1988F574C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07" name="TextBox 12">
              <a:extLst>
                <a:ext uri="{FF2B5EF4-FFF2-40B4-BE49-F238E27FC236}">
                  <a16:creationId xmlns:a16="http://schemas.microsoft.com/office/drawing/2014/main" id="{4F0BF3ED-7774-AA93-AD56-7CD82FFC9064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22D1E9F8-5C12-D6BF-7BDE-C358864ABFE8}"/>
              </a:ext>
            </a:extLst>
          </p:cNvPr>
          <p:cNvSpPr/>
          <p:nvPr/>
        </p:nvSpPr>
        <p:spPr>
          <a:xfrm>
            <a:off x="1871113" y="1685929"/>
            <a:ext cx="5423030" cy="253371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A6D46628-CEA5-6877-0B68-40BE60AC4C7B}"/>
              </a:ext>
            </a:extLst>
          </p:cNvPr>
          <p:cNvSpPr/>
          <p:nvPr/>
        </p:nvSpPr>
        <p:spPr>
          <a:xfrm>
            <a:off x="1930351" y="2739438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+ Validate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74C91039-6576-B0F4-72A0-2B4B446D6A6E}"/>
              </a:ext>
            </a:extLst>
          </p:cNvPr>
          <p:cNvCxnSpPr>
            <a:cxnSpLocks/>
          </p:cNvCxnSpPr>
          <p:nvPr/>
        </p:nvCxnSpPr>
        <p:spPr>
          <a:xfrm>
            <a:off x="4431762" y="2331646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3CB2FBC7-E118-6EB1-4B10-7C6938D92873}"/>
              </a:ext>
            </a:extLst>
          </p:cNvPr>
          <p:cNvCxnSpPr>
            <a:cxnSpLocks/>
          </p:cNvCxnSpPr>
          <p:nvPr/>
        </p:nvCxnSpPr>
        <p:spPr>
          <a:xfrm flipV="1">
            <a:off x="2608268" y="1983632"/>
            <a:ext cx="876300" cy="686151"/>
          </a:xfrm>
          <a:prstGeom prst="bentConnector3">
            <a:avLst>
              <a:gd name="adj1" fmla="val -1359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E55AA67B-C693-2CF7-D47A-1FAD7F7FEFDC}"/>
              </a:ext>
            </a:extLst>
          </p:cNvPr>
          <p:cNvCxnSpPr>
            <a:cxnSpLocks/>
          </p:cNvCxnSpPr>
          <p:nvPr/>
        </p:nvCxnSpPr>
        <p:spPr>
          <a:xfrm>
            <a:off x="2608268" y="3149880"/>
            <a:ext cx="876300" cy="682519"/>
          </a:xfrm>
          <a:prstGeom prst="bentConnector3">
            <a:avLst>
              <a:gd name="adj1" fmla="val -99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CA41C4F-B6CB-80D3-DF84-7A6F6E72C3C3}"/>
              </a:ext>
            </a:extLst>
          </p:cNvPr>
          <p:cNvSpPr/>
          <p:nvPr/>
        </p:nvSpPr>
        <p:spPr>
          <a:xfrm>
            <a:off x="3613101" y="1798561"/>
            <a:ext cx="1355834" cy="3701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Load FAISS Index </a:t>
            </a: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read_index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99906EA0-A9BE-4124-89DF-FC68B70CFEAC}"/>
              </a:ext>
            </a:extLst>
          </p:cNvPr>
          <p:cNvSpPr/>
          <p:nvPr/>
        </p:nvSpPr>
        <p:spPr>
          <a:xfrm>
            <a:off x="3613101" y="3647327"/>
            <a:ext cx="1355834" cy="4642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User 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(1 – 5 queries)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6EEB863-B037-992B-3644-1AD8179FE547}"/>
              </a:ext>
            </a:extLst>
          </p:cNvPr>
          <p:cNvSpPr/>
          <p:nvPr/>
        </p:nvSpPr>
        <p:spPr>
          <a:xfrm>
            <a:off x="3753845" y="2711909"/>
            <a:ext cx="1355834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FAISS Search Top 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Score + indices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9C091F6-A033-F49F-B067-31E23E5D80B0}"/>
              </a:ext>
            </a:extLst>
          </p:cNvPr>
          <p:cNvCxnSpPr>
            <a:cxnSpLocks/>
          </p:cNvCxnSpPr>
          <p:nvPr/>
        </p:nvCxnSpPr>
        <p:spPr>
          <a:xfrm flipV="1">
            <a:off x="4431762" y="3236413"/>
            <a:ext cx="0" cy="25472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A519C5DA-4FE4-7C5C-6BF4-D212D58530A0}"/>
              </a:ext>
            </a:extLst>
          </p:cNvPr>
          <p:cNvCxnSpPr>
            <a:cxnSpLocks/>
          </p:cNvCxnSpPr>
          <p:nvPr/>
        </p:nvCxnSpPr>
        <p:spPr>
          <a:xfrm>
            <a:off x="5230325" y="292450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7F0CF-B464-B963-E470-B1E7ED67AD2F}"/>
              </a:ext>
            </a:extLst>
          </p:cNvPr>
          <p:cNvSpPr/>
          <p:nvPr/>
        </p:nvSpPr>
        <p:spPr>
          <a:xfrm>
            <a:off x="5632602" y="270287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Map Indices &lt;-&gt; Meta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Candidates (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feed_id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)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EF62CA1-53A9-3F05-0770-9A2ABF4D5D42}"/>
              </a:ext>
            </a:extLst>
          </p:cNvPr>
          <p:cNvSpPr txBox="1"/>
          <p:nvPr/>
        </p:nvSpPr>
        <p:spPr>
          <a:xfrm>
            <a:off x="6627655" y="1775833"/>
            <a:ext cx="666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Shin</a:t>
            </a:r>
            <a:endParaRPr lang="en-US" sz="105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07D293F-C843-164B-A871-0373D318BAA3}"/>
              </a:ext>
            </a:extLst>
          </p:cNvPr>
          <p:cNvGrpSpPr/>
          <p:nvPr/>
        </p:nvGrpSpPr>
        <p:grpSpPr>
          <a:xfrm>
            <a:off x="7924945" y="3655355"/>
            <a:ext cx="3893906" cy="1495360"/>
            <a:chOff x="7924945" y="2775355"/>
            <a:chExt cx="3893906" cy="14953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35F5371-A458-C79B-6A50-AA8D0BA3C5AB}"/>
                </a:ext>
              </a:extLst>
            </p:cNvPr>
            <p:cNvGrpSpPr/>
            <p:nvPr/>
          </p:nvGrpSpPr>
          <p:grpSpPr>
            <a:xfrm>
              <a:off x="7924945" y="277535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52C74DC-913E-5704-C4C1-44CF9FDABC57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4492DCD-62E3-FCD6-8222-BD75D6C46EE0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464C9F-BD86-DBE4-39C1-0CF1504CE3D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B055A3-D373-2EEB-D6EC-E991D1B7623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3DC885-6161-F0C7-A08C-72726BB7EEC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AFFC89-7C18-D54F-6969-82AF4AF47F23}"/>
                  </a:ext>
                </a:extLst>
              </p:cNvPr>
              <p:cNvSpPr txBox="1"/>
              <p:nvPr/>
            </p:nvSpPr>
            <p:spPr>
              <a:xfrm>
                <a:off x="584012" y="2474012"/>
                <a:ext cx="239806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…</a:t>
                </a:r>
                <a:endParaRPr lang="en-US" sz="1050" dirty="0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9C1309-7D85-8907-D7D9-1270B9B0C3AF}"/>
                </a:ext>
              </a:extLst>
            </p:cNvPr>
            <p:cNvSpPr/>
            <p:nvPr/>
          </p:nvSpPr>
          <p:spPr>
            <a:xfrm>
              <a:off x="9762510" y="384272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66E15336-BAF6-39B7-B909-21C580C56C89}"/>
                </a:ext>
              </a:extLst>
            </p:cNvPr>
            <p:cNvCxnSpPr>
              <a:cxnSpLocks/>
            </p:cNvCxnSpPr>
            <p:nvPr/>
          </p:nvCxnSpPr>
          <p:spPr>
            <a:xfrm>
              <a:off x="9407480" y="376098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02C68EE8-C5A3-92A0-1DFB-85826E45648D}"/>
                </a:ext>
              </a:extLst>
            </p:cNvPr>
            <p:cNvCxnSpPr>
              <a:cxnSpLocks/>
            </p:cNvCxnSpPr>
            <p:nvPr/>
          </p:nvCxnSpPr>
          <p:spPr>
            <a:xfrm>
              <a:off x="8487720" y="379449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ED6596D-A855-EF14-5B9F-B67A1442EC9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1164" y="375477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8FB226FE-D6FD-752D-4913-2C7F26375AB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055468" y="378991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F485AA5-13B2-4979-3A5A-12ADF46F842E}"/>
              </a:ext>
            </a:extLst>
          </p:cNvPr>
          <p:cNvCxnSpPr>
            <a:cxnSpLocks/>
          </p:cNvCxnSpPr>
          <p:nvPr/>
        </p:nvCxnSpPr>
        <p:spPr>
          <a:xfrm>
            <a:off x="9873810" y="3296372"/>
            <a:ext cx="0" cy="28865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548CDA7-2CC6-9AAD-1F08-D6D95C4EF385}"/>
              </a:ext>
            </a:extLst>
          </p:cNvPr>
          <p:cNvSpPr/>
          <p:nvPr/>
        </p:nvSpPr>
        <p:spPr>
          <a:xfrm>
            <a:off x="9074994" y="2826974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Seen_feed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1215361-AF8B-387B-C8C0-287C02B40DC0}"/>
              </a:ext>
            </a:extLst>
          </p:cNvPr>
          <p:cNvCxnSpPr>
            <a:cxnSpLocks/>
          </p:cNvCxnSpPr>
          <p:nvPr/>
        </p:nvCxnSpPr>
        <p:spPr>
          <a:xfrm>
            <a:off x="9875723" y="5204862"/>
            <a:ext cx="0" cy="2613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47D4FE3-6C8F-F3E5-CD22-5A604C7D199D}"/>
              </a:ext>
            </a:extLst>
          </p:cNvPr>
          <p:cNvSpPr/>
          <p:nvPr/>
        </p:nvSpPr>
        <p:spPr>
          <a:xfrm>
            <a:off x="9076907" y="553929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lang="en-TH" sz="1000" dirty="0">
              <a:solidFill>
                <a:srgbClr val="272428"/>
              </a:solidFill>
              <a:latin typeface="Poppins Light"/>
              <a:cs typeface="Sarabun Light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1844A7-83CD-7C09-6CA7-3D129791D363}"/>
              </a:ext>
            </a:extLst>
          </p:cNvPr>
          <p:cNvSpPr/>
          <p:nvPr/>
        </p:nvSpPr>
        <p:spPr>
          <a:xfrm>
            <a:off x="4312776" y="553929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C3417BE-D832-6482-9FA3-CD7960D9B3CB}"/>
              </a:ext>
            </a:extLst>
          </p:cNvPr>
          <p:cNvCxnSpPr>
            <a:cxnSpLocks/>
          </p:cNvCxnSpPr>
          <p:nvPr/>
        </p:nvCxnSpPr>
        <p:spPr>
          <a:xfrm flipH="1">
            <a:off x="6039315" y="5785029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8205B3A-3E04-DAC9-A8F3-C7E3E05D5594}"/>
              </a:ext>
            </a:extLst>
          </p:cNvPr>
          <p:cNvGrpSpPr/>
          <p:nvPr/>
        </p:nvGrpSpPr>
        <p:grpSpPr>
          <a:xfrm>
            <a:off x="8884373" y="1759912"/>
            <a:ext cx="1975048" cy="775299"/>
            <a:chOff x="10490" y="2427201"/>
            <a:chExt cx="1033571" cy="775299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5F7069-8500-97F7-BAA7-51E8F13028A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8A5C685-2978-57A6-5608-AF8A7396572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22F232-858D-33E7-DE5B-FA4A26EE0A6C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8FB6723-4899-4D14-9BA3-6622CDF36EB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 err="1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2E0F03-1331-5CF1-971B-EF339219C3DC}"/>
              </a:ext>
            </a:extLst>
          </p:cNvPr>
          <p:cNvCxnSpPr>
            <a:cxnSpLocks/>
          </p:cNvCxnSpPr>
          <p:nvPr/>
        </p:nvCxnSpPr>
        <p:spPr>
          <a:xfrm flipH="1">
            <a:off x="9871897" y="257947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B9B59BF-EEFD-872D-3461-56CB778733B2}"/>
              </a:ext>
            </a:extLst>
          </p:cNvPr>
          <p:cNvSpPr/>
          <p:nvPr/>
        </p:nvSpPr>
        <p:spPr>
          <a:xfrm>
            <a:off x="6627655" y="5543726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AECF85C-3285-9DFB-7775-C00264512701}"/>
              </a:ext>
            </a:extLst>
          </p:cNvPr>
          <p:cNvCxnSpPr>
            <a:cxnSpLocks/>
          </p:cNvCxnSpPr>
          <p:nvPr/>
        </p:nvCxnSpPr>
        <p:spPr>
          <a:xfrm flipH="1">
            <a:off x="8434535" y="5759197"/>
            <a:ext cx="39019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92560E5-DA14-68F9-1136-3B0FC1C0FD98}"/>
              </a:ext>
            </a:extLst>
          </p:cNvPr>
          <p:cNvGrpSpPr/>
          <p:nvPr/>
        </p:nvGrpSpPr>
        <p:grpSpPr>
          <a:xfrm>
            <a:off x="881537" y="3045723"/>
            <a:ext cx="8558720" cy="2420510"/>
            <a:chOff x="881537" y="3045723"/>
            <a:chExt cx="8558720" cy="2420510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F8CFBD18-F971-2617-7B5C-71F674CE6C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061" y="4131054"/>
              <a:ext cx="0" cy="570122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6DB7F9B-A1DB-CF67-9695-5731BCA35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537" y="4669876"/>
              <a:ext cx="6682119" cy="26538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FCA085E-9B05-9081-876E-CFF3A6BA2D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656" y="3045723"/>
              <a:ext cx="0" cy="227035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4219EE4-80AD-ECB7-A04F-7A7BB77A3CF4}"/>
                </a:ext>
              </a:extLst>
            </p:cNvPr>
            <p:cNvCxnSpPr>
              <a:cxnSpLocks/>
            </p:cNvCxnSpPr>
            <p:nvPr/>
          </p:nvCxnSpPr>
          <p:spPr>
            <a:xfrm>
              <a:off x="7560307" y="3048104"/>
              <a:ext cx="1354207" cy="0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794DF43-35C1-28B7-9D8C-E67363DC3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58894" y="5311761"/>
              <a:ext cx="1881363" cy="0"/>
            </a:xfrm>
            <a:prstGeom prst="line">
              <a:avLst/>
            </a:prstGeom>
            <a:ln w="952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8697713-28A9-D9BB-59CD-2B56D6B01588}"/>
                </a:ext>
              </a:extLst>
            </p:cNvPr>
            <p:cNvCxnSpPr>
              <a:cxnSpLocks/>
            </p:cNvCxnSpPr>
            <p:nvPr/>
          </p:nvCxnSpPr>
          <p:spPr>
            <a:xfrm>
              <a:off x="9432214" y="5306999"/>
              <a:ext cx="0" cy="159234"/>
            </a:xfrm>
            <a:prstGeom prst="straightConnector1">
              <a:avLst/>
            </a:prstGeom>
            <a:ln w="9525"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74C30D0B-B69D-B5FE-729F-9113FBE37656}"/>
              </a:ext>
            </a:extLst>
          </p:cNvPr>
          <p:cNvSpPr txBox="1"/>
          <p:nvPr/>
        </p:nvSpPr>
        <p:spPr>
          <a:xfrm>
            <a:off x="9404239" y="6971145"/>
            <a:ext cx="2786886" cy="752951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-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 </a:t>
            </a:r>
            <a:r>
              <a:rPr lang="th-TH" sz="1400" dirty="0">
                <a:latin typeface="Consolas" panose="020B0609020204030204" pitchFamily="49" charset="0"/>
              </a:rPr>
              <a:t>ให้เป็น </a:t>
            </a:r>
            <a:r>
              <a:rPr lang="en-US" sz="1400" dirty="0" err="1">
                <a:latin typeface="Consolas" panose="020B0609020204030204" pitchFamily="49" charset="0"/>
              </a:rPr>
              <a:t>pararell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th-TH" sz="1400" dirty="0">
                <a:latin typeface="Consolas" panose="020B0609020204030204" pitchFamily="49" charset="0"/>
              </a:rPr>
              <a:t>ในอนาคต ตัว </a:t>
            </a:r>
            <a:r>
              <a:rPr lang="en-US" sz="1400" dirty="0" err="1">
                <a:latin typeface="Consolas" panose="020B0609020204030204" pitchFamily="49" charset="0"/>
              </a:rPr>
              <a:t>subscore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th-TH" sz="1400" dirty="0">
                <a:latin typeface="Consolas" panose="020B0609020204030204" pitchFamily="49" charset="0"/>
              </a:rPr>
              <a:t>อาจจะ </a:t>
            </a:r>
            <a:r>
              <a:rPr lang="en-US" sz="1400" dirty="0">
                <a:latin typeface="Consolas" panose="020B0609020204030204" pitchFamily="49" charset="0"/>
              </a:rPr>
              <a:t>update</a:t>
            </a:r>
            <a:r>
              <a:rPr lang="th-TH" sz="1400" dirty="0">
                <a:latin typeface="Consolas" panose="020B0609020204030204" pitchFamily="49" charset="0"/>
              </a:rPr>
              <a:t> ช่วง ยิง </a:t>
            </a:r>
            <a:r>
              <a:rPr lang="en-US" sz="1400" dirty="0">
                <a:latin typeface="Consolas" panose="020B0609020204030204" pitchFamily="49" charset="0"/>
              </a:rPr>
              <a:t>shin </a:t>
            </a:r>
            <a:r>
              <a:rPr lang="th-TH" sz="1400" dirty="0">
                <a:latin typeface="Consolas" panose="020B0609020204030204" pitchFamily="49" charset="0"/>
              </a:rPr>
              <a:t>ฟยร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700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891A-1624-E409-05B5-F9C74371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D7A0426-C4C2-C7D5-4466-0B8A96E01C9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48FBBE-E37B-6BE6-5135-ED26412ACFD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42F5E7-F9C6-53A1-4876-A3C0F0F8D5D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C95E0F-65CF-965A-9B4C-E37DAA98A06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B2A5C0-BE27-77AF-0A90-BD195188A96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A55254C-4C8B-186C-CFCC-338A05B3F7B6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7F171E-7E2E-9A8C-4B6A-885202FD259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733C2A0-0460-4C90-BFF2-1E174A34949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F775377-58D5-37AD-BA46-2939DA65ECD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1587A62-8E3D-68A2-6A1B-A79F02C02E5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72F7038-43B7-0ED4-9BA0-143466498EDE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1781D0-C970-DAA7-38E6-76621AA4B788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BCF69EF-CA74-6AD5-4123-4E936C5EB632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9F4E681-72C5-1E9E-5005-2ABF572BF3C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09332E4-E698-D526-9D6F-B32AFDC5974C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ADCC43F-123C-8F18-DFBA-C2A380AAD1B1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3ED48D1-546C-F56C-C5D4-6A08D055F65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540817F-8A7D-F590-9CE7-9DF1B506BEA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CB34ADD-CB7D-FE73-0DA5-5893BEC5B801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53A5567-BEF1-9B5A-9E6D-CA67940FDF7B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4A0D4B-DDC1-E1BB-0944-0DCB360B335F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23E3A03-07FA-A546-4A82-6DD3828FB25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C9F18-5D22-00A3-BD17-710CF420A60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CD24EE-0475-6B97-CB96-42CC6773F2E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326A14-BF52-E444-F0F5-18B22AFB1F9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AEE2D35-613D-D270-C629-D452EC5AD7F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3D220AB-CF8C-E17A-DA60-0EB5FE55809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30D91C-171C-A9B7-07C2-0F3B3FD1A71D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660AAE6E-C334-17DF-9B08-36F6F2A4490A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B0BFED-D46B-B919-BD9F-BB85F5EC2022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258FE21-DED5-5281-46B7-6AEDCBB140F7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B95AC0-3451-F4EA-8630-5000CA38DF50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B4B037-1DFB-4B26-8D0D-BB0A9894F551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150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D991-62A4-29DE-8159-C022271D1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B920FCE-DE53-F504-21B3-B81A34220B2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84AB11B-F517-5299-115A-12F5BED6AC3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FB498-0BAF-0232-27AD-C484CED594F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BE1A8-8875-9506-1FA9-B89CB4F692FE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B476C8-2929-3737-1C9D-6D0D72930A2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705EE4D-F2C0-8108-5837-E70639FD2643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A4396F3-728B-0469-ECA8-0F77A1E22EA0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05B3C13-AF03-5FAA-58F0-726CCFBBE093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29AB80-9FA0-C7EC-2FED-B359FA97F688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2B1CCD-8967-BD13-358F-9FD2E936AB7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BF01206-883E-BE41-83A5-2AC65BE771D6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F4571C-2CB4-FA37-4A9F-88FD1CA199A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1471B17-7DBA-A277-C968-E7179C6E1FFF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8F36E7-BF9B-1581-E449-5657E16FCF4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267B718-EDBB-60D7-9962-2E981F0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B522117-716C-EB5B-E2CE-50F0D1AAE90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626194FB-5264-EE12-C82A-5C164C58A63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F259E1C0-E1D2-B0D7-230A-131C8D5CEFE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F241FB-6BB9-BC50-70A4-3E5F47272A58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0DABA0E5-FA0E-E040-8E36-1C6B04DBB0DD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A7955-34DD-4C5E-4135-E2897179A05B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E6D88B-0960-BF25-CA34-60A59EAFC043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CBD9B4-6E58-81F1-11B2-8C7B46E43A7A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66D0A46-6F08-3853-975B-692D61C2B2DB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F2E317E-380A-4351-819D-DE59863CC30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75E6AB0-1C06-9C9E-307F-16F3C692EC05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A4EFD37-782E-6443-BC45-64684622BD8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rgbClr val="272428"/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4FFAAA-BB49-3AB8-F59B-61DDB6F7CD62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D26DEDF3-2B93-024D-9FDA-B0AE3436828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AA6745-38D6-FF6C-55BA-598367E3908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AB0AFAC-A024-9DE7-77ED-C147E7B5273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C70625-A68F-8A21-8C0C-CC2DA273B415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930B9-3DE5-588A-47C9-24582BE49EA7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70D9DDDC-4B11-F74B-314B-17FFFFC07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224" y="1027782"/>
            <a:ext cx="3416112" cy="465898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8305715-68F2-F252-F307-929B8E49A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815" y="5698224"/>
            <a:ext cx="5251769" cy="76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14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4C78A-1B7D-05CA-201B-32CF4199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BAAA692-302E-4C16-6251-369838024F4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254FCED-F2D1-2E41-62CF-AE1F62357C5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298BD-7398-41ED-C505-BB471FA339B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7790-A025-CE4C-F52D-946EFE7987C2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5C6927-4002-560D-3B5E-5099201B714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F9CD11-74F2-0994-E5DC-9B28C40BB47B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D70DC62-C0C4-0B33-245D-86E68054CAA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B4C2BD7-5D31-47F9-4673-15921BC87A01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50B4C71-FA89-09C2-DD45-2A45E60E5571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E5B264B-2EB1-7239-6FEA-533D5AEE6C41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64DC4AE-B7D7-1A34-CC29-5957B43BF0A7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E005509-A62E-9DF1-6CB3-0C055CFD0ADC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484FA96-B56A-327A-6B16-9B1295E26EB8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690FC74-FE28-C1AA-C8A2-CD6278C469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7F128E0-694D-4D8B-EA26-3E0996C1C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8C8308B-741E-EE88-CDE3-1DFBD0056D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55E265E-3566-2159-5E39-BF8F61728F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7E25FBA-8D20-57C1-AAEA-84EB4EB50B7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2084405-25F7-9236-9EC9-0703093E6BA0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3477188-7F43-5135-7999-FEC49E7D744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30FFF5-CD7F-008A-C4F0-C817374A5441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76A6FE-3FFB-22E9-9528-51B7761389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DC7D269-1EE6-1D22-DFF9-B39F3078BAED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BEDC97E-A71E-4103-E7AF-59AC59C7C13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E28F4F3-A4D9-1079-8CFD-1183E5D234D4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EF5F8C-3B5C-E2CF-F86E-1137854C5ED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A82C52-64EC-B746-7128-1201AEC96FD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3174D7-B1A3-4F93-5963-FC8F1243E57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D2CD153-73B6-8B55-8EB3-F786F64799B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D93350-1838-08C5-3481-0914F342F38C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ED394E-727A-F20C-4DB7-517DEE5E64A5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77D80A-452A-3D35-A252-DA83D888A5BC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01D743-0562-5075-A578-746A49F05A0A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EF5FDFB9-75B0-CE91-556C-484F2A80FC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67955"/>
            <a:ext cx="5045385" cy="475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63F2-958E-10AB-5C53-2852B423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87EF0DE-E57D-85D9-DB90-5D9360183F6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AAA692-302E-4C16-6251-369838024F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8AAF93D-8481-2221-523A-2181EDC974EB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182498-2B49-8723-1BF3-7438D7612A2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AC320-91D7-038B-304D-BFDFFB6BC1B7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58B399-1BEB-BC1A-3986-DAD60D8D2D5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0927C5-30B2-2B21-DC90-9A0B2017C05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2FCBDA4-7F05-CADF-C9BC-F8FC4E0A436A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A8F1D66-D1FD-5A22-1381-3E93EF39145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1D51D4-3CA3-2BD4-EC9E-EBC0DA792A0B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FD7189A-1110-A6AD-E33B-05C9F5ED5392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A2F0FBC-CB99-C504-AB5A-C5227F00FC8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E0714F-8546-ABD4-C438-7FB3F1032D83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F3C1AFE-EFF2-9F24-DD1C-F3AB1E64706A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DF2FFE-90E2-8FDE-8DE1-7407E7E5D39E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4B81B3A3-C894-14CF-CE63-FDA46808301F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93DE321-BD99-A98A-26A2-E721E2EDD27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B85C7D69-F870-BCB3-0D3B-C082858FDC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5A46074D-6FCB-B7D1-F752-814846B9AF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0C0AEF-6B4A-79A9-48B3-F9669864C0AA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FAA0D6FD-C3FC-9A78-2FF5-468C4F7198B4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67ACA5-DC76-1E78-D750-7A2289729D0E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B949F2-70B0-8773-C486-4F3874D7E92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E18ACFE-234F-536C-A1C0-C4789F0F7687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389E8D8-41CF-C893-F4FE-5179FE2CEB0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FC1169A-01EE-A72E-F265-532E215D698F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5017D68-D20B-80D9-51E6-0BC53FB88FA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4850D07-D77A-93B5-8595-F6342E5B9907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59B9D17-035C-E7DC-21C3-623127D02288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FD2613B8-8F7C-2046-21AD-8CAA72F5886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4B2D1-BB9D-2E8B-312C-732FA90F4D5D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297908-AD25-7EF7-1633-520714C77688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63C07C-B8F0-0590-228E-5C26A34828E1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2F5B24-F5D2-6ABB-E35D-E530F57A7EAF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23AA0BB7-F630-356F-06E5-E2E3B9977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189" y="1336359"/>
            <a:ext cx="5014512" cy="492509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F7FA611-5A7D-A2A0-49CD-453C68ABDD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4616" y="986247"/>
            <a:ext cx="2644958" cy="14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531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99D21-0C89-9EF5-DCF7-CD09833AF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9245DA8-43F7-6258-9880-70CF09A150B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D7A0426-C4C2-C7D5-4466-0B8A96E01C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4B457E7-1D3D-64BE-2CD7-B0D713E3B6D5}"/>
              </a:ext>
            </a:extLst>
          </p:cNvPr>
          <p:cNvSpPr/>
          <p:nvPr/>
        </p:nvSpPr>
        <p:spPr>
          <a:xfrm>
            <a:off x="6467036" y="799344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40E206-3D97-711F-1B9A-B39BF0C0CE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16F39B-6AE4-B977-609C-6029CC2793EB}"/>
              </a:ext>
            </a:extLst>
          </p:cNvPr>
          <p:cNvSpPr/>
          <p:nvPr/>
        </p:nvSpPr>
        <p:spPr>
          <a:xfrm>
            <a:off x="638383" y="859879"/>
            <a:ext cx="5265878" cy="42539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D90A3D-D192-6650-AA03-7A9A766A9DAC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38069E-C133-F9E9-1B41-9C8F4AC1DF6A}"/>
              </a:ext>
            </a:extLst>
          </p:cNvPr>
          <p:cNvGrpSpPr/>
          <p:nvPr/>
        </p:nvGrpSpPr>
        <p:grpSpPr>
          <a:xfrm>
            <a:off x="1382298" y="3051224"/>
            <a:ext cx="3893906" cy="1495360"/>
            <a:chOff x="1382298" y="2429185"/>
            <a:chExt cx="3893906" cy="1495360"/>
          </a:xfrm>
          <a:solidFill>
            <a:schemeClr val="bg1">
              <a:lumMod val="95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E98EBF-8414-E94F-C7A8-87D2E572AB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3A5AD57-D54E-2529-8191-89FC751C85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3CDEE04-2D1B-5F45-2A86-33929EBC2F17}"/>
                  </a:ext>
                </a:extLst>
              </p:cNvPr>
              <p:cNvSpPr/>
              <p:nvPr/>
            </p:nvSpPr>
            <p:spPr>
              <a:xfrm>
                <a:off x="259738" y="2429685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vector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0403EB9-49DD-031E-87C7-515257376DBC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43ADD44-BB46-4C94-6D6F-75800DCB9811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6B3B6A8-B34F-2AD0-9EE3-79A8C48E7DD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55B228-66E6-6585-72C0-62167E0BD84B}"/>
                  </a:ext>
                </a:extLst>
              </p:cNvPr>
              <p:cNvSpPr/>
              <p:nvPr/>
            </p:nvSpPr>
            <p:spPr>
              <a:xfrm>
                <a:off x="564202" y="2429832"/>
                <a:ext cx="278147" cy="370142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…..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3130A76-EC96-07E9-8177-E427753258E3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512F9D25-5E09-EE5B-304A-C073B05B6A8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17C16B3-E001-5292-DA16-8B172A201F8F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0671B995-80B6-5B10-704C-09952C6C21E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A7E1D2E-F90B-4932-FAED-73B0761B02D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21877F-35E3-E995-9134-C974B7FD91B6}"/>
              </a:ext>
            </a:extLst>
          </p:cNvPr>
          <p:cNvCxnSpPr>
            <a:cxnSpLocks/>
          </p:cNvCxnSpPr>
          <p:nvPr/>
        </p:nvCxnSpPr>
        <p:spPr>
          <a:xfrm>
            <a:off x="3331163" y="4387850"/>
            <a:ext cx="0" cy="348097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46C99C1-D364-3D50-5896-88147ABC81DF}"/>
              </a:ext>
            </a:extLst>
          </p:cNvPr>
          <p:cNvSpPr/>
          <p:nvPr/>
        </p:nvSpPr>
        <p:spPr>
          <a:xfrm>
            <a:off x="2532347" y="4752498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C6FFFB-FA4A-BDE4-7E9D-772B3E9980BD}"/>
              </a:ext>
            </a:extLst>
          </p:cNvPr>
          <p:cNvSpPr/>
          <p:nvPr/>
        </p:nvSpPr>
        <p:spPr>
          <a:xfrm>
            <a:off x="2534260" y="5427247"/>
            <a:ext cx="1593806" cy="4397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20C09E-B534-B38C-2C28-87942AE8F16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F1E586C-A2E3-6B36-E657-BF3B79C9312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chemeClr val="bg1">
              <a:lumMod val="95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54FB9E8-EB0D-E687-91E8-486D7E07EB68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653140-F199-FCC1-522E-9EF9328D6F1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C495739-3F64-0FEA-B889-5B1332B253E4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Inputs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EB73EF-A773-C87D-93AC-B2A71A3A0BB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feed_id</a:t>
              </a:r>
              <a:endParaRPr lang="en-TH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FD0A83-870B-E936-C7F5-A373584FD1D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12B1F7B6-FAA9-E8BD-F69D-FBCA3E24339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E37186-0D62-A9E3-4D9A-BA0040F672F3}"/>
              </a:ext>
            </a:extLst>
          </p:cNvPr>
          <p:cNvSpPr/>
          <p:nvPr/>
        </p:nvSpPr>
        <p:spPr>
          <a:xfrm>
            <a:off x="2532347" y="2430521"/>
            <a:ext cx="1593806" cy="3747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Seen feed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DF6FC4-416F-5224-9EDF-F9B56799F972}"/>
              </a:ext>
            </a:extLst>
          </p:cNvPr>
          <p:cNvCxnSpPr>
            <a:cxnSpLocks/>
          </p:cNvCxnSpPr>
          <p:nvPr/>
        </p:nvCxnSpPr>
        <p:spPr>
          <a:xfrm flipH="1">
            <a:off x="3329250" y="2848554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D5B87D-FA93-10B8-0FD9-FFDFA4A01B47}"/>
              </a:ext>
            </a:extLst>
          </p:cNvPr>
          <p:cNvCxnSpPr>
            <a:cxnSpLocks/>
          </p:cNvCxnSpPr>
          <p:nvPr/>
        </p:nvCxnSpPr>
        <p:spPr>
          <a:xfrm flipH="1">
            <a:off x="3325410" y="5901333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79A134A-13C3-20B8-34BC-69FBDE915BB5}"/>
              </a:ext>
            </a:extLst>
          </p:cNvPr>
          <p:cNvCxnSpPr>
            <a:cxnSpLocks/>
          </p:cNvCxnSpPr>
          <p:nvPr/>
        </p:nvCxnSpPr>
        <p:spPr>
          <a:xfrm flipH="1">
            <a:off x="3325409" y="5215768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64D587B4-2670-150B-D839-567084DE93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41" y="2516011"/>
            <a:ext cx="5128512" cy="208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103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0A56D-39C0-94C1-830C-9F74D045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88EE21B-1800-BF24-1B00-CE5B8DAE78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245DA8-43F7-6258-9880-70CF09A150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7525B69-13E3-0042-F6CC-6A3CB9665BB3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C4802CB-8647-31F4-30B3-BDE732F3129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3E17CB6-EAE6-983B-B6D6-9CC8F53CE6E6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176F6CD-C0FD-BAA8-A7B7-36B103E93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930058"/>
              </p:ext>
            </p:extLst>
          </p:nvPr>
        </p:nvGraphicFramePr>
        <p:xfrm>
          <a:off x="1026258" y="1519238"/>
          <a:ext cx="10045016" cy="41126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183">
                  <a:extLst>
                    <a:ext uri="{9D8B030D-6E8A-4147-A177-3AD203B41FA5}">
                      <a16:colId xmlns:a16="http://schemas.microsoft.com/office/drawing/2014/main" val="2037621651"/>
                    </a:ext>
                  </a:extLst>
                </a:gridCol>
                <a:gridCol w="3356720">
                  <a:extLst>
                    <a:ext uri="{9D8B030D-6E8A-4147-A177-3AD203B41FA5}">
                      <a16:colId xmlns:a16="http://schemas.microsoft.com/office/drawing/2014/main" val="2900664575"/>
                    </a:ext>
                  </a:extLst>
                </a:gridCol>
                <a:gridCol w="1039285">
                  <a:extLst>
                    <a:ext uri="{9D8B030D-6E8A-4147-A177-3AD203B41FA5}">
                      <a16:colId xmlns:a16="http://schemas.microsoft.com/office/drawing/2014/main" val="1415045291"/>
                    </a:ext>
                  </a:extLst>
                </a:gridCol>
                <a:gridCol w="1223673">
                  <a:extLst>
                    <a:ext uri="{9D8B030D-6E8A-4147-A177-3AD203B41FA5}">
                      <a16:colId xmlns:a16="http://schemas.microsoft.com/office/drawing/2014/main" val="2488475141"/>
                    </a:ext>
                  </a:extLst>
                </a:gridCol>
                <a:gridCol w="905183">
                  <a:extLst>
                    <a:ext uri="{9D8B030D-6E8A-4147-A177-3AD203B41FA5}">
                      <a16:colId xmlns:a16="http://schemas.microsoft.com/office/drawing/2014/main" val="2542184550"/>
                    </a:ext>
                  </a:extLst>
                </a:gridCol>
                <a:gridCol w="2614972">
                  <a:extLst>
                    <a:ext uri="{9D8B030D-6E8A-4147-A177-3AD203B41FA5}">
                      <a16:colId xmlns:a16="http://schemas.microsoft.com/office/drawing/2014/main" val="944804912"/>
                    </a:ext>
                  </a:extLst>
                </a:gridCol>
              </a:tblGrid>
              <a:tr h="50651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Test ID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Description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Method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Type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Result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Evidence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54368"/>
                  </a:ext>
                </a:extLst>
              </a:tr>
              <a:tr h="4177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Scorer (</a:t>
                      </a:r>
                      <a:r>
                        <a:rPr lang="en-US" sz="1400" u="none" strike="noStrike" dirty="0" err="1">
                          <a:effectLst/>
                        </a:rPr>
                        <a:t>user_state</a:t>
                      </a:r>
                      <a:r>
                        <a:rPr lang="en-US" sz="1400" u="none" strike="noStrike" dirty="0">
                          <a:effectLst/>
                        </a:rPr>
                        <a:t>, candidates) E2E contract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992103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return_debug=False production shape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Contract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test_5_1_scorer_contract.py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31902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Deterministic same input → same output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* Decimal issue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Determinism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test_5_1_scorer_contract.py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25932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Popularity log formula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test_5_2_popularity.py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571061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Recency exponential decay correct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Unit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test_5_2_recency.py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7415028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5.2.3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YAML weight change deterministic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Aggregation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test_5_2_yaml_determinism.py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4515575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Tie-breaker stable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test_5_3_tie_breakers.py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61135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5.3.2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Post-processing preserves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Ranking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test_5_3_post_processing.py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3219554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5.3.3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NaN</a:t>
                      </a:r>
                      <a:r>
                        <a:rPr lang="en-US" sz="1400" u="none" strike="noStrike" dirty="0">
                          <a:effectLst/>
                        </a:rPr>
                        <a:t> safety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PyTest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Robustness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PASS</a:t>
                      </a:r>
                      <a:endParaRPr lang="en-US" sz="1400" b="0" i="0" u="none" strike="noStrike" dirty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test_5_3_nan_safety.py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860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886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B3AE-9A8C-1615-95BF-BCF931FF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02A7BE0-75C2-E804-F75B-0B2F7BBCD3E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97D41D3-CD3C-9BA2-D757-C6C61AF85FA6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B0B7017-8B44-9A38-68FB-879B15C90118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8E853F2B-8F31-73A4-8AB8-995E4206B53C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4BD5F28-4E11-6F2E-ABB9-0029FB9F72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91229"/>
              </p:ext>
            </p:extLst>
          </p:nvPr>
        </p:nvGraphicFramePr>
        <p:xfrm>
          <a:off x="1205414" y="1405048"/>
          <a:ext cx="6527800" cy="4047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5429428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663420427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3571041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13021876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751778116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206327478"/>
                    </a:ext>
                  </a:extLst>
                </a:gridCol>
              </a:tblGrid>
              <a:tr h="49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Top1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Top2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Top3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Top4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Top5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42864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8718905"/>
                  </a:ext>
                </a:extLst>
              </a:tr>
              <a:tr h="5064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10267749"/>
                  </a:ext>
                </a:extLst>
              </a:tr>
              <a:tr h="5205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(0.66477)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EN_F029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(0.636669)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TH_F013 </a:t>
                      </a:r>
                      <a:br>
                        <a:rPr lang="en-US" sz="1400" u="none" strike="noStrike">
                          <a:effectLst/>
                        </a:rPr>
                      </a:br>
                      <a:r>
                        <a:rPr lang="en-US" sz="1400" u="none" strike="noStrike">
                          <a:effectLst/>
                        </a:rPr>
                        <a:t>(0.634252)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3606185"/>
                  </a:ext>
                </a:extLst>
              </a:tr>
              <a:tr h="5802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(0.664769)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(0.656777)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(0.639446)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0.636668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21330517"/>
                  </a:ext>
                </a:extLst>
              </a:tr>
              <a:tr h="390525">
                <a:tc gridSpan="6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…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5135039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EN_F028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(0.664768)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TH_F005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0.656775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EN_F027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0.639444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EN_F029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</a:t>
                      </a:r>
                      <a:r>
                        <a:rPr lang="en-US" sz="1400" u="none" strike="noStrike" dirty="0">
                          <a:solidFill>
                            <a:srgbClr val="E96060"/>
                          </a:solidFill>
                          <a:effectLst/>
                        </a:rPr>
                        <a:t>0.636667</a:t>
                      </a:r>
                      <a:r>
                        <a:rPr lang="en-US" sz="1400" u="none" strike="noStrike" dirty="0">
                          <a:effectLst/>
                        </a:rPr>
                        <a:t>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TH_F013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(0.634252)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6371407"/>
                  </a:ext>
                </a:extLst>
              </a:tr>
              <a:tr h="5062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delta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E9606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-0.000002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dirty="0"/>
                        <a:t>0.000000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4719539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C4598034-6214-BE9C-43EB-372904486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0244" y="859878"/>
            <a:ext cx="3097458" cy="58305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9E6CB60-B56B-B947-EF5B-218FDB31727B}"/>
              </a:ext>
            </a:extLst>
          </p:cNvPr>
          <p:cNvSpPr txBox="1"/>
          <p:nvPr/>
        </p:nvSpPr>
        <p:spPr>
          <a:xfrm>
            <a:off x="1205414" y="5813455"/>
            <a:ext cx="2355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Delta (</a:t>
            </a:r>
            <a:r>
              <a:rPr lang="el-GR" dirty="0"/>
              <a:t>Δ</a:t>
            </a:r>
            <a:r>
              <a:rPr lang="en-US" dirty="0"/>
              <a:t>) = ± 0.000003</a:t>
            </a:r>
          </a:p>
        </p:txBody>
      </p:sp>
    </p:spTree>
    <p:extLst>
      <p:ext uri="{BB962C8B-B14F-4D97-AF65-F5344CB8AC3E}">
        <p14:creationId xmlns:p14="http://schemas.microsoft.com/office/powerpoint/2010/main" val="7347210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5B567-16CE-4951-AF74-895AAFBB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F0C8003-7EAA-D010-09AB-CB167965C4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88EE21B-1800-BF24-1B00-CE5B8DAE7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50BB317-3FD2-991B-6DA6-0F03278A3155}"/>
              </a:ext>
            </a:extLst>
          </p:cNvPr>
          <p:cNvSpPr/>
          <p:nvPr/>
        </p:nvSpPr>
        <p:spPr>
          <a:xfrm>
            <a:off x="638383" y="859879"/>
            <a:ext cx="1091119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3DEF70-889C-DD92-9A28-F006A0D173A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CDAD33E-BE9A-655F-0831-BCB464FABEA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 err="1"/>
              <a:t>Subscore</a:t>
            </a:r>
            <a:endParaRPr lang="en-US" sz="2400" dirty="0">
              <a:cs typeface="Poppins Ligh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9E9D63A-3F69-3820-8DBC-5C42F8168F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614036"/>
              </p:ext>
            </p:extLst>
          </p:nvPr>
        </p:nvGraphicFramePr>
        <p:xfrm>
          <a:off x="1026258" y="1519238"/>
          <a:ext cx="10045015" cy="47359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4">
                  <a:extLst>
                    <a:ext uri="{9D8B030D-6E8A-4147-A177-3AD203B41FA5}">
                      <a16:colId xmlns:a16="http://schemas.microsoft.com/office/drawing/2014/main" val="1071350764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1069737016"/>
                    </a:ext>
                  </a:extLst>
                </a:gridCol>
                <a:gridCol w="1430186">
                  <a:extLst>
                    <a:ext uri="{9D8B030D-6E8A-4147-A177-3AD203B41FA5}">
                      <a16:colId xmlns:a16="http://schemas.microsoft.com/office/drawing/2014/main" val="3444959649"/>
                    </a:ext>
                  </a:extLst>
                </a:gridCol>
                <a:gridCol w="1311003">
                  <a:extLst>
                    <a:ext uri="{9D8B030D-6E8A-4147-A177-3AD203B41FA5}">
                      <a16:colId xmlns:a16="http://schemas.microsoft.com/office/drawing/2014/main" val="1199745908"/>
                    </a:ext>
                  </a:extLst>
                </a:gridCol>
                <a:gridCol w="1403701">
                  <a:extLst>
                    <a:ext uri="{9D8B030D-6E8A-4147-A177-3AD203B41FA5}">
                      <a16:colId xmlns:a16="http://schemas.microsoft.com/office/drawing/2014/main" val="439349033"/>
                    </a:ext>
                  </a:extLst>
                </a:gridCol>
                <a:gridCol w="1623981">
                  <a:extLst>
                    <a:ext uri="{9D8B030D-6E8A-4147-A177-3AD203B41FA5}">
                      <a16:colId xmlns:a16="http://schemas.microsoft.com/office/drawing/2014/main" val="1113281984"/>
                    </a:ext>
                  </a:extLst>
                </a:gridCol>
                <a:gridCol w="1350556">
                  <a:extLst>
                    <a:ext uri="{9D8B030D-6E8A-4147-A177-3AD203B41FA5}">
                      <a16:colId xmlns:a16="http://schemas.microsoft.com/office/drawing/2014/main" val="2445969006"/>
                    </a:ext>
                  </a:extLst>
                </a:gridCol>
                <a:gridCol w="936673">
                  <a:extLst>
                    <a:ext uri="{9D8B030D-6E8A-4147-A177-3AD203B41FA5}">
                      <a16:colId xmlns:a16="http://schemas.microsoft.com/office/drawing/2014/main" val="1652998099"/>
                    </a:ext>
                  </a:extLst>
                </a:gridCol>
              </a:tblGrid>
              <a:tr h="50474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Run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load_params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extract_query</a:t>
                      </a:r>
                      <a:endParaRPr lang="en-US" sz="16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weight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Vector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retrieval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Exclude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seen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Build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candidate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Score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aggregation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total_ms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479023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2.857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0.431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0.135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2.012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183.546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2565680130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0.024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0.211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0.076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1.399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126.233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263465747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3.002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0.109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3.91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1.994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122.945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83356297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2.933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0.101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119.943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837989839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3.013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0.133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4.478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2.244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128.047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7894383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6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5.121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8.278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1.248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126.97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346527145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5.414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8.259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0.078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1.093</a:t>
                      </a:r>
                      <a:endParaRPr lang="en-US" sz="1400" b="0" i="0" u="none" strike="noStrike" dirty="0">
                        <a:solidFill>
                          <a:srgbClr val="00B05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133.769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184971512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4.277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0.241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7.845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0.098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1.375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131.184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1800033956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2.941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0.113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3.998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1.521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132.694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556283805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2.893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0.009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0.116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4.051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0.087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1.346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123.491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82" marR="9382" marT="9382" marB="0" anchor="ctr"/>
                </a:tc>
                <a:extLst>
                  <a:ext uri="{0D108BD9-81ED-4DB2-BD59-A6C34878D82A}">
                    <a16:rowId xmlns:a16="http://schemas.microsoft.com/office/drawing/2014/main" val="4081338078"/>
                  </a:ext>
                </a:extLst>
              </a:tr>
              <a:tr h="3846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avg</a:t>
                      </a:r>
                    </a:p>
                  </a:txBody>
                  <a:tcPr marL="9382" marR="9382" marT="9382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6.216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0.0967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132.8822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221020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ABEE4D8-C2F1-F281-DE54-507BD14C160C}"/>
              </a:ext>
            </a:extLst>
          </p:cNvPr>
          <p:cNvSpPr txBox="1"/>
          <p:nvPr/>
        </p:nvSpPr>
        <p:spPr>
          <a:xfrm>
            <a:off x="9517141" y="7010400"/>
            <a:ext cx="2674859" cy="533340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Goal all pipeline &lt; 1500 </a:t>
            </a:r>
            <a:r>
              <a:rPr lang="en-US" sz="1400" dirty="0" err="1">
                <a:latin typeface="Consolas" panose="020B0609020204030204" pitchFamily="49" charset="0"/>
              </a:rPr>
              <a:t>ms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014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#11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D56AB-14C7-2361-D224-32409E84F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DDC-8915-19EF-4FC2-ADB45C4EF110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9944DF89-2799-D6A5-E1EB-AEC6FB3CC2E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B92AA9E9-0735-3C75-510D-B51CA42FD42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F1C03FF-9FB0-C786-170E-329FC0AED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1063171"/>
            <a:ext cx="9144000" cy="491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254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BD75-4AAE-A967-9FE8-90EB5CE9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233A-7CE8-2E0A-05C7-B12CEF4AA6BB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7755FBE3-5BEC-504D-862B-1190A8A0B683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50754EA3-1B2B-8E31-8AD0-D4A2AC26B374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9B40F-AD47-7F2E-15E1-6DAF2CA40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5753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7289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6F04-6EE9-7CEF-C9C8-71E72BF06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28E6A-CCE3-7795-456F-AA6B731C7F45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B7DBD1C8-EAF4-E6F6-4FB4-E868F01FE28D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37E7C733-E2AD-813A-5055-5CC12BCF572B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4BF8F7-9B03-AEB2-2119-A6C10BD98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0883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FE81-CFD9-426F-21FD-0519776F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CA89-4C19-6A73-D2A9-53DE83536724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0DDFC57F-7F3A-7A34-5538-A1D11E99EF95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0E3CC55-E344-04A0-7BD2-DA342141CE99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6DE1CD-DB7E-8C04-1C86-8AF9EACB2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143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C5BF5-1DE8-5147-0015-81AA6771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759D2-0285-C6DF-5260-F6E5888CC44F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da-DK" sz="2400" dirty="0"/>
              <a:t>Generate HyDE bundle for a single student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507264E4-5473-7F05-5675-52C7877719B7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DEAAC102-4A9E-8897-C772-3097E368A32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0EA98-42C4-CEF8-22A5-4BB9B8C6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027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22234-6F64-8279-E74C-EF53D67F1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C98D0-CF59-65D6-6AC0-A947F9210BBE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1F305EFC-64A5-F50F-B38D-67A01733493F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F76C497C-7893-378E-AB9F-C9273F721380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27D2E-2677-EBF2-E7E8-496F249DDD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42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E176-4A0E-0629-3D59-1426D743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1517-E103-6F56-2A0E-BF571A965489}"/>
              </a:ext>
            </a:extLst>
          </p:cNvPr>
          <p:cNvSpPr txBox="1">
            <a:spLocks/>
          </p:cNvSpPr>
          <p:nvPr/>
        </p:nvSpPr>
        <p:spPr>
          <a:xfrm>
            <a:off x="365759" y="394952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da-DK" sz="2400" dirty="0"/>
              <a:t>Fetch result</a:t>
            </a:r>
            <a:endParaRPr lang="en-US" sz="2400" dirty="0">
              <a:cs typeface="Poppins Light"/>
            </a:endParaRPr>
          </a:p>
        </p:txBody>
      </p:sp>
      <p:sp>
        <p:nvSpPr>
          <p:cNvPr id="7" name="TextBox 2">
            <a:hlinkClick r:id="rId2"/>
            <a:extLst>
              <a:ext uri="{FF2B5EF4-FFF2-40B4-BE49-F238E27FC236}">
                <a16:creationId xmlns:a16="http://schemas.microsoft.com/office/drawing/2014/main" id="{D7753B6E-ADB3-4FA7-078D-3F9E5030726C}"/>
              </a:ext>
            </a:extLst>
          </p:cNvPr>
          <p:cNvSpPr txBox="1"/>
          <p:nvPr/>
        </p:nvSpPr>
        <p:spPr>
          <a:xfrm>
            <a:off x="522317" y="6124494"/>
            <a:ext cx="383060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 err="1">
                <a:solidFill>
                  <a:schemeClr val="tx1"/>
                </a:solidFill>
              </a:rPr>
              <a:t>HyDE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recommentdation</a:t>
            </a:r>
            <a:r>
              <a:rPr lang="en-US" sz="1600" dirty="0">
                <a:solidFill>
                  <a:schemeClr val="tx1"/>
                </a:solidFill>
              </a:rPr>
              <a:t> core engine API</a:t>
            </a:r>
          </a:p>
        </p:txBody>
      </p:sp>
      <p:sp>
        <p:nvSpPr>
          <p:cNvPr id="11" name="TextBox 2">
            <a:hlinkClick r:id="rId3"/>
            <a:extLst>
              <a:ext uri="{FF2B5EF4-FFF2-40B4-BE49-F238E27FC236}">
                <a16:creationId xmlns:a16="http://schemas.microsoft.com/office/drawing/2014/main" id="{6F023A72-9880-3F1B-902D-EF34E4A37BAC}"/>
              </a:ext>
            </a:extLst>
          </p:cNvPr>
          <p:cNvSpPr txBox="1"/>
          <p:nvPr/>
        </p:nvSpPr>
        <p:spPr>
          <a:xfrm>
            <a:off x="522317" y="6463048"/>
            <a:ext cx="4331464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GCS / </a:t>
            </a:r>
            <a:r>
              <a:rPr lang="en-US" sz="1600" dirty="0" err="1">
                <a:solidFill>
                  <a:schemeClr val="tx1"/>
                </a:solidFill>
              </a:rPr>
              <a:t>hyde-datalake</a:t>
            </a:r>
            <a:r>
              <a:rPr lang="en-US" sz="1600" dirty="0">
                <a:solidFill>
                  <a:schemeClr val="tx1"/>
                </a:solidFill>
              </a:rPr>
              <a:t> (Test)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D29084-FB9C-1010-7159-C9236643E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666" y="983079"/>
            <a:ext cx="9144000" cy="51414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EF7273-3206-955D-BD73-82963020C3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6462" y="983078"/>
            <a:ext cx="4552295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834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DE03D-5923-ADE8-53AE-51C11C88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7BB332C-A8BB-641A-E510-B1783BEF2D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E0AC960-2F31-AB42-5C7D-B07A8E62668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A3E04B-E6D8-9C9A-582C-CFA6FCEB9DDB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E31D81-69E6-E1A2-72D2-A350899F9FA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C0B0219-A335-D2B9-72C5-4416AFDA42A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E77D8-46BC-623B-D5BE-3C351C8CA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A9A4EE7-2CA5-04BD-4196-13C2CA674887}"/>
              </a:ext>
            </a:extLst>
          </p:cNvPr>
          <p:cNvSpPr txBox="1">
            <a:spLocks/>
          </p:cNvSpPr>
          <p:nvPr/>
        </p:nvSpPr>
        <p:spPr>
          <a:xfrm>
            <a:off x="365759" y="326856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97234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C11BF-70DD-E177-A2A0-E72D99A7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9F3D829-9CE2-A388-614F-B7F7167F8B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7BB332C-A8BB-641A-E510-B1783BEF2D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270E2B7-F67B-E305-80EF-6CBB4928E2B0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178DA8-9C6E-6180-78B7-290F6A8854EA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6219DF-E267-4EAC-7875-07754772C6A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0D5CBE-AC51-9265-0FD8-1AC7DEC042AF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B31FA2-9E3B-70A0-52A3-9BBF2D671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F85A1B-01EC-96BE-2E64-B0B0E7519B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4419600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BC481F5-7F68-39EC-F081-E24BE354E36B}"/>
              </a:ext>
            </a:extLst>
          </p:cNvPr>
          <p:cNvCxnSpPr>
            <a:cxnSpLocks/>
          </p:cNvCxnSpPr>
          <p:nvPr/>
        </p:nvCxnSpPr>
        <p:spPr>
          <a:xfrm>
            <a:off x="5618391" y="1739501"/>
            <a:ext cx="955220" cy="349817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BE8538CC-3613-BEFD-298A-B8FCAEB1B97E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189200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FA9C6-B787-387B-05A7-F3B43636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97BD07D-EA7E-1D6D-EFDF-F1F97F93C5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A3191FC-A01B-1C87-D8D5-C4AD6506FB0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E24675-BC37-DD07-FB80-A36E2E6FCBE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EF9D27-BDE5-A4B9-3B54-0985EA2EB4B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DD7FDD7-D549-B5AB-DD2D-B9E036EA2CEB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2A62C7-F741-4164-2599-84C877BFD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8CA30E-C5FE-62B7-A1B8-D8FFB15595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852" y="1739501"/>
            <a:ext cx="4689948" cy="3032405"/>
          </a:xfrm>
          <a:prstGeom prst="rect">
            <a:avLst/>
          </a:prstGeom>
        </p:spPr>
      </p:pic>
      <p:pic>
        <p:nvPicPr>
          <p:cNvPr id="12" name="Picture 4" descr="Google Cloud Storage: solution for data lakes - Flowygo">
            <a:extLst>
              <a:ext uri="{FF2B5EF4-FFF2-40B4-BE49-F238E27FC236}">
                <a16:creationId xmlns:a16="http://schemas.microsoft.com/office/drawing/2014/main" id="{7DF2DD97-00E4-90B1-DD77-A4171D496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0657" y="5300160"/>
            <a:ext cx="1576747" cy="1119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B453E88-2DBC-92C0-7F9C-A653C1AC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6119" y="5300160"/>
            <a:ext cx="1689785" cy="950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32354EF-FE57-FC73-2448-6090EF7E106D}"/>
              </a:ext>
            </a:extLst>
          </p:cNvPr>
          <p:cNvSpPr/>
          <p:nvPr/>
        </p:nvSpPr>
        <p:spPr>
          <a:xfrm>
            <a:off x="6971746" y="5067076"/>
            <a:ext cx="1585658" cy="1585658"/>
          </a:xfrm>
          <a:prstGeom prst="mathMultiply">
            <a:avLst>
              <a:gd name="adj1" fmla="val 5798"/>
            </a:avLst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D76EA3-823E-C92D-2445-C43DE88E30BB}"/>
              </a:ext>
            </a:extLst>
          </p:cNvPr>
          <p:cNvCxnSpPr/>
          <p:nvPr/>
        </p:nvCxnSpPr>
        <p:spPr>
          <a:xfrm>
            <a:off x="8729932" y="5859905"/>
            <a:ext cx="56934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D7288F9-8FAB-F484-02BE-13BAF9E73F26}"/>
              </a:ext>
            </a:extLst>
          </p:cNvPr>
          <p:cNvCxnSpPr>
            <a:cxnSpLocks/>
          </p:cNvCxnSpPr>
          <p:nvPr/>
        </p:nvCxnSpPr>
        <p:spPr>
          <a:xfrm flipV="1">
            <a:off x="2863970" y="2089318"/>
            <a:ext cx="3709641" cy="326078"/>
          </a:xfrm>
          <a:prstGeom prst="bentConnector3">
            <a:avLst>
              <a:gd name="adj1" fmla="val 8813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CEC49167-7B2B-5C70-F4FA-9F6E8868D21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BB0B5-FC0A-2A8B-616F-61F2E5969DDA}"/>
              </a:ext>
            </a:extLst>
          </p:cNvPr>
          <p:cNvSpPr txBox="1"/>
          <p:nvPr/>
        </p:nvSpPr>
        <p:spPr>
          <a:xfrm>
            <a:off x="12378249" y="3618268"/>
            <a:ext cx="1937826" cy="313730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2.5 -&gt; gemini-3.0</a:t>
            </a:r>
          </a:p>
        </p:txBody>
      </p:sp>
    </p:spTree>
    <p:extLst>
      <p:ext uri="{BB962C8B-B14F-4D97-AF65-F5344CB8AC3E}">
        <p14:creationId xmlns:p14="http://schemas.microsoft.com/office/powerpoint/2010/main" val="19052348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F91A7-D98B-44A2-CCB0-3FFD6D30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CCF8882-FAD6-6DCE-2F05-118649EFA6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F3D829-9CE2-A388-614F-B7F7167F8B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2C8CE53-04F1-A31D-BDD7-66AC5C72E203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408920-66E2-0E25-94AB-1FD7D73BBFE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F3859-E96B-7E2F-593A-C4F7B3BCB7EE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F6BF057-2A69-9CA9-B5B7-E3A43EF66CD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193133-D3F6-6A04-F079-9B46FF90B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C5C535-5029-5AB6-3D97-774B201ECD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881" y="3309178"/>
            <a:ext cx="5290449" cy="1452603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E87A348-24EF-C554-1EFD-95520CE0B4C6}"/>
              </a:ext>
            </a:extLst>
          </p:cNvPr>
          <p:cNvCxnSpPr>
            <a:cxnSpLocks/>
          </p:cNvCxnSpPr>
          <p:nvPr/>
        </p:nvCxnSpPr>
        <p:spPr>
          <a:xfrm flipV="1">
            <a:off x="4226943" y="3429000"/>
            <a:ext cx="2060796" cy="366623"/>
          </a:xfrm>
          <a:prstGeom prst="bentConnector3">
            <a:avLst>
              <a:gd name="adj1" fmla="val 9186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7E876344-446F-803C-C12B-BBAC8C2C29C2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484947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56A1-3390-7810-1739-AE5D4B47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6B1512-68DA-B526-491E-5B1E4015E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CF8882-FAD6-6DCE-2F05-118649EFA6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37F567-C436-964B-66C6-A47CF477E587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BCC7D-2AEC-4C37-2C69-5A818C3F6991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0B33DC-27BB-C173-3147-372020C8B3E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735444-4A89-0643-F3D3-DD7A8852FF7D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2351-9D29-A077-ACA4-BE532409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096" y="1378594"/>
            <a:ext cx="4552295" cy="5141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86B501-9330-1461-122C-0EDE9E553D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875" y="1119236"/>
            <a:ext cx="3617649" cy="5141415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941B954-E0BD-6C80-D9E3-636061A62186}"/>
              </a:ext>
            </a:extLst>
          </p:cNvPr>
          <p:cNvCxnSpPr>
            <a:cxnSpLocks/>
          </p:cNvCxnSpPr>
          <p:nvPr/>
        </p:nvCxnSpPr>
        <p:spPr>
          <a:xfrm flipV="1">
            <a:off x="2553419" y="1378594"/>
            <a:ext cx="4537494" cy="2969119"/>
          </a:xfrm>
          <a:prstGeom prst="bentConnector3">
            <a:avLst>
              <a:gd name="adj1" fmla="val 7965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CF63507F-C6F8-D32A-C385-36201931EED7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280276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E4E9D-82FE-ABCF-E7D8-596AFBE2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563E37-7449-88E7-531F-DD47615EAE3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207D98-3AEE-A2C0-DB07-F7C6BA7777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133C71-30BE-A9F1-A5A6-6CACFB2661C5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1D59A-6A6B-4BCD-B009-8D9614F4753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FAD9D9-09F0-C2E8-4BA5-8EF90876A2C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71108E-0CB2-34E8-8985-9EF77DAFED80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C03F2-64D0-86BA-B3D8-B13A3FD2205A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346D41F-7650-2E3D-7F69-A8EF456DAD7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7DC2D9-24AD-D02B-7EB8-3AFA24FE219C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48DC336-83AE-F030-D3D9-6AF38E576CF2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74EDE2-DE4F-ACBE-D1CD-62C38B4F767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70E0B11-0E08-8A51-1FEC-50960C044A0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68D6686-89C1-C69E-7700-3E42482BD5D1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96CED02-FFE2-A722-645B-6E24A7CB53D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EB54D67-E7ED-7534-05CB-D120A1A9571E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76AECEE-E23B-9A5F-8CEC-BB2BFB092C1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D20CF27-E296-CEC9-9BA1-35436660E2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B2AC6-0A72-F98C-75D2-6A9E86932B15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528B0C6E-8C35-077E-CAE4-B53AF7828286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110F05-288A-C1FD-C6F3-F39A4945E24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99E5E69-58E4-12C7-E916-DC318EDC657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35256E-E243-2B41-C61E-E60437A662A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0C9292-BAD7-C0BF-1877-6ED4A4C5D0F0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927AEFB-A76E-E448-3ECC-069460DCFBF2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BE55D54-34E1-9437-60DF-85543AF56F1F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F347C6-7739-F72B-A0E3-5A8AB130596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DAEC91-5854-85A8-0920-E7F87FF8C688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FB94F6F-0378-0DBC-FB6D-A8D1CAAEDB81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5FF820D-76D3-DD5C-F3C6-A639AE8CE4E9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9FA5D99E-E6DE-48C5-C466-1A0AE1BAB550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6550774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09368-9E79-D3EF-1AD5-DFC62AC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877005-7842-E53A-71EC-67ACC39C2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C1BA16-659F-45F7-5FE9-1A88F51C87BA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079BC7-4DCC-AB79-F052-194CD572C250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26FAD5-A802-C811-C405-6B1D7C33281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B9B9DCE-C567-1BB7-E620-4C6C6684A090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491010-09BD-D72B-DAB3-E812DCB3318A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chemeClr val="bg1">
              <a:lumMod val="85000"/>
            </a:schemeClr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7FD92FA-19D5-C4E0-AC6A-0FD1CF67040F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7278496-A1BD-24D4-2ABA-4CC587947B91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7BB0661-51A9-EACF-9104-0C8878CBFA21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898E261-58D7-25AB-EE67-169A6C391EB0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2B7F7FC-2ABE-F979-6C1E-6ABB5FADD5CE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2D368C5-C47A-3418-88A3-C08B65FC54C6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716C64F0-8B7E-AEBA-BB23-74A1DCF1C96D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A8DA86A-B888-313E-4A4C-398CA563ADA1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77E7002-B9A5-561B-DFDB-DFBA4F89549F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2DEA4AA-4054-1D98-B6A4-9CCCF573DB4A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80BB0D4-1D1E-8CF2-2F0A-F53B099296F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76214C-B180-E68D-5B6E-EFE99F0AD4B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DEF2FBF-CF6D-8FA8-6D53-783CA3416607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751129-AE06-40E0-1841-98BEB017D0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CFB54-3959-8114-4473-081D7C124DD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9B2D1A-80A1-4320-24F1-0134E22FF3B7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2C6905-6B8A-EF7C-7E44-834EFED5438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B8F3F62-1A7F-6C40-4DBC-A059B9643DF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43FA45-CDC3-88DC-79E3-361430B2CC9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E164CC3-F414-79A8-0112-89A0745169B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C26CA43-E642-F4BA-BC87-88FCE07591DD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3A051B-B424-B54F-D7C8-57E10172D28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9489E0-CC04-BBC8-FCCA-9500FC83C87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8927D82A-436B-CA9A-2CB0-3F56BB2822D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288130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5594-519C-BE0C-1757-09039F93A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412317A-D09F-EFF2-C875-46B41971223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4A656C5-F5D5-269A-E195-6A93D0901851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81347B-51E8-65AE-127D-AA5A32F1A9C7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220FE5-1DC5-E096-59BE-32BFCE01C76C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A9FEF29-C9FF-4B0D-5BBE-786816058058}"/>
              </a:ext>
            </a:extLst>
          </p:cNvPr>
          <p:cNvCxnSpPr>
            <a:cxnSpLocks/>
          </p:cNvCxnSpPr>
          <p:nvPr/>
        </p:nvCxnSpPr>
        <p:spPr>
          <a:xfrm>
            <a:off x="4424666" y="1763742"/>
            <a:ext cx="2157109" cy="2007134"/>
          </a:xfrm>
          <a:prstGeom prst="bentConnector3">
            <a:avLst>
              <a:gd name="adj1" fmla="val 79585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EF73F69C-0C1F-7EBE-BFA5-2FB242CBE59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2891DF-1064-DFEE-2B4D-6041C3EE30E1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213358" y="1919130"/>
            <a:chExt cx="1283172" cy="1495360"/>
          </a:xfrm>
          <a:solidFill>
            <a:srgbClr val="EAF3F8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F6432-7F06-5C1F-EA27-82B562BA8F47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EF3998-A10A-3FF8-784B-69CAE498955E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6D454AD-D130-20E5-D617-F1739891A1DD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1CB45C9-F548-143E-69B6-BCFDF6DF8FA6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chemeClr val="bg1">
                      <a:lumMod val="85000"/>
                    </a:schemeClr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A05F9A-455C-E693-5C46-2AFBEE83525A}"/>
                </a:ext>
              </a:extLst>
            </p:cNvPr>
            <p:cNvSpPr txBox="1"/>
            <p:nvPr/>
          </p:nvSpPr>
          <p:spPr>
            <a:xfrm>
              <a:off x="240830" y="2000737"/>
              <a:ext cx="1236792" cy="261610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bg1">
                      <a:lumMod val="85000"/>
                    </a:schemeClr>
                  </a:solidFill>
                </a:rPr>
                <a:t>Subscore function</a:t>
              </a:r>
              <a:endParaRPr lang="en-US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D5900E3-32F4-4766-3EC3-CEB4AD9D0BE8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1C45376E-D6B8-D99D-69AF-4D68DA471265}"/>
              </a:ext>
            </a:extLst>
          </p:cNvPr>
          <p:cNvSpPr/>
          <p:nvPr/>
        </p:nvSpPr>
        <p:spPr>
          <a:xfrm>
            <a:off x="3219863" y="3496554"/>
            <a:ext cx="218775" cy="218775"/>
          </a:xfrm>
          <a:prstGeom prst="ellipse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EF6E033-55B1-DEC0-2EC3-E9C016E6463F}"/>
              </a:ext>
            </a:extLst>
          </p:cNvPr>
          <p:cNvCxnSpPr>
            <a:cxnSpLocks/>
          </p:cNvCxnSpPr>
          <p:nvPr/>
        </p:nvCxnSpPr>
        <p:spPr>
          <a:xfrm>
            <a:off x="2864833" y="3414814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69E44FC-725B-BEE5-E931-6AC310E76525}"/>
              </a:ext>
            </a:extLst>
          </p:cNvPr>
          <p:cNvCxnSpPr>
            <a:cxnSpLocks/>
          </p:cNvCxnSpPr>
          <p:nvPr/>
        </p:nvCxnSpPr>
        <p:spPr>
          <a:xfrm>
            <a:off x="1945073" y="3448329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BD316B90-41EB-105A-0881-5A897E5779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08517" y="3408600"/>
            <a:ext cx="285151" cy="145465"/>
          </a:xfrm>
          <a:prstGeom prst="bentConnector3">
            <a:avLst>
              <a:gd name="adj1" fmla="val 323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22C76C5-5170-1513-7FBA-93FF6071046B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2821" y="3443748"/>
            <a:ext cx="1204911" cy="211472"/>
          </a:xfrm>
          <a:prstGeom prst="bentConnector3">
            <a:avLst>
              <a:gd name="adj1" fmla="val -791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D409CC3-6763-4AB4-850A-4EE0A6707CEE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76015A-7AE5-F2A6-F7EC-D198992E760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C7FB823-E1C3-0FE9-F8AD-C805A30F97B6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985525-FBF1-FC54-1BAA-05A220086B2C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D31339-DD70-D931-D14C-B2E19A04215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29E37C-A279-81A9-1730-4F1CE8F0796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0D4DAB0-5E19-F052-DEF6-2213190977A5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0225100-D0CC-12AF-F979-52159EAE1FF6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FFA875-0EF1-75D3-D800-D89459F900B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35A5B1-85CA-74B0-BF5D-5F41D736C6A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DBF2AE-8306-8A3C-F27F-E1AEB62E091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8D23E93-A175-33FE-F64E-4F3366995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361" y="1524278"/>
            <a:ext cx="4737798" cy="473137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B2743EA5-7AB5-6F0F-7BCA-71017BCA6B5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FC226A-EAED-B484-7E92-65AD95DB02AB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6E8FF67-4F1C-F398-F610-009ED6FA9D3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A018568-8852-1235-BF28-F24B3047C86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78EE70A-CA54-D888-6429-26469192F11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F0D9EF4-C48B-157A-2490-7B545816138B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053970-BE13-D663-B14D-483FA039059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58D2B0C-911F-DBA9-28CB-6A5DD6B48C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20BBFFD-E072-9135-C4B6-0A2662E22B62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6268DE-32F1-166C-8A2B-71D8816B369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84B40231-D718-E1FB-AAB0-C486BF71F46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67F6FDBF-36CB-F794-C722-5AA85A37DE9B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0F4F1E4D-9BCD-1505-A5DA-621145A30E4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4A5430-ED2C-93AB-933E-4022EDEB2C9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A774E6D4-1560-CFB3-8AAC-C6018759285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632013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723A2-BAFD-96D1-B9E6-EC7E9143D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248C7DB-AB72-EA8B-09B5-CEE68C641AA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12317A-D09F-EFF2-C875-46B4197122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14FC34F-4B8F-14DD-89A6-8E6D49B2348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131A40-4EAB-9B36-F658-3EE6B344C7A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C9C6E1-310B-0535-7AE5-AE00523680CD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8738FBB-C9A7-F484-4E25-95BD2344DE98}"/>
              </a:ext>
            </a:extLst>
          </p:cNvPr>
          <p:cNvCxnSpPr>
            <a:cxnSpLocks/>
          </p:cNvCxnSpPr>
          <p:nvPr/>
        </p:nvCxnSpPr>
        <p:spPr>
          <a:xfrm>
            <a:off x="4336919" y="2312979"/>
            <a:ext cx="2931760" cy="1462154"/>
          </a:xfrm>
          <a:prstGeom prst="bentConnector3">
            <a:avLst>
              <a:gd name="adj1" fmla="val 62671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10993FC-A740-05D8-7BB0-04A25FAACF7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BCBEC6-6E8A-1FB2-3540-72D99CE96DC8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879D052-F790-6690-C5C0-28118DF7FF46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DF5A861-6D96-DA63-B584-2A63C43C765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40C9F4-4DE7-0DBE-4574-DB603D8048A9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2BF5D95-59D2-9994-0A2B-765B6120543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FE1F1FE-9F65-0D56-9481-1E0DA4FD2736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C3F51F6-948E-4214-379D-0D4345E1E01C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3CFFBA0-7900-462B-7DB1-E8B4C9A7A497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A0B320-A474-E2CC-07CA-55500E71A737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DB6CF18-EEF4-D851-7FF1-A3E86CA28E3E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FD4F2C-3A42-C4EF-FC69-CE2747E06EC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B7B39A7-5FAD-CC73-5F0B-4F0A472FA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620" y="1119236"/>
            <a:ext cx="3298992" cy="5479406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3AC01373-17C2-0477-DDD3-2C2E3F190909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807C64-C7B8-63E5-957A-37D0E0129BF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3922170-6C23-E26D-DE16-9FC6028956A0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5A1EB48-5644-CB7D-710B-ACD6786AEB9E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D65D0-050E-80CB-FAA8-D7353DD5325B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5B8865-03E7-931C-CE27-AEAFBA9E288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26B6A24-7B8D-E5BC-D316-4D4BF98445CF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7181E6-D6C3-2A75-8D47-D6122BF53F76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1075AA-3E2C-7E7E-F350-C76F7F7C5774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C72B69A-E424-492D-8FAD-0D05F807AEB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: Elbow 40">
              <a:extLst>
                <a:ext uri="{FF2B5EF4-FFF2-40B4-BE49-F238E27FC236}">
                  <a16:creationId xmlns:a16="http://schemas.microsoft.com/office/drawing/2014/main" id="{4E05F5A1-6970-EF25-855E-BD7795C5290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C04D171-C5AB-E747-E245-D5B311CFFD9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5C0CA04-251B-CCA1-CAE4-53D0F7712FED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BA02801-144E-4ABD-9216-E5ABB683026B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itle 1">
            <a:extLst>
              <a:ext uri="{FF2B5EF4-FFF2-40B4-BE49-F238E27FC236}">
                <a16:creationId xmlns:a16="http://schemas.microsoft.com/office/drawing/2014/main" id="{FBD09A45-9B62-23BC-40EC-1517CB234641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45167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A2A8-2BBD-1FAB-AE6E-7A94817A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B117EBD-B359-09D7-824C-FD288B49D8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AD7FAE-94D8-3F36-80BC-D0D2C475A6E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09CA9-FB45-7808-42A9-75EAE46DC87C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2025BA-7943-1D33-BC92-A487335C150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5A8D0-1077-A0FC-8B26-218552473424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532A52-197D-551E-C22D-F8455A5BFAB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75CB9AE-E280-7622-F80F-AA66C6706986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B5881E4-D292-D8FE-AAE5-EE88B21EC8A2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73A94C9-D6CC-A25B-A246-3F5085FC645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7F9FEC-6D63-B5CB-1CC0-768BD3B6ADD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3BB53B-0521-6051-FE2C-8A9D320214B5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937F98-FBB0-2362-A2A3-50BAE97BED4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0D5ED3-BF63-040F-689C-B79DDFF8988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B06F27F-98E2-A3C6-46DE-F2C690CE449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A48C33-4B1A-B765-032D-318AEEB0CAFA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5E2E22-6C84-0AD2-8A1D-E0B1B43AB5B9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60C1516-4C1C-011A-F848-6B516CC9DF8D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52B0AE4-788E-3A1D-17D4-5D0D9AE7D5D4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0B8B9C1-B7D9-1AEB-C1C8-A070A5D10DF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6D24E9C-47D2-F228-E748-34BAD6527B58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1543E57-F9E7-0997-5CE8-18DD214D9263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E363FD-5969-E474-6A3B-A50D7C9EF87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E0341EA-ACBA-3B50-BDFA-8C1C1298588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51BF4E-B292-05D0-8DCA-274F639EAE3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1D8B076-668A-5641-EEE1-426501E1028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CD61B43-96C3-2970-E17A-CD88CE2AA8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C91B314F-E0BF-F89A-694A-D28B9CC1756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9A9ED73-D39D-D559-4957-2B6A34FCFCF3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6FA11DD8-72C6-22AA-AC43-53EE3E65E9F3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C3215B-40E4-7597-EE8E-7F59612F290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34772BD-380B-5B05-C84E-1491EC5A802D}"/>
              </a:ext>
            </a:extLst>
          </p:cNvPr>
          <p:cNvSpPr txBox="1"/>
          <p:nvPr/>
        </p:nvSpPr>
        <p:spPr>
          <a:xfrm>
            <a:off x="6382369" y="950934"/>
            <a:ext cx="5294661" cy="141577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Mapping retrieval outputs to real feed items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got internal vector ids (indices), NOT business ids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convert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index_id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via aligned metadata array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Then join `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feed_id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` -&gt; full feed metadata from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feeds_meta.jsonl</a:t>
            </a:r>
            <a:endParaRPr lang="en-US" sz="1400" dirty="0">
              <a:solidFill>
                <a:schemeClr val="tx1"/>
              </a:solidFill>
              <a:cs typeface="Poppins Light"/>
            </a:endParaRP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Resuts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candidates become “real feed items” with fields like title, language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created_at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, views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537747-22FA-EC83-C61B-F9B53CDBAFD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8739143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BAA11-DA03-B9FB-A84C-5033CFF5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F02565-9BD3-8B54-4586-807BD81F85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5FC47A65-0FD0-5E9C-767F-CB343CF229AE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F5733A-6FF5-7179-5781-38489A58A31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AF373-93D0-9A63-EC39-A26C04A4C8DA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E0383DA-6807-3554-D7E2-C9EB51F35CE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06CB42-170B-9154-488A-AAC77F752229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9C701E-3041-66E3-DB3E-BDE611CE82B9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65C9E0D-D850-1766-0BB1-B69D5FCD44E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3AF1C36-05FC-163D-89B4-288C166FA09B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45A8785-5199-6A40-8F16-79F45DEFB426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95CB878-6260-8C40-5472-27EA74373D0E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66C41C58-6C81-1955-31BC-2BD22E9E6B6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A20E62-6D42-F24F-7535-680DB0E1770F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0919DF4-846A-9BD3-2FEA-574DD5E67EA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05988-D4C8-87D8-8AE4-33D13215F46F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329614-7E00-4B22-321B-31217723F48B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BA004AC-E2EB-5B2E-366B-542EAE8DB7E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084A2FE-9CBC-5A09-50B4-EFE54A6471CE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78ED10-A28A-78C6-3E1F-70B1945030F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3381439-17D9-E29D-4B8D-48A86E01CB1A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950B6F-0F9D-C48B-0B4F-3B7F80CAAC94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54762C-4CF6-6294-AF4E-06B583090291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605E307-AB19-74CD-B4CF-F542AEA5C7F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0ECE1FA-697A-0E06-05CF-7AB7D0AA735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55FED49-11BB-6A2A-0ED9-4EDFECC47DD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701BFF8-81E7-2BE2-1BD0-4D891FF006C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C35158C-31B2-C660-BE07-BF3B680D76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3D863BA-4A40-7348-8CF9-CF84331D9B1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9C504984-90DC-DBFF-4287-FA8B71CFB646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8030BF9-BE0D-8E5B-D9D6-56EE69043C08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7383AE0-AB7A-A26B-1CF0-A18C356BE24D}"/>
              </a:ext>
            </a:extLst>
          </p:cNvPr>
          <p:cNvSpPr txBox="1"/>
          <p:nvPr/>
        </p:nvSpPr>
        <p:spPr>
          <a:xfrm>
            <a:off x="6404638" y="879576"/>
            <a:ext cx="5282538" cy="163121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All score are bounded in [0,1]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Subscore are deterministic (same inputs -&gt; same output0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A1AA7F7-D28D-060F-3A9C-C287CF96FF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884" y="2866973"/>
            <a:ext cx="5268767" cy="910486"/>
          </a:xfrm>
          <a:prstGeom prst="rect">
            <a:avLst/>
          </a:prstGeom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D5C0CC68-2522-F08B-E8CF-8819A90CF6B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644234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1CC8C-A038-C7B6-04ED-43DC63E5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DBC14B8-CF74-78B7-9501-415068190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F02565-9BD3-8B54-4586-807BD81F8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37D2DE4-6678-77A4-4300-7E4B2D0F4BA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C4329-E7B8-D867-EDC0-BE3EC96001D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562E7-7B34-7137-CDCF-FF45FF0BF6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C5A754-3506-DC46-B281-6A095EB928B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54055-44A9-29CA-51B8-E7999A1F21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39B54DAC-6A05-1C02-AD9F-B4D2020B37F4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FA6D93F-1673-B531-18B6-88923AB850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0228F97-1C2E-D8EF-F4F1-1499CB3C82BF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B5FC451-3D27-398D-36C9-16BFA0D5F410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FE8E83-545A-BF46-2722-7F3CCE1E869A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D5B2714-16B5-A232-100A-4CEECD667A95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94CF2A-0110-7006-70AE-58733A01FAC2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B7732E-D467-C8AE-2FC3-E43245A36528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71B63B-4769-0E45-4293-69C3A674CC7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CFA9A62-D97D-429D-FF00-6D2A7B5B491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C17C06-C580-4D0B-CF84-12555808DF27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DAF0763-D9DE-B8F1-FE15-16236BDBAFB8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877B49C-B947-5435-CCEB-E643B1933039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DA011A5-F2F2-5DE5-1B4B-1E2E97A87B06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0B8E3ED-3B3D-131D-945C-A7ACD819A53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85FF01-274E-5C84-D570-537D09EA013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EB5F3BC-0904-1503-2661-5ED41D177E8C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0002C70-98C4-EA0D-F1F2-277B2214F44D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BC3B381-7EBE-72B0-3AFA-893443EC901A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D2945243-53B9-8704-9DF3-D011A3E4508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543E9D4-DF09-E494-BD2E-B8F28B94F0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64012070-0FEE-E5BA-D70D-DAE2DFB29F68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5A0123B6-D1AC-4905-677B-BB8B5B4A9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B2D342-F359-3F30-0885-E4659E0169BA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360D693-86A8-3B13-6724-93D771819668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1.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B13D69-EABA-0B75-8D79-A9C283686F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431" y="3460877"/>
            <a:ext cx="5282538" cy="18156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0C9B75A-3DE5-3B36-C3A6-F3607A83A785}"/>
              </a:ext>
            </a:extLst>
          </p:cNvPr>
          <p:cNvSpPr txBox="1"/>
          <p:nvPr/>
        </p:nvSpPr>
        <p:spPr>
          <a:xfrm>
            <a:off x="6404638" y="2148444"/>
            <a:ext cx="5282538" cy="954107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Read feed language from :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feed_meta</a:t>
            </a: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["lang"]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equal user language -&gt; 1.0 else -&gt;0.0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It’s a hard match (not similarity, just exact match)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If user prefers "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th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" , Thai content gets a boost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049E155-47D1-EFAC-DEB8-9C281AEA624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5295353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D4918-0ABD-0C97-756A-23C5A65B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392DB5E-A91A-8357-C5DE-D625739D2A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DBC14B8-CF74-78B7-9501-415068190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C06489-2CFE-58F2-66D1-C49554AFD35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2BDFC8-3B70-998C-093D-71F6AF88180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365400-A5D7-76BE-32D1-B7522ADAD361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538B223-8DF6-4384-E2B7-E581CAA3F66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F117AC-8250-178D-BE1A-7F5D674822E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87A6233-302C-E9B6-B73B-46B4E7FA62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3F8C8E-AA9C-487D-B674-38393B9341CC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4A4FC4-917B-F4D9-B5C0-2C8324D5387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9232A0B-1A4C-E7A7-6864-4CC4C6B79D88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7AEE92-66BE-8B0E-2CF6-B97C4A206CAF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D5E8E-6292-D7B9-7BBF-19157849CC8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F9A90-4F80-4E95-004A-DD1BD143F6DC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3149DD6-A744-43A0-9113-236A886977DF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BE398-D5EF-3747-8A3B-392A52644AD8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A42F5-33F7-BA9C-A5D2-BEBC1D1EC48E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F2E92B-82C1-C168-91D0-CE1B6ECB043C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33B1DBA-BFEE-42FB-8B74-FAC8FEBFC029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E4622D7-B505-47CF-7483-9E76C5C8ED4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4B87CB-8157-2492-3867-55E70F7675C3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B677785-AB9E-3631-B426-A895FB662595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A4093D7-E2B7-B427-C0B8-8FB769622B94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B79193A-EDCC-0F9A-785E-DFD4B5DC6A6D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2725548-8A1D-97FB-AE84-D5932C278C8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2F73136-56D1-F8A3-E224-AD3B29B6959F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EEB64928-C099-2368-7450-FFCD95443F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EE2DEB9C-8296-1682-47BD-F98057DC37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DD9F6FD-0DF9-4F02-2A89-7483315C310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376CC44B-7571-3626-7369-93194BCFCC6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990276-48F5-C567-D20A-5428401D7C6F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571BFCE-3A30-AE35-5736-0E912ECF49DE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2AFA85-6CBD-E805-554A-8A5490AF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" name="Picture 47">
            <a:extLst>
              <a:ext uri="{FF2B5EF4-FFF2-40B4-BE49-F238E27FC236}">
                <a16:creationId xmlns:a16="http://schemas.microsoft.com/office/drawing/2014/main" id="{74DF67C0-43A4-2324-0D5D-784EA39228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2858950"/>
            <a:ext cx="4832019" cy="3756554"/>
          </a:xfrm>
          <a:prstGeom prst="rect">
            <a:avLst/>
          </a:prstGeom>
        </p:spPr>
      </p:pic>
      <p:sp>
        <p:nvSpPr>
          <p:cNvPr id="49" name="Title 1">
            <a:extLst>
              <a:ext uri="{FF2B5EF4-FFF2-40B4-BE49-F238E27FC236}">
                <a16:creationId xmlns:a16="http://schemas.microsoft.com/office/drawing/2014/main" id="{DF5C407E-AB73-86D1-06A9-15AD8E60DC2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9331033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39F05-698A-DC23-F86C-A7F0533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44A1350-3AA1-C79C-AE05-03FFA159CF2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392DB5E-A91A-8357-C5DE-D625739D2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C67EF69-9187-982E-269C-9B68D47C0C48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1A2835-88D7-2F97-0AD0-906C0B0C910E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235209-A1DD-B307-EC8D-70609BDCE3D2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74BB245-A65F-E0F3-BB41-7C380398A75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E17FC4-CA79-D8A7-7F48-01AA6FBA35A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C8E34DA-F70F-936B-1994-3054E19510D1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C18BA04-3B82-7B91-7B18-CB22D364EDB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D9F765C-43D3-21DD-2E90-3EB3CFF5F26A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088EE78-286E-1951-FC1E-D8A456313CDD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0246640-7F72-6F6A-5FC5-E76047D71C8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A4C73F2-15D3-FFCF-6E80-A862E6BE8AEA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006245-F699-3C2D-CB84-20E9E0EA9E55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F652944-AAA3-FEFE-3B91-33B83A90652D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78DECE-8127-FC8B-6CB4-2D9427BA1E9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053D1E-83D2-3CBA-59C4-ABDC9DCDBD9D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EDC035-2A8A-1BE0-F228-DF94245CBD43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44FD97A-F13E-371F-7FB1-D10B0EEE975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B7A5CA-9E06-FD41-60E3-69D4E656FB4C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F86CEEA-BAB7-A0E4-E1B0-1A17CDA18B8D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1E53ADA-0B44-CD9C-0657-875DEDD3A69A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C687EE-03F4-E051-63CD-DCD2F0BCD139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115D5F9-54E7-2C69-F0DA-DD106BEE1753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D6505D8-90E3-5DC8-158F-209CBDD2C8DE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AAE2C73-0869-4B62-D08B-C14C407C1760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2561F284-7C8F-750B-9762-95F53ACDFAF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0C08F1B-6A77-DFDB-7158-3AAAC988FA9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91FC0682-EBA6-9EA4-5126-173DFE75B022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E1D6F5F4-C680-B4E1-3CFA-83F53BDFFE5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F26C16D-83CA-2819-173B-55C6D8BB4497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C79386-6326-A45D-46ED-1FA1905D96E4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         3. Popularity : log-normalized engagement (views/likes/etc.)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4D478D-E6C2-FEB7-F48F-7FD9A21328E4}"/>
              </a:ext>
            </a:extLst>
          </p:cNvPr>
          <p:cNvSpPr txBox="1"/>
          <p:nvPr/>
        </p:nvSpPr>
        <p:spPr>
          <a:xfrm>
            <a:off x="6404638" y="2867781"/>
            <a:ext cx="5282538" cy="138499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“freshness score”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  0 days -&gt; recency = 1.0       (2**(-0/30)    -&gt; 1.0)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15 days -&gt; recency = 0.707 (2**(-15/30)  -&gt; 0.707)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30 days -&gt; recency = 0.5      (2**(-30/30)  -&gt; 0.5)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age = 60 days -&gt; recency = 0.25   ( 2**(-60/30) -&gt; 0.25)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The half - life is configurable (recency_half_life_days from YAML)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/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𝑟𝑒𝑐𝑒𝑛𝑐𝑦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𝑎𝑔𝑒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h𝑎𝑙𝑓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𝑙𝑖𝑓𝑒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𝑑𝑎𝑦𝑠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0088C4F-3B91-777A-6F69-3742D8208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7575" y="2201348"/>
                <a:ext cx="2644250" cy="4402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itle 1">
            <a:extLst>
              <a:ext uri="{FF2B5EF4-FFF2-40B4-BE49-F238E27FC236}">
                <a16:creationId xmlns:a16="http://schemas.microsoft.com/office/drawing/2014/main" id="{3E663FA4-6399-23C3-9A44-37F5E60C27AD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619C2C3-2D38-8DAE-AB10-6DBE10C942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749"/>
          <a:stretch>
            <a:fillRect/>
          </a:stretch>
        </p:blipFill>
        <p:spPr>
          <a:xfrm>
            <a:off x="6375620" y="4436905"/>
            <a:ext cx="2658728" cy="2019895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EAF9643A-9B28-066D-16E4-668F2FEDE3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833" y="4436905"/>
            <a:ext cx="2568343" cy="201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436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A83E-9A99-07B9-2AD9-72DE5597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6B59B9B-D094-F95A-0081-D6C1101365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C065D9-DDDD-5425-432E-A1095A99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98C0A14-926B-3E47-9222-8156E03EBA5C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6FC82-5D7F-CE9A-1897-39F80DD3A9B2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5A9054-B80E-645A-06E0-6C03B8178E39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3DEE601-7ACC-D35F-19C8-D83AFA2B7771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EE39990-A019-0BB4-2020-686993CC2608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DFA1978-4935-5BE2-1C47-C5E5F86E77A2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42A66CB-CB7A-0D33-F77E-08965595F1D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22828D-1642-D5E6-0B26-4B0A06B19AB6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B39A458-FE8B-3AB5-F895-FF7E6D606F95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F116DAD-8112-C910-7BBA-D2AB50D1B233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7DF89FA-2F44-6F8E-F835-AF89EE8B494F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8E8996-945C-DF39-9E9A-300E58956C84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7F5D4DB-1B84-F5FE-2DB4-EA0482FDAE5C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C00DD6-8E82-D7B1-C119-0C655B16E441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0C22D-26B4-401F-C355-E872397207B7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A0331B-D658-ED59-9D9A-1809C9161FB6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304F55-4268-A85A-083A-FC40695D6E71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D5B6B43-5C3B-25D3-BD52-1A9557D31588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BB455B5-20AF-2062-E585-95657E1496D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A192545-205D-2EE3-623C-B3E272752F4F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33C6993-F455-9BA4-FF5D-2F141BE460B6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2B7810-E091-6BA8-028C-A697E03DBD77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7AD383-0510-917F-BAA5-06F898676591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C54B572-FF0D-D267-3974-BBC412EC0D35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1078F405-DBA9-626B-7760-0B3500EB4BA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35135E0-433C-7AD0-C8D3-BD00B9E498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3E815509-8577-D51E-7FCB-E5D680568B94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D43F83D1-7F56-9417-939B-C6AD2CB43EB7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DF371F-9137-5D48-C9EF-CCB4E1ADA85E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D29A01-FFEB-519C-9308-61B821C575F5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2AE602A-DF3E-11C5-50B2-18B0AB5C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EC2D33B4-2771-C433-99AE-FC86FD6B6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897" y="3076852"/>
            <a:ext cx="4832019" cy="284771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CFAEDFA7-941C-D721-55DE-1ADF2E9EF86B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18866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48EFD-49C7-69E2-85DE-2C146176F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C04ACD7-86C6-742A-4BFD-6BD23465ED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B59B9B-D094-F95A-0081-D6C1101365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7E63B7-E9CD-466B-7D18-14EC4C5848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AA741-10FA-4F38-3EF4-330AD660F82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0B246-3A3D-5AE6-3F2F-8BDC13B29974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600" b="1" dirty="0">
                <a:solidFill>
                  <a:schemeClr val="tx1"/>
                </a:solidFill>
                <a:cs typeface="Poppins Light"/>
              </a:rPr>
              <a:t>Overview</a:t>
            </a:r>
            <a:endParaRPr lang="en-GB" sz="1400" b="1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73723F8-16ED-1FFD-92EA-80BF45A20AD2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5B4AD7-5173-BD85-D8B0-20F1C85C1D5B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06EA4412-24DC-25E8-C5B5-3F74C4B61B43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D11B4AA-64A0-18F1-CBBE-B814829DFD8B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F56399-A7BB-A48C-2C62-F1DA621D1B1E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5961D6C-2FBE-CBC3-47E8-E287DEA82F23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4116A67-CF50-A241-F794-4FB1FCBBD0C6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6125CC9-C0AD-EB05-B2C0-A17124763530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2F94C5-55AD-D0E6-BEB7-3202E6F33C70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0D251BB-7EB1-5EE4-EBCE-F5C18549E6AB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C89F84-7790-3871-EDF4-01F12F743B2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4ACD62-AC21-860C-99ED-8CF9F9AC049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D75F052-F424-E0B3-7961-5F1D1C687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3B39559-68E5-29CF-00E6-DCD1448ED382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solidFill>
              <a:schemeClr val="bg1">
                <a:lumMod val="85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A0554FF-677B-5A5A-5DB3-1DCF72E4CFBA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C6F7302-D9D9-1803-B816-590FE9D158B0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DE4D623-27CC-3ED0-7BAC-51AB2AAF031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rgbClr val="272428"/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311D753-2602-6C47-7533-69B13E28B3EF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Subscore function</a:t>
                </a:r>
                <a:endParaRPr lang="en-US" sz="1050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4E0BC76-C166-D515-497F-EDD7FBCDDB50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72428"/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A860AE6-436A-AF1D-386C-64734BCDE855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..…</a:t>
                </a:r>
                <a:endParaRPr lang="en-US" sz="1050" dirty="0"/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BA291-9F72-9644-F0D3-236F4338B77B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FF771BE9-C45C-DF5F-0287-FE3001C2DFB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B3095A37-3492-8BEC-B3A6-B888194A2C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044F30C1-4A7B-A091-3615-C39B033CB38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2F51D05C-92E5-8DB4-E0B1-4EB062C77332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2E912A-B5AE-40B6-48C5-C12B8150AEBC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C051E73-4396-680D-E4D1-229693D671E2}"/>
              </a:ext>
            </a:extLst>
          </p:cNvPr>
          <p:cNvSpPr txBox="1"/>
          <p:nvPr/>
        </p:nvSpPr>
        <p:spPr>
          <a:xfrm>
            <a:off x="6404638" y="879576"/>
            <a:ext cx="5282538" cy="120032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Deterministic Subscore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We compute 3 interpretable signals per feed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1. 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Language_match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: exact match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  <a:ea typeface="+mn-lt"/>
                <a:cs typeface="+mn-lt"/>
              </a:rPr>
              <a:t>         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cs typeface="Poppins Light"/>
              </a:rPr>
              <a:t>2. Recency : exponential decay using half-life days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 3. Popularity : log-normalized engagement (views/likes/etc.)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/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𝑝𝑜𝑝𝑢𝑙𝑎𝑟𝑖𝑡𝑦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(1+1,000,000)</m:t>
                                  </m:r>
                                </m:e>
                              </m:func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CCB4254-4AF8-954B-5B91-C699C4097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641" y="2189041"/>
                <a:ext cx="4280274" cy="6223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311B85-D91A-D392-ED69-E8204AE53595}"/>
              </a:ext>
            </a:extLst>
          </p:cNvPr>
          <p:cNvSpPr txBox="1"/>
          <p:nvPr/>
        </p:nvSpPr>
        <p:spPr>
          <a:xfrm>
            <a:off x="6404638" y="2920527"/>
            <a:ext cx="5282538" cy="175432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This is a “popularity score”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0                    -&gt; popularity = 0.0 (log(1) / 13.8155 -&gt; 0)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10,000        -&gt; popularity = 0.67 (log(10,001) / 13.8155 -&gt; 0.67)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100,000     -&gt; popularity = 0.83 (log(100,001) / 13.8155 -&gt; 0.83)</a:t>
            </a:r>
          </a:p>
          <a:p>
            <a:r>
              <a:rPr lang="en-US" sz="1300" dirty="0">
                <a:solidFill>
                  <a:schemeClr val="tx1"/>
                </a:solidFill>
                <a:ea typeface="+mn-lt"/>
                <a:cs typeface="+mn-lt"/>
              </a:rPr>
              <a:t>     - view = 1,000,000 -&gt; popularity = 1.0 (log(1,000,001) / 13.8155  -&gt; 1.0)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Popular feeds get boost But they do NOT overpower semantic similarity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We clamp to 1 (Prevents runaway values)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2D95F09-9AE4-B363-02BA-FC94E4620D19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B18A54-D101-A9F3-0613-8BA445D2D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0615" y="4670037"/>
            <a:ext cx="2519874" cy="191849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8153AD6-C691-2C8B-B3B6-2751A8ED9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428" y="4665219"/>
            <a:ext cx="2401293" cy="191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701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4FA8-7602-3F9C-CAB1-57CDD067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4718078-E4D6-6272-74CE-0963166097D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6563E37-7449-88E7-531F-DD47615EAE3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FF07D16-3344-862F-121A-7B3ED82A2A92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54B300-08AC-2A77-6CC4-C105A11090D8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0E9E58-EEFD-D866-28FB-BA24FD7420A6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B2FDEE8-0DAF-45B8-178B-B7C7ACDE67B6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8AAD3-0016-62D8-76B7-06AAA689F929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5B2A1B-2B02-11CC-675A-00E79E54F3F3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F43EB5D-FD29-D266-60FE-EF234B4BA5FA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666040-E07F-0CCF-3671-E5568954BBCE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E9EAF6-47DF-D18C-ACA1-08F87D3BB5A3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B6B7A-2B59-7458-1F5C-C2D38AD67522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9BB35D-5E87-C7D2-C4CD-0376BF9070F4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A474C00-0EA6-B063-7121-7F45EDF95099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AB4566A-4357-D8F1-F3E2-58571386C494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3A7BA54-8303-A654-406B-BDAF076FC64B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EDCDE8E-1913-C5DE-F3FB-0438286A286F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600C25-D5BA-ADD2-60C0-6688096A5FDF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F025F275-AAF4-D68C-F18C-BD3B2C22536C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E62774A1-FCE3-728A-D78F-C4B228EF35CE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4534B9D-9C15-2615-3E53-E05761894F7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F932D324-C293-2197-D5A8-94CF6B09E9EC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EE619F42-EEC7-931E-D786-2FFC1FA9E350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58F5A67E-F145-3800-5077-5AAD479748E6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51575402-1C2B-940B-C133-45D932A1769B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6B65138-52C6-F68F-18D4-3BFC24E173C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66C9F9BB-ED04-7779-4B40-EB0FF5713D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: Elbow 63">
              <a:extLst>
                <a:ext uri="{FF2B5EF4-FFF2-40B4-BE49-F238E27FC236}">
                  <a16:creationId xmlns:a16="http://schemas.microsoft.com/office/drawing/2014/main" id="{C4A3AAD9-3B14-4B50-46BC-064DBC1E8CB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234B302F-FA10-EAD8-FF55-464471896D07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: Elbow 65">
              <a:extLst>
                <a:ext uri="{FF2B5EF4-FFF2-40B4-BE49-F238E27FC236}">
                  <a16:creationId xmlns:a16="http://schemas.microsoft.com/office/drawing/2014/main" id="{D6A1A89C-8BDD-801B-3C63-55510118F91A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AEEF54-FA15-A356-1F5E-1FD482DDC6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A24BB166-38F0-5B5E-4209-A8F8F77D49CC}"/>
              </a:ext>
            </a:extLst>
          </p:cNvPr>
          <p:cNvSpPr txBox="1"/>
          <p:nvPr/>
        </p:nvSpPr>
        <p:spPr>
          <a:xfrm>
            <a:off x="6404638" y="879576"/>
            <a:ext cx="5282538" cy="553998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Weighted Aggregation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Subscore + vector score are combined into one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final_score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33BE178-3FD4-7570-8DE9-3F8CDC51E135}"/>
              </a:ext>
            </a:extLst>
          </p:cNvPr>
          <p:cNvSpPr txBox="1"/>
          <p:nvPr/>
        </p:nvSpPr>
        <p:spPr>
          <a:xfrm>
            <a:off x="6404638" y="2625719"/>
            <a:ext cx="5282538" cy="1169551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- YAML controls weights (easy to tune without touching code)</a:t>
            </a:r>
            <a:br>
              <a:rPr lang="en-US" sz="1400" dirty="0">
                <a:solidFill>
                  <a:schemeClr val="tx1"/>
                </a:solidFill>
                <a:cs typeface="Poppins Light"/>
              </a:rPr>
            </a:br>
            <a:r>
              <a:rPr lang="en-US" sz="1400" dirty="0">
                <a:solidFill>
                  <a:schemeClr val="tx1"/>
                </a:solidFill>
                <a:cs typeface="Poppins Light"/>
              </a:rPr>
              <a:t>    - which features participate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their weights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clamp inputs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- whether to renormalize weights (sum to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/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𝑓𝑖𝑎𝑛𝑙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𝑐𝑙𝑎𝑚𝑝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𝑣𝑎𝑙𝑢𝑒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1D7CBA2-0608-B590-F65E-79A83DEAF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899" y="1690147"/>
                <a:ext cx="4339265" cy="6722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>
            <a:extLst>
              <a:ext uri="{FF2B5EF4-FFF2-40B4-BE49-F238E27FC236}">
                <a16:creationId xmlns:a16="http://schemas.microsoft.com/office/drawing/2014/main" id="{46FA11A8-ECED-B3BF-120A-9436B81B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4638" y="3822417"/>
            <a:ext cx="5282538" cy="2701988"/>
          </a:xfrm>
          <a:prstGeom prst="rect">
            <a:avLst/>
          </a:prstGeom>
        </p:spPr>
      </p:pic>
      <p:sp>
        <p:nvSpPr>
          <p:cNvPr id="79" name="Title 1">
            <a:extLst>
              <a:ext uri="{FF2B5EF4-FFF2-40B4-BE49-F238E27FC236}">
                <a16:creationId xmlns:a16="http://schemas.microsoft.com/office/drawing/2014/main" id="{336E4D0F-3682-149F-E16F-5C36275AA983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902941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DB70A-E69F-F792-4602-BD521B80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AAEF65-EE5E-0251-BFF8-3150207266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4718078-E4D6-6272-74CE-0963166097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1F7EBAF-FF63-145C-ECC9-7973BCF6F83D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57D21-8D67-7652-F26B-C961125B89FF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430F0-96BD-99B3-EEF0-B8051BC34F90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BBF7A26-B7E7-3204-5789-1C9E499FB0C7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213CD6-27DE-20F9-B12D-FA0A356C8A64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4E3BBC0-580E-F4EC-0086-511D5CA2F4C7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0BA921-0A0D-6912-5955-F60FD403A92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410E8-E5CA-CE1B-EEBD-2BB022AC1CC9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2DD8D3-B7AC-B862-03BF-176443DD39DA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F48ED4-B928-0C9E-FE8D-06EB15512417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3F79625-7510-E7EC-353A-C26D358F14D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1E9B8A6-A942-5D87-7240-E67803FBF268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56D82-B2A6-E241-B82A-FF032ED18D6E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AF61E8C-8FA7-9F32-8DA4-0DC3E97D6657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554D24-2324-82C6-BCE1-42A919A4B993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78148-40A9-8CDE-4FBE-7C27C158F52B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BA0625-3158-9883-E774-1C94D9474287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11F5B7D-3DC2-3C23-192F-85EEA726ECD2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51DD4C9-A25A-68F9-66D3-587261F48DD7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DA67603-D2F0-D2B6-7FEB-11A374255302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BFD5469-268E-08FD-2E6D-A8E606F957B7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D336C60-C5DD-837A-2DA1-8306F7DE450A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45D0E6-EE74-E692-6CA4-52BF032A2A24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0BD8AD2-E4C3-898A-2729-65E08D156C57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C9361505-B98F-DCD0-D3E7-B6C14188142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D570957A-4BCB-E5C3-8401-B542F9B3639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E5E5AF8D-4DE4-7DAC-0963-84FA52243229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342AE918-26FB-BBBF-BFE1-FBCDC091A5B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B21DD0-1C2E-28F0-46D7-4E00DDD464D0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A9DBF9A-8FA0-FAC6-04CD-3B54D26404EC}"/>
              </a:ext>
            </a:extLst>
          </p:cNvPr>
          <p:cNvSpPr txBox="1"/>
          <p:nvPr/>
        </p:nvSpPr>
        <p:spPr>
          <a:xfrm>
            <a:off x="6404638" y="879576"/>
            <a:ext cx="5282538" cy="206210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Sort candidates by ranking score key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Return </a:t>
            </a:r>
            <a:b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</a:br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</a:t>
            </a:r>
            <a:r>
              <a:rPr lang="en-US" sz="1400" dirty="0" err="1">
                <a:solidFill>
                  <a:schemeClr val="tx1"/>
                </a:solidFill>
                <a:ea typeface="+mn-lt"/>
                <a:cs typeface="+mn-lt"/>
              </a:rPr>
              <a:t>student_id</a:t>
            </a:r>
            <a:endParaRPr lang="en-US" sz="1400" dirty="0">
              <a:solidFill>
                <a:schemeClr val="tx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meta configuration for debugging / reproducibility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        - candidate list (previews/top-N)</a:t>
            </a:r>
          </a:p>
          <a:p>
            <a:r>
              <a:rPr lang="en-US" sz="1400" dirty="0">
                <a:solidFill>
                  <a:schemeClr val="tx1"/>
                </a:solidFill>
                <a:ea typeface="+mn-lt"/>
                <a:cs typeface="+mn-lt"/>
              </a:rPr>
              <a:t>- Candidate includes both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raw retrieval score (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vector_score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  <a:cs typeface="Poppins Light"/>
              </a:rPr>
              <a:t>        - interpretable </a:t>
            </a:r>
            <a:r>
              <a:rPr lang="en-US" sz="1400" dirty="0" err="1">
                <a:solidFill>
                  <a:schemeClr val="tx1"/>
                </a:solidFill>
                <a:cs typeface="Poppins Light"/>
              </a:rPr>
              <a:t>subscores</a:t>
            </a:r>
            <a:r>
              <a:rPr lang="en-US" sz="1400" dirty="0">
                <a:solidFill>
                  <a:schemeClr val="tx1"/>
                </a:solidFill>
                <a:cs typeface="Poppins Light"/>
              </a:rPr>
              <a:t> (why it ranked)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D973128-8746-162B-0A32-DCDEF4881DC8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223847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CD04-7D98-DDB3-275D-5C0FEA91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3D33D35D-96A9-729A-4E9D-A452F5AC51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AEF65-EE5E-0251-BFF8-3150207266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769A074-9FF6-3E43-46CB-643AFCA5C725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CC470-6759-C0F2-A74F-7880AE284D16}"/>
              </a:ext>
            </a:extLst>
          </p:cNvPr>
          <p:cNvSpPr/>
          <p:nvPr/>
        </p:nvSpPr>
        <p:spPr>
          <a:xfrm>
            <a:off x="638383" y="859879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4145-7337-E2BE-48B9-158C457DE0A3}"/>
              </a:ext>
            </a:extLst>
          </p:cNvPr>
          <p:cNvSpPr/>
          <p:nvPr/>
        </p:nvSpPr>
        <p:spPr>
          <a:xfrm>
            <a:off x="638383" y="859879"/>
            <a:ext cx="5265878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tx1"/>
                </a:solidFill>
                <a:cs typeface="Poppins Light"/>
              </a:rPr>
              <a:t>Overview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A17A32E-307D-9D32-C187-DDBB319480FA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86A172-BD52-4F13-1BAF-878147FE2575}"/>
              </a:ext>
            </a:extLst>
          </p:cNvPr>
          <p:cNvGrpSpPr/>
          <p:nvPr/>
        </p:nvGrpSpPr>
        <p:grpSpPr>
          <a:xfrm>
            <a:off x="2341726" y="1413742"/>
            <a:ext cx="1975048" cy="775299"/>
            <a:chOff x="10490" y="2427201"/>
            <a:chExt cx="1033571" cy="775299"/>
          </a:xfrm>
          <a:solidFill>
            <a:srgbClr val="EAF3F8"/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76153C1-D61C-4A39-D8EE-9D4E4930DDBD}"/>
                </a:ext>
              </a:extLst>
            </p:cNvPr>
            <p:cNvSpPr/>
            <p:nvPr/>
          </p:nvSpPr>
          <p:spPr>
            <a:xfrm>
              <a:off x="10490" y="2427201"/>
              <a:ext cx="1033571" cy="775299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C354C3-29BF-5DDE-6E8E-E0368CB436E1}"/>
                </a:ext>
              </a:extLst>
            </p:cNvPr>
            <p:cNvSpPr/>
            <p:nvPr/>
          </p:nvSpPr>
          <p:spPr>
            <a:xfrm>
              <a:off x="101747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scores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5F097A-1C03-21AE-0A0F-5C808DEED370}"/>
                </a:ext>
              </a:extLst>
            </p:cNvPr>
            <p:cNvSpPr txBox="1"/>
            <p:nvPr/>
          </p:nvSpPr>
          <p:spPr>
            <a:xfrm>
              <a:off x="97803" y="2437180"/>
              <a:ext cx="876269" cy="261610"/>
            </a:xfrm>
            <a:prstGeom prst="rect">
              <a:avLst/>
            </a:prstGeom>
            <a:noFill/>
            <a:ln>
              <a:solidFill>
                <a:srgbClr val="EAF3F8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Inputs</a:t>
              </a:r>
              <a:endParaRPr lang="en-US" sz="105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01664F-67CD-6AE0-36B9-5D7B3719123F}"/>
                </a:ext>
              </a:extLst>
            </p:cNvPr>
            <p:cNvSpPr/>
            <p:nvPr/>
          </p:nvSpPr>
          <p:spPr>
            <a:xfrm>
              <a:off x="556345" y="2777201"/>
              <a:ext cx="404274" cy="370142"/>
            </a:xfrm>
            <a:prstGeom prst="rect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indices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A2A70B-B634-D2C0-E30C-5A1DA22DBA2C}"/>
              </a:ext>
            </a:extLst>
          </p:cNvPr>
          <p:cNvCxnSpPr>
            <a:cxnSpLocks/>
          </p:cNvCxnSpPr>
          <p:nvPr/>
        </p:nvCxnSpPr>
        <p:spPr>
          <a:xfrm flipH="1">
            <a:off x="3329250" y="2233306"/>
            <a:ext cx="1" cy="159346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8292C17-6C3F-3710-7E49-63D51B5507D3}"/>
              </a:ext>
            </a:extLst>
          </p:cNvPr>
          <p:cNvCxnSpPr>
            <a:cxnSpLocks/>
          </p:cNvCxnSpPr>
          <p:nvPr/>
        </p:nvCxnSpPr>
        <p:spPr>
          <a:xfrm>
            <a:off x="3333076" y="4810293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B47D3E6-076D-2BF4-D26C-74FBF2F41731}"/>
              </a:ext>
            </a:extLst>
          </p:cNvPr>
          <p:cNvSpPr/>
          <p:nvPr/>
        </p:nvSpPr>
        <p:spPr>
          <a:xfrm>
            <a:off x="2534260" y="5193129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7E1400-129E-D16F-7786-111F4803D63B}"/>
              </a:ext>
            </a:extLst>
          </p:cNvPr>
          <p:cNvSpPr/>
          <p:nvPr/>
        </p:nvSpPr>
        <p:spPr>
          <a:xfrm>
            <a:off x="2532347" y="4297430"/>
            <a:ext cx="1593806" cy="439797"/>
          </a:xfrm>
          <a:prstGeom prst="rect">
            <a:avLst/>
          </a:prstGeom>
          <a:solidFill>
            <a:srgbClr val="EAF3F8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85000"/>
                  </a:schemeClr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54AD2-CADE-ADDC-743E-F00E18FC50C8}"/>
              </a:ext>
            </a:extLst>
          </p:cNvPr>
          <p:cNvGrpSpPr/>
          <p:nvPr/>
        </p:nvGrpSpPr>
        <p:grpSpPr>
          <a:xfrm>
            <a:off x="1382298" y="2429185"/>
            <a:ext cx="3893906" cy="1495360"/>
            <a:chOff x="1382298" y="2429185"/>
            <a:chExt cx="3893906" cy="1495360"/>
          </a:xfrm>
          <a:solidFill>
            <a:srgbClr val="EAF3F8"/>
          </a:solidFill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A5A01E9-8B73-19DF-8E7B-BF0362BA37E6}"/>
                </a:ext>
              </a:extLst>
            </p:cNvPr>
            <p:cNvGrpSpPr/>
            <p:nvPr/>
          </p:nvGrpSpPr>
          <p:grpSpPr>
            <a:xfrm>
              <a:off x="1382298" y="2429185"/>
              <a:ext cx="3893906" cy="1495360"/>
              <a:chOff x="213358" y="1919130"/>
              <a:chExt cx="1283172" cy="1495360"/>
            </a:xfrm>
            <a:grpFill/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0B08CBE-9D28-3243-EF1E-1A39688506EF}"/>
                  </a:ext>
                </a:extLst>
              </p:cNvPr>
              <p:cNvSpPr/>
              <p:nvPr/>
            </p:nvSpPr>
            <p:spPr>
              <a:xfrm>
                <a:off x="213358" y="1919130"/>
                <a:ext cx="1283172" cy="1495360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46A17D4-B5D6-A81A-B968-B118C17B664F}"/>
                  </a:ext>
                </a:extLst>
              </p:cNvPr>
              <p:cNvSpPr/>
              <p:nvPr/>
            </p:nvSpPr>
            <p:spPr>
              <a:xfrm>
                <a:off x="869945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recency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5EF1BA9-9DC9-1409-EBA8-5C5227EE6559}"/>
                  </a:ext>
                </a:extLst>
              </p:cNvPr>
              <p:cNvSpPr/>
              <p:nvPr/>
            </p:nvSpPr>
            <p:spPr>
              <a:xfrm>
                <a:off x="1174409" y="2427304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000" dirty="0">
                    <a:solidFill>
                      <a:schemeClr val="bg1">
                        <a:lumMod val="85000"/>
                      </a:schemeClr>
                    </a:solidFill>
                    <a:latin typeface="Poppins Light"/>
                    <a:cs typeface="Sarabun Light"/>
                  </a:rPr>
                  <a:t>popularity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91E05A3-291C-BBDD-512E-F23BA1212B5A}"/>
                  </a:ext>
                </a:extLst>
              </p:cNvPr>
              <p:cNvSpPr txBox="1"/>
              <p:nvPr/>
            </p:nvSpPr>
            <p:spPr>
              <a:xfrm>
                <a:off x="240830" y="2000737"/>
                <a:ext cx="1236792" cy="261610"/>
              </a:xfrm>
              <a:prstGeom prst="rect">
                <a:avLst/>
              </a:prstGeom>
              <a:solidFill>
                <a:srgbClr val="EAF3F8"/>
              </a:solidFill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Subscore function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32084-B913-4415-D0B3-055B1CC7648E}"/>
                  </a:ext>
                </a:extLst>
              </p:cNvPr>
              <p:cNvSpPr/>
              <p:nvPr/>
            </p:nvSpPr>
            <p:spPr>
              <a:xfrm>
                <a:off x="263504" y="2429832"/>
                <a:ext cx="278147" cy="370142"/>
              </a:xfrm>
              <a:prstGeom prst="rect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85000"/>
                      </a:schemeClr>
                    </a:solidFill>
                    <a:effectLst/>
                    <a:uLnTx/>
                    <a:uFillTx/>
                    <a:latin typeface="Poppins Light"/>
                    <a:ea typeface="+mn-ea"/>
                    <a:cs typeface="Sarabun Light"/>
                  </a:rPr>
                  <a:t>language</a:t>
                </a:r>
                <a:endParaRPr kumimoji="0" lang="en-TH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85000"/>
                    </a:schemeClr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897057F-9545-16C0-01BB-1D964DB494B3}"/>
                  </a:ext>
                </a:extLst>
              </p:cNvPr>
              <p:cNvSpPr txBox="1"/>
              <p:nvPr/>
            </p:nvSpPr>
            <p:spPr>
              <a:xfrm>
                <a:off x="566725" y="2435991"/>
                <a:ext cx="278147" cy="261610"/>
              </a:xfrm>
              <a:prstGeom prst="rect">
                <a:avLst/>
              </a:prstGeom>
              <a:grpFill/>
              <a:ln>
                <a:solidFill>
                  <a:srgbClr val="EAF3F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>
                        <a:lumMod val="85000"/>
                      </a:schemeClr>
                    </a:solidFill>
                  </a:rPr>
                  <a:t>..…</a:t>
                </a:r>
                <a:endParaRPr lang="en-US" sz="1050" dirty="0">
                  <a:solidFill>
                    <a:schemeClr val="bg1">
                      <a:lumMod val="85000"/>
                    </a:schemeClr>
                  </a:solidFill>
                </a:endParaRPr>
              </a:p>
            </p:txBody>
          </p:sp>
        </p:grp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A4A720-32B8-BBCA-2418-31881FC3FD79}"/>
                </a:ext>
              </a:extLst>
            </p:cNvPr>
            <p:cNvSpPr/>
            <p:nvPr/>
          </p:nvSpPr>
          <p:spPr>
            <a:xfrm>
              <a:off x="3219863" y="3496554"/>
              <a:ext cx="218775" cy="218775"/>
            </a:xfrm>
            <a:prstGeom prst="ellipse">
              <a:avLst/>
            </a:prstGeom>
            <a:grp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1002">
              <a:schemeClr val="lt2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9" name="Connector: Elbow 28">
              <a:extLst>
                <a:ext uri="{FF2B5EF4-FFF2-40B4-BE49-F238E27FC236}">
                  <a16:creationId xmlns:a16="http://schemas.microsoft.com/office/drawing/2014/main" id="{B61C9D33-B4DA-F6D5-5C5C-57EE51A833D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08517" y="3408600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CC9DF323-DD2B-B87C-0682-8C73046C8B2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512821" y="3443748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F6D0A03E-8B33-9558-C583-D1FBEF2BAE4A}"/>
                </a:ext>
              </a:extLst>
            </p:cNvPr>
            <p:cNvCxnSpPr>
              <a:cxnSpLocks/>
            </p:cNvCxnSpPr>
            <p:nvPr/>
          </p:nvCxnSpPr>
          <p:spPr>
            <a:xfrm>
              <a:off x="2864833" y="3414814"/>
              <a:ext cx="285151" cy="145465"/>
            </a:xfrm>
            <a:prstGeom prst="bentConnector3">
              <a:avLst>
                <a:gd name="adj1" fmla="val 3235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: Elbow 37">
              <a:extLst>
                <a:ext uri="{FF2B5EF4-FFF2-40B4-BE49-F238E27FC236}">
                  <a16:creationId xmlns:a16="http://schemas.microsoft.com/office/drawing/2014/main" id="{0EAAE398-AFA7-841F-9065-D782A67E70AC}"/>
                </a:ext>
              </a:extLst>
            </p:cNvPr>
            <p:cNvCxnSpPr>
              <a:cxnSpLocks/>
            </p:cNvCxnSpPr>
            <p:nvPr/>
          </p:nvCxnSpPr>
          <p:spPr>
            <a:xfrm>
              <a:off x="1945073" y="3448329"/>
              <a:ext cx="1204911" cy="211472"/>
            </a:xfrm>
            <a:prstGeom prst="bentConnector3">
              <a:avLst>
                <a:gd name="adj1" fmla="val -791"/>
              </a:avLst>
            </a:prstGeom>
            <a:grp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A8366F-E167-87C0-780F-2BC380B36722}"/>
              </a:ext>
            </a:extLst>
          </p:cNvPr>
          <p:cNvCxnSpPr>
            <a:cxnSpLocks/>
          </p:cNvCxnSpPr>
          <p:nvPr/>
        </p:nvCxnSpPr>
        <p:spPr>
          <a:xfrm>
            <a:off x="3331163" y="3812302"/>
            <a:ext cx="0" cy="378727"/>
          </a:xfrm>
          <a:prstGeom prst="straightConnector1">
            <a:avLst/>
          </a:prstGeom>
          <a:ln w="127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3A3CD5D-1605-0914-D5FB-DA7A09B8A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35" y="1238128"/>
            <a:ext cx="4132130" cy="535688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2A4FA0-ABDF-C328-CA50-AFB46F45CD52}"/>
              </a:ext>
            </a:extLst>
          </p:cNvPr>
          <p:cNvSpPr txBox="1"/>
          <p:nvPr/>
        </p:nvSpPr>
        <p:spPr>
          <a:xfrm>
            <a:off x="6404638" y="879576"/>
            <a:ext cx="5282538" cy="338554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ea typeface="+mn-lt"/>
                <a:cs typeface="+mn-lt"/>
              </a:rPr>
              <a:t>Sort + Top-N + Final output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2C8385-C90E-2777-9734-FDDC31E4AB4E}"/>
              </a:ext>
            </a:extLst>
          </p:cNvPr>
          <p:cNvSpPr/>
          <p:nvPr/>
        </p:nvSpPr>
        <p:spPr>
          <a:xfrm>
            <a:off x="2532347" y="6094969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E7B271-5982-599F-C54B-741BC61267D3}"/>
              </a:ext>
            </a:extLst>
          </p:cNvPr>
          <p:cNvCxnSpPr>
            <a:cxnSpLocks/>
          </p:cNvCxnSpPr>
          <p:nvPr/>
        </p:nvCxnSpPr>
        <p:spPr>
          <a:xfrm>
            <a:off x="3333323" y="5694868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itle 1">
            <a:extLst>
              <a:ext uri="{FF2B5EF4-FFF2-40B4-BE49-F238E27FC236}">
                <a16:creationId xmlns:a16="http://schemas.microsoft.com/office/drawing/2014/main" id="{86B1882E-CD11-7CB3-E288-C144D854FDCF}"/>
              </a:ext>
            </a:extLst>
          </p:cNvPr>
          <p:cNvSpPr txBox="1">
            <a:spLocks/>
          </p:cNvSpPr>
          <p:nvPr/>
        </p:nvSpPr>
        <p:spPr>
          <a:xfrm>
            <a:off x="365759" y="234845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>
                <a:ea typeface="+mn-lt"/>
                <a:cs typeface="+mn-lt"/>
              </a:rPr>
              <a:t>Subscore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864201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F5AA-2FB3-DF51-4954-123B1CDFB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553937A-482A-20D9-1DCC-DA2E519C38E7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856F8-1B34-DF94-104F-3C7CE2CFB747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A87737-0B57-7014-8810-9BFEA45D90DE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18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3108-B005-42B2-A96E-6D196B46F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16A4-FF4B-4A1B-03E2-77BB1FCCE78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699D74F-99B7-4092-4F9B-C74F49ACFF70}"/>
              </a:ext>
            </a:extLst>
          </p:cNvPr>
          <p:cNvGrpSpPr/>
          <p:nvPr/>
        </p:nvGrpSpPr>
        <p:grpSpPr>
          <a:xfrm>
            <a:off x="7852615" y="1692958"/>
            <a:ext cx="3893906" cy="1495360"/>
            <a:chOff x="213358" y="1919130"/>
            <a:chExt cx="1283172" cy="14953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F9B0A35-2BE7-36B7-32CA-412B8828FA89}"/>
                </a:ext>
              </a:extLst>
            </p:cNvPr>
            <p:cNvSpPr/>
            <p:nvPr/>
          </p:nvSpPr>
          <p:spPr>
            <a:xfrm>
              <a:off x="213358" y="1919130"/>
              <a:ext cx="1283172" cy="14953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4F9D6B7-0CB3-9F0D-1BE4-50DDA214BE6A}"/>
                </a:ext>
              </a:extLst>
            </p:cNvPr>
            <p:cNvSpPr/>
            <p:nvPr/>
          </p:nvSpPr>
          <p:spPr>
            <a:xfrm>
              <a:off x="259738" y="2429685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vector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5FCB8A93-70BF-F62F-7CB7-EFDBC7706A24}"/>
                </a:ext>
              </a:extLst>
            </p:cNvPr>
            <p:cNvSpPr/>
            <p:nvPr/>
          </p:nvSpPr>
          <p:spPr>
            <a:xfrm>
              <a:off x="869945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recency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0EE38DA-69BB-3386-EE5E-0C7A72A8CC18}"/>
                </a:ext>
              </a:extLst>
            </p:cNvPr>
            <p:cNvSpPr/>
            <p:nvPr/>
          </p:nvSpPr>
          <p:spPr>
            <a:xfrm>
              <a:off x="1174409" y="2427304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popularity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4D143143-F02D-D0A8-DD2D-8CD33365D142}"/>
                </a:ext>
              </a:extLst>
            </p:cNvPr>
            <p:cNvSpPr txBox="1"/>
            <p:nvPr/>
          </p:nvSpPr>
          <p:spPr>
            <a:xfrm>
              <a:off x="213358" y="2002005"/>
              <a:ext cx="12831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Subscore function</a:t>
              </a:r>
              <a:endParaRPr lang="en-US" sz="1050" dirty="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FD29C34-BE17-4131-0947-89EE8CBA755E}"/>
                </a:ext>
              </a:extLst>
            </p:cNvPr>
            <p:cNvSpPr/>
            <p:nvPr/>
          </p:nvSpPr>
          <p:spPr>
            <a:xfrm>
              <a:off x="564202" y="2429832"/>
              <a:ext cx="278147" cy="37014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language</a:t>
              </a:r>
              <a:endPara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endParaRPr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6A45E7CF-2722-D5C5-6438-9552C61CCEB0}"/>
              </a:ext>
            </a:extLst>
          </p:cNvPr>
          <p:cNvSpPr/>
          <p:nvPr/>
        </p:nvSpPr>
        <p:spPr>
          <a:xfrm>
            <a:off x="9690180" y="2760327"/>
            <a:ext cx="218775" cy="218775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E1C9462D-C44B-11AC-BC35-0387D8420C5B}"/>
              </a:ext>
            </a:extLst>
          </p:cNvPr>
          <p:cNvCxnSpPr>
            <a:cxnSpLocks/>
          </p:cNvCxnSpPr>
          <p:nvPr/>
        </p:nvCxnSpPr>
        <p:spPr>
          <a:xfrm>
            <a:off x="9335150" y="2678587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C06FA5A9-BDA8-61EF-4A44-C40D94D0C797}"/>
              </a:ext>
            </a:extLst>
          </p:cNvPr>
          <p:cNvCxnSpPr>
            <a:cxnSpLocks/>
          </p:cNvCxnSpPr>
          <p:nvPr/>
        </p:nvCxnSpPr>
        <p:spPr>
          <a:xfrm>
            <a:off x="8415390" y="2712102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319B761-4AB0-7EC6-E1F2-4B4CAC1F8A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78834" y="2672373"/>
            <a:ext cx="285151" cy="145465"/>
          </a:xfrm>
          <a:prstGeom prst="bentConnector3">
            <a:avLst>
              <a:gd name="adj1" fmla="val 32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FEE43F30-98CF-1FCB-6C05-0B5A8DEEC959}"/>
              </a:ext>
            </a:extLst>
          </p:cNvPr>
          <p:cNvCxnSpPr>
            <a:cxnSpLocks/>
          </p:cNvCxnSpPr>
          <p:nvPr/>
        </p:nvCxnSpPr>
        <p:spPr>
          <a:xfrm rot="10800000" flipV="1">
            <a:off x="9983138" y="2707521"/>
            <a:ext cx="1204911" cy="211472"/>
          </a:xfrm>
          <a:prstGeom prst="bentConnector3">
            <a:avLst>
              <a:gd name="adj1" fmla="val -79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6785734-C630-71E8-4286-A1F5E1D83C41}"/>
              </a:ext>
            </a:extLst>
          </p:cNvPr>
          <p:cNvCxnSpPr>
            <a:cxnSpLocks/>
          </p:cNvCxnSpPr>
          <p:nvPr/>
        </p:nvCxnSpPr>
        <p:spPr>
          <a:xfrm>
            <a:off x="9801480" y="3076075"/>
            <a:ext cx="0" cy="37872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4BBE1E1-9ECE-495C-983E-993DEA77D182}"/>
              </a:ext>
            </a:extLst>
          </p:cNvPr>
          <p:cNvSpPr/>
          <p:nvPr/>
        </p:nvSpPr>
        <p:spPr>
          <a:xfrm>
            <a:off x="9002664" y="3561203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Weighted Aggregation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2A32EABA-9612-3DF5-B5E7-C3EDDDD63901}"/>
              </a:ext>
            </a:extLst>
          </p:cNvPr>
          <p:cNvCxnSpPr>
            <a:cxnSpLocks/>
          </p:cNvCxnSpPr>
          <p:nvPr/>
        </p:nvCxnSpPr>
        <p:spPr>
          <a:xfrm>
            <a:off x="9803393" y="4074066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E94A9B1-B78C-F931-BA66-AD0D28AB46E5}"/>
              </a:ext>
            </a:extLst>
          </p:cNvPr>
          <p:cNvSpPr/>
          <p:nvPr/>
        </p:nvSpPr>
        <p:spPr>
          <a:xfrm>
            <a:off x="9004577" y="4456902"/>
            <a:ext cx="1593806" cy="4397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Sort + Top-N + Final Output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B3B67C8-4953-4FA1-0DA7-C6221C3C2F1F}"/>
              </a:ext>
            </a:extLst>
          </p:cNvPr>
          <p:cNvSpPr/>
          <p:nvPr/>
        </p:nvSpPr>
        <p:spPr>
          <a:xfrm>
            <a:off x="9002664" y="5358742"/>
            <a:ext cx="1593806" cy="4397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Json response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D63312C-FFD9-ADDC-84C0-D8576A5F69DD}"/>
              </a:ext>
            </a:extLst>
          </p:cNvPr>
          <p:cNvCxnSpPr>
            <a:cxnSpLocks/>
          </p:cNvCxnSpPr>
          <p:nvPr/>
        </p:nvCxnSpPr>
        <p:spPr>
          <a:xfrm>
            <a:off x="9803640" y="4958641"/>
            <a:ext cx="0" cy="30977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108383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0541B-0A76-72C4-4D15-795DD2EF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BE3ADA1-3A9A-8FE9-47EA-F3F0D8B5717E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AC729-C05D-3FFB-9999-A4FEE5F9102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27D3CA-C4EB-E98B-981D-1BEA1A288E3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FFC1ED-2DFE-D4EA-4CFE-7E315B0FAB25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95956C-8490-E250-2BA7-2BBB7B60E0CE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CEAB85F-FE59-ACA9-18E1-40B13A4BD6E9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4FB5F0-C653-871F-A6B3-0BC610396C5C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6D0BEB7-DD1B-3C1F-A5C0-1D788BB285D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B305CD-D448-E9CC-858B-069405BC5979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6123FEF-8A19-CEB0-6CC1-7DC2EBA72904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6EDFB595-41B9-03DA-6445-757C17A095A7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1BAFBD-D06A-3196-01A3-E148C91683CA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A37595C-0CE4-03FC-C84A-0E688B87E3B1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61E1171-43ED-6EF2-3743-8E68578D339D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C1DBE4-AEAD-2582-7B89-975D56CFB72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00B4546-E99B-97F6-ECEB-173CBDDBC945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D265FA9-8EA5-E7B9-FDA0-74D105D771D9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772040-F7F5-2396-3C8E-11729F40DFAD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E52E076-C485-76E9-C2FC-12446C44FBFB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C327EB-52ED-7955-27F5-2252BF22826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E636E6E-ABB6-E275-C736-DEA53B72889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3803B61-030D-A8C4-1BAD-C3CB757F025F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9DA09E-1598-02C6-8CB3-60B1DD41AD2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52DF7D03-F799-EEE0-CCF5-3CE13BD2E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0032A9CA-D757-1CA8-5E22-1E728C4CBBA7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E6B563B5-F8CF-8602-7894-C02949FE5449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DB856E54-FB83-0744-5970-1F16F0D88995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1FC3DC5B-3214-8558-AE26-38D4F6EAC18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486FD62C-C13E-699C-CA8E-86925D5A14B6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996943-308A-3F81-9B8F-4FF388D1CE41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5563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Completed </a:t>
            </a:r>
            <a:r>
              <a:rPr lang="en-US" dirty="0"/>
              <a:t>calc_subscore.py</a:t>
            </a:r>
            <a:r>
              <a:rPr lang="en-US" sz="2000" dirty="0"/>
              <a:t> (Local version)</a:t>
            </a:r>
          </a:p>
          <a:p>
            <a:pPr lvl="1"/>
            <a:r>
              <a:rPr lang="en-US" sz="2000" dirty="0"/>
              <a:t>Developed </a:t>
            </a:r>
            <a:r>
              <a:rPr lang="en-US" dirty="0"/>
              <a:t>calc_subscore_dev.py</a:t>
            </a:r>
            <a:r>
              <a:rPr lang="en-US" sz="2000" dirty="0"/>
              <a:t> (Online version, ~60% done)</a:t>
            </a:r>
          </a:p>
          <a:p>
            <a:pPr lvl="2"/>
            <a:r>
              <a:rPr lang="en-US" sz="1600" b="1" dirty="0"/>
              <a:t>New </a:t>
            </a:r>
            <a:r>
              <a:rPr lang="en-US" sz="1600" b="1" dirty="0" err="1"/>
              <a:t>datalake</a:t>
            </a:r>
            <a:r>
              <a:rPr lang="en-US" sz="1600" b="1" dirty="0"/>
              <a:t> design -&gt; Create new fetch API (/</a:t>
            </a:r>
            <a:r>
              <a:rPr lang="en-US" sz="1600" b="1" dirty="0" err="1"/>
              <a:t>hyde</a:t>
            </a:r>
            <a:r>
              <a:rPr lang="en-US" sz="1600" b="1" dirty="0"/>
              <a:t>/student/{</a:t>
            </a:r>
            <a:r>
              <a:rPr lang="en-US" sz="1600" b="1" dirty="0" err="1"/>
              <a:t>student_id</a:t>
            </a:r>
            <a:r>
              <a:rPr lang="en-US" sz="1600" b="1" dirty="0"/>
              <a:t>}/</a:t>
            </a:r>
            <a:r>
              <a:rPr lang="en-US" sz="1600" b="1" dirty="0" err="1"/>
              <a:t>json</a:t>
            </a:r>
            <a:endParaRPr lang="en-US" sz="16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Align score calculation and </a:t>
            </a:r>
            <a:r>
              <a:rPr lang="en-US" sz="2000" dirty="0" err="1"/>
              <a:t>feed_id</a:t>
            </a:r>
            <a:r>
              <a:rPr lang="en-US" sz="2000" dirty="0"/>
              <a:t> mapping with Shin</a:t>
            </a:r>
          </a:p>
          <a:p>
            <a:pPr lvl="1"/>
            <a:r>
              <a:rPr lang="en-US" sz="2000" dirty="0"/>
              <a:t>Create API</a:t>
            </a:r>
          </a:p>
          <a:p>
            <a:pPr lvl="2"/>
            <a:r>
              <a:rPr lang="en-US" sz="1600" dirty="0"/>
              <a:t>Feed map</a:t>
            </a:r>
          </a:p>
          <a:p>
            <a:pPr lvl="2"/>
            <a:r>
              <a:rPr lang="en-US" sz="1600" dirty="0"/>
              <a:t>Interaction map</a:t>
            </a:r>
          </a:p>
          <a:p>
            <a:pPr lvl="1"/>
            <a:r>
              <a:rPr lang="en-US" sz="2000" dirty="0"/>
              <a:t>Continue integration with Shin’s code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5BE5B-E263-7F55-CFA7-43846B39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57CB-5C16-21C7-7FA1-141EDDDE7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Tue,260224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CB2C67-BA99-54CA-FFD8-FB5821BB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125172"/>
            <a:ext cx="4552142" cy="4607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A0516-C1CE-D8FA-B38F-CB30C11ED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142" y="1480503"/>
            <a:ext cx="6927187" cy="389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2254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23EBA-6B74-9146-16BC-CDC77B67B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6B57-3E80-FED0-BF68-C060FE5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/>
              <a:t>Tue,260224</a:t>
            </a:r>
            <a:endParaRPr lang="en-US" sz="3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23952-08E3-00DA-C140-B053847C8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1" y="1480503"/>
            <a:ext cx="6927187" cy="38969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632D5B-8812-8A1C-329F-59CCC8156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978" y="963637"/>
            <a:ext cx="3875121" cy="493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600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28CC9-1433-8744-E0E1-CFCFE115C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9E309-D153-1113-1A32-1FA484ED3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Thu,260219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15ED0D-4F10-2C5E-A79B-B4018921D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/>
              <a:t>Indices</a:t>
            </a:r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</p:spTree>
    <p:extLst>
      <p:ext uri="{BB962C8B-B14F-4D97-AF65-F5344CB8AC3E}">
        <p14:creationId xmlns:p14="http://schemas.microsoft.com/office/powerpoint/2010/main" val="2242758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5B4E-C37B-229A-2211-8D252CB4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84D27-5A6B-E924-6273-9FE5DB585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04FE1-682D-27AD-30D2-76CBB2B0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Start integrating </a:t>
            </a:r>
            <a:r>
              <a:rPr lang="en-US" sz="2000" b="1" dirty="0" err="1"/>
              <a:t>subscore</a:t>
            </a:r>
            <a:r>
              <a:rPr lang="en-US" sz="2000" b="1" dirty="0"/>
              <a:t> </a:t>
            </a:r>
            <a:r>
              <a:rPr lang="en-US" sz="2000" dirty="0"/>
              <a:t>into Shin’s project</a:t>
            </a:r>
          </a:p>
          <a:p>
            <a:pPr marL="457200" lvl="1" indent="0">
              <a:buNone/>
            </a:pPr>
            <a:r>
              <a:rPr lang="en-US" sz="2000" dirty="0"/>
              <a:t>      - Begin with mocking data</a:t>
            </a:r>
          </a:p>
          <a:p>
            <a:pPr marL="457200" lvl="1" indent="0">
              <a:buNone/>
            </a:pPr>
            <a:r>
              <a:rPr lang="en-US" sz="2000" dirty="0"/>
              <a:t>      - Adding .</a:t>
            </a:r>
            <a:r>
              <a:rPr lang="en-US" sz="2000" dirty="0" err="1"/>
              <a:t>yaml</a:t>
            </a:r>
            <a:r>
              <a:rPr lang="en-US" sz="2000" dirty="0"/>
              <a:t> file and </a:t>
            </a:r>
          </a:p>
          <a:p>
            <a:pPr marL="457200" lvl="1" indent="0">
              <a:buNone/>
            </a:pPr>
            <a:r>
              <a:rPr lang="en-US" sz="2000" dirty="0"/>
              <a:t>      - Gradually refactor and move related code into Shin’s folder structure (In progress)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Continue merging </a:t>
            </a:r>
            <a:r>
              <a:rPr lang="en-US" sz="2000" dirty="0" err="1"/>
              <a:t>subscore</a:t>
            </a:r>
            <a:r>
              <a:rPr lang="en-US" sz="2000" dirty="0"/>
              <a:t> into Shin’s pipeline</a:t>
            </a:r>
          </a:p>
          <a:p>
            <a:pPr lvl="1"/>
            <a:r>
              <a:rPr lang="en-US" sz="2000" dirty="0"/>
              <a:t>Connect score, index, and feed metadata flow</a:t>
            </a:r>
          </a:p>
          <a:p>
            <a:pPr lvl="2"/>
            <a:r>
              <a:rPr lang="en-US" sz="1600" dirty="0"/>
              <a:t>Score</a:t>
            </a:r>
          </a:p>
          <a:p>
            <a:pPr lvl="2"/>
            <a:r>
              <a:rPr lang="en-US" sz="1600" dirty="0" err="1"/>
              <a:t>Indice</a:t>
            </a:r>
            <a:endParaRPr lang="en-US" sz="1600" dirty="0"/>
          </a:p>
          <a:p>
            <a:pPr lvl="2"/>
            <a:r>
              <a:rPr lang="en-US" sz="1600" dirty="0"/>
              <a:t>Feed detail and metadata (</a:t>
            </a:r>
            <a:r>
              <a:rPr lang="en-US" sz="1600" dirty="0" err="1"/>
              <a:t>BigQuery</a:t>
            </a:r>
            <a:r>
              <a:rPr lang="en-US" sz="1600" dirty="0"/>
              <a:t> -&gt; </a:t>
            </a:r>
            <a:r>
              <a:rPr lang="en-US" sz="1600" dirty="0" err="1"/>
              <a:t>Redist</a:t>
            </a:r>
            <a:r>
              <a:rPr lang="en-US" sz="1600" dirty="0"/>
              <a:t> -&gt; </a:t>
            </a:r>
            <a:r>
              <a:rPr lang="en-US" sz="1600" dirty="0" err="1"/>
              <a:t>json</a:t>
            </a:r>
            <a:r>
              <a:rPr lang="en-US" sz="1600" dirty="0"/>
              <a:t>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Code is quite complex</a:t>
            </a:r>
          </a:p>
          <a:p>
            <a:pPr lvl="1"/>
            <a:r>
              <a:rPr lang="en-US" sz="2000" dirty="0"/>
              <a:t>Integration with Shin’s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D4A7C4-B63E-491B-1B7F-B2FB650B0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72135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A0D1-9FDE-1249-279B-D2B0F617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3BC12-1365-84DA-A88A-6A64C88C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Wed,180226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B3101-377A-A98B-11B8-D61708071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b="1" dirty="0"/>
              <a:t>Aligned with Shin</a:t>
            </a:r>
          </a:p>
          <a:p>
            <a:pPr lvl="1"/>
            <a:r>
              <a:rPr lang="en-US" sz="2000" b="1" dirty="0"/>
              <a:t>Clarified</a:t>
            </a:r>
            <a:r>
              <a:rPr lang="en-US" sz="2000" dirty="0"/>
              <a:t> </a:t>
            </a:r>
            <a:r>
              <a:rPr lang="en-US" sz="2000" dirty="0" err="1"/>
              <a:t>subscore</a:t>
            </a:r>
            <a:r>
              <a:rPr lang="en-US" sz="2000" dirty="0"/>
              <a:t> </a:t>
            </a:r>
            <a:r>
              <a:rPr lang="en-US" sz="2000" dirty="0" err="1"/>
              <a:t>poc</a:t>
            </a:r>
            <a:r>
              <a:rPr lang="en-US" sz="2000" dirty="0"/>
              <a:t> code</a:t>
            </a:r>
          </a:p>
          <a:p>
            <a:pPr lvl="1"/>
            <a:r>
              <a:rPr lang="en-US" sz="2000" dirty="0"/>
              <a:t>Drafted structure and explored how to collaborate within Shin’s </a:t>
            </a:r>
            <a:r>
              <a:rPr lang="en-US" sz="2000" dirty="0" err="1"/>
              <a:t>Github</a:t>
            </a:r>
            <a:r>
              <a:rPr lang="en-US" sz="2000" dirty="0"/>
              <a:t> repository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1600" dirty="0"/>
              <a:t>Target completion : </a:t>
            </a:r>
            <a:r>
              <a:rPr lang="en-US" sz="1600" b="1" dirty="0"/>
              <a:t>tomorrow or Friday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810015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6F993C-7FE2-3978-4B21-01DDB5696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569F37A-CF64-C48B-D116-6DAFFAB89B4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569F37A-CF64-C48B-D116-6DAFFAB89B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09CF2A1-FF55-9BF4-CC33-2C80BADFC979}"/>
              </a:ext>
            </a:extLst>
          </p:cNvPr>
          <p:cNvSpPr/>
          <p:nvPr/>
        </p:nvSpPr>
        <p:spPr>
          <a:xfrm>
            <a:off x="6287739" y="861849"/>
            <a:ext cx="54839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43ED79-517B-9B03-A091-6C98194ED556}"/>
              </a:ext>
            </a:extLst>
          </p:cNvPr>
          <p:cNvSpPr txBox="1"/>
          <p:nvPr/>
        </p:nvSpPr>
        <p:spPr>
          <a:xfrm>
            <a:off x="6463966" y="864211"/>
            <a:ext cx="4487897" cy="6093976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/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":{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"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Profile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"name": "Juan Jose Carin",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"email": 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juanjose.carin@gmail.com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linkedin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"linkedin.com/in/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juanjosecarin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"Summary"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  <a:cs typeface="Poppins Light"/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summary_points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"Experienced data scientist with analytical background."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},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"Education"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"institution": "University of California, Berkeley",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 "degree": "MIDS",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gpa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": "3.93"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"Experience"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"title": "Data Scientist",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"company": "CONENTO",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"dates": "2016",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         "description":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            "Built ETL pipelines and predictive models."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       ]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"Activities":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[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           "name": "LLM Evaluation Harness",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    }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            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</a:t>
            </a:r>
            <a:r>
              <a:rPr lang="en-US" sz="1000" b="1" dirty="0">
                <a:solidFill>
                  <a:schemeClr val="tx1"/>
                </a:solidFill>
                <a:ea typeface="+mn-lt"/>
                <a:cs typeface="+mn-lt"/>
              </a:rPr>
              <a:t>"Skills"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: {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              "skills": ["</a:t>
            </a:r>
            <a:r>
              <a:rPr lang="en-US" sz="1000" dirty="0" err="1">
                <a:solidFill>
                  <a:schemeClr val="tx1"/>
                </a:solidFill>
                <a:ea typeface="+mn-lt"/>
                <a:cs typeface="+mn-lt"/>
              </a:rPr>
              <a:t>Python","RAG""Data</a:t>
            </a:r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Analysis", "Machine Learning"],</a:t>
            </a:r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>
                <a:solidFill>
                  <a:schemeClr val="tx1"/>
                </a:solidFill>
                <a:ea typeface="+mn-lt"/>
                <a:cs typeface="+mn-lt"/>
              </a:rPr>
              <a:t>             }</a:t>
            </a:r>
          </a:p>
          <a:p>
            <a:r>
              <a:rPr lang="en-US" sz="1000" dirty="0">
                <a:solidFill>
                  <a:schemeClr val="tx1"/>
                </a:solidFill>
                <a:cs typeface="Poppins Light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7995E-1B4F-2E54-2A84-045BD2402496}"/>
              </a:ext>
            </a:extLst>
          </p:cNvPr>
          <p:cNvSpPr/>
          <p:nvPr/>
        </p:nvSpPr>
        <p:spPr>
          <a:xfrm>
            <a:off x="525114" y="861848"/>
            <a:ext cx="5407722" cy="5830509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519BC9"/>
              </a:solidFill>
              <a:effectLst/>
              <a:uLnTx/>
              <a:uFillTx/>
              <a:latin typeface="Poppins Light"/>
              <a:ea typeface="+mn-ea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D005D0-3C32-58B0-55A2-7F1E1A8D23CA}"/>
              </a:ext>
            </a:extLst>
          </p:cNvPr>
          <p:cNvSpPr/>
          <p:nvPr/>
        </p:nvSpPr>
        <p:spPr>
          <a:xfrm>
            <a:off x="525114" y="859879"/>
            <a:ext cx="5379147" cy="518715"/>
          </a:xfrm>
          <a:prstGeom prst="rect">
            <a:avLst/>
          </a:prstGeom>
          <a:solidFill>
            <a:srgbClr val="EAF3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>
                <a:cs typeface="Poppins Light"/>
              </a:rPr>
              <a:t>Input payload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1F42F652-44F6-5ED1-7D1C-14ABF3761346}"/>
              </a:ext>
            </a:extLst>
          </p:cNvPr>
          <p:cNvSpPr txBox="1"/>
          <p:nvPr/>
        </p:nvSpPr>
        <p:spPr>
          <a:xfrm>
            <a:off x="2020841" y="2995056"/>
            <a:ext cx="2688935" cy="2292935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{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outputLang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",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targetRole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": "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role#ai_engineer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  <a:latin typeface="Poppins Light"/>
                <a:ea typeface="+mn-lt"/>
                <a:cs typeface="+mn-lt"/>
              </a:rPr>
              <a:t>",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"</a:t>
            </a:r>
            <a:r>
              <a:rPr lang="en-US" sz="1100" dirty="0" err="1">
                <a:solidFill>
                  <a:schemeClr val="tx1"/>
                </a:solidFill>
                <a:ea typeface="+mn-lt"/>
                <a:cs typeface="+mn-lt"/>
              </a:rPr>
              <a:t>resumeJson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Profile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Summary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":{},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Education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":[],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Experience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Activity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[], 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        "</a:t>
            </a:r>
            <a:r>
              <a:rPr lang="en-US" sz="1100" b="1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Skills</a:t>
            </a:r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": {}</a:t>
            </a: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    }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  <a:latin typeface="Poppins Light"/>
                <a:ea typeface="+mn-lt"/>
                <a:cs typeface="+mn-lt"/>
              </a:rPr>
              <a:t>}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100" dirty="0">
              <a:solidFill>
                <a:schemeClr val="tx1"/>
              </a:solidFill>
              <a:cs typeface="Poppins Light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4B486FD3-533C-9A0C-CA7F-84B9C26FC3B1}"/>
              </a:ext>
            </a:extLst>
          </p:cNvPr>
          <p:cNvSpPr txBox="1"/>
          <p:nvPr/>
        </p:nvSpPr>
        <p:spPr>
          <a:xfrm>
            <a:off x="522317" y="6211437"/>
            <a:ext cx="4331464" cy="369332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CV Resume Evaluation Orchestrator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">
            <a:extLst>
              <a:ext uri="{FF2B5EF4-FFF2-40B4-BE49-F238E27FC236}">
                <a16:creationId xmlns:a16="http://schemas.microsoft.com/office/drawing/2014/main" id="{FA802B5D-8EFB-26A4-4971-CECE8A27C10A}"/>
              </a:ext>
            </a:extLst>
          </p:cNvPr>
          <p:cNvSpPr txBox="1"/>
          <p:nvPr/>
        </p:nvSpPr>
        <p:spPr>
          <a:xfrm>
            <a:off x="630190" y="1385330"/>
            <a:ext cx="5194010" cy="1277273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t">
            <a:spAutoFit/>
          </a:bodyPr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The evaluation API accepts a lightweight request wrapper and a structured resume body.  The wrapper controls evaluation behavior, while the resume body contains the actual CV content.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Key point: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Actual resume content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Flexible : missing sections are allowed</a:t>
            </a:r>
          </a:p>
          <a:p>
            <a:r>
              <a:rPr lang="en-US" sz="1100" dirty="0">
                <a:solidFill>
                  <a:schemeClr val="tx1"/>
                </a:solidFill>
                <a:cs typeface="Poppins Light"/>
              </a:rPr>
              <a:t>    - Used as the main input for scoring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9A2339AC-E1A4-8E96-3018-FED369D9A801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2400">
                <a:solidFill>
                  <a:srgbClr val="519BC9"/>
                </a:solidFill>
                <a:latin typeface="Poppins Light"/>
                <a:cs typeface="Poppins Light"/>
              </a:rPr>
              <a:t>CVResume evaluation</a:t>
            </a:r>
            <a:r>
              <a:rPr lang="en-TH" sz="2400">
                <a:solidFill>
                  <a:srgbClr val="519BC9"/>
                </a:solidFill>
                <a:latin typeface="Poppins Light"/>
              </a:rPr>
              <a:t> </a:t>
            </a:r>
            <a:r>
              <a:rPr kumimoji="0" lang="en-TH" sz="2400" b="0" i="0" u="none" strike="noStrike" kern="1200" cap="none" spc="0" normalizeH="0" baseline="0" noProof="0">
                <a:ln>
                  <a:noFill/>
                </a:ln>
                <a:solidFill>
                  <a:srgbClr val="519BC9"/>
                </a:solidFill>
                <a:effectLst/>
                <a:uLnTx/>
                <a:uFillTx/>
                <a:latin typeface="Poppins Light"/>
                <a:ea typeface="+mj-ea"/>
              </a:rPr>
              <a:t>– </a:t>
            </a:r>
            <a:r>
              <a:rPr lang="en-US" sz="2400">
                <a:solidFill>
                  <a:srgbClr val="519BC9"/>
                </a:solidFill>
                <a:ea typeface="+mj-lt"/>
                <a:cs typeface="+mj-lt"/>
              </a:rPr>
              <a:t>Resume Evaluation Input Structure</a:t>
            </a:r>
            <a:endParaRPr lang="en-US">
              <a:solidFill>
                <a:srgbClr val="519BC9"/>
              </a:solidFill>
              <a:ea typeface="+mj-lt"/>
              <a:cs typeface="+mj-lt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7CDB5DB-CCF2-1DF7-A137-4920EB61E5E0}"/>
              </a:ext>
            </a:extLst>
          </p:cNvPr>
          <p:cNvCxnSpPr>
            <a:cxnSpLocks/>
          </p:cNvCxnSpPr>
          <p:nvPr/>
        </p:nvCxnSpPr>
        <p:spPr>
          <a:xfrm flipV="1">
            <a:off x="3381375" y="1080445"/>
            <a:ext cx="2986427" cy="2529530"/>
          </a:xfrm>
          <a:prstGeom prst="bentConnector3">
            <a:avLst>
              <a:gd name="adj1" fmla="val 88592"/>
            </a:avLst>
          </a:prstGeom>
          <a:ln w="19050" cap="flat" cmpd="sng" algn="ctr">
            <a:solidFill>
              <a:srgbClr val="FF7E79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DF20318-6215-8BAE-A6DE-E6585AFA6BE5}"/>
              </a:ext>
            </a:extLst>
          </p:cNvPr>
          <p:cNvSpPr/>
          <p:nvPr/>
        </p:nvSpPr>
        <p:spPr>
          <a:xfrm>
            <a:off x="12047220" y="87659"/>
            <a:ext cx="62837" cy="62837"/>
          </a:xfrm>
          <a:prstGeom prst="ellipse">
            <a:avLst/>
          </a:prstGeom>
          <a:solidFill>
            <a:schemeClr val="tx1"/>
          </a:solidFill>
          <a:ln w="9525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171010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6456</TotalTime>
  <Words>4987</Words>
  <Application>Microsoft Office PowerPoint</Application>
  <PresentationFormat>Widescreen</PresentationFormat>
  <Paragraphs>1404</Paragraphs>
  <Slides>108</Slides>
  <Notes>9</Notes>
  <HiddenSlides>12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21" baseType="lpstr">
      <vt:lpstr>Aptos</vt:lpstr>
      <vt:lpstr>Aptos Display</vt:lpstr>
      <vt:lpstr>Aptos Narrow</vt:lpstr>
      <vt:lpstr>Arial</vt:lpstr>
      <vt:lpstr>Arial Unicode MS</vt:lpstr>
      <vt:lpstr>Cambria Math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Tue,260224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Tue,260224</vt:lpstr>
      <vt:lpstr>Tue,260224</vt:lpstr>
      <vt:lpstr>Tue,260224</vt:lpstr>
      <vt:lpstr>Thu,260219</vt:lpstr>
      <vt:lpstr>Thu,120226</vt:lpstr>
      <vt:lpstr>Wed,180226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PowerPoint Presentation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87</cp:revision>
  <dcterms:created xsi:type="dcterms:W3CDTF">2026-01-29T03:40:55Z</dcterms:created>
  <dcterms:modified xsi:type="dcterms:W3CDTF">2026-03-04T06:17:45Z</dcterms:modified>
</cp:coreProperties>
</file>