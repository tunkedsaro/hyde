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0"/>
  </p:notesMasterIdLst>
  <p:sldIdLst>
    <p:sldId id="2147481407" r:id="rId2"/>
    <p:sldId id="257" r:id="rId3"/>
    <p:sldId id="2147481480" r:id="rId4"/>
    <p:sldId id="2147481481" r:id="rId5"/>
    <p:sldId id="2147481482" r:id="rId6"/>
    <p:sldId id="2147481484" r:id="rId7"/>
    <p:sldId id="2147481485" r:id="rId8"/>
    <p:sldId id="2147481486" r:id="rId9"/>
    <p:sldId id="2147481487" r:id="rId10"/>
    <p:sldId id="2147481488" r:id="rId11"/>
    <p:sldId id="2147481489" r:id="rId12"/>
    <p:sldId id="2147481490" r:id="rId13"/>
    <p:sldId id="2147481492" r:id="rId14"/>
    <p:sldId id="2147481493" r:id="rId15"/>
    <p:sldId id="2147481469" r:id="rId16"/>
    <p:sldId id="2147481474" r:id="rId17"/>
    <p:sldId id="2147481472" r:id="rId18"/>
    <p:sldId id="2147481494" r:id="rId19"/>
    <p:sldId id="2147481495" r:id="rId20"/>
    <p:sldId id="2147481475" r:id="rId21"/>
    <p:sldId id="2147481496" r:id="rId22"/>
    <p:sldId id="2147481497" r:id="rId23"/>
    <p:sldId id="2147481499" r:id="rId24"/>
    <p:sldId id="2147481501" r:id="rId25"/>
    <p:sldId id="2147481502" r:id="rId26"/>
    <p:sldId id="2147481476" r:id="rId27"/>
    <p:sldId id="2147481478" r:id="rId28"/>
    <p:sldId id="2147481503" r:id="rId29"/>
    <p:sldId id="2147481473" r:id="rId30"/>
    <p:sldId id="2147481470" r:id="rId31"/>
    <p:sldId id="2147481468" r:id="rId32"/>
    <p:sldId id="2147481409" r:id="rId33"/>
    <p:sldId id="2147481410" r:id="rId34"/>
    <p:sldId id="2147481437" r:id="rId35"/>
    <p:sldId id="2147481424" r:id="rId36"/>
    <p:sldId id="2147481411" r:id="rId37"/>
    <p:sldId id="2147481418" r:id="rId38"/>
    <p:sldId id="2147481442" r:id="rId39"/>
    <p:sldId id="2147481433" r:id="rId40"/>
    <p:sldId id="2147481439" r:id="rId41"/>
    <p:sldId id="2147481443" r:id="rId42"/>
    <p:sldId id="2147481440" r:id="rId43"/>
    <p:sldId id="2147481441" r:id="rId44"/>
    <p:sldId id="2147481438" r:id="rId45"/>
    <p:sldId id="2147481415" r:id="rId46"/>
    <p:sldId id="2147481432" r:id="rId47"/>
    <p:sldId id="2147481414" r:id="rId48"/>
    <p:sldId id="2147481431" r:id="rId49"/>
    <p:sldId id="2147481412" r:id="rId50"/>
    <p:sldId id="2147481460" r:id="rId51"/>
    <p:sldId id="2147481507" r:id="rId52"/>
    <p:sldId id="2147481508" r:id="rId53"/>
    <p:sldId id="2147481506" r:id="rId54"/>
    <p:sldId id="2147481505" r:id="rId55"/>
    <p:sldId id="2147481504" r:id="rId56"/>
    <p:sldId id="2147481459" r:id="rId57"/>
    <p:sldId id="2147481466" r:id="rId58"/>
    <p:sldId id="2147481467" r:id="rId59"/>
    <p:sldId id="2147481465" r:id="rId60"/>
    <p:sldId id="2147481464" r:id="rId61"/>
    <p:sldId id="2147481463" r:id="rId62"/>
    <p:sldId id="2147481462" r:id="rId63"/>
    <p:sldId id="2147481455" r:id="rId64"/>
    <p:sldId id="2147481457" r:id="rId65"/>
    <p:sldId id="2147481461" r:id="rId66"/>
    <p:sldId id="2147481458" r:id="rId67"/>
    <p:sldId id="2147481454" r:id="rId68"/>
    <p:sldId id="2147481456" r:id="rId69"/>
    <p:sldId id="2147481453" r:id="rId70"/>
    <p:sldId id="2147481452" r:id="rId71"/>
    <p:sldId id="2147481446" r:id="rId72"/>
    <p:sldId id="2147481449" r:id="rId73"/>
    <p:sldId id="2147481448" r:id="rId74"/>
    <p:sldId id="2147481447" r:id="rId75"/>
    <p:sldId id="2147481451" r:id="rId76"/>
    <p:sldId id="2147481450" r:id="rId77"/>
    <p:sldId id="2147481445" r:id="rId78"/>
    <p:sldId id="2147481471" r:id="rId79"/>
    <p:sldId id="2147481413" r:id="rId80"/>
    <p:sldId id="2147481419" r:id="rId81"/>
    <p:sldId id="2147481427" r:id="rId82"/>
    <p:sldId id="2147481422" r:id="rId83"/>
    <p:sldId id="2147481423" r:id="rId84"/>
    <p:sldId id="2147481425" r:id="rId85"/>
    <p:sldId id="2147481426" r:id="rId86"/>
    <p:sldId id="2147481429" r:id="rId87"/>
    <p:sldId id="2147481428" r:id="rId88"/>
    <p:sldId id="2147481430" r:id="rId8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F3F8"/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" y="34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5" Type="http://schemas.openxmlformats.org/officeDocument/2006/relationships/image" Target="../media/image8.png"/><Relationship Id="rId4" Type="http://schemas.openxmlformats.org/officeDocument/2006/relationships/image" Target="../media/image9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9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oleObject" Target="../embeddings/oleObject2.bin"/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9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9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6" Type="http://schemas.openxmlformats.org/officeDocument/2006/relationships/image" Target="../media/image15.png"/><Relationship Id="rId5" Type="http://schemas.openxmlformats.org/officeDocument/2006/relationships/image" Target="../media/image8.png"/><Relationship Id="rId4" Type="http://schemas.openxmlformats.org/officeDocument/2006/relationships/image" Target="../media/image9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9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16.png"/><Relationship Id="rId4" Type="http://schemas.openxmlformats.org/officeDocument/2006/relationships/image" Target="../media/image9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17.png"/><Relationship Id="rId4" Type="http://schemas.openxmlformats.org/officeDocument/2006/relationships/image" Target="../media/image9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9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18.png"/><Relationship Id="rId4" Type="http://schemas.openxmlformats.org/officeDocument/2006/relationships/image" Target="../media/image9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19.png"/><Relationship Id="rId4" Type="http://schemas.openxmlformats.org/officeDocument/2006/relationships/image" Target="../media/image9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9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2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6" Type="http://schemas.openxmlformats.org/officeDocument/2006/relationships/image" Target="../media/image22.png"/><Relationship Id="rId5" Type="http://schemas.openxmlformats.org/officeDocument/2006/relationships/image" Target="../media/image20.png"/><Relationship Id="rId4" Type="http://schemas.openxmlformats.org/officeDocument/2006/relationships/image" Target="../media/image9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9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2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26.png"/><Relationship Id="rId5" Type="http://schemas.openxmlformats.org/officeDocument/2006/relationships/image" Target="../media/image24.png"/><Relationship Id="rId4" Type="http://schemas.openxmlformats.org/officeDocument/2006/relationships/image" Target="../media/image9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9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4" Type="http://schemas.openxmlformats.org/officeDocument/2006/relationships/image" Target="../media/image9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30.png"/><Relationship Id="rId4" Type="http://schemas.openxmlformats.org/officeDocument/2006/relationships/image" Target="../media/image9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0.png"/><Relationship Id="rId5" Type="http://schemas.openxmlformats.org/officeDocument/2006/relationships/image" Target="../media/image13.jpeg"/><Relationship Id="rId10" Type="http://schemas.openxmlformats.org/officeDocument/2006/relationships/image" Target="../media/image49.png"/><Relationship Id="rId4" Type="http://schemas.openxmlformats.org/officeDocument/2006/relationships/image" Target="../media/image45.jpeg"/><Relationship Id="rId9" Type="http://schemas.openxmlformats.org/officeDocument/2006/relationships/image" Target="../media/image12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44.png"/><Relationship Id="rId4" Type="http://schemas.openxmlformats.org/officeDocument/2006/relationships/image" Target="../media/image39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6" Type="http://schemas.openxmlformats.org/officeDocument/2006/relationships/hyperlink" Target="https://cvresume-eval-orchestrator-du7yhkyaqq-as.a.run.app/docs#/default/evaluate_resume_api_v1_resume_evaluations_post" TargetMode="External"/><Relationship Id="rId5" Type="http://schemas.openxmlformats.org/officeDocument/2006/relationships/hyperlink" Target="mailto:juanjose.carin@gmail.com" TargetMode="External"/><Relationship Id="rId4" Type="http://schemas.openxmlformats.org/officeDocument/2006/relationships/image" Target="../media/image9.emf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#11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D56AB-14C7-2361-D224-32409E84F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CDDC-8915-19EF-4FC2-ADB45C4EF110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9944DF89-2799-D6A5-E1EB-AEC6FB3CC2E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92AA9E9-0735-3C75-510D-B51CA42FD42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F1C03FF-9FB0-C786-170E-329FC0AED9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254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BD75-4AAE-A967-9FE8-90EB5CE93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233A-7CE8-2E0A-05C7-B12CEF4AA6B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7755FBE3-5BEC-504D-862B-1190A8A0B68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50754EA3-1B2B-8E31-8AD0-D4A2AC26B37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9B40F-AD47-7F2E-15E1-6DAF2CA40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5753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728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6F04-6EE9-7CEF-C9C8-71E72BF06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28E6A-CCE3-7795-456F-AA6B731C7F45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7DBD1C8-EAF4-E6F6-4FB4-E868F01FE28D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37E7C733-E2AD-813A-5055-5CC12BCF572B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4BF8F7-9B03-AEB2-2119-A6C10BD98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088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FE81-CFD9-426F-21FD-0519776FA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4CA89-4C19-6A73-D2A9-53DE83536724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0DDFC57F-7F3A-7A34-5538-A1D11E99EF9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0E3CC55-E344-04A0-7BD2-DA342141CE99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6DE1CD-DB7E-8C04-1C86-8AF9EACB20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914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C5BF5-1DE8-5147-0015-81AA67712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759D2-0285-C6DF-5260-F6E5888CC44F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507264E4-5473-7F05-5675-52C7877719B7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DEAAC102-4A9E-8897-C772-3097E368A32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E0EA98-42C4-CEF8-22A5-4BB9B8C64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502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22234-6F64-8279-E74C-EF53D67F1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C98D0-CF59-65D6-6AC0-A947F9210BBE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1F305EFC-64A5-F50F-B38D-67A01733493F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76C497C-7893-378E-AB9F-C9273F721380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927D2E-2677-EBF2-E7E8-496F249DDD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4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BE176-4A0E-0629-3D59-1426D743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51517-E103-6F56-2A0E-BF571A965489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D7753B6E-ADB3-4FA7-078D-3F9E5030726C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6F023A72-9880-3F1B-902D-EF34E4A37BA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D29084-FB9C-1010-7159-C9236643E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EF7273-3206-955D-BD73-82963020C3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6462" y="983078"/>
            <a:ext cx="4552295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834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DE03D-5923-ADE8-53AE-51C11C88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7BB332C-A8BB-641A-E510-B1783BEF2D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E0AC960-2F31-AB42-5C7D-B07A8E62668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A3E04B-E6D8-9C9A-582C-CFA6FCEB9DDB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E31D81-69E6-E1A2-72D2-A350899F9FA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C0B0219-A335-D2B9-72C5-4416AFDA42A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FE77D8-46BC-623B-D5BE-3C351C8CA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A9A4EE7-2CA5-04BD-4196-13C2CA674887}"/>
              </a:ext>
            </a:extLst>
          </p:cNvPr>
          <p:cNvSpPr txBox="1">
            <a:spLocks/>
          </p:cNvSpPr>
          <p:nvPr/>
        </p:nvSpPr>
        <p:spPr>
          <a:xfrm>
            <a:off x="365759" y="326856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97234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C11BF-70DD-E177-A2A0-E72D99A7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9F3D829-9CE2-A388-614F-B7F7167F8B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7BB332C-A8BB-641A-E510-B1783BEF2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270E2B7-F67B-E305-80EF-6CBB4928E2B0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178DA8-9C6E-6180-78B7-290F6A8854E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6219DF-E267-4EAC-7875-07754772C6A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0D5CBE-AC51-9265-0FD8-1AC7DEC042AF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B31FA2-9E3B-70A0-52A3-9BBF2D671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F85A1B-01EC-96BE-2E64-B0B0E7519B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BC481F5-7F68-39EC-F081-E24BE354E36B}"/>
              </a:ext>
            </a:extLst>
          </p:cNvPr>
          <p:cNvCxnSpPr>
            <a:cxnSpLocks/>
          </p:cNvCxnSpPr>
          <p:nvPr/>
        </p:nvCxnSpPr>
        <p:spPr>
          <a:xfrm>
            <a:off x="5618391" y="1739501"/>
            <a:ext cx="955220" cy="34981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BE8538CC-3613-BEFD-298A-B8FCAEB1B97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18920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FA9C6-B787-387B-05A7-F3B43636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97BD07D-EA7E-1D6D-EFDF-F1F97F93C52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A3191FC-A01B-1C87-D8D5-C4AD6506FB0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E24675-BC37-DD07-FB80-A36E2E6FCBE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EF9D27-BDE5-A4B9-3B54-0985EA2EB4B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D7FDD7-D549-B5AB-DD2D-B9E036EA2CE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2A62C7-F741-4164-2599-84C877BFD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8CA30E-C5FE-62B7-A1B8-D8FFB15595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3032405"/>
          </a:xfrm>
          <a:prstGeom prst="rect">
            <a:avLst/>
          </a:prstGeom>
        </p:spPr>
      </p:pic>
      <p:pic>
        <p:nvPicPr>
          <p:cNvPr id="12" name="Picture 4" descr="Google Cloud Storage: solution for data lakes - Flowygo">
            <a:extLst>
              <a:ext uri="{FF2B5EF4-FFF2-40B4-BE49-F238E27FC236}">
                <a16:creationId xmlns:a16="http://schemas.microsoft.com/office/drawing/2014/main" id="{7DF2DD97-00E4-90B1-DD77-A4171D496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0657" y="5300160"/>
            <a:ext cx="1576747" cy="1119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B453E88-2DBC-92C0-7F9C-A653C1ACE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6119" y="5300160"/>
            <a:ext cx="1689785" cy="950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32354EF-FE57-FC73-2448-6090EF7E106D}"/>
              </a:ext>
            </a:extLst>
          </p:cNvPr>
          <p:cNvSpPr/>
          <p:nvPr/>
        </p:nvSpPr>
        <p:spPr>
          <a:xfrm>
            <a:off x="6971746" y="5067076"/>
            <a:ext cx="1585658" cy="1585658"/>
          </a:xfrm>
          <a:prstGeom prst="mathMultiply">
            <a:avLst>
              <a:gd name="adj1" fmla="val 5798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D76EA3-823E-C92D-2445-C43DE88E30BB}"/>
              </a:ext>
            </a:extLst>
          </p:cNvPr>
          <p:cNvCxnSpPr/>
          <p:nvPr/>
        </p:nvCxnSpPr>
        <p:spPr>
          <a:xfrm>
            <a:off x="8729932" y="5859905"/>
            <a:ext cx="56934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D7288F9-8FAB-F484-02BE-13BAF9E73F26}"/>
              </a:ext>
            </a:extLst>
          </p:cNvPr>
          <p:cNvCxnSpPr>
            <a:cxnSpLocks/>
          </p:cNvCxnSpPr>
          <p:nvPr/>
        </p:nvCxnSpPr>
        <p:spPr>
          <a:xfrm flipV="1">
            <a:off x="2863970" y="2089318"/>
            <a:ext cx="3709641" cy="326078"/>
          </a:xfrm>
          <a:prstGeom prst="bentConnector3">
            <a:avLst>
              <a:gd name="adj1" fmla="val 8813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CEC49167-7B2B-5C70-F4FA-9F6E8868D21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BB0B5-FC0A-2A8B-616F-61F2E5969DDA}"/>
              </a:ext>
            </a:extLst>
          </p:cNvPr>
          <p:cNvSpPr txBox="1"/>
          <p:nvPr/>
        </p:nvSpPr>
        <p:spPr>
          <a:xfrm>
            <a:off x="12378249" y="3618268"/>
            <a:ext cx="1937826" cy="313730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2.5 -&gt; gemini-3.0</a:t>
            </a:r>
          </a:p>
        </p:txBody>
      </p:sp>
    </p:spTree>
    <p:extLst>
      <p:ext uri="{BB962C8B-B14F-4D97-AF65-F5344CB8AC3E}">
        <p14:creationId xmlns:p14="http://schemas.microsoft.com/office/powerpoint/2010/main" val="1905234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F91A7-D98B-44A2-CCB0-3FFD6D30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CCF8882-FAD6-6DCE-2F05-118649EFA6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2C8CE53-04F1-A31D-BDD7-66AC5C72E203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408920-66E2-0E25-94AB-1FD7D73BBFE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F3859-E96B-7E2F-593A-C4F7B3BCB7EE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F6BF057-2A69-9CA9-B5B7-E3A43EF66CD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193133-D3F6-6A04-F079-9B46FF90B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C5C535-5029-5AB6-3D97-774B201ECD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881" y="3309178"/>
            <a:ext cx="5290449" cy="1452603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E87A348-24EF-C554-1EFD-95520CE0B4C6}"/>
              </a:ext>
            </a:extLst>
          </p:cNvPr>
          <p:cNvCxnSpPr>
            <a:cxnSpLocks/>
          </p:cNvCxnSpPr>
          <p:nvPr/>
        </p:nvCxnSpPr>
        <p:spPr>
          <a:xfrm flipV="1">
            <a:off x="4226943" y="3429000"/>
            <a:ext cx="2060796" cy="366623"/>
          </a:xfrm>
          <a:prstGeom prst="bentConnector3">
            <a:avLst>
              <a:gd name="adj1" fmla="val 9186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7E876344-446F-803C-C12B-BBAC8C2C29C2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48494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156A1-3390-7810-1739-AE5D4B47D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6B1512-68DA-B526-491E-5B1E4015E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CCF8882-FAD6-6DCE-2F05-118649EFA6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37F567-C436-964B-66C6-A47CF477E58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BCC7D-2AEC-4C37-2C69-5A818C3F699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0B33DC-27BB-C173-3147-372020C8B3E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E735444-4A89-0643-F3D3-DD7A8852FF7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662351-9D29-A077-ACA4-BE5324091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86B501-9330-1461-122C-0EDE9E553D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0875" y="1119236"/>
            <a:ext cx="3617649" cy="5141415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941B954-E0BD-6C80-D9E3-636061A62186}"/>
              </a:ext>
            </a:extLst>
          </p:cNvPr>
          <p:cNvCxnSpPr>
            <a:cxnSpLocks/>
          </p:cNvCxnSpPr>
          <p:nvPr/>
        </p:nvCxnSpPr>
        <p:spPr>
          <a:xfrm flipV="1">
            <a:off x="2553419" y="1378594"/>
            <a:ext cx="4537494" cy="2969119"/>
          </a:xfrm>
          <a:prstGeom prst="bentConnector3">
            <a:avLst>
              <a:gd name="adj1" fmla="val 7965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CF63507F-C6F8-D32A-C385-36201931EED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28027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B353A-BEA9-C130-6649-A75D2E3D9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39B3FFD-6BB4-EB75-79F3-8A75996C6369}"/>
              </a:ext>
            </a:extLst>
          </p:cNvPr>
          <p:cNvCxnSpPr>
            <a:cxnSpLocks/>
          </p:cNvCxnSpPr>
          <p:nvPr/>
        </p:nvCxnSpPr>
        <p:spPr>
          <a:xfrm>
            <a:off x="1509457" y="292985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14E0457-00D3-47C3-7FE7-F4000F5A6C2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F4DB6A1-3402-17A0-4B0E-8B0A809258AB}"/>
              </a:ext>
            </a:extLst>
          </p:cNvPr>
          <p:cNvCxnSpPr>
            <a:cxnSpLocks/>
          </p:cNvCxnSpPr>
          <p:nvPr/>
        </p:nvCxnSpPr>
        <p:spPr>
          <a:xfrm>
            <a:off x="7394679" y="2903206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8765AEC1-FE98-3CDF-B403-B2D066111491}"/>
              </a:ext>
            </a:extLst>
          </p:cNvPr>
          <p:cNvGrpSpPr/>
          <p:nvPr/>
        </p:nvGrpSpPr>
        <p:grpSpPr>
          <a:xfrm>
            <a:off x="365759" y="1777334"/>
            <a:ext cx="1005791" cy="2305042"/>
            <a:chOff x="213358" y="2209804"/>
            <a:chExt cx="1167768" cy="230504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7AE313F-CD1E-E9BB-E0DC-5434FA7C2EF4}"/>
                </a:ext>
              </a:extLst>
            </p:cNvPr>
            <p:cNvSpPr/>
            <p:nvPr/>
          </p:nvSpPr>
          <p:spPr>
            <a:xfrm>
              <a:off x="213358" y="2209804"/>
              <a:ext cx="1167768" cy="23050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3CCA780-31A6-2714-91B0-47BE6CB38F70}"/>
                </a:ext>
              </a:extLst>
            </p:cNvPr>
            <p:cNvSpPr/>
            <p:nvPr/>
          </p:nvSpPr>
          <p:spPr>
            <a:xfrm>
              <a:off x="479440" y="2703419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npy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EBFA858-01DF-35F6-75E2-C67F939821AF}"/>
                </a:ext>
              </a:extLst>
            </p:cNvPr>
            <p:cNvSpPr/>
            <p:nvPr/>
          </p:nvSpPr>
          <p:spPr>
            <a:xfrm>
              <a:off x="479440" y="3141390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faiss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640A621-4255-A044-B551-B8DF4D36D2F3}"/>
                </a:ext>
              </a:extLst>
            </p:cNvPr>
            <p:cNvSpPr/>
            <p:nvPr/>
          </p:nvSpPr>
          <p:spPr>
            <a:xfrm>
              <a:off x="479440" y="3579361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json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D4F7BEA-EF5B-BBB2-9B8E-012FDDCF8EA6}"/>
                </a:ext>
              </a:extLst>
            </p:cNvPr>
            <p:cNvSpPr/>
            <p:nvPr/>
          </p:nvSpPr>
          <p:spPr>
            <a:xfrm>
              <a:off x="479440" y="4017493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yaml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98845CA-A972-EE96-22CE-A5589202CFD4}"/>
                </a:ext>
              </a:extLst>
            </p:cNvPr>
            <p:cNvSpPr txBox="1"/>
            <p:nvPr/>
          </p:nvSpPr>
          <p:spPr>
            <a:xfrm>
              <a:off x="302938" y="2299610"/>
              <a:ext cx="97871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4814D16-3EF3-1903-4466-48B5AA721E96}"/>
              </a:ext>
            </a:extLst>
          </p:cNvPr>
          <p:cNvGrpSpPr/>
          <p:nvPr/>
        </p:nvGrpSpPr>
        <p:grpSpPr>
          <a:xfrm>
            <a:off x="7852615" y="1692958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4EC99EDB-64F7-A67A-5DBE-BC72BBCB76F2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D9EF57D9-8EE2-C4C5-782B-83EDA193674C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A82F7516-AC2F-D058-2F2C-6605708EEC7F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22B21780-EA40-B652-05FF-ECF576345D47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79305753-D356-4BC4-1A49-062CEBE1D7DF}"/>
                </a:ext>
              </a:extLst>
            </p:cNvPr>
            <p:cNvSpPr txBox="1"/>
            <p:nvPr/>
          </p:nvSpPr>
          <p:spPr>
            <a:xfrm>
              <a:off x="236548" y="2012175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CC1ECD3D-BAA1-50C9-FBC5-A1C4D303F278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A4D2188C-B864-F45D-1F5F-6C4B5E44DEAC}"/>
              </a:ext>
            </a:extLst>
          </p:cNvPr>
          <p:cNvSpPr/>
          <p:nvPr/>
        </p:nvSpPr>
        <p:spPr>
          <a:xfrm>
            <a:off x="9002664" y="3561203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138ED22-0025-3D83-9465-C2E11221EDFD}"/>
              </a:ext>
            </a:extLst>
          </p:cNvPr>
          <p:cNvCxnSpPr>
            <a:cxnSpLocks/>
          </p:cNvCxnSpPr>
          <p:nvPr/>
        </p:nvCxnSpPr>
        <p:spPr>
          <a:xfrm>
            <a:off x="9803393" y="4074066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5A47105-1684-8B27-169F-6EDD0C629491}"/>
              </a:ext>
            </a:extLst>
          </p:cNvPr>
          <p:cNvSpPr/>
          <p:nvPr/>
        </p:nvSpPr>
        <p:spPr>
          <a:xfrm>
            <a:off x="9004577" y="445690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02C7F45-B2C3-5374-772A-5D930CBE5016}"/>
              </a:ext>
            </a:extLst>
          </p:cNvPr>
          <p:cNvSpPr/>
          <p:nvPr/>
        </p:nvSpPr>
        <p:spPr>
          <a:xfrm>
            <a:off x="9002664" y="5358742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C783D14-4F4B-349C-C22B-F3FA85DAC235}"/>
              </a:ext>
            </a:extLst>
          </p:cNvPr>
          <p:cNvGrpSpPr/>
          <p:nvPr/>
        </p:nvGrpSpPr>
        <p:grpSpPr>
          <a:xfrm>
            <a:off x="442914" y="4958641"/>
            <a:ext cx="1758365" cy="1333699"/>
            <a:chOff x="310230" y="5605659"/>
            <a:chExt cx="1758365" cy="1333699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5CABCC98-E78C-2C1A-F3A7-C40AABC9612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4A575C14-D773-F7F2-943B-F27C7FC106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9" name="Rounded Rectangle 29">
                <a:extLst>
                  <a:ext uri="{FF2B5EF4-FFF2-40B4-BE49-F238E27FC236}">
                    <a16:creationId xmlns:a16="http://schemas.microsoft.com/office/drawing/2014/main" id="{162AD472-375D-9447-6A7B-75F96C8E3566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0" name="Rounded Rectangle 30">
                <a:extLst>
                  <a:ext uri="{FF2B5EF4-FFF2-40B4-BE49-F238E27FC236}">
                    <a16:creationId xmlns:a16="http://schemas.microsoft.com/office/drawing/2014/main" id="{7130C49E-31B7-A785-9F60-3BF59E17A95D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1" name="TextBox 37">
                <a:extLst>
                  <a:ext uri="{FF2B5EF4-FFF2-40B4-BE49-F238E27FC236}">
                    <a16:creationId xmlns:a16="http://schemas.microsoft.com/office/drawing/2014/main" id="{1C8904ED-CFEA-5F38-3C54-5415C64D8D75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2" name="Rounded Rectangle 40">
                <a:extLst>
                  <a:ext uri="{FF2B5EF4-FFF2-40B4-BE49-F238E27FC236}">
                    <a16:creationId xmlns:a16="http://schemas.microsoft.com/office/drawing/2014/main" id="{153E892B-6E93-DDBA-A914-B953F3A93F8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07" name="TextBox 12">
              <a:extLst>
                <a:ext uri="{FF2B5EF4-FFF2-40B4-BE49-F238E27FC236}">
                  <a16:creationId xmlns:a16="http://schemas.microsoft.com/office/drawing/2014/main" id="{421004EB-F6CB-D415-6965-C7D05110085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372A227-6F7C-A32E-AFF7-66CF6D25D6C7}"/>
              </a:ext>
            </a:extLst>
          </p:cNvPr>
          <p:cNvCxnSpPr>
            <a:cxnSpLocks/>
          </p:cNvCxnSpPr>
          <p:nvPr/>
        </p:nvCxnSpPr>
        <p:spPr>
          <a:xfrm>
            <a:off x="9803640" y="4958641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C5E96AC4-C14A-C393-CE72-77324D7B292D}"/>
              </a:ext>
            </a:extLst>
          </p:cNvPr>
          <p:cNvSpPr/>
          <p:nvPr/>
        </p:nvSpPr>
        <p:spPr>
          <a:xfrm>
            <a:off x="1871113" y="1685929"/>
            <a:ext cx="5423030" cy="25337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5061A733-4345-AB10-9AC9-E9FF198735F6}"/>
              </a:ext>
            </a:extLst>
          </p:cNvPr>
          <p:cNvSpPr/>
          <p:nvPr/>
        </p:nvSpPr>
        <p:spPr>
          <a:xfrm>
            <a:off x="1930351" y="2739438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+ Validate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905F33B-9D66-5270-610D-18C6BBAAA5CD}"/>
              </a:ext>
            </a:extLst>
          </p:cNvPr>
          <p:cNvCxnSpPr>
            <a:cxnSpLocks/>
          </p:cNvCxnSpPr>
          <p:nvPr/>
        </p:nvCxnSpPr>
        <p:spPr>
          <a:xfrm>
            <a:off x="4431762" y="2331646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28F56458-1274-4AC6-6946-7A5F1A4F4A26}"/>
              </a:ext>
            </a:extLst>
          </p:cNvPr>
          <p:cNvCxnSpPr>
            <a:cxnSpLocks/>
          </p:cNvCxnSpPr>
          <p:nvPr/>
        </p:nvCxnSpPr>
        <p:spPr>
          <a:xfrm flipV="1">
            <a:off x="2608268" y="1983632"/>
            <a:ext cx="876300" cy="686151"/>
          </a:xfrm>
          <a:prstGeom prst="bentConnector3">
            <a:avLst>
              <a:gd name="adj1" fmla="val -1359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52240B15-FBA4-8C48-27B6-02AA07E7537E}"/>
              </a:ext>
            </a:extLst>
          </p:cNvPr>
          <p:cNvCxnSpPr>
            <a:cxnSpLocks/>
          </p:cNvCxnSpPr>
          <p:nvPr/>
        </p:nvCxnSpPr>
        <p:spPr>
          <a:xfrm>
            <a:off x="2608268" y="3149880"/>
            <a:ext cx="876300" cy="682519"/>
          </a:xfrm>
          <a:prstGeom prst="bentConnector3">
            <a:avLst>
              <a:gd name="adj1" fmla="val -99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2CB3F2AD-D445-1A8C-6FEC-69BB91975A9F}"/>
              </a:ext>
            </a:extLst>
          </p:cNvPr>
          <p:cNvSpPr/>
          <p:nvPr/>
        </p:nvSpPr>
        <p:spPr>
          <a:xfrm>
            <a:off x="3613101" y="1798561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FAISS Index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read_index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580669D-7D3B-BA76-4351-E9FB4192577C}"/>
              </a:ext>
            </a:extLst>
          </p:cNvPr>
          <p:cNvSpPr/>
          <p:nvPr/>
        </p:nvSpPr>
        <p:spPr>
          <a:xfrm>
            <a:off x="3613101" y="3647327"/>
            <a:ext cx="1355834" cy="4642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User 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(1 – 5 queries)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B688E06-26C4-7286-02DC-D5A92C4AF1AD}"/>
              </a:ext>
            </a:extLst>
          </p:cNvPr>
          <p:cNvSpPr/>
          <p:nvPr/>
        </p:nvSpPr>
        <p:spPr>
          <a:xfrm>
            <a:off x="3753845" y="2711909"/>
            <a:ext cx="1355834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FAISS Search Top 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Score + indices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AC041799-219E-5027-C185-DCF84D87DA53}"/>
              </a:ext>
            </a:extLst>
          </p:cNvPr>
          <p:cNvCxnSpPr>
            <a:cxnSpLocks/>
          </p:cNvCxnSpPr>
          <p:nvPr/>
        </p:nvCxnSpPr>
        <p:spPr>
          <a:xfrm flipV="1">
            <a:off x="4431762" y="3236413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EDA4A3C6-EE96-82FB-6C42-5035F59D19A6}"/>
              </a:ext>
            </a:extLst>
          </p:cNvPr>
          <p:cNvCxnSpPr>
            <a:cxnSpLocks/>
          </p:cNvCxnSpPr>
          <p:nvPr/>
        </p:nvCxnSpPr>
        <p:spPr>
          <a:xfrm>
            <a:off x="5230325" y="292450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Rectangle 133">
            <a:extLst>
              <a:ext uri="{FF2B5EF4-FFF2-40B4-BE49-F238E27FC236}">
                <a16:creationId xmlns:a16="http://schemas.microsoft.com/office/drawing/2014/main" id="{F9F7E029-A177-6FF6-3E2F-7E7EF8913BF7}"/>
              </a:ext>
            </a:extLst>
          </p:cNvPr>
          <p:cNvSpPr/>
          <p:nvPr/>
        </p:nvSpPr>
        <p:spPr>
          <a:xfrm>
            <a:off x="5632602" y="270287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Map Indices &lt;-&gt; Meta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Candidates (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feed_id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06E6E4F1-FEF6-65D5-0224-0FFFEE0EE47D}"/>
              </a:ext>
            </a:extLst>
          </p:cNvPr>
          <p:cNvSpPr txBox="1"/>
          <p:nvPr/>
        </p:nvSpPr>
        <p:spPr>
          <a:xfrm>
            <a:off x="6627655" y="1775833"/>
            <a:ext cx="666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Shin</a:t>
            </a:r>
            <a:endParaRPr lang="en-US" sz="105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E0A7744-E2F4-BE6C-C950-2DE141672CB4}"/>
              </a:ext>
            </a:extLst>
          </p:cNvPr>
          <p:cNvGrpSpPr/>
          <p:nvPr/>
        </p:nvGrpSpPr>
        <p:grpSpPr>
          <a:xfrm>
            <a:off x="7852614" y="1706527"/>
            <a:ext cx="3893906" cy="1495360"/>
            <a:chOff x="1382298" y="2429185"/>
            <a:chExt cx="3893906" cy="14953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EE6AEE6B-A9D8-5FBE-4B77-6EBBED564E7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010F8CA-AFDF-95F4-597A-52FE69C0EE6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34CE420-A0AF-9758-6418-69DD6475E7A3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9E179FE2-900F-2537-8AFB-3D06F2974AE5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EF19CB-E753-DCA0-6668-5D4EAEB9F55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A0DEC68-1133-DC9E-5E04-C0E8B2885AD7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D8E3A00-CFC5-F838-75FA-028599229E3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95EC060-04AF-65A4-49D9-79A4CB3DB60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05125AE7-2E73-A078-DED9-270C83B7F5A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768B1297-FA2B-02D7-43F3-411F2EB55BC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E90CDE6A-CEA1-E0F9-A569-EE8B2187AEEB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3F7F8687-55C4-0740-3ABA-8139E559FCF1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BABF7EC-AA9C-C15E-BFA2-560237B82D5C}"/>
              </a:ext>
            </a:extLst>
          </p:cNvPr>
          <p:cNvCxnSpPr>
            <a:cxnSpLocks/>
          </p:cNvCxnSpPr>
          <p:nvPr/>
        </p:nvCxnSpPr>
        <p:spPr>
          <a:xfrm>
            <a:off x="9801480" y="3076075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16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E4E9D-82FE-ABCF-E7D8-596AFBE2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563E37-7449-88E7-531F-DD47615EAE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207D98-3AEE-A2C0-DB07-F7C6BA7777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133C71-30BE-A9F1-A5A6-6CACFB2661C5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1D59A-6A6B-4BCD-B009-8D9614F4753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FAD9D9-09F0-C2E8-4BA5-8EF90876A2C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471108E-0CB2-34E8-8985-9EF77DAFED80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C03F2-64D0-86BA-B3D8-B13A3FD2205A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346D41F-7650-2E3D-7F69-A8EF456DAD7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7DC2D9-24AD-D02B-7EB8-3AFA24FE219C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48DC336-83AE-F030-D3D9-6AF38E576CF2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74EDE2-DE4F-ACBE-D1CD-62C38B4F767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E0B11-0E08-8A51-1FEC-50960C044A0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68D6686-89C1-C69E-7700-3E42482BD5D1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96CED02-FFE2-A722-645B-6E24A7CB53D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EB54D67-E7ED-7534-05CB-D120A1A9571E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876AECEE-E23B-9A5F-8CEC-BB2BFB092C1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D20CF27-E296-CEC9-9BA1-35436660E2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CBB2AC6-0A72-F98C-75D2-6A9E86932B15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528B0C6E-8C35-077E-CAE4-B53AF7828286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5110F05-288A-C1FD-C6F3-F39A4945E24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99E5E69-58E4-12C7-E916-DC318EDC657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35256E-E243-2B41-C61E-E60437A662A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C0C9292-BAD7-C0BF-1877-6ED4A4C5D0F0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927AEFB-A76E-E448-3ECC-069460DCFBF2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BE55D54-34E1-9437-60DF-85543AF56F1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F347C6-7739-F72B-A0E3-5A8AB130596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6DAEC91-5854-85A8-0920-E7F87FF8C68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FB94F6F-0378-0DBC-FB6D-A8D1CAAEDB81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5FF820D-76D3-DD5C-F3C6-A639AE8CE4E9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9FA5D99E-E6DE-48C5-C466-1A0AE1BAB55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6550774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5594-519C-BE0C-1757-09039F93A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D412317A-D09F-EFF2-C875-46B41971223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4A656C5-F5D5-269A-E195-6A93D0901851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81347B-51E8-65AE-127D-AA5A32F1A9C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220FE5-1DC5-E096-59BE-32BFCE01C76C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A9FEF29-C9FF-4B0D-5BBE-786816058058}"/>
              </a:ext>
            </a:extLst>
          </p:cNvPr>
          <p:cNvCxnSpPr>
            <a:cxnSpLocks/>
          </p:cNvCxnSpPr>
          <p:nvPr/>
        </p:nvCxnSpPr>
        <p:spPr>
          <a:xfrm>
            <a:off x="4424666" y="1763742"/>
            <a:ext cx="2157109" cy="2007134"/>
          </a:xfrm>
          <a:prstGeom prst="bentConnector3">
            <a:avLst>
              <a:gd name="adj1" fmla="val 79585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EF73F69C-0C1F-7EBE-BFA5-2FB242CBE59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42891DF-1064-DFEE-2B4D-6041C3EE30E1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rgbClr val="EAF3F8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F6432-7F06-5C1F-EA27-82B562BA8F47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1EF3998-A10A-3FF8-784B-69CAE498955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6D454AD-D130-20E5-D617-F1739891A1DD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1CB45C9-F548-143E-69B6-BCFDF6DF8FA6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BA05F9A-455C-E693-5C46-2AFBEE83525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Subscore function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D5900E3-32F4-4766-3EC3-CEB4AD9D0BE8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C45376E-D6B8-D99D-69AF-4D68DA471265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EF6E033-55B1-DEC0-2EC3-E9C016E6463F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69E44FC-725B-BEE5-E931-6AC310E76525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BD316B90-41EB-105A-0881-5A897E5779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C22C76C5-5170-1513-7FBA-93FF6071046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D409CC3-6763-4AB4-850A-4EE0A6707CEE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76015A-7AE5-F2A6-F7EC-D198992E760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C7FB823-E1C3-0FE9-F8AD-C805A30F97B6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985525-FBF1-FC54-1BAA-05A220086B2C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D31339-DD70-D931-D14C-B2E19A04215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29E37C-A279-81A9-1730-4F1CE8F0796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0D4DAB0-5E19-F052-DEF6-2213190977A5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0225100-D0CC-12AF-F979-52159EAE1FF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2FFA875-0EF1-75D3-D800-D89459F900B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35A5B1-85CA-74B0-BF5D-5F41D736C6A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9DBF2AE-8306-8A3C-F27F-E1AEB62E091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8D23E93-A175-33FE-F64E-4F3366995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361" y="1524278"/>
            <a:ext cx="4737798" cy="473137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B2743EA5-7AB5-6F0F-7BCA-71017BCA6B5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8FC226A-EAED-B484-7E92-65AD95DB02AB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6E8FF67-4F1C-F398-F610-009ED6FA9D3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A018568-8852-1235-BF28-F24B3047C86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78EE70A-CA54-D888-6429-26469192F11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F0D9EF4-C48B-157A-2490-7B545816138B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64053970-BE13-D663-B14D-483FA039059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58D2B0C-911F-DBA9-28CB-6A5DD6B48C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20BBFFD-E072-9135-C4B6-0A2662E22B62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6268DE-32F1-166C-8A2B-71D8816B369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84B40231-D718-E1FB-AAB0-C486BF71F46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67F6FDBF-36CB-F794-C722-5AA85A37DE9B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0F4F1E4D-9BCD-1505-A5DA-621145A30E4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14A5430-ED2C-93AB-933E-4022EDEB2C9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A774E6D4-1560-CFB3-8AAC-C6018759285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63201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723A2-BAFD-96D1-B9E6-EC7E9143D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248C7DB-AB72-EA8B-09B5-CEE68C641AA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14FC34F-4B8F-14DD-89A6-8E6D49B2348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131A40-4EAB-9B36-F658-3EE6B344C7A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C9C6E1-310B-0535-7AE5-AE00523680CD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8738FBB-C9A7-F484-4E25-95BD2344DE98}"/>
              </a:ext>
            </a:extLst>
          </p:cNvPr>
          <p:cNvCxnSpPr>
            <a:cxnSpLocks/>
          </p:cNvCxnSpPr>
          <p:nvPr/>
        </p:nvCxnSpPr>
        <p:spPr>
          <a:xfrm>
            <a:off x="4336919" y="2312979"/>
            <a:ext cx="2931760" cy="1462154"/>
          </a:xfrm>
          <a:prstGeom prst="bentConnector3">
            <a:avLst>
              <a:gd name="adj1" fmla="val 62671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10993FC-A740-05D8-7BB0-04A25FAACF7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BCBEC6-6E8A-1FB2-3540-72D99CE96DC8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879D052-F790-6690-C5C0-28118DF7FF46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7DF5A861-6D96-DA63-B584-2A63C43C765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40C9F4-4DE7-0DBE-4574-DB603D8048A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2BF5D95-59D2-9994-0A2B-765B6120543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FE1F1FE-9F65-0D56-9481-1E0DA4FD273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3F51F6-948E-4214-379D-0D4345E1E01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3CFFBA0-7900-462B-7DB1-E8B4C9A7A49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FA0B320-A474-E2CC-07CA-55500E71A73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DB6CF18-EEF4-D851-7FF1-A3E86CA28E3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FD4F2C-3A42-C4EF-FC69-CE2747E06EC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B7B39A7-5FAD-CC73-5F0B-4F0A472FA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620" y="1119236"/>
            <a:ext cx="3298992" cy="5479406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3AC01373-17C2-0477-DDD3-2C2E3F190909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807C64-C7B8-63E5-957A-37D0E0129BF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3922170-6C23-E26D-DE16-9FC6028956A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5A1EB48-5644-CB7D-710B-ACD6786AEB9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D65D0-050E-80CB-FAA8-D7353DD5325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85B8865-03E7-931C-CE27-AEAFBA9E288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26B6A24-7B8D-E5BC-D316-4D4BF98445CF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7181E6-D6C3-2A75-8D47-D6122BF53F76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51075AA-3E2C-7E7E-F350-C76F7F7C5774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72B69A-E424-492D-8FAD-0D05F807AEB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4E05F5A1-6970-EF25-855E-BD7795C5290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C04D171-C5AB-E747-E245-D5B311CFFD9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5C0CA04-251B-CCA1-CAE4-53D0F7712FED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BA02801-144E-4ABD-9216-E5ABB683026B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FBD09A45-9B62-23BC-40EC-1517CB23464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45167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7A2A8-2BBD-1FAB-AE6E-7A94817A6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B117EBD-B359-09D7-824C-FD288B49D8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AD7FAE-94D8-3F36-80BC-D0D2C475A6E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09CA9-FB45-7808-42A9-75EAE46DC87C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2025BA-7943-1D33-BC92-A487335C150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55A8D0-1077-A0FC-8B26-218552473424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532A52-197D-551E-C22D-F8455A5BFAB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75CB9AE-E280-7622-F80F-AA66C670698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B5881E4-D292-D8FE-AAE5-EE88B21EC8A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73A94C9-D6CC-A25B-A246-3F5085FC645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7F9FEC-6D63-B5CB-1CC0-768BD3B6ADD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E3BB53B-0521-6051-FE2C-8A9D320214B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937F98-FBB0-2362-A2A3-50BAE97BED4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0D5ED3-BF63-040F-689C-B79DDFF8988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B06F27F-98E2-A3C6-46DE-F2C690CE449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A48C33-4B1A-B765-032D-318AEEB0CAFA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5E2E22-6C84-0AD2-8A1D-E0B1B43AB5B9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60C1516-4C1C-011A-F848-6B516CC9DF8D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52B0AE4-788E-3A1D-17D4-5D0D9AE7D5D4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0B8B9C1-B7D9-1AEB-C1C8-A070A5D10DF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6D24E9C-47D2-F228-E748-34BAD6527B58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1543E57-F9E7-0997-5CE8-18DD214D9263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E363FD-5969-E474-6A3B-A50D7C9EF87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E0341EA-ACBA-3B50-BDFA-8C1C1298588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51BF4E-B292-05D0-8DCA-274F639EAE3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1D8B076-668A-5641-EEE1-426501E1028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CD61B43-96C3-2970-E17A-CD88CE2AA8E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91B314F-E0BF-F89A-694A-D28B9CC1756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9A9ED73-D39D-D559-4957-2B6A34FCFCF3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6FA11DD8-72C6-22AA-AC43-53EE3E65E9F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C3215B-40E4-7597-EE8E-7F59612F290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34772BD-380B-5B05-C84E-1491EC5A802D}"/>
              </a:ext>
            </a:extLst>
          </p:cNvPr>
          <p:cNvSpPr txBox="1"/>
          <p:nvPr/>
        </p:nvSpPr>
        <p:spPr>
          <a:xfrm>
            <a:off x="6382369" y="950934"/>
            <a:ext cx="5294661" cy="141577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Mapping retrieval outputs to real feed items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got internal vector ids (indices), NOT business ids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convert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index_id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via aligned metadata array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Then join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full feed metadata from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feeds_meta.jsonl</a:t>
            </a:r>
            <a:endParaRPr lang="en-US" sz="1400" dirty="0">
              <a:solidFill>
                <a:schemeClr val="tx1"/>
              </a:solidFill>
              <a:cs typeface="Poppins Light"/>
            </a:endParaRP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Resuts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candidates become “real feed items” with fields like title, language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created_at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, views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537747-22FA-EC83-C61B-F9B53CDBAFD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873914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BAA11-DA03-B9FB-A84C-5033CFF5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7F02565-9BD3-8B54-4586-807BD81F850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5FC47A65-0FD0-5E9C-767F-CB343CF229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F5733A-6FF5-7179-5781-38489A58A3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CAF373-93D0-9A63-EC39-A26C04A4C8DA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E0383DA-6807-3554-D7E2-C9EB51F35CE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06CB42-170B-9154-488A-AAC77F75222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79C701E-3041-66E3-DB3E-BDE611CE82B9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65C9E0D-D850-1766-0BB1-B69D5FCD44E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3AF1C36-05FC-163D-89B4-288C166FA09B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45A8785-5199-6A40-8F16-79F45DEFB42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95CB878-6260-8C40-5472-27EA74373D0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6C41C58-6C81-1955-31BC-2BD22E9E6B6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A20E62-6D42-F24F-7535-680DB0E1770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0919DF4-846A-9BD3-2FEA-574DD5E67EA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05988-D4C8-87D8-8AE4-33D13215F4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329614-7E00-4B22-321B-31217723F48B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BA004AC-E2EB-5B2E-366B-542EAE8DB7E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084A2FE-9CBC-5A09-50B4-EFE54A6471C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B78ED10-A28A-78C6-3E1F-70B1945030F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3381439-17D9-E29D-4B8D-48A86E01CB1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950B6F-0F9D-C48B-0B4F-3B7F80CAAC94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54762C-4CF6-6294-AF4E-06B58309029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605E307-AB19-74CD-B4CF-F542AEA5C7F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0ECE1FA-697A-0E06-05CF-7AB7D0AA735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55FED49-11BB-6A2A-0ED9-4EDFECC47DD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701BFF8-81E7-2BE2-1BD0-4D891FF006C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C35158C-31B2-C660-BE07-BF3B680D769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3D863BA-4A40-7348-8CF9-CF84331D9B1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9C504984-90DC-DBFF-4287-FA8B71CFB64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8030BF9-BE0D-8E5B-D9D6-56EE69043C08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7383AE0-AB7A-A26B-1CF0-A18C356BE24D}"/>
              </a:ext>
            </a:extLst>
          </p:cNvPr>
          <p:cNvSpPr txBox="1"/>
          <p:nvPr/>
        </p:nvSpPr>
        <p:spPr>
          <a:xfrm>
            <a:off x="6404638" y="879576"/>
            <a:ext cx="5282538" cy="163121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All score are bounded in [0,1]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Subscore are deterministic (same inputs -&gt; same output0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A1AA7F7-D28D-060F-3A9C-C287CF96FF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884" y="2866973"/>
            <a:ext cx="5268767" cy="910486"/>
          </a:xfrm>
          <a:prstGeom prst="rect">
            <a:avLst/>
          </a:prstGeom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D5C0CC68-2522-F08B-E8CF-8819A90CF6B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644234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1CC8C-A038-C7B6-04ED-43DC63E5A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DBC14B8-CF74-78B7-9501-415068190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37D2DE4-6678-77A4-4300-7E4B2D0F4BA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FC4329-E7B8-D867-EDC0-BE3EC96001D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A562E7-7B34-7137-CDCF-FF45FF0BF6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C5A754-3506-DC46-B281-6A095EB928B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54055-44A9-29CA-51B8-E7999A1F21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9B54DAC-6A05-1C02-AD9F-B4D2020B37F4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FA6D93F-1673-B531-18B6-88923AB850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0228F97-1C2E-D8EF-F4F1-1499CB3C82B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B5FC451-3D27-398D-36C9-16BFA0D5F41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0FE8E83-545A-BF46-2722-7F3CCE1E869A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5B2714-16B5-A232-100A-4CEECD667A9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94CF2A-0110-7006-70AE-58733A01FAC2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B7732E-D467-C8AE-2FC3-E43245A3652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71B63B-4769-0E45-4293-69C3A674CC7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FA9A62-D97D-429D-FF00-6D2A7B5B491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C17C06-C580-4D0B-CF84-12555808DF27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DAF0763-D9DE-B8F1-FE15-16236BDBAFB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877B49C-B947-5435-CCEB-E643B1933039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DA011A5-F2F2-5DE5-1B4B-1E2E97A87B06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0B8E3ED-3B3D-131D-945C-A7ACD819A53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5FF01-274E-5C84-D570-537D09EA013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EB5F3BC-0904-1503-2661-5ED41D177E8C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0002C70-98C4-EA0D-F1F2-277B2214F44D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BC3B381-7EBE-72B0-3AFA-893443EC901A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D2945243-53B9-8704-9DF3-D011A3E450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0543E9D4-DF09-E494-BD2E-B8F28B94F0E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4012070-0FEE-E5BA-D70D-DAE2DFB29F6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5A0123B6-D1AC-4905-677B-BB8B5B4A975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B2D342-F359-3F30-0885-E4659E0169B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360D693-86A8-3B13-6724-93D771819668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B13D69-EABA-0B75-8D79-A9C283686F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431" y="3460877"/>
            <a:ext cx="5282538" cy="18156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0C9B75A-3DE5-3B36-C3A6-F3607A83A785}"/>
              </a:ext>
            </a:extLst>
          </p:cNvPr>
          <p:cNvSpPr txBox="1"/>
          <p:nvPr/>
        </p:nvSpPr>
        <p:spPr>
          <a:xfrm>
            <a:off x="6404638" y="2148444"/>
            <a:ext cx="5282538" cy="954107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Read feed language from :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feed_meta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["lang"]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equal user language -&gt; 1.0 else -&gt;0.0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It’s a hard match (not similarity, just exact match)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user prefers "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th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" , Thai content gets a boost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049E155-47D1-EFAC-DEB8-9C281AEA624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5295353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D4918-0ABD-0C97-756A-23C5A65B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392DB5E-A91A-8357-C5DE-D625739D2A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DBC14B8-CF74-78B7-9501-415068190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C06489-2CFE-58F2-66D1-C49554AFD35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2BDFC8-3B70-998C-093D-71F6AF88180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365400-A5D7-76BE-32D1-B7522ADAD361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38B223-8DF6-4384-E2B7-E581CAA3F66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F117AC-8250-178D-BE1A-7F5D674822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87A6233-302C-E9B6-B73B-46B4E7FA62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83F8C8E-AA9C-487D-B674-38393B9341CC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54A4FC4-917B-F4D9-B5C0-2C8324D5387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9232A0B-1A4C-E7A7-6864-4CC4C6B79D88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7AEE92-66BE-8B0E-2CF6-B97C4A206CA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D5E8E-6292-D7B9-7BBF-19157849CC8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1F9A90-4F80-4E95-004A-DD1BD143F6D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3149DD6-A744-43A0-9113-236A886977D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8BE398-D5EF-3747-8A3B-392A52644AD8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A42F5-33F7-BA9C-A5D2-BEBC1D1EC48E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3F2E92B-82C1-C168-91D0-CE1B6ECB043C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33B1DBA-BFEE-42FB-8B74-FAC8FEBFC029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E4622D7-B505-47CF-7483-9E76C5C8ED4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4B87CB-8157-2492-3867-55E70F7675C3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B677785-AB9E-3631-B426-A895FB662595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A4093D7-E2B7-B427-C0B8-8FB769622B94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B79193A-EDCC-0F9A-785E-DFD4B5DC6A6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25548-8A1D-97FB-AE84-D5932C278C8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2F73136-56D1-F8A3-E224-AD3B29B6959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EB64928-C099-2368-7450-FFCD95443F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E2DEB9C-8296-1682-47BD-F98057DC376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DD9F6FD-0DF9-4F02-2A89-7483315C310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376CC44B-7571-3626-7369-93194BCFCC65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990276-48F5-C567-D20A-5428401D7C6F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571BFCE-3A30-AE35-5736-0E912ECF49DE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" name="Picture 47">
            <a:extLst>
              <a:ext uri="{FF2B5EF4-FFF2-40B4-BE49-F238E27FC236}">
                <a16:creationId xmlns:a16="http://schemas.microsoft.com/office/drawing/2014/main" id="{74DF67C0-43A4-2324-0D5D-784EA39228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2858950"/>
            <a:ext cx="4832019" cy="3756554"/>
          </a:xfrm>
          <a:prstGeom prst="rect">
            <a:avLst/>
          </a:prstGeom>
        </p:spPr>
      </p:pic>
      <p:sp>
        <p:nvSpPr>
          <p:cNvPr id="49" name="Title 1">
            <a:extLst>
              <a:ext uri="{FF2B5EF4-FFF2-40B4-BE49-F238E27FC236}">
                <a16:creationId xmlns:a16="http://schemas.microsoft.com/office/drawing/2014/main" id="{DF5C407E-AB73-86D1-06A9-15AD8E60DC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9331033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39F05-698A-DC23-F86C-A7F0533DC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44A1350-3AA1-C79C-AE05-03FFA159CF2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392DB5E-A91A-8357-C5DE-D625739D2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C67EF69-9187-982E-269C-9B68D47C0C4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1A2835-88D7-2F97-0AD0-906C0B0C910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235209-A1DD-B307-EC8D-70609BDCE3D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4BB245-A65F-E0F3-BB41-7C380398A75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17FC4-CA79-D8A7-7F48-01AA6FBA35A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C8E34DA-F70F-936B-1994-3054E19510D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18BA04-3B82-7B91-7B18-CB22D364EDB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D9F765C-43D3-21DD-2E90-3EB3CFF5F26A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088EE78-286E-1951-FC1E-D8A456313CD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0246640-7F72-6F6A-5FC5-E76047D71C8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C73F2-15D3-FFCF-6E80-A862E6BE8AEA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006245-F699-3C2D-CB84-20E9E0EA9E55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F652944-AAA3-FEFE-3B91-33B83A90652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78DECE-8127-FC8B-6CB4-2D9427BA1E9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053D1E-83D2-3CBA-59C4-ABDC9DCDBD9D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EDC035-2A8A-1BE0-F228-DF94245CBD4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44FD97A-F13E-371F-7FB1-D10B0EEE975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7B7A5CA-9E06-FD41-60E3-69D4E656FB4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F86CEEA-BAB7-A0E4-E1B0-1A17CDA18B8D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1E53ADA-0B44-CD9C-0657-875DEDD3A69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C687EE-03F4-E051-63CD-DCD2F0BCD13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115D5F9-54E7-2C69-F0DA-DD106BEE1753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D6505D8-90E3-5DC8-158F-209CBDD2C8D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AAE2C73-0869-4B62-D08B-C14C407C17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561F284-7C8F-750B-9762-95F53ACDFA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0C08F1B-6A77-DFDB-7158-3AAAC988FA9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1FC0682-EBA6-9EA4-5126-173DFE75B022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E1D6F5F4-C680-B4E1-3CFA-83F53BDFFE5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F26C16D-83CA-2819-173B-55C6D8BB4497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CC79386-6326-A45D-46ED-1FA1905D96E4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4D478D-E6C2-FEB7-F48F-7FD9A21328E4}"/>
              </a:ext>
            </a:extLst>
          </p:cNvPr>
          <p:cNvSpPr txBox="1"/>
          <p:nvPr/>
        </p:nvSpPr>
        <p:spPr>
          <a:xfrm>
            <a:off x="6404638" y="2867781"/>
            <a:ext cx="5282538" cy="138499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“freshness score”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  0 days -&gt; recency = 1.0       (2**(-0/30)    -&gt; 1.0)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15 days -&gt; recency = 0.707 (2**(-15/30)  -&gt; 0.707)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30 days -&gt; recency = 0.5      (2**(-30/30)  -&gt; 0.5)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60 days -&gt; recency = 0.25   ( 2**(-60/30) -&gt; 0.25)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 half - life is configurable (recency_half_life_days from YAML)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itle 1">
            <a:extLst>
              <a:ext uri="{FF2B5EF4-FFF2-40B4-BE49-F238E27FC236}">
                <a16:creationId xmlns:a16="http://schemas.microsoft.com/office/drawing/2014/main" id="{3E663FA4-6399-23C3-9A44-37F5E60C27AD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2619C2C3-2D38-8DAE-AB10-6DBE10C942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749"/>
          <a:stretch>
            <a:fillRect/>
          </a:stretch>
        </p:blipFill>
        <p:spPr>
          <a:xfrm>
            <a:off x="6375620" y="4436905"/>
            <a:ext cx="2658728" cy="2019895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EAF9643A-9B28-066D-16E4-668F2FEDE3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833" y="4436905"/>
            <a:ext cx="2568343" cy="201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436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AA83E-9A99-07B9-2AD9-72DE5597C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B59B9B-D094-F95A-0081-D6C1101365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7C065D9-DDDD-5425-432E-A1095A99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8C0A14-926B-3E47-9222-8156E03EBA5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6FC82-5D7F-CE9A-1897-39F80DD3A9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5A9054-B80E-645A-06E0-6C03B8178E3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3DEE601-7ACC-D35F-19C8-D83AFA2B7771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EE39990-A019-0BB4-2020-686993CC260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DFA1978-4935-5BE2-1C47-C5E5F86E77A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42A66CB-CB7A-0D33-F77E-08965595F1D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722828D-1642-D5E6-0B26-4B0A06B19AB6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B39A458-FE8B-3AB5-F895-FF7E6D606F95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F116DAD-8112-C910-7BBA-D2AB50D1B23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7DF89FA-2F44-6F8E-F835-AF89EE8B494F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8E8996-945C-DF39-9E9A-300E58956C84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7F5D4DB-1B84-F5FE-2DB4-EA0482FDAE5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C00DD6-8E82-D7B1-C119-0C655B16E441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0C22D-26B4-401F-C355-E872397207B7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A0331B-D658-ED59-9D9A-1809C9161FB6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304F55-4268-A85A-083A-FC40695D6E7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D5B6B43-5C3B-25D3-BD52-1A9557D31588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BB455B5-20AF-2062-E585-95657E1496D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A192545-205D-2EE3-623C-B3E272752F4F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33C6993-F455-9BA4-FF5D-2F141BE460B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92B7810-E091-6BA8-028C-A697E03DBD77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7AD383-0510-917F-BAA5-06F8986765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C54B572-FF0D-D267-3974-BBC412EC0D35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078F405-DBA9-626B-7760-0B3500EB4BA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35135E0-433C-7AD0-C8D3-BD00B9E498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E815509-8577-D51E-7FCB-E5D680568B9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43F83D1-7F56-9417-939B-C6AD2CB43E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DF371F-9137-5D48-C9EF-CCB4E1ADA85E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4D29A01-FFEB-519C-9308-61B821C575F5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EC2D33B4-2771-C433-99AE-FC86FD6B6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3076852"/>
            <a:ext cx="4832019" cy="284771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CFAEDFA7-941C-D721-55DE-1ADF2E9EF86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18866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48EFD-49C7-69E2-85DE-2C146176F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C04ACD7-86C6-742A-4BFD-6BD23465ED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B59B9B-D094-F95A-0081-D6C1101365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7E63B7-E9CD-466B-7D18-14EC4C5848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0AA741-10FA-4F38-3EF4-330AD660F82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0B246-3A3D-5AE6-3F2F-8BDC13B29974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73723F8-16ED-1FFD-92EA-80BF45A20AD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5B4AD7-5173-BD85-D8B0-20F1C85C1D5B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6EA4412-24DC-25E8-C5B5-3F74C4B61B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D11B4AA-64A0-18F1-CBBE-B814829DFD8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8F56399-A7BB-A48C-2C62-F1DA621D1B1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5961D6C-2FBE-CBC3-47E8-E287DEA82F23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4116A67-CF50-A241-F794-4FB1FCBBD0C6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6125CC9-C0AD-EB05-B2C0-A1712476353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2F94C5-55AD-D0E6-BEB7-3202E6F33C70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0D251BB-7EB1-5EE4-EBCE-F5C18549E6AB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C89F84-7790-3871-EDF4-01F12F743B2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4ACD62-AC21-860C-99ED-8CF9F9AC049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D75F052-F424-E0B3-7961-5F1D1C687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3B39559-68E5-29CF-00E6-DCD1448ED382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A0554FF-677B-5A5A-5DB3-1DCF72E4CFB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C6F7302-D9D9-1803-B816-590FE9D158B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DE4D623-27CC-3ED0-7BAC-51AB2AAF031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11D753-2602-6C47-7533-69B13E28B3E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4E0BC76-C166-D515-497F-EDD7FBCDDB50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A860AE6-436A-AF1D-386C-64734BCDE85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A3BA291-9F72-9644-F0D3-236F4338B77B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FF771BE9-C45C-DF5F-0287-FE3001C2DFB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B3095A37-3492-8BEC-B3A6-B888194A2C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044F30C1-4A7B-A091-3615-C39B033CB38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2F51D05C-92E5-8DB4-E0B1-4EB062C7733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32E912A-B5AE-40B6-48C5-C12B8150AEBC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C051E73-4396-680D-E4D1-229693D671E2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4311B85-D91A-D392-ED69-E8204AE53595}"/>
              </a:ext>
            </a:extLst>
          </p:cNvPr>
          <p:cNvSpPr txBox="1"/>
          <p:nvPr/>
        </p:nvSpPr>
        <p:spPr>
          <a:xfrm>
            <a:off x="6404638" y="2920527"/>
            <a:ext cx="5282538" cy="175432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“popularity score”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0                    -&gt; popularity = 0.0 (log(1) / 13.8155 -&gt; 0)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10,000        -&gt; popularity = 0.67 (log(10,001) / 13.8155 -&gt; 0.67)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100,000     -&gt; popularity = 0.83 (log(100,001) / 13.8155 -&gt; 0.83)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1,000,000 -&gt; popularity = 1.0 (log(1,000,001) / 13.8155  -&gt; 1.0)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Popular feeds get boost But they do NOT overpower semantic similarity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clamp to 1 (Prevents runaway values)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52D95F09-9AE4-B363-02BA-FC94E4620D1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9B18A54-D101-A9F3-0613-8BA445D2D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0615" y="4670037"/>
            <a:ext cx="2519874" cy="191849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8153AD6-C691-2C8B-B3B6-2751A8ED9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428" y="4665219"/>
            <a:ext cx="2401293" cy="191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7019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C4FA8-7602-3F9C-CAB1-57CDD067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4718078-E4D6-6272-74CE-0963166097D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FF07D16-3344-862F-121A-7B3ED82A2A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54B300-08AC-2A77-6CC4-C105A11090D8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0E9E58-EEFD-D866-28FB-BA24FD7420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2FDEE8-0DAF-45B8-178B-B7C7ACDE67B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C8AAD3-0016-62D8-76B7-06AAA689F929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5B2A1B-2B02-11CC-675A-00E79E54F3F3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F43EB5D-FD29-D266-60FE-EF234B4BA5FA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666040-E07F-0CCF-3671-E5568954BBC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E9EAF6-47DF-D18C-ACA1-08F87D3BB5A3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0B6B7A-2B59-7458-1F5C-C2D38AD67522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9BB35D-5E87-C7D2-C4CD-0376BF9070F4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474C00-0EA6-B063-7121-7F45EDF95099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AB4566A-4357-D8F1-F3E2-58571386C494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3A7BA54-8303-A654-406B-BDAF076FC64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DCDE8E-1913-C5DE-F3FB-0438286A286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A600C25-D5BA-ADD2-60C0-6688096A5FDF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F025F275-AAF4-D68C-F18C-BD3B2C2253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E62774A1-FCE3-728A-D78F-C4B228EF35C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4534B9D-9C15-2615-3E53-E05761894F7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932D324-C293-2197-D5A8-94CF6B09E9E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EE619F42-EEC7-931E-D786-2FFC1FA9E35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58F5A67E-F145-3800-5077-5AAD479748E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51575402-1C2B-940B-C133-45D932A1769B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6B65138-52C6-F68F-18D4-3BFC24E173C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63" name="Connector: Elbow 62">
              <a:extLst>
                <a:ext uri="{FF2B5EF4-FFF2-40B4-BE49-F238E27FC236}">
                  <a16:creationId xmlns:a16="http://schemas.microsoft.com/office/drawing/2014/main" id="{66C9F9BB-ED04-7779-4B40-EB0FF5713D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C4A3AAD9-3B14-4B50-46BC-064DBC1E8CB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234B302F-FA10-EAD8-FF55-464471896D07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: Elbow 65">
              <a:extLst>
                <a:ext uri="{FF2B5EF4-FFF2-40B4-BE49-F238E27FC236}">
                  <a16:creationId xmlns:a16="http://schemas.microsoft.com/office/drawing/2014/main" id="{D6A1A89C-8BDD-801B-3C63-55510118F91A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AEEF54-FA15-A356-1F5E-1FD482DDC6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24BB166-38F0-5B5E-4209-A8F8F77D49CC}"/>
              </a:ext>
            </a:extLst>
          </p:cNvPr>
          <p:cNvSpPr txBox="1"/>
          <p:nvPr/>
        </p:nvSpPr>
        <p:spPr>
          <a:xfrm>
            <a:off x="6404638" y="879576"/>
            <a:ext cx="5282538" cy="553998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Weighted Aggregation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Subscore + vector score are combined into one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final_score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33BE178-3FD4-7570-8DE9-3F8CDC51E135}"/>
              </a:ext>
            </a:extLst>
          </p:cNvPr>
          <p:cNvSpPr txBox="1"/>
          <p:nvPr/>
        </p:nvSpPr>
        <p:spPr>
          <a:xfrm>
            <a:off x="6404638" y="2625719"/>
            <a:ext cx="5282538" cy="1169551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YAML controls weights (easy to tune without touching code)</a:t>
            </a:r>
            <a:br>
              <a:rPr lang="en-US" sz="1400" dirty="0">
                <a:solidFill>
                  <a:schemeClr val="tx1"/>
                </a:solidFill>
                <a:cs typeface="Poppins Light"/>
              </a:rPr>
            </a:br>
            <a:r>
              <a:rPr lang="en-US" sz="1400" dirty="0">
                <a:solidFill>
                  <a:schemeClr val="tx1"/>
                </a:solidFill>
                <a:cs typeface="Poppins Light"/>
              </a:rPr>
              <a:t>    - which features participate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their weights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clamp inputs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renormalize weights (sum to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/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𝑓𝑖𝑎𝑛𝑙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𝑐𝑙𝑎𝑚𝑝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𝑣𝑎𝑙𝑢𝑒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>
            <a:extLst>
              <a:ext uri="{FF2B5EF4-FFF2-40B4-BE49-F238E27FC236}">
                <a16:creationId xmlns:a16="http://schemas.microsoft.com/office/drawing/2014/main" id="{46FA11A8-ECED-B3BF-120A-9436B81B1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4638" y="3822417"/>
            <a:ext cx="5282538" cy="2701988"/>
          </a:xfrm>
          <a:prstGeom prst="rect">
            <a:avLst/>
          </a:prstGeom>
        </p:spPr>
      </p:pic>
      <p:sp>
        <p:nvSpPr>
          <p:cNvPr id="79" name="Title 1">
            <a:extLst>
              <a:ext uri="{FF2B5EF4-FFF2-40B4-BE49-F238E27FC236}">
                <a16:creationId xmlns:a16="http://schemas.microsoft.com/office/drawing/2014/main" id="{336E4D0F-3682-149F-E16F-5C36275AA98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902941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DB70A-E69F-F792-4602-BD521B80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FAAEF65-EE5E-0251-BFF8-3150207266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4718078-E4D6-6272-74CE-0963166097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1F7EBAF-FF63-145C-ECC9-7973BCF6F83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957D21-8D67-7652-F26B-C961125B89F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430F0-96BD-99B3-EEF0-B8051BC34F9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BBF7A26-B7E7-3204-5789-1C9E499FB0C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213CD6-27DE-20F9-B12D-FA0A356C8A6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4E3BBC0-580E-F4EC-0086-511D5CA2F4C7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0BA921-0A0D-6912-5955-F60FD403A92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410E8-E5CA-CE1B-EEBD-2BB022AC1CC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2DD8D3-B7AC-B862-03BF-176443DD39DA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0F48ED4-B928-0C9E-FE8D-06EB15512417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3F79625-7510-E7EC-353A-C26D358F14D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1E9B8A6-A942-5D87-7240-E67803FBF268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956D82-B2A6-E241-B82A-FF032ED18D6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AF61E8C-8FA7-9F32-8DA4-0DC3E97D6657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D554D24-2324-82C6-BCE1-42A919A4B99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A78148-40A9-8CDE-4FBE-7C27C158F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BA0625-3158-9883-E774-1C94D947428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11F5B7D-3DC2-3C23-192F-85EEA726ECD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51DD4C9-A25A-68F9-66D3-587261F48DD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DA67603-D2F0-D2B6-7FEB-11A37425530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BFD5469-268E-08FD-2E6D-A8E606F957B7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D336C60-C5DD-837A-2DA1-8306F7DE450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45D0E6-EE74-E692-6CA4-52BF032A2A24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0BD8AD2-E4C3-898A-2729-65E08D156C5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C9361505-B98F-DCD0-D3E7-B6C14188142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D570957A-4BCB-E5C3-8401-B542F9B3639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E5E5AF8D-4DE4-7DAC-0963-84FA5224322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342AE918-26FB-BBBF-BFE1-FBCDC091A5B4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0B21DD0-1C2E-28F0-46D7-4E00DDD464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A9DBF9A-8FA0-FAC6-04CD-3B54D26404EC}"/>
              </a:ext>
            </a:extLst>
          </p:cNvPr>
          <p:cNvSpPr txBox="1"/>
          <p:nvPr/>
        </p:nvSpPr>
        <p:spPr>
          <a:xfrm>
            <a:off x="6404638" y="879576"/>
            <a:ext cx="5282538" cy="206210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Sort candidates by ranking score key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Return </a:t>
            </a:r>
            <a:b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</a:b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student_id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meta configuration for debugging / reproducibility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candidate list (previews/top-N)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Candidate includes both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raw retrieval score (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vector_score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interpretable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subscores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(why it ranked)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D973128-8746-162B-0A32-DCDEF4881DC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223847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CD04-7D98-DDB3-275D-5C0FEA91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33D35D-96A9-729A-4E9D-A452F5AC513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AAEF65-EE5E-0251-BFF8-3150207266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769A074-9FF6-3E43-46CB-643AFCA5C72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CC470-6759-C0F2-A74F-7880AE284D1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3A4145-7337-E2BE-48B9-158C457DE0A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A17A32E-307D-9D32-C187-DDBB319480F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86A172-BD52-4F13-1BAF-878147FE2575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76153C1-D61C-4A39-D8EE-9D4E4930DDBD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C354C3-29BF-5DDE-6E8E-E0368CB436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5F097A-1C03-21AE-0A0F-5C808DEED370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01664F-67CD-6AE0-36B9-5D7B3719123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A2A70B-B634-D2C0-E30C-5A1DA22DBA2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8292C17-6C3F-3710-7E49-63D51B5507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B47D3E6-076D-2BF4-D26C-74FBF2F4173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7E1400-129E-D16F-7786-111F4803D63B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A54AD2-CADE-ADDC-743E-F00E18FC50C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A5A01E9-8B73-19DF-8E7B-BF0362BA37E6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0B08CBE-9D28-3243-EF1E-1A39688506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46A17D4-B5D6-A81A-B968-B118C17B664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5EF1BA9-9DC9-1409-EBA8-5C5227EE6559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91E05A3-291C-BBDD-512E-F23BA1212B5A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1E32084-B913-4415-D0B3-055B1CC7648E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897057F-9545-16C0-01BB-1D964DB494B3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9A4A720-32B8-BBCA-2418-31881FC3FD79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B61C9D33-B4DA-F6D5-5C5C-57EE51A833D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CC9DF323-DD2B-B87C-0682-8C73046C8B2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F6D0A03E-8B33-9558-C583-D1FBEF2BAE4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0EAAE398-AFA7-841F-9065-D782A67E70A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8A8366F-E167-87C0-780F-2BC380B36722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C3A3CD5D-1605-0914-D5FB-DA7A09B8A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3635" y="1238128"/>
            <a:ext cx="4132130" cy="535688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2A4FA0-ABDF-C328-CA50-AFB46F45CD52}"/>
              </a:ext>
            </a:extLst>
          </p:cNvPr>
          <p:cNvSpPr txBox="1"/>
          <p:nvPr/>
        </p:nvSpPr>
        <p:spPr>
          <a:xfrm>
            <a:off x="6404638" y="879576"/>
            <a:ext cx="528253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2C8385-C90E-2777-9734-FDDC31E4AB4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FE7B271-5982-599F-C54B-741BC61267D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itle 1">
            <a:extLst>
              <a:ext uri="{FF2B5EF4-FFF2-40B4-BE49-F238E27FC236}">
                <a16:creationId xmlns:a16="http://schemas.microsoft.com/office/drawing/2014/main" id="{86B1882E-CD11-7CB3-E288-C144D854FDC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642016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BF5AA-2FB3-DF51-4954-123B1CDFB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553937A-482A-20D9-1DCC-DA2E519C38E7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5856F8-1B34-DF94-104F-3C7CE2CFB747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A87737-0B57-7014-8810-9BFEA45D90DE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2186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E3108-B005-42B2-A96E-6D196B46F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D16A4-FF4B-4A1B-03E2-77BB1FCCE78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699D74F-99B7-4092-4F9B-C74F49ACFF70}"/>
              </a:ext>
            </a:extLst>
          </p:cNvPr>
          <p:cNvGrpSpPr/>
          <p:nvPr/>
        </p:nvGrpSpPr>
        <p:grpSpPr>
          <a:xfrm>
            <a:off x="7852615" y="1692958"/>
            <a:ext cx="3893906" cy="1495360"/>
            <a:chOff x="213358" y="1919130"/>
            <a:chExt cx="1283172" cy="14953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F9B0A35-2BE7-36B7-32CA-412B8828FA89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4F9D6B7-0CB3-9F0D-1BE4-50DDA214BE6A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FCB8A93-70BF-F62F-7CB7-EFDBC7706A24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0EE38DA-69BB-3386-EE5E-0C7A72A8CC18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4D143143-F02D-D0A8-DD2D-8CD33365D142}"/>
                </a:ext>
              </a:extLst>
            </p:cNvPr>
            <p:cNvSpPr txBox="1"/>
            <p:nvPr/>
          </p:nvSpPr>
          <p:spPr>
            <a:xfrm>
              <a:off x="213358" y="2002005"/>
              <a:ext cx="12831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FD29C34-BE17-4131-0947-89EE8CBA755E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6A45E7CF-2722-D5C5-6438-9552C61CCEB0}"/>
              </a:ext>
            </a:extLst>
          </p:cNvPr>
          <p:cNvSpPr/>
          <p:nvPr/>
        </p:nvSpPr>
        <p:spPr>
          <a:xfrm>
            <a:off x="9690180" y="2760327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E1C9462D-C44B-11AC-BC35-0387D8420C5B}"/>
              </a:ext>
            </a:extLst>
          </p:cNvPr>
          <p:cNvCxnSpPr>
            <a:cxnSpLocks/>
          </p:cNvCxnSpPr>
          <p:nvPr/>
        </p:nvCxnSpPr>
        <p:spPr>
          <a:xfrm>
            <a:off x="9335150" y="2678587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C06FA5A9-BDA8-61EF-4A44-C40D94D0C797}"/>
              </a:ext>
            </a:extLst>
          </p:cNvPr>
          <p:cNvCxnSpPr>
            <a:cxnSpLocks/>
          </p:cNvCxnSpPr>
          <p:nvPr/>
        </p:nvCxnSpPr>
        <p:spPr>
          <a:xfrm>
            <a:off x="8415390" y="2712102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319B761-4AB0-7EC6-E1F2-4B4CAC1F8A95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78834" y="2672373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FEE43F30-98CF-1FCB-6C05-0B5A8DEEC959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83138" y="2707521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6785734-C630-71E8-4286-A1F5E1D83C41}"/>
              </a:ext>
            </a:extLst>
          </p:cNvPr>
          <p:cNvCxnSpPr>
            <a:cxnSpLocks/>
          </p:cNvCxnSpPr>
          <p:nvPr/>
        </p:nvCxnSpPr>
        <p:spPr>
          <a:xfrm>
            <a:off x="9801480" y="3076075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84BBE1E1-9ECE-495C-983E-993DEA77D182}"/>
              </a:ext>
            </a:extLst>
          </p:cNvPr>
          <p:cNvSpPr/>
          <p:nvPr/>
        </p:nvSpPr>
        <p:spPr>
          <a:xfrm>
            <a:off x="9002664" y="3561203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A32EABA-9612-3DF5-B5E7-C3EDDDD63901}"/>
              </a:ext>
            </a:extLst>
          </p:cNvPr>
          <p:cNvCxnSpPr>
            <a:cxnSpLocks/>
          </p:cNvCxnSpPr>
          <p:nvPr/>
        </p:nvCxnSpPr>
        <p:spPr>
          <a:xfrm>
            <a:off x="9803393" y="4074066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E94A9B1-B78C-F931-BA66-AD0D28AB46E5}"/>
              </a:ext>
            </a:extLst>
          </p:cNvPr>
          <p:cNvSpPr/>
          <p:nvPr/>
        </p:nvSpPr>
        <p:spPr>
          <a:xfrm>
            <a:off x="9004577" y="445690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B3B67C8-4953-4FA1-0DA7-C6221C3C2F1F}"/>
              </a:ext>
            </a:extLst>
          </p:cNvPr>
          <p:cNvSpPr/>
          <p:nvPr/>
        </p:nvSpPr>
        <p:spPr>
          <a:xfrm>
            <a:off x="9002664" y="5358742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ED63312C-FFD9-ADDC-84C0-D8576A5F69DD}"/>
              </a:ext>
            </a:extLst>
          </p:cNvPr>
          <p:cNvCxnSpPr>
            <a:cxnSpLocks/>
          </p:cNvCxnSpPr>
          <p:nvPr/>
        </p:nvCxnSpPr>
        <p:spPr>
          <a:xfrm>
            <a:off x="9803640" y="4958641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10838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0541B-0A76-72C4-4D15-795DD2EF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BE3ADA1-3A9A-8FE9-47EA-F3F0D8B5717E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AC729-C05D-3FFB-9999-A4FEE5F9102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27D3CA-C4EB-E98B-981D-1BEA1A288E3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FFC1ED-2DFE-D4EA-4CFE-7E315B0FAB25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95956C-8490-E250-2BA7-2BBB7B60E0CE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CEAB85F-FE59-ACA9-18E1-40B13A4BD6E9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4FB5F0-C653-871F-A6B3-0BC610396C5C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6D0BEB7-DD1B-3C1F-A5C0-1D788BB285D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B305CD-D448-E9CC-858B-069405BC5979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6123FEF-8A19-CEB0-6CC1-7DC2EBA72904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6EDFB595-41B9-03DA-6445-757C17A095A7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1BAFBD-D06A-3196-01A3-E148C91683CA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A37595C-0CE4-03FC-C84A-0E688B87E3B1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61E1171-43ED-6EF2-3743-8E68578D339D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AC1DBE4-AEAD-2582-7B89-975D56CFB72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00B4546-E99B-97F6-ECEB-173CBDDBC945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D265FA9-8EA5-E7B9-FDA0-74D105D771D9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772040-F7F5-2396-3C8E-11729F40DFAD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E52E076-C485-76E9-C2FC-12446C44FBFB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FC327EB-52ED-7955-27F5-2252BF22826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E636E6E-ABB6-E275-C736-DEA53B72889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3803B61-030D-A8C4-1BAD-C3CB757F025F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D9DA09E-1598-02C6-8CB3-60B1DD41AD2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52DF7D03-F799-EEE0-CCF5-3CE13BD2EC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0032A9CA-D757-1CA8-5E22-1E728C4CBBA7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E6B563B5-F8CF-8602-7894-C02949FE5449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DB856E54-FB83-0744-5970-1F16F0D88995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1FC3DC5B-3214-8558-AE26-38D4F6EAC18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486FD62C-C13E-699C-CA8E-86925D5A14B6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996943-308A-3F81-9B8F-4FF388D1CE41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556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Thu,260223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/>
              <a:t>Indices</a:t>
            </a:r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5BE5B-E263-7F55-CFA7-43846B39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857CB-5C16-21C7-7FA1-141EDDDE7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Thu,120226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CB2C67-BA99-54CA-FFD8-FB5821BB7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125172"/>
            <a:ext cx="4552142" cy="46076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A0516-C1CE-D8FA-B38F-CB30C11ED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142" y="1480503"/>
            <a:ext cx="6927187" cy="389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2254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23EBA-6B74-9146-16BC-CDC77B67B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6B57-3E80-FED0-BF68-C060FE5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Thu,120226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23952-08E3-00DA-C140-B053847C8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480503"/>
            <a:ext cx="6927187" cy="38969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632D5B-8812-8A1C-329F-59CCC8156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978" y="963637"/>
            <a:ext cx="3875121" cy="493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600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28CC9-1433-8744-E0E1-CFCFE115C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9E309-D153-1113-1A32-1FA484ED3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Thu,260219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15ED0D-4F10-2C5E-A79B-B4018921D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/>
              <a:t>Indices</a:t>
            </a:r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</p:spTree>
    <p:extLst>
      <p:ext uri="{BB962C8B-B14F-4D97-AF65-F5344CB8AC3E}">
        <p14:creationId xmlns:p14="http://schemas.microsoft.com/office/powerpoint/2010/main" val="2242758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C5B4E-C37B-229A-2211-8D252CB4A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84D27-5A6B-E924-6273-9FE5DB585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Thu,120226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04FE1-682D-27AD-30D2-76CBB2B0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 err="1"/>
              <a:t>Indice</a:t>
            </a:r>
            <a:endParaRPr lang="en-US" sz="1600" dirty="0"/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D4A7C4-B63E-491B-1B7F-B2FB650B0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72135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A0D1-9FDE-1249-279B-D2B0F617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3BC12-1365-84DA-A88A-6A64C88CA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Wed,180226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B3101-377A-A98B-11B8-D61708071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Aligned with Shin</a:t>
            </a:r>
          </a:p>
          <a:p>
            <a:pPr lvl="1"/>
            <a:r>
              <a:rPr lang="en-US" sz="2000" b="1" dirty="0"/>
              <a:t>Clarified</a:t>
            </a:r>
            <a:r>
              <a:rPr lang="en-US" sz="2000" dirty="0"/>
              <a:t> </a:t>
            </a:r>
            <a:r>
              <a:rPr lang="en-US" sz="2000" dirty="0" err="1"/>
              <a:t>subscore</a:t>
            </a:r>
            <a:r>
              <a:rPr lang="en-US" sz="2000" dirty="0"/>
              <a:t> </a:t>
            </a:r>
            <a:r>
              <a:rPr lang="en-US" sz="2000" dirty="0" err="1"/>
              <a:t>poc</a:t>
            </a:r>
            <a:r>
              <a:rPr lang="en-US" sz="2000" dirty="0"/>
              <a:t> code</a:t>
            </a:r>
          </a:p>
          <a:p>
            <a:pPr lvl="1"/>
            <a:r>
              <a:rPr lang="en-US" sz="2000" dirty="0"/>
              <a:t>Drafted structure and explored how to collaborate within Shin’s </a:t>
            </a:r>
            <a:r>
              <a:rPr lang="en-US" sz="2000" dirty="0" err="1"/>
              <a:t>Github</a:t>
            </a:r>
            <a:r>
              <a:rPr lang="en-US" sz="2000" dirty="0"/>
              <a:t> repository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1600" dirty="0"/>
              <a:t>Target completion : </a:t>
            </a:r>
            <a:r>
              <a:rPr lang="en-US" sz="1600" b="1" dirty="0"/>
              <a:t>tomorrow or Friday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281001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E3E89-0DFF-283D-611F-FF80DF3CB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796A6-0C36-AE52-F3D9-28AC570A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EC1C7-D010-D9D8-983D-17BEF96A9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9BC6-2D02-EEC0-3CD2-298961C79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with </a:t>
            </a:r>
            <a:r>
              <a:rPr lang="en-US" sz="2000" dirty="0" err="1"/>
              <a:t>handerling</a:t>
            </a:r>
            <a:r>
              <a:rPr lang="en-US" sz="2000" dirty="0"/>
              <a:t> 3 cases with </a:t>
            </a:r>
            <a:r>
              <a:rPr lang="en-US" sz="2000" dirty="0" err="1"/>
              <a:t>FastAPI</a:t>
            </a:r>
            <a:endParaRPr lang="en-US" sz="2000" dirty="0"/>
          </a:p>
          <a:p>
            <a:pPr lvl="1"/>
            <a:r>
              <a:rPr lang="en-US" sz="2000" dirty="0" err="1"/>
              <a:t>HyDE</a:t>
            </a:r>
            <a:r>
              <a:rPr lang="en-US" sz="2000" dirty="0"/>
              <a:t> generator</a:t>
            </a:r>
          </a:p>
          <a:p>
            <a:pPr lvl="2"/>
            <a:r>
              <a:rPr lang="en-US" sz="1600" dirty="0"/>
              <a:t>Batch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pPr lvl="2"/>
            <a:r>
              <a:rPr lang="en-US" sz="1600" dirty="0"/>
              <a:t>Single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804641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BAF88-98C3-D016-BA8B-8AC67505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2EC71-C3AB-E566-4ADD-3A3D8A15D0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98FEBB-5098-B044-49A1-CAC2AB6DC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39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3843-46C9-EFCC-C404-923699D6F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22021-840D-900B-8726-F7538398C2A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144B6-FBA6-79E8-987C-4F9FAC65C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74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527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6C67-350A-568F-5D87-8E55FD610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AAEB-0D7F-EB1A-8F86-ED900D7E518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DE272-12F8-95DB-3DB9-476DDE76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8E59E7-EB13-21BC-9F5B-35AFBB61A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160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DA2F-C34A-8761-240D-31D34208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3AD2-CFA4-44D3-12FB-B1F5B1F1119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5C038-745A-2321-6B54-48D092759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79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6F993C-7FE2-3978-4B21-01DDB5696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569F37A-CF64-C48B-D116-6DAFFAB89B4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09CF2A1-FF55-9BF4-CC33-2C80BADFC97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43ED79-517B-9B03-A091-6C98194ED556}"/>
              </a:ext>
            </a:extLst>
          </p:cNvPr>
          <p:cNvSpPr txBox="1"/>
          <p:nvPr/>
        </p:nvSpPr>
        <p:spPr>
          <a:xfrm>
            <a:off x="6463966" y="864211"/>
            <a:ext cx="4487897" cy="609397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":{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"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Profile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"name": "Juan Jose Carin",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"email": 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juanjose.carin@gmail.com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linkedin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"linkedin.com/in/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juanjosecarin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"Summary"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  <a:cs typeface="Poppins Light"/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summary_points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"Experienced data scientist with analytical background."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"Education"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"institution": "University of California, Berkeley",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 "degree": "MIDS",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gpa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"3.93"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"Experience"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"title": "Data Scientist",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"company": "CONENTO",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"dates": "2016",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         "description":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            "Built ETL pipelines and predictive models."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"Activities":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"name": "LLM Evaluation Harness",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"Skills"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"skills": ["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Python","RAG""Data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Analysis", "Machine Learning"],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}</a:t>
            </a:r>
          </a:p>
          <a:p>
            <a:r>
              <a:rPr lang="en-US" sz="1000" dirty="0">
                <a:solidFill>
                  <a:schemeClr val="tx1"/>
                </a:solidFill>
                <a:cs typeface="Poppins Light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7995E-1B4F-2E54-2A84-045BD2402496}"/>
              </a:ext>
            </a:extLst>
          </p:cNvPr>
          <p:cNvSpPr/>
          <p:nvPr/>
        </p:nvSpPr>
        <p:spPr>
          <a:xfrm>
            <a:off x="525114" y="861848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D005D0-3C32-58B0-55A2-7F1E1A8D23CA}"/>
              </a:ext>
            </a:extLst>
          </p:cNvPr>
          <p:cNvSpPr/>
          <p:nvPr/>
        </p:nvSpPr>
        <p:spPr>
          <a:xfrm>
            <a:off x="525114" y="859879"/>
            <a:ext cx="5379147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>
                <a:cs typeface="Poppins Light"/>
              </a:rPr>
              <a:t>Input payload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1F42F652-44F6-5ED1-7D1C-14ABF3761346}"/>
              </a:ext>
            </a:extLst>
          </p:cNvPr>
          <p:cNvSpPr txBox="1"/>
          <p:nvPr/>
        </p:nvSpPr>
        <p:spPr>
          <a:xfrm>
            <a:off x="2020841" y="2995056"/>
            <a:ext cx="2688935" cy="229293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{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outputLang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",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targetRole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role#ai_engineer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",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Profile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Summary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Education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":[],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Experience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Activity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Skills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    }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}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100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4B486FD3-533C-9A0C-CA7F-84B9C26FC3B1}"/>
              </a:ext>
            </a:extLst>
          </p:cNvPr>
          <p:cNvSpPr txBox="1"/>
          <p:nvPr/>
        </p:nvSpPr>
        <p:spPr>
          <a:xfrm>
            <a:off x="522317" y="6211437"/>
            <a:ext cx="4331464" cy="36933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CV Resume Evaluation Orchestrator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">
            <a:extLst>
              <a:ext uri="{FF2B5EF4-FFF2-40B4-BE49-F238E27FC236}">
                <a16:creationId xmlns:a16="http://schemas.microsoft.com/office/drawing/2014/main" id="{FA802B5D-8EFB-26A4-4971-CECE8A27C10A}"/>
              </a:ext>
            </a:extLst>
          </p:cNvPr>
          <p:cNvSpPr txBox="1"/>
          <p:nvPr/>
        </p:nvSpPr>
        <p:spPr>
          <a:xfrm>
            <a:off x="630190" y="1385330"/>
            <a:ext cx="5194010" cy="127727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ea typeface="+mn-lt"/>
                <a:cs typeface="+mn-lt"/>
              </a:rPr>
              <a:t>The evaluation API accepts a lightweight request wrapper and a structured resume body.  The wrapper controls evaluation behavior, while the resume body contains the actual CV content.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Key point: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Actual resume content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Flexible : missing sections are allowed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Used as the main input for scoring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9A2339AC-E1A4-8E96-3018-FED369D9A801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2400">
                <a:solidFill>
                  <a:srgbClr val="519BC9"/>
                </a:solidFill>
                <a:latin typeface="Poppins Light"/>
                <a:cs typeface="Poppins Light"/>
              </a:rPr>
              <a:t>CVResume evaluation</a:t>
            </a:r>
            <a:r>
              <a:rPr lang="en-TH" sz="2400">
                <a:solidFill>
                  <a:srgbClr val="519BC9"/>
                </a:solidFill>
                <a:latin typeface="Poppins Light"/>
              </a:rPr>
              <a:t> </a:t>
            </a:r>
            <a:r>
              <a:rPr kumimoji="0" lang="en-TH" sz="2400" b="0" i="0" u="none" strike="noStrike" kern="1200" cap="none" spc="0" normalizeH="0" baseline="0" noProof="0">
                <a:ln>
                  <a:noFill/>
                </a:ln>
                <a:solidFill>
                  <a:srgbClr val="519BC9"/>
                </a:solidFill>
                <a:effectLst/>
                <a:uLnTx/>
                <a:uFillTx/>
                <a:latin typeface="Poppins Light"/>
                <a:ea typeface="+mj-ea"/>
              </a:rPr>
              <a:t>– </a:t>
            </a:r>
            <a:r>
              <a:rPr lang="en-US" sz="2400">
                <a:solidFill>
                  <a:srgbClr val="519BC9"/>
                </a:solidFill>
                <a:ea typeface="+mj-lt"/>
                <a:cs typeface="+mj-lt"/>
              </a:rPr>
              <a:t>Resume Evaluation Input Structure</a:t>
            </a:r>
            <a:endParaRPr lang="en-US">
              <a:solidFill>
                <a:srgbClr val="519BC9"/>
              </a:solidFill>
              <a:ea typeface="+mj-lt"/>
              <a:cs typeface="+mj-lt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7CDB5DB-CCF2-1DF7-A137-4920EB61E5E0}"/>
              </a:ext>
            </a:extLst>
          </p:cNvPr>
          <p:cNvCxnSpPr>
            <a:cxnSpLocks/>
          </p:cNvCxnSpPr>
          <p:nvPr/>
        </p:nvCxnSpPr>
        <p:spPr>
          <a:xfrm flipV="1">
            <a:off x="3381375" y="1080445"/>
            <a:ext cx="2986427" cy="2529530"/>
          </a:xfrm>
          <a:prstGeom prst="bentConnector3">
            <a:avLst>
              <a:gd name="adj1" fmla="val 88592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DF20318-6215-8BAE-A6DE-E6585AFA6BE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171010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4766</TotalTime>
  <Words>3840</Words>
  <Application>Microsoft Office PowerPoint</Application>
  <PresentationFormat>Widescreen</PresentationFormat>
  <Paragraphs>956</Paragraphs>
  <Slides>88</Slides>
  <Notes>7</Notes>
  <HiddenSlides>12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9" baseType="lpstr">
      <vt:lpstr>Aptos</vt:lpstr>
      <vt:lpstr>Aptos Display</vt:lpstr>
      <vt:lpstr>Arial</vt:lpstr>
      <vt:lpstr>Cambria Math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Thu,260223</vt:lpstr>
      <vt:lpstr>Thu,120226</vt:lpstr>
      <vt:lpstr>Thu,120226</vt:lpstr>
      <vt:lpstr>Thu,260219</vt:lpstr>
      <vt:lpstr>Thu,120226</vt:lpstr>
      <vt:lpstr>Wed,180226</vt:lpstr>
      <vt:lpstr>PowerPoint Presentation</vt:lpstr>
      <vt:lpstr>Tue,100226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PowerPoint Presentation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67</cp:revision>
  <dcterms:created xsi:type="dcterms:W3CDTF">2026-01-29T03:40:55Z</dcterms:created>
  <dcterms:modified xsi:type="dcterms:W3CDTF">2026-02-23T14:55:17Z</dcterms:modified>
</cp:coreProperties>
</file>