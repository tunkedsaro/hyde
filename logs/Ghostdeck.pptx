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ags/tag1.xml" ContentType="application/vnd.openxmlformats-officedocument.presentationml.tags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notesSlides/notesSlide2.xml" ContentType="application/vnd.openxmlformats-officedocument.presentationml.notesSlide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tags/tag32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4"/>
  </p:notesMasterIdLst>
  <p:sldIdLst>
    <p:sldId id="2147481509" r:id="rId2"/>
    <p:sldId id="2147481510" r:id="rId3"/>
    <p:sldId id="2147481511" r:id="rId4"/>
    <p:sldId id="2147481512" r:id="rId5"/>
    <p:sldId id="2147481513" r:id="rId6"/>
    <p:sldId id="2147481515" r:id="rId7"/>
    <p:sldId id="2147481518" r:id="rId8"/>
    <p:sldId id="2147481522" r:id="rId9"/>
    <p:sldId id="2147481520" r:id="rId10"/>
    <p:sldId id="2147481521" r:id="rId11"/>
    <p:sldId id="2147481519" r:id="rId12"/>
    <p:sldId id="2147481523" r:id="rId13"/>
    <p:sldId id="2147481524" r:id="rId14"/>
    <p:sldId id="2147481525" r:id="rId15"/>
    <p:sldId id="2147481407" r:id="rId16"/>
    <p:sldId id="257" r:id="rId17"/>
    <p:sldId id="2147481480" r:id="rId18"/>
    <p:sldId id="2147481481" r:id="rId19"/>
    <p:sldId id="2147481482" r:id="rId20"/>
    <p:sldId id="2147481484" r:id="rId21"/>
    <p:sldId id="2147481485" r:id="rId22"/>
    <p:sldId id="2147481486" r:id="rId23"/>
    <p:sldId id="2147481487" r:id="rId24"/>
    <p:sldId id="2147481488" r:id="rId25"/>
    <p:sldId id="2147481489" r:id="rId26"/>
    <p:sldId id="2147481490" r:id="rId27"/>
    <p:sldId id="2147481492" r:id="rId28"/>
    <p:sldId id="2147481493" r:id="rId29"/>
    <p:sldId id="2147481474" r:id="rId30"/>
    <p:sldId id="2147481517" r:id="rId31"/>
    <p:sldId id="2147481472" r:id="rId32"/>
    <p:sldId id="2147481494" r:id="rId33"/>
    <p:sldId id="2147481495" r:id="rId34"/>
    <p:sldId id="2147481475" r:id="rId35"/>
    <p:sldId id="2147481496" r:id="rId36"/>
    <p:sldId id="2147481497" r:id="rId37"/>
    <p:sldId id="2147481499" r:id="rId38"/>
    <p:sldId id="2147481501" r:id="rId39"/>
    <p:sldId id="2147481502" r:id="rId40"/>
    <p:sldId id="2147481476" r:id="rId41"/>
    <p:sldId id="2147481478" r:id="rId42"/>
    <p:sldId id="2147481503" r:id="rId43"/>
    <p:sldId id="2147481473" r:id="rId44"/>
    <p:sldId id="2147481470" r:id="rId45"/>
    <p:sldId id="2147481468" r:id="rId46"/>
    <p:sldId id="2147481409" r:id="rId47"/>
    <p:sldId id="2147481410" r:id="rId48"/>
    <p:sldId id="2147481437" r:id="rId49"/>
    <p:sldId id="2147481424" r:id="rId50"/>
    <p:sldId id="2147481411" r:id="rId51"/>
    <p:sldId id="2147481418" r:id="rId52"/>
    <p:sldId id="2147481442" r:id="rId53"/>
    <p:sldId id="2147481433" r:id="rId54"/>
    <p:sldId id="2147481439" r:id="rId55"/>
    <p:sldId id="2147481443" r:id="rId56"/>
    <p:sldId id="2147481440" r:id="rId57"/>
    <p:sldId id="2147481441" r:id="rId58"/>
    <p:sldId id="2147481438" r:id="rId59"/>
    <p:sldId id="2147481415" r:id="rId60"/>
    <p:sldId id="2147481432" r:id="rId61"/>
    <p:sldId id="2147481414" r:id="rId62"/>
    <p:sldId id="2147481431" r:id="rId63"/>
    <p:sldId id="2147481412" r:id="rId64"/>
    <p:sldId id="2147481460" r:id="rId65"/>
    <p:sldId id="2147481507" r:id="rId66"/>
    <p:sldId id="2147481508" r:id="rId67"/>
    <p:sldId id="2147481506" r:id="rId68"/>
    <p:sldId id="2147481505" r:id="rId69"/>
    <p:sldId id="2147481504" r:id="rId70"/>
    <p:sldId id="2147481459" r:id="rId71"/>
    <p:sldId id="2147481466" r:id="rId72"/>
    <p:sldId id="2147481467" r:id="rId73"/>
    <p:sldId id="2147481465" r:id="rId74"/>
    <p:sldId id="2147481464" r:id="rId75"/>
    <p:sldId id="2147481463" r:id="rId76"/>
    <p:sldId id="2147481462" r:id="rId77"/>
    <p:sldId id="2147481455" r:id="rId78"/>
    <p:sldId id="2147481457" r:id="rId79"/>
    <p:sldId id="2147481461" r:id="rId80"/>
    <p:sldId id="2147481458" r:id="rId81"/>
    <p:sldId id="2147481454" r:id="rId82"/>
    <p:sldId id="2147481456" r:id="rId83"/>
    <p:sldId id="2147481453" r:id="rId84"/>
    <p:sldId id="2147481452" r:id="rId85"/>
    <p:sldId id="2147481446" r:id="rId86"/>
    <p:sldId id="2147481449" r:id="rId87"/>
    <p:sldId id="2147481448" r:id="rId88"/>
    <p:sldId id="2147481447" r:id="rId89"/>
    <p:sldId id="2147481451" r:id="rId90"/>
    <p:sldId id="2147481450" r:id="rId91"/>
    <p:sldId id="2147481445" r:id="rId92"/>
    <p:sldId id="2147481471" r:id="rId93"/>
    <p:sldId id="2147481413" r:id="rId94"/>
    <p:sldId id="2147481419" r:id="rId95"/>
    <p:sldId id="2147481427" r:id="rId96"/>
    <p:sldId id="2147481422" r:id="rId97"/>
    <p:sldId id="2147481423" r:id="rId98"/>
    <p:sldId id="2147481425" r:id="rId99"/>
    <p:sldId id="2147481426" r:id="rId100"/>
    <p:sldId id="2147481429" r:id="rId101"/>
    <p:sldId id="2147481428" r:id="rId102"/>
    <p:sldId id="2147481430" r:id="rId10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96060"/>
    <a:srgbClr val="EAF3F8"/>
    <a:srgbClr val="BADF55"/>
    <a:srgbClr val="FFD100"/>
    <a:srgbClr val="FBE364"/>
    <a:srgbClr val="F4B41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838" autoAdjust="0"/>
    <p:restoredTop sz="96106" autoAdjust="0"/>
  </p:normalViewPr>
  <p:slideViewPr>
    <p:cSldViewPr snapToGrid="0">
      <p:cViewPr varScale="1">
        <p:scale>
          <a:sx n="119" d="100"/>
          <a:sy n="119" d="100"/>
        </p:scale>
        <p:origin x="282" y="84"/>
      </p:cViewPr>
      <p:guideLst/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07" Type="http://schemas.openxmlformats.org/officeDocument/2006/relationships/theme" Target="theme/theme1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viewProps" Target="view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D077408-611F-43B7-A58B-066AB354FAB6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44687F-F839-4783-9AA2-9E2F10A9D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8938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4687F-F839-4783-9AA2-9E2F10A9DB4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433915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 err="1"/>
              <a:t>load_params</a:t>
            </a:r>
            <a:r>
              <a:rPr lang="en-US" dirty="0"/>
              <a:t> : load </a:t>
            </a:r>
            <a:r>
              <a:rPr lang="en-US" dirty="0" err="1"/>
              <a:t>yaml</a:t>
            </a:r>
            <a:endParaRPr lang="en-US" dirty="0"/>
          </a:p>
          <a:p>
            <a:pPr marL="171450" indent="-171450">
              <a:buFontTx/>
              <a:buChar char="-"/>
            </a:pPr>
            <a:r>
              <a:rPr lang="en-US" dirty="0" err="1"/>
              <a:t>Extract_query</a:t>
            </a:r>
            <a:r>
              <a:rPr lang="en-US" dirty="0"/>
              <a:t> : </a:t>
            </a:r>
            <a:r>
              <a:rPr lang="th-TH" dirty="0"/>
              <a:t>เตรียม </a:t>
            </a:r>
            <a:r>
              <a:rPr lang="en-US" dirty="0"/>
              <a:t>vector </a:t>
            </a:r>
            <a:r>
              <a:rPr lang="th-TH" dirty="0"/>
              <a:t>ต่างๆ อาจจะเป็นการ </a:t>
            </a:r>
            <a:r>
              <a:rPr lang="en-US" dirty="0"/>
              <a:t>x weight </a:t>
            </a:r>
            <a:r>
              <a:rPr lang="th-TH" dirty="0"/>
              <a:t>เพื่อ </a:t>
            </a:r>
            <a:r>
              <a:rPr lang="en-US" dirty="0" err="1"/>
              <a:t>Normallize</a:t>
            </a:r>
            <a:r>
              <a:rPr lang="en-US" dirty="0"/>
              <a:t> </a:t>
            </a:r>
            <a:r>
              <a:rPr lang="th-TH" dirty="0"/>
              <a:t>ความสำคัญของ </a:t>
            </a:r>
            <a:r>
              <a:rPr lang="en-US" dirty="0"/>
              <a:t>vector score </a:t>
            </a:r>
            <a:r>
              <a:rPr lang="th-TH" dirty="0"/>
              <a:t>เหล่านั้น เราสามารถ </a:t>
            </a:r>
            <a:r>
              <a:rPr lang="en-US" dirty="0" err="1"/>
              <a:t>defual</a:t>
            </a:r>
            <a:r>
              <a:rPr lang="en-US" dirty="0"/>
              <a:t> = [1.0, 1.0, 1.0, 1.0, 1.0]</a:t>
            </a:r>
          </a:p>
          <a:p>
            <a:pPr marL="171450" indent="-171450">
              <a:buFontTx/>
              <a:buChar char="-"/>
            </a:pPr>
            <a:r>
              <a:rPr lang="en-US" dirty="0"/>
              <a:t>Vector retrieval : [5,50] -&gt; [1,50] </a:t>
            </a:r>
            <a:r>
              <a:rPr lang="th-TH" dirty="0"/>
              <a:t>เป็นการเปรียบเทียบคะแนนของแต่ละ </a:t>
            </a:r>
            <a:r>
              <a:rPr lang="en-US" dirty="0"/>
              <a:t>feed </a:t>
            </a:r>
            <a:r>
              <a:rPr lang="th-TH" dirty="0"/>
              <a:t>เพื่อหา </a:t>
            </a:r>
            <a:r>
              <a:rPr lang="en-US" dirty="0"/>
              <a:t>candidate return </a:t>
            </a:r>
            <a:r>
              <a:rPr lang="th-TH" dirty="0"/>
              <a:t>ออกพร้อม </a:t>
            </a:r>
            <a:r>
              <a:rPr lang="en-US" dirty="0"/>
              <a:t>{[</a:t>
            </a:r>
            <a:r>
              <a:rPr lang="en-US" dirty="0" err="1"/>
              <a:t>feed_id:score</a:t>
            </a:r>
            <a:r>
              <a:rPr lang="en-US" dirty="0"/>
              <a:t>]}</a:t>
            </a:r>
          </a:p>
          <a:p>
            <a:pPr marL="171450" indent="-171450">
              <a:buFontTx/>
              <a:buChar char="-"/>
            </a:pPr>
            <a:r>
              <a:rPr lang="en-US" dirty="0" err="1"/>
              <a:t>Exclude_seen</a:t>
            </a:r>
            <a:r>
              <a:rPr lang="en-US" dirty="0"/>
              <a:t> : </a:t>
            </a:r>
            <a:r>
              <a:rPr lang="th-TH" dirty="0"/>
              <a:t>ดึงข้อมูลจาก </a:t>
            </a:r>
            <a:r>
              <a:rPr lang="en-US" dirty="0"/>
              <a:t>metadata </a:t>
            </a:r>
            <a:r>
              <a:rPr lang="th-TH" dirty="0"/>
              <a:t>สำหรับแต่ละ </a:t>
            </a:r>
            <a:r>
              <a:rPr lang="en-US" dirty="0"/>
              <a:t>student -&gt; </a:t>
            </a:r>
            <a:r>
              <a:rPr lang="th-TH" dirty="0"/>
              <a:t>ตัด </a:t>
            </a:r>
            <a:r>
              <a:rPr lang="en-US" dirty="0"/>
              <a:t>feed </a:t>
            </a:r>
            <a:r>
              <a:rPr lang="th-TH" dirty="0"/>
              <a:t>ที่เคยเห็นออก</a:t>
            </a:r>
          </a:p>
          <a:p>
            <a:pPr marL="171450" indent="-171450">
              <a:buFontTx/>
              <a:buChar char="-"/>
            </a:pPr>
            <a:r>
              <a:rPr lang="en-US" dirty="0"/>
              <a:t>Build candidate : </a:t>
            </a:r>
            <a:r>
              <a:rPr lang="th-TH" dirty="0"/>
              <a:t>คำนวณ </a:t>
            </a:r>
            <a:r>
              <a:rPr lang="en-US" dirty="0" err="1"/>
              <a:t>subscore</a:t>
            </a:r>
            <a:endParaRPr lang="en-US" dirty="0"/>
          </a:p>
          <a:p>
            <a:pPr marL="171450" indent="-171450">
              <a:buFontTx/>
              <a:buChar char="-"/>
            </a:pPr>
            <a:r>
              <a:rPr lang="en-US" dirty="0"/>
              <a:t>Score aggregation : </a:t>
            </a:r>
            <a:r>
              <a:rPr lang="th-TH" dirty="0"/>
              <a:t>คูณน้ำหนักตาม </a:t>
            </a:r>
            <a:r>
              <a:rPr lang="en-US" dirty="0"/>
              <a:t>weight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4687F-F839-4783-9AA2-9E2F10A9DB4B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08033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https://www.quorum.co.uk/2024/04/09/database-data-lake-data-warehouse-whats-the-difference/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4687F-F839-4783-9AA2-9E2F10A9DB4B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133632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59B23F-DB68-238E-F0E7-DD482D42A4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7BD22F-1A86-4E92-85A2-C1BD07029F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9C3675-DFE8-601B-5B96-4B7E2C5044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Embedding0n.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302F78-A03A-BAD6-A4FF-F5CA9DA19F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4687F-F839-4783-9AA2-9E2F10A9DB4B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74090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Embedding0n.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4687F-F839-4783-9AA2-9E2F10A9DB4B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289777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4687F-F839-4783-9AA2-9E2F10A9DB4B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615570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DF38E8-9D29-D44F-C3AA-BFCB5AE3D8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EA34DD-CFC1-056A-303B-3984F8DF90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737140-4C25-B167-5357-816A7DC648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https://www.quorum.co.uk/2024/04/09/database-data-lake-data-warehouse-whats-the-difference/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618EAD-606F-CC6B-F005-DBFC4EA312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4687F-F839-4783-9AA2-9E2F10A9DB4B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700866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>
                <a:latin typeface="Consolas" panose="020B0609020204030204" pitchFamily="49" charset="0"/>
              </a:rPr>
              <a:t>/</a:t>
            </a:r>
            <a:r>
              <a:rPr lang="en-US" sz="1200" dirty="0" err="1">
                <a:latin typeface="Consolas" panose="020B0609020204030204" pitchFamily="49" charset="0"/>
              </a:rPr>
              <a:t>hyde</a:t>
            </a:r>
            <a:r>
              <a:rPr lang="en-US" sz="1200" dirty="0">
                <a:latin typeface="Consolas" panose="020B0609020204030204" pitchFamily="49" charset="0"/>
              </a:rPr>
              <a:t>/</a:t>
            </a:r>
            <a:r>
              <a:rPr lang="en-US" sz="1200" dirty="0" err="1">
                <a:latin typeface="Consolas" panose="020B0609020204030204" pitchFamily="49" charset="0"/>
              </a:rPr>
              <a:t>update_batch</a:t>
            </a:r>
            <a:endParaRPr lang="en-US" sz="1200" dirty="0">
              <a:latin typeface="Consolas" panose="020B0609020204030204" pitchFamily="49" charset="0"/>
            </a:endParaRPr>
          </a:p>
          <a:p>
            <a:r>
              <a:rPr lang="en-US" sz="1200" dirty="0">
                <a:latin typeface="Consolas" panose="020B0609020204030204" pitchFamily="49" charset="0"/>
              </a:rPr>
              <a:t>- Don’t remove everyone in CGS but check one by one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Run as async format</a:t>
            </a:r>
          </a:p>
          <a:p>
            <a:pPr marL="285750" indent="-285750">
              <a:buFontTx/>
              <a:buChar char="-"/>
            </a:pPr>
            <a:r>
              <a:rPr lang="en-US" sz="1200" dirty="0">
                <a:latin typeface="Consolas" panose="020B0609020204030204" pitchFamily="49" charset="0"/>
              </a:rPr>
              <a:t>Add set batch size parameters (</a:t>
            </a:r>
            <a:r>
              <a:rPr lang="en-US" sz="1200" dirty="0" err="1">
                <a:latin typeface="Consolas" panose="020B0609020204030204" pitchFamily="49" charset="0"/>
              </a:rPr>
              <a:t>Defual</a:t>
            </a:r>
            <a:r>
              <a:rPr lang="en-US" sz="1200" dirty="0">
                <a:latin typeface="Consolas" panose="020B0609020204030204" pitchFamily="49" charset="0"/>
              </a:rPr>
              <a:t> = 10)</a:t>
            </a:r>
          </a:p>
          <a:p>
            <a:pPr marL="285750" indent="-285750">
              <a:buFontTx/>
              <a:buChar char="-"/>
            </a:pPr>
            <a:r>
              <a:rPr lang="en-US" sz="1200" dirty="0">
                <a:latin typeface="Consolas" panose="020B0609020204030204" pitchFamily="49" charset="0"/>
              </a:rPr>
              <a:t>Add destination path in </a:t>
            </a:r>
            <a:r>
              <a:rPr lang="en-US" sz="1200" dirty="0" err="1">
                <a:latin typeface="Consolas" panose="020B0609020204030204" pitchFamily="49" charset="0"/>
              </a:rPr>
              <a:t>yaml</a:t>
            </a:r>
            <a:r>
              <a:rPr lang="en-US" sz="1200" dirty="0">
                <a:latin typeface="Consolas" panose="020B0609020204030204" pitchFamily="49" charset="0"/>
              </a:rPr>
              <a:t> file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4687F-F839-4783-9AA2-9E2F10A9DB4B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223760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A3BD6C-7539-AB94-3C3A-37A9F3AE8C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7F1212-E606-FF40-FBD5-8F981EB3B6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067A11-045C-7620-3ED3-03ADEB29EC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https://www.quorum.co.uk/2024/04/09/database-data-lake-data-warehouse-whats-the-difference/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19D0D1-B850-4B2B-308E-C661AE72D7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4687F-F839-4783-9AA2-9E2F10A9DB4B}" type="slidenum">
              <a:rPr lang="en-US" smtClean="0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04112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.xml"/><Relationship Id="rId4" Type="http://schemas.openxmlformats.org/officeDocument/2006/relationships/image" Target="../media/image1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83FFA3-EAE6-3A6F-A48A-E8C06D9A0CC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F83B1B7-C588-CC88-76EA-AAB065590E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B0719D-43FD-9D3F-6B79-00AD4AD3C1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CFDF9C-62DC-CD5D-3EF4-0BF426516B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2A8811-4ADE-8486-FE98-249FCB0EBD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94234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374BEF-4ED5-1632-53B0-01A99D737D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112BF9-0B53-5AF4-BF8E-802FC05FA9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3C3A0F-F326-7398-C522-769C327350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E9D0A6-C93A-DBC7-0804-D0E412FF56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E66309-659D-516D-214C-256FE3B6B0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71498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949282-2307-4C70-6CE4-C90C2F215B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8B9DBC-C55A-DF02-1101-27D5438822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8AEA5A-CC50-0DBE-A2C0-6DE136BAB2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E18245-DBB0-F52C-66F6-04E063CA1B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C25BF8-054C-B200-4C82-497F8AA52D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24273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56667F-D62B-16FF-F34D-B1F30D3286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D3E8F7-A0CC-5C54-486E-590F4EE9CF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6869001-32C9-A07C-667F-CC95F5A161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7CD862C-570E-E861-8BFE-2CCEC8D57E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6ADB2C-E848-0F25-1322-0393E8CA75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ACAE8B-A4EB-16B1-0D47-9064729010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5601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EBE94A-BF12-C3AE-D02C-1F31A58D4A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A27261-4E64-ED29-0109-8177BF595F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D5FB451-CD48-4D6D-0C11-86A8748F22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9A9460D-C6AD-40FB-DF14-DFD7A137633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12BE363-03D7-2FD1-6F41-FEEC12042AE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63147AE-A134-A2C3-6B11-A94D66D59D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9F20FFD-B6C9-8308-47E0-B3AA257EA1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A8D16AA-6121-C401-17C4-D50EEAF791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75560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A88DCE-CB94-A014-3B51-709210CE05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9C8C87C-0079-1F3C-AA54-FBC50BD14F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F3AED2C-AA27-CDC1-AF5D-A536787517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30C6C79-2D7D-FA2C-EA27-5C2B068479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427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CFC782C-C151-5F34-8802-BFDA2B17DB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469C6E3-F1FC-2622-C932-6A7C9B89C9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BC717F-A285-8152-E679-E8367804B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7450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0B4321-29F4-D2C6-0440-7FDD2D1A1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47EB0C-AC85-193E-942C-69D4DED941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74A9723-4783-C432-5EC1-6E4034E1574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D26B1B3-F788-B7B8-C267-DE48B66471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543E85-4A68-82AD-EE66-6D539891F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6DB970-907F-53C2-0A8E-554F69C80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05187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C1F920-4709-DEC9-E95A-DEE2F1C57F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C22CE8A-22D9-662E-001F-EA1E96E7C50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104AB3E-A32B-46D2-D39A-11E61166C2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391B45-7040-FE23-B446-786D61FFE9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BA343B-4CDA-72E0-7A1F-3E0B201C4E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9E69C9C-A506-BE32-BFD2-0CF8F055A7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36662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CC76EE-CE0C-7342-B2DA-CE73CE533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2AA23D2-F74F-6BEB-D70F-8F1E33823D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DBAA9F-CCA2-6611-C796-9416D19296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BCD38A-60C9-5AEF-D14C-DAE7897D99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DF2B36-B595-2512-ED87-32E4356467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11503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FFEB482-2724-1796-C72E-F8DD5942C7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56310C-3206-676C-A8C4-958D4FC8F9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4B2407-0E1F-4237-31E1-B9321D733B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C5F259-C060-2194-F999-C8C7EAC6D5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361CA7-6890-8FEC-336B-C7F4C34039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733792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Ma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7BD1BE13-1B19-DB8D-FF40-CC7970E4DF6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1932578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84" imgH="486" progId="TCLayout.ActiveDocument.1">
                  <p:embed/>
                </p:oleObj>
              </mc:Choice>
              <mc:Fallback>
                <p:oleObj name="think-cell Slide" r:id="rId3" imgW="484" imgH="486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BD1BE13-1B19-DB8D-FF40-CC7970E4DF6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Title 1">
            <a:extLst>
              <a:ext uri="{FF2B5EF4-FFF2-40B4-BE49-F238E27FC236}">
                <a16:creationId xmlns:a16="http://schemas.microsoft.com/office/drawing/2014/main" id="{737AB79A-F7B0-A96D-370E-89C13DDCC1E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9425" y="476249"/>
            <a:ext cx="11233150" cy="492443"/>
          </a:xfrm>
        </p:spPr>
        <p:txBody>
          <a:bodyPr vert="horz" tIns="0"/>
          <a:lstStyle>
            <a:lvl1pPr>
              <a:lnSpc>
                <a:spcPct val="100000"/>
              </a:lnSpc>
              <a:spcAft>
                <a:spcPts val="300"/>
              </a:spcAft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slide title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1B58324-D3D4-D66D-8B34-0CE97E9F4A16}"/>
              </a:ext>
            </a:extLst>
          </p:cNvPr>
          <p:cNvSpPr>
            <a:spLocks/>
          </p:cNvSpPr>
          <p:nvPr/>
        </p:nvSpPr>
        <p:spPr>
          <a:xfrm>
            <a:off x="0" y="351594"/>
            <a:ext cx="3689935" cy="27432"/>
          </a:xfrm>
          <a:prstGeom prst="rect">
            <a:avLst/>
          </a:prstGeom>
          <a:solidFill>
            <a:schemeClr val="tx1"/>
          </a:solidFill>
          <a:ln w="3143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0175" tIns="15088" rIns="30175" bIns="1508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200" err="1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782026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48A4548-DC7D-221E-47D9-708389BC71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769ADF-DF69-D13F-BECD-8CA04658EB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0CEE74-52DA-9F05-6874-B5EB0C62531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DA1BED4-5DFC-4D8B-BC40-12FD5FE4AB0F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7C4BE2-1502-BC3C-2AFC-5B35E796EF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F6B837-8BD6-D02D-0710-23E9E87D24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03204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TunKedsaro/Hyde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humanintelligence.atlassian.net/wiki/spaces/CPM/pages/134611027/QA+Test+Plan+CV+Evaluation+Pipeline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console.cloud.google.com/storage/browser/hyde-datalake;tab=objects?forceOnBucketsSortingFiltering=true&amp;authuser=0&amp;project=poc-piloturl-nonprod&amp;prefix=&amp;forceOnObjectsSortingFiltering=false" TargetMode="External"/><Relationship Id="rId2" Type="http://schemas.openxmlformats.org/officeDocument/2006/relationships/hyperlink" Target="https://hyderecomment-service-dev-du7yhkyaqq-as.a.run.app/docs#/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em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3.em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.xml"/><Relationship Id="rId6" Type="http://schemas.openxmlformats.org/officeDocument/2006/relationships/image" Target="../media/image8.png"/><Relationship Id="rId5" Type="http://schemas.openxmlformats.org/officeDocument/2006/relationships/image" Target="../media/image6.png"/><Relationship Id="rId4" Type="http://schemas.openxmlformats.org/officeDocument/2006/relationships/image" Target="../media/image3.emf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5.xml"/><Relationship Id="rId4" Type="http://schemas.openxmlformats.org/officeDocument/2006/relationships/image" Target="../media/image3.emf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6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3.emf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7.xml"/><Relationship Id="rId5" Type="http://schemas.openxmlformats.org/officeDocument/2006/relationships/image" Target="../media/image11.png"/><Relationship Id="rId4" Type="http://schemas.openxmlformats.org/officeDocument/2006/relationships/image" Target="../media/image3.emf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8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3.emf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9.xml"/><Relationship Id="rId5" Type="http://schemas.openxmlformats.org/officeDocument/2006/relationships/image" Target="../media/image14.png"/><Relationship Id="rId4" Type="http://schemas.openxmlformats.org/officeDocument/2006/relationships/image" Target="../media/image3.emf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0.xml"/><Relationship Id="rId4" Type="http://schemas.openxmlformats.org/officeDocument/2006/relationships/image" Target="../media/image3.emf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1.xml"/><Relationship Id="rId5" Type="http://schemas.openxmlformats.org/officeDocument/2006/relationships/image" Target="../media/image15.png"/><Relationship Id="rId4" Type="http://schemas.openxmlformats.org/officeDocument/2006/relationships/image" Target="../media/image3.emf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2.xml"/><Relationship Id="rId5" Type="http://schemas.openxmlformats.org/officeDocument/2006/relationships/image" Target="../media/image3.emf"/><Relationship Id="rId4" Type="http://schemas.openxmlformats.org/officeDocument/2006/relationships/oleObject" Target="../embeddings/oleObject2.bin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TunKedsaro/Hyde" TargetMode="External"/><Relationship Id="rId2" Type="http://schemas.openxmlformats.org/officeDocument/2006/relationships/hyperlink" Target="https://hyderecomment-service-v1-1-0-du7yhkyaqq-as.a.run.app/docs#/" TargetMode="Externa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console.cloud.google.com/storage/browser/hyde-datalake;tab=objects?forceOnBucketsSortingFiltering=true&amp;authuser=0&amp;project=poc-piloturl-nonprod&amp;prefix=&amp;forceOnObjectsSortingFiltering=false" TargetMode="External"/><Relationship Id="rId2" Type="http://schemas.openxmlformats.org/officeDocument/2006/relationships/hyperlink" Target="https://hyderecomment-service-dev-du7yhkyaqq-as.a.run.app/docs#/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console.cloud.google.com/storage/browser/hyde-datalake;tab=objects?forceOnBucketsSortingFiltering=true&amp;authuser=0&amp;project=poc-piloturl-nonprod&amp;prefix=&amp;forceOnObjectsSortingFiltering=false" TargetMode="External"/><Relationship Id="rId2" Type="http://schemas.openxmlformats.org/officeDocument/2006/relationships/hyperlink" Target="https://hyderecomment-service-dev-du7yhkyaqq-as.a.run.app/docs#/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console.cloud.google.com/storage/browser/hyde-datalake;tab=objects?forceOnBucketsSortingFiltering=true&amp;authuser=0&amp;project=poc-piloturl-nonprod&amp;prefix=&amp;forceOnObjectsSortingFiltering=false" TargetMode="External"/><Relationship Id="rId2" Type="http://schemas.openxmlformats.org/officeDocument/2006/relationships/hyperlink" Target="https://hyderecomment-service-dev-du7yhkyaqq-as.a.run.app/docs#/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console.cloud.google.com/storage/browser/hyde-datalake;tab=objects?forceOnBucketsSortingFiltering=true&amp;authuser=0&amp;project=poc-piloturl-nonprod&amp;prefix=&amp;forceOnObjectsSortingFiltering=false" TargetMode="External"/><Relationship Id="rId2" Type="http://schemas.openxmlformats.org/officeDocument/2006/relationships/hyperlink" Target="https://hyderecomment-service-dev-du7yhkyaqq-as.a.run.app/docs#/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console.cloud.google.com/storage/browser/hyde-datalake;tab=objects?forceOnBucketsSortingFiltering=true&amp;authuser=0&amp;project=poc-piloturl-nonprod&amp;prefix=&amp;forceOnObjectsSortingFiltering=false" TargetMode="External"/><Relationship Id="rId2" Type="http://schemas.openxmlformats.org/officeDocument/2006/relationships/hyperlink" Target="https://hyderecomment-service-dev-du7yhkyaqq-as.a.run.app/docs#/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console.cloud.google.com/storage/browser/hyde-datalake;tab=objects?forceOnBucketsSortingFiltering=true&amp;authuser=0&amp;project=poc-piloturl-nonprod&amp;prefix=&amp;forceOnObjectsSortingFiltering=false" TargetMode="External"/><Relationship Id="rId2" Type="http://schemas.openxmlformats.org/officeDocument/2006/relationships/hyperlink" Target="https://hyderecomment-service-dev-du7yhkyaqq-as.a.run.app/docs#/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console.cloud.google.com/storage/browser/hyde-datalake;tab=objects?forceOnBucketsSortingFiltering=true&amp;authuser=0&amp;project=poc-piloturl-nonprod&amp;prefix=&amp;forceOnObjectsSortingFiltering=false" TargetMode="External"/><Relationship Id="rId2" Type="http://schemas.openxmlformats.org/officeDocument/2006/relationships/hyperlink" Target="https://hyderecomment-service-dev-du7yhkyaqq-as.a.run.app/docs#/" TargetMode="Externa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3.xml"/><Relationship Id="rId5" Type="http://schemas.openxmlformats.org/officeDocument/2006/relationships/image" Target="../media/image4.png"/><Relationship Id="rId4" Type="http://schemas.openxmlformats.org/officeDocument/2006/relationships/image" Target="../media/image3.emf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4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emf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jpeg"/><Relationship Id="rId3" Type="http://schemas.openxmlformats.org/officeDocument/2006/relationships/oleObject" Target="../embeddings/oleObject2.bin"/><Relationship Id="rId7" Type="http://schemas.openxmlformats.org/officeDocument/2006/relationships/image" Target="../media/image22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5.xml"/><Relationship Id="rId6" Type="http://schemas.openxmlformats.org/officeDocument/2006/relationships/image" Target="../media/image21.png"/><Relationship Id="rId5" Type="http://schemas.openxmlformats.org/officeDocument/2006/relationships/image" Target="../media/image4.png"/><Relationship Id="rId4" Type="http://schemas.openxmlformats.org/officeDocument/2006/relationships/image" Target="../media/image3.emf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6.xml"/><Relationship Id="rId6" Type="http://schemas.openxmlformats.org/officeDocument/2006/relationships/image" Target="../media/image24.png"/><Relationship Id="rId5" Type="http://schemas.openxmlformats.org/officeDocument/2006/relationships/image" Target="../media/image4.png"/><Relationship Id="rId4" Type="http://schemas.openxmlformats.org/officeDocument/2006/relationships/image" Target="../media/image3.emf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7.xml"/><Relationship Id="rId6" Type="http://schemas.openxmlformats.org/officeDocument/2006/relationships/image" Target="../media/image25.png"/><Relationship Id="rId5" Type="http://schemas.openxmlformats.org/officeDocument/2006/relationships/image" Target="../media/image4.png"/><Relationship Id="rId4" Type="http://schemas.openxmlformats.org/officeDocument/2006/relationships/image" Target="../media/image3.emf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8.xml"/><Relationship Id="rId4" Type="http://schemas.openxmlformats.org/officeDocument/2006/relationships/image" Target="../media/image3.emf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9.xml"/><Relationship Id="rId4" Type="http://schemas.openxmlformats.org/officeDocument/2006/relationships/image" Target="../media/image3.emf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0.xml"/><Relationship Id="rId5" Type="http://schemas.openxmlformats.org/officeDocument/2006/relationships/image" Target="../media/image26.png"/><Relationship Id="rId4" Type="http://schemas.openxmlformats.org/officeDocument/2006/relationships/image" Target="../media/image3.emf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1.xml"/><Relationship Id="rId5" Type="http://schemas.openxmlformats.org/officeDocument/2006/relationships/image" Target="../media/image27.png"/><Relationship Id="rId4" Type="http://schemas.openxmlformats.org/officeDocument/2006/relationships/image" Target="../media/image3.emf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2.xml"/><Relationship Id="rId4" Type="http://schemas.openxmlformats.org/officeDocument/2006/relationships/image" Target="../media/image3.emf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3.xml"/><Relationship Id="rId5" Type="http://schemas.openxmlformats.org/officeDocument/2006/relationships/image" Target="../media/image28.png"/><Relationship Id="rId4" Type="http://schemas.openxmlformats.org/officeDocument/2006/relationships/image" Target="../media/image3.emf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4.xml"/><Relationship Id="rId5" Type="http://schemas.openxmlformats.org/officeDocument/2006/relationships/image" Target="../media/image29.png"/><Relationship Id="rId4" Type="http://schemas.openxmlformats.org/officeDocument/2006/relationships/image" Target="../media/image3.emf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5.xml"/><Relationship Id="rId6" Type="http://schemas.openxmlformats.org/officeDocument/2006/relationships/image" Target="../media/image30.png"/><Relationship Id="rId5" Type="http://schemas.openxmlformats.org/officeDocument/2006/relationships/image" Target="../media/image200.png"/><Relationship Id="rId4" Type="http://schemas.openxmlformats.org/officeDocument/2006/relationships/image" Target="../media/image3.emf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7" Type="http://schemas.openxmlformats.org/officeDocument/2006/relationships/image" Target="../media/image32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6.xml"/><Relationship Id="rId6" Type="http://schemas.openxmlformats.org/officeDocument/2006/relationships/image" Target="../media/image31.png"/><Relationship Id="rId5" Type="http://schemas.openxmlformats.org/officeDocument/2006/relationships/image" Target="../media/image200.png"/><Relationship Id="rId4" Type="http://schemas.openxmlformats.org/officeDocument/2006/relationships/image" Target="../media/image3.emf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7.xml"/><Relationship Id="rId6" Type="http://schemas.openxmlformats.org/officeDocument/2006/relationships/image" Target="../media/image33.png"/><Relationship Id="rId5" Type="http://schemas.openxmlformats.org/officeDocument/2006/relationships/image" Target="../media/image240.png"/><Relationship Id="rId4" Type="http://schemas.openxmlformats.org/officeDocument/2006/relationships/image" Target="../media/image3.emf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7" Type="http://schemas.openxmlformats.org/officeDocument/2006/relationships/image" Target="../media/image35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8.xml"/><Relationship Id="rId6" Type="http://schemas.openxmlformats.org/officeDocument/2006/relationships/image" Target="../media/image34.png"/><Relationship Id="rId5" Type="http://schemas.openxmlformats.org/officeDocument/2006/relationships/image" Target="../media/image240.png"/><Relationship Id="rId4" Type="http://schemas.openxmlformats.org/officeDocument/2006/relationships/image" Target="../media/image3.emf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9.xml"/><Relationship Id="rId6" Type="http://schemas.openxmlformats.org/officeDocument/2006/relationships/image" Target="../media/image36.png"/><Relationship Id="rId5" Type="http://schemas.openxmlformats.org/officeDocument/2006/relationships/image" Target="../media/image280.png"/><Relationship Id="rId4" Type="http://schemas.openxmlformats.org/officeDocument/2006/relationships/image" Target="../media/image3.emf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0.xml"/><Relationship Id="rId4" Type="http://schemas.openxmlformats.org/officeDocument/2006/relationships/image" Target="../media/image3.emf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1.xml"/><Relationship Id="rId5" Type="http://schemas.openxmlformats.org/officeDocument/2006/relationships/image" Target="../media/image37.png"/><Relationship Id="rId4" Type="http://schemas.openxmlformats.org/officeDocument/2006/relationships/image" Target="../media/image3.emf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TunKedsaro/Hyde" TargetMode="External"/><Relationship Id="rId2" Type="http://schemas.openxmlformats.org/officeDocument/2006/relationships/hyperlink" Target="https://hyderecomment-service-v1-1-0-du7yhkyaqq-as.a.run.app/docs#/" TargetMode="External"/><Relationship Id="rId1" Type="http://schemas.openxmlformats.org/officeDocument/2006/relationships/slideLayout" Target="../slideLayouts/slideLayout1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8.png"/><Relationship Id="rId4" Type="http://schemas.openxmlformats.org/officeDocument/2006/relationships/image" Target="../media/image41.png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4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4.png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7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NcEpWbMMsrs" TargetMode="Externa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9.png"/></Relationships>
</file>

<file path=ppt/slides/_rels/slide5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3" Type="http://schemas.openxmlformats.org/officeDocument/2006/relationships/image" Target="../media/image51.png"/><Relationship Id="rId7" Type="http://schemas.openxmlformats.org/officeDocument/2006/relationships/image" Target="../media/image54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3.png"/><Relationship Id="rId11" Type="http://schemas.openxmlformats.org/officeDocument/2006/relationships/image" Target="../media/image57.png"/><Relationship Id="rId5" Type="http://schemas.openxmlformats.org/officeDocument/2006/relationships/image" Target="../media/image23.jpeg"/><Relationship Id="rId10" Type="http://schemas.openxmlformats.org/officeDocument/2006/relationships/image" Target="../media/image56.png"/><Relationship Id="rId4" Type="http://schemas.openxmlformats.org/officeDocument/2006/relationships/image" Target="../media/image52.jpeg"/><Relationship Id="rId9" Type="http://schemas.openxmlformats.org/officeDocument/2006/relationships/image" Target="../media/image22.png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1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1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1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1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1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1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1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7.png"/><Relationship Id="rId5" Type="http://schemas.openxmlformats.org/officeDocument/2006/relationships/image" Target="../media/image51.png"/><Relationship Id="rId4" Type="http://schemas.openxmlformats.org/officeDocument/2006/relationships/image" Target="../media/image46.png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2.xml"/><Relationship Id="rId6" Type="http://schemas.openxmlformats.org/officeDocument/2006/relationships/hyperlink" Target="https://cvresume-eval-orchestrator-du7yhkyaqq-as.a.run.app/docs#/default/evaluate_resume_api_v1_resume_evaluations_post" TargetMode="External"/><Relationship Id="rId5" Type="http://schemas.openxmlformats.org/officeDocument/2006/relationships/hyperlink" Target="mailto:juanjose.carin@gmail.com" TargetMode="External"/><Relationship Id="rId4" Type="http://schemas.openxmlformats.org/officeDocument/2006/relationships/image" Target="../media/image3.emf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1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1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1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1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1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0CE27E-4DA3-7B8A-B957-1FB435107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F14107B8-7815-426C-59AE-8A4B17620A74}"/>
              </a:ext>
            </a:extLst>
          </p:cNvPr>
          <p:cNvSpPr txBox="1">
            <a:spLocks/>
          </p:cNvSpPr>
          <p:nvPr/>
        </p:nvSpPr>
        <p:spPr>
          <a:xfrm>
            <a:off x="479425" y="2444115"/>
            <a:ext cx="11233150" cy="984885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 algn="ctr"/>
            <a:r>
              <a:rPr lang="en-US" b="1" dirty="0"/>
              <a:t>Sprint review #12</a:t>
            </a:r>
            <a:br>
              <a:rPr lang="en-US" b="1" dirty="0"/>
            </a:br>
            <a:r>
              <a:rPr lang="en-US" b="1" dirty="0" err="1"/>
              <a:t>HyDE</a:t>
            </a:r>
            <a:r>
              <a:rPr lang="en-US" b="1" dirty="0"/>
              <a:t> feed recommendation</a:t>
            </a:r>
            <a:endParaRPr lang="en-US" sz="2400" b="1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798FCD8-14E8-5B39-1E5A-E9D4D7BD8D31}"/>
              </a:ext>
            </a:extLst>
          </p:cNvPr>
          <p:cNvSpPr txBox="1">
            <a:spLocks/>
          </p:cNvSpPr>
          <p:nvPr/>
        </p:nvSpPr>
        <p:spPr>
          <a:xfrm>
            <a:off x="152399" y="5087748"/>
            <a:ext cx="11820525" cy="1691425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>
              <a:lnSpc>
                <a:spcPct val="150000"/>
              </a:lnSpc>
            </a:pPr>
            <a:r>
              <a:rPr lang="en-US" sz="1100" b="1" dirty="0">
                <a:solidFill>
                  <a:schemeClr val="accent1">
                    <a:lumMod val="10000"/>
                  </a:schemeClr>
                </a:solidFill>
              </a:rPr>
              <a:t>API Spec Link : </a:t>
            </a:r>
            <a:endParaRPr lang="en-US" sz="1100" b="1" dirty="0">
              <a:solidFill>
                <a:srgbClr val="509BCA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1100" b="1" dirty="0">
                <a:solidFill>
                  <a:schemeClr val="accent1">
                    <a:lumMod val="10000"/>
                  </a:schemeClr>
                </a:solidFill>
              </a:rPr>
              <a:t>Orchestrator : </a:t>
            </a:r>
            <a:endParaRPr lang="en-US" sz="1100" b="1" dirty="0">
              <a:solidFill>
                <a:srgbClr val="509BCA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1100" b="1" dirty="0">
                <a:solidFill>
                  <a:schemeClr val="accent1">
                    <a:lumMod val="10000"/>
                  </a:schemeClr>
                </a:solidFill>
              </a:rPr>
              <a:t>API core evaluation link : </a:t>
            </a:r>
            <a:r>
              <a:rPr lang="en-US" sz="1100" b="1" dirty="0">
                <a:solidFill>
                  <a:srgbClr val="509BCA"/>
                </a:solidFill>
              </a:rPr>
              <a:t>https://hyderecomment-service-du7yhkyaqq-as.a.run.app</a:t>
            </a:r>
          </a:p>
          <a:p>
            <a:pPr>
              <a:lnSpc>
                <a:spcPct val="150000"/>
              </a:lnSpc>
            </a:pPr>
            <a:r>
              <a:rPr lang="en-US" sz="1100" b="1" dirty="0" err="1">
                <a:solidFill>
                  <a:schemeClr val="accent1">
                    <a:lumMod val="10000"/>
                  </a:schemeClr>
                </a:solidFill>
              </a:rPr>
              <a:t>Github</a:t>
            </a:r>
            <a:r>
              <a:rPr lang="en-US" sz="1100" b="1" dirty="0">
                <a:solidFill>
                  <a:schemeClr val="accent1">
                    <a:lumMod val="10000"/>
                  </a:schemeClr>
                </a:solidFill>
              </a:rPr>
              <a:t> :</a:t>
            </a:r>
            <a:r>
              <a:rPr lang="en-US" sz="1100" b="1" dirty="0">
                <a:solidFill>
                  <a:srgbClr val="509BCA"/>
                </a:solidFill>
              </a:rPr>
              <a:t> </a:t>
            </a:r>
            <a:r>
              <a:rPr lang="en-US" sz="1100" b="1" dirty="0">
                <a:solidFill>
                  <a:srgbClr val="509BCA"/>
                </a:solidFill>
                <a:hlinkClick r:id="rId3"/>
              </a:rPr>
              <a:t>https://github.com/TunKedsaro/Hyde</a:t>
            </a:r>
            <a:endParaRPr lang="en-US" sz="1100" b="1" dirty="0">
              <a:solidFill>
                <a:srgbClr val="509BCA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1100" b="1" dirty="0"/>
              <a:t>QA</a:t>
            </a:r>
            <a:r>
              <a:rPr lang="en-US" sz="1100" b="1" dirty="0">
                <a:solidFill>
                  <a:srgbClr val="509BCA"/>
                </a:solidFill>
              </a:rPr>
              <a:t> : </a:t>
            </a:r>
            <a:r>
              <a:rPr lang="en-US" sz="1100" b="1" dirty="0">
                <a:solidFill>
                  <a:srgbClr val="509BCA"/>
                </a:solidFill>
                <a:hlinkClick r:id="rId4"/>
              </a:rPr>
              <a:t>https://humanintelligence.atlassian.net/wiki/spaces/CPM/pages/134611027/QA+Test+Plan+CV+Evaluation+Pipeline</a:t>
            </a:r>
            <a:endParaRPr lang="en-US" sz="1100" b="1" dirty="0">
              <a:solidFill>
                <a:srgbClr val="509BCA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1100" b="1" dirty="0"/>
              <a:t>Test</a:t>
            </a:r>
            <a:r>
              <a:rPr lang="en-US" sz="1100" b="1" dirty="0">
                <a:solidFill>
                  <a:srgbClr val="509BCA"/>
                </a:solidFill>
              </a:rPr>
              <a:t> : https://humanintelligence.atlassian.net/wiki/spaces/CPM/pages/148636743/HyDE+Core+Recommendation+Engine+Test+Plan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352F34DB-0999-D71B-2C9E-F31472F08157}"/>
              </a:ext>
            </a:extLst>
          </p:cNvPr>
          <p:cNvSpPr txBox="1">
            <a:spLocks/>
          </p:cNvSpPr>
          <p:nvPr/>
        </p:nvSpPr>
        <p:spPr>
          <a:xfrm>
            <a:off x="152399" y="5933461"/>
            <a:ext cx="11820525" cy="229935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>
              <a:lnSpc>
                <a:spcPct val="150000"/>
              </a:lnSpc>
            </a:pPr>
            <a:endParaRPr lang="en-US" sz="1100">
              <a:solidFill>
                <a:srgbClr val="0432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9767651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50">
        <p:fade/>
      </p:transition>
    </mc:Choice>
    <mc:Fallback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43F665-81FB-6D5B-2B47-0F27EC69A1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3849A6-E003-A495-D190-310854D4C07B}"/>
              </a:ext>
            </a:extLst>
          </p:cNvPr>
          <p:cNvSpPr txBox="1">
            <a:spLocks/>
          </p:cNvSpPr>
          <p:nvPr/>
        </p:nvSpPr>
        <p:spPr>
          <a:xfrm>
            <a:off x="365759" y="394952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– </a:t>
            </a:r>
            <a:r>
              <a:rPr lang="en-US" sz="2400" dirty="0" err="1"/>
              <a:t>HyDE</a:t>
            </a:r>
            <a:r>
              <a:rPr lang="en-US" sz="2400" dirty="0"/>
              <a:t> generation</a:t>
            </a:r>
            <a:endParaRPr lang="en-US" sz="2400" dirty="0">
              <a:cs typeface="Poppins Light"/>
            </a:endParaRPr>
          </a:p>
        </p:txBody>
      </p:sp>
      <p:sp>
        <p:nvSpPr>
          <p:cNvPr id="7" name="TextBox 2">
            <a:hlinkClick r:id="rId2"/>
            <a:extLst>
              <a:ext uri="{FF2B5EF4-FFF2-40B4-BE49-F238E27FC236}">
                <a16:creationId xmlns:a16="http://schemas.microsoft.com/office/drawing/2014/main" id="{BC7CE62F-E970-8EC7-7328-B8268B326455}"/>
              </a:ext>
            </a:extLst>
          </p:cNvPr>
          <p:cNvSpPr txBox="1"/>
          <p:nvPr/>
        </p:nvSpPr>
        <p:spPr>
          <a:xfrm>
            <a:off x="522317" y="6124494"/>
            <a:ext cx="3830608" cy="338554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 err="1">
                <a:solidFill>
                  <a:schemeClr val="tx1"/>
                </a:solidFill>
              </a:rPr>
              <a:t>HyDE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recommentdation</a:t>
            </a:r>
            <a:r>
              <a:rPr lang="en-US" sz="1600" dirty="0">
                <a:solidFill>
                  <a:schemeClr val="tx1"/>
                </a:solidFill>
              </a:rPr>
              <a:t> core engine API</a:t>
            </a:r>
          </a:p>
        </p:txBody>
      </p:sp>
      <p:sp>
        <p:nvSpPr>
          <p:cNvPr id="11" name="TextBox 2">
            <a:hlinkClick r:id="rId3"/>
            <a:extLst>
              <a:ext uri="{FF2B5EF4-FFF2-40B4-BE49-F238E27FC236}">
                <a16:creationId xmlns:a16="http://schemas.microsoft.com/office/drawing/2014/main" id="{BE483E2E-0160-AFC5-F617-E6FC028C240C}"/>
              </a:ext>
            </a:extLst>
          </p:cNvPr>
          <p:cNvSpPr txBox="1"/>
          <p:nvPr/>
        </p:nvSpPr>
        <p:spPr>
          <a:xfrm>
            <a:off x="522317" y="6463048"/>
            <a:ext cx="4331464" cy="338554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>
                <a:solidFill>
                  <a:schemeClr val="tx1"/>
                </a:solidFill>
              </a:rPr>
              <a:t>GCS / </a:t>
            </a:r>
            <a:r>
              <a:rPr lang="en-US" sz="1600" dirty="0" err="1">
                <a:solidFill>
                  <a:schemeClr val="tx1"/>
                </a:solidFill>
              </a:rPr>
              <a:t>hyde-datalake</a:t>
            </a:r>
            <a:r>
              <a:rPr lang="en-US" sz="1600" dirty="0">
                <a:solidFill>
                  <a:schemeClr val="tx1"/>
                </a:solidFill>
              </a:rPr>
              <a:t> (Test)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A6948175-D804-9AA3-49F2-ECCCAEA3F0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85666" y="1063171"/>
            <a:ext cx="9144000" cy="49130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53027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A19765-C5EE-6156-4F7D-12AAC4292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93490E33-E092-F315-95F5-F108195C20BC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99F3D829-9CE2-A388-614F-B7F7167F8B1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D701A60A-E1AB-C01A-D0EB-25949EF538B4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9FE4CE5-5A68-53D5-9669-60E0F5B5C9B7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2802609-C615-3668-07EA-0A82FDF8FB0F}"/>
              </a:ext>
            </a:extLst>
          </p:cNvPr>
          <p:cNvSpPr/>
          <p:nvPr/>
        </p:nvSpPr>
        <p:spPr>
          <a:xfrm>
            <a:off x="638383" y="859879"/>
            <a:ext cx="5265878" cy="51871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tx1"/>
                </a:solidFill>
                <a:cs typeface="Poppins Light"/>
              </a:rPr>
              <a:t>Overview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EAF8D8BD-B693-7273-106A-CF69BDF4A73D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42CE743-22F0-042A-F251-1F526CEB482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6096" y="1378594"/>
            <a:ext cx="4552295" cy="514141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DB601FE-4ECA-8B8A-4FAF-E12E72DF79E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63852" y="1739501"/>
            <a:ext cx="4689948" cy="4419600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08EBE845-A9C0-7D0F-C3E0-3E8328DC959C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– </a:t>
            </a:r>
            <a:r>
              <a:rPr lang="en-US" sz="2400" dirty="0" err="1"/>
              <a:t>HyDE</a:t>
            </a:r>
            <a:r>
              <a:rPr lang="en-US" sz="2400" dirty="0"/>
              <a:t> generation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4349256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C48718-DD36-D4FC-AEDB-B9247E30C9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7FD4FAE3-F4C8-E136-EAC5-D28D473F468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93490E33-E092-F315-95F5-F108195C20B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E3E6CDA3-C7F6-86F0-275D-9390E1CED54D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FB9B446-67FC-79FA-9010-4132F3D7BAD6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9D10C76C-B7C5-6CE2-3234-A7AF3A07F71B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56A4904-2566-C732-227B-FAF429A65E23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– </a:t>
            </a:r>
            <a:r>
              <a:rPr lang="en-US" sz="2400" dirty="0" err="1"/>
              <a:t>HyDE</a:t>
            </a:r>
            <a:r>
              <a:rPr lang="en-US" sz="2400" dirty="0"/>
              <a:t> generation</a:t>
            </a:r>
            <a:endParaRPr lang="en-US" sz="2400" dirty="0">
              <a:cs typeface="Poppins Light"/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930E4F9A-C6DD-B5D9-3D6B-ECAE7CFD93B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6096" y="978628"/>
            <a:ext cx="4516253" cy="5593009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59E219A3-A05B-75BC-DA61-B361A68CCA8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89867" y="2095794"/>
            <a:ext cx="5159707" cy="3358677"/>
          </a:xfrm>
          <a:prstGeom prst="rect">
            <a:avLst/>
          </a:prstGeom>
        </p:spPr>
      </p:pic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FC58ABFE-0460-4C3D-04E6-CDF888EB5085}"/>
              </a:ext>
            </a:extLst>
          </p:cNvPr>
          <p:cNvCxnSpPr>
            <a:cxnSpLocks/>
          </p:cNvCxnSpPr>
          <p:nvPr/>
        </p:nvCxnSpPr>
        <p:spPr>
          <a:xfrm>
            <a:off x="5935044" y="3678702"/>
            <a:ext cx="705390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638591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813376-5ABC-055F-0568-949C1DA0D7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43287C8F-92CB-5A39-9F5B-818249E5B027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FD4FAE3-F4C8-E136-EAC5-D28D473F468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879FDDD2-41C6-BC9F-EF2B-014C09DA3FE4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2A9557-129E-8050-F2EB-DDE71A6C8CB2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AB42D6C3-3072-4CA4-8053-F02335176BED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4F1465E-431D-0428-2F0C-E8D7A6F1A85C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– </a:t>
            </a:r>
            <a:r>
              <a:rPr lang="en-US" sz="2400" dirty="0" err="1"/>
              <a:t>HyDE</a:t>
            </a:r>
            <a:r>
              <a:rPr lang="en-US" sz="2400" dirty="0"/>
              <a:t> generation</a:t>
            </a:r>
            <a:endParaRPr lang="en-US" sz="2400" dirty="0">
              <a:cs typeface="Poppins Light"/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97E59759-8F71-A667-363F-282C9791FF8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6096" y="978628"/>
            <a:ext cx="4516253" cy="559300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12C8C7F-551F-8C48-A10F-B69C955E4E9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02771" y="1286323"/>
            <a:ext cx="4339730" cy="4977618"/>
          </a:xfrm>
          <a:prstGeom prst="rect">
            <a:avLst/>
          </a:prstGeom>
        </p:spPr>
      </p:pic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89959315-A723-6C6C-A560-5C117693C21C}"/>
              </a:ext>
            </a:extLst>
          </p:cNvPr>
          <p:cNvCxnSpPr>
            <a:cxnSpLocks/>
          </p:cNvCxnSpPr>
          <p:nvPr/>
        </p:nvCxnSpPr>
        <p:spPr>
          <a:xfrm flipV="1">
            <a:off x="3080825" y="1589649"/>
            <a:ext cx="3921946" cy="872197"/>
          </a:xfrm>
          <a:prstGeom prst="bentConnector3">
            <a:avLst>
              <a:gd name="adj1" fmla="val 50000"/>
            </a:avLst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4A1D4006-7DCC-1B44-241F-055613B940E5}"/>
              </a:ext>
            </a:extLst>
          </p:cNvPr>
          <p:cNvSpPr txBox="1"/>
          <p:nvPr/>
        </p:nvSpPr>
        <p:spPr>
          <a:xfrm>
            <a:off x="9405114" y="7196541"/>
            <a:ext cx="2786886" cy="972562"/>
          </a:xfrm>
          <a:prstGeom prst="roundRect">
            <a:avLst>
              <a:gd name="adj" fmla="val 4406"/>
            </a:avLst>
          </a:prstGeom>
          <a:solidFill>
            <a:srgbClr val="FFD100"/>
          </a:solidFill>
        </p:spPr>
        <p:txBody>
          <a:bodyPr wrap="square" rtlCol="0">
            <a:spAutoFit/>
          </a:bodyPr>
          <a:lstStyle/>
          <a:p>
            <a:r>
              <a:rPr lang="th-TH" sz="1400" dirty="0">
                <a:latin typeface="Consolas" panose="020B0609020204030204" pitchFamily="49" charset="0"/>
              </a:rPr>
              <a:t>กำหนดให้ </a:t>
            </a:r>
            <a:r>
              <a:rPr lang="en-US" sz="1400" dirty="0" err="1">
                <a:latin typeface="Consolas" panose="020B0609020204030204" pitchFamily="49" charset="0"/>
              </a:rPr>
              <a:t>feed_metadata</a:t>
            </a:r>
            <a:r>
              <a:rPr lang="en-US" sz="1400" dirty="0">
                <a:latin typeface="Consolas" panose="020B0609020204030204" pitchFamily="49" charset="0"/>
              </a:rPr>
              <a:t> &lt; 100</a:t>
            </a:r>
          </a:p>
          <a:p>
            <a:r>
              <a:rPr lang="th-TH" sz="1400" dirty="0">
                <a:latin typeface="Consolas" panose="020B0609020204030204" pitchFamily="49" charset="0"/>
              </a:rPr>
              <a:t>หาจำนวนที่เพราะสม</a:t>
            </a:r>
          </a:p>
          <a:p>
            <a:r>
              <a:rPr lang="th-TH" sz="1400" dirty="0">
                <a:latin typeface="Consolas" panose="020B0609020204030204" pitchFamily="49" charset="0"/>
              </a:rPr>
              <a:t>บางส่วนอาจจะหายไปกับเพราะเวลา </a:t>
            </a:r>
            <a:r>
              <a:rPr lang="en-US" sz="1400" dirty="0">
                <a:latin typeface="Consolas" panose="020B0609020204030204" pitchFamily="49" charset="0"/>
              </a:rPr>
              <a:t>out of date</a:t>
            </a:r>
          </a:p>
        </p:txBody>
      </p:sp>
    </p:spTree>
    <p:extLst>
      <p:ext uri="{BB962C8B-B14F-4D97-AF65-F5344CB8AC3E}">
        <p14:creationId xmlns:p14="http://schemas.microsoft.com/office/powerpoint/2010/main" val="28577672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C5B90B-3F91-B9A6-76A0-BDA8508406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00802C8B-4C49-EFFC-2351-A6769C0B22A0}"/>
              </a:ext>
            </a:extLst>
          </p:cNvPr>
          <p:cNvCxnSpPr>
            <a:cxnSpLocks/>
          </p:cNvCxnSpPr>
          <p:nvPr/>
        </p:nvCxnSpPr>
        <p:spPr>
          <a:xfrm>
            <a:off x="1509457" y="2929855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C3ECB28A-1F25-E81C-5B8F-D16C5718DA29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 err="1"/>
              <a:t>Subscore</a:t>
            </a:r>
            <a:endParaRPr lang="en-US" sz="2400" dirty="0">
              <a:cs typeface="Poppins Light"/>
            </a:endParaRPr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BE25C237-9326-5E6A-EAA2-BA47EBF42C93}"/>
              </a:ext>
            </a:extLst>
          </p:cNvPr>
          <p:cNvCxnSpPr>
            <a:cxnSpLocks/>
          </p:cNvCxnSpPr>
          <p:nvPr/>
        </p:nvCxnSpPr>
        <p:spPr>
          <a:xfrm>
            <a:off x="7555545" y="2168703"/>
            <a:ext cx="1080455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74" name="Group 73">
            <a:extLst>
              <a:ext uri="{FF2B5EF4-FFF2-40B4-BE49-F238E27FC236}">
                <a16:creationId xmlns:a16="http://schemas.microsoft.com/office/drawing/2014/main" id="{D377FA6D-E896-46F5-F9D0-0CA827734A98}"/>
              </a:ext>
            </a:extLst>
          </p:cNvPr>
          <p:cNvGrpSpPr/>
          <p:nvPr/>
        </p:nvGrpSpPr>
        <p:grpSpPr>
          <a:xfrm>
            <a:off x="365759" y="1777334"/>
            <a:ext cx="1005791" cy="2305042"/>
            <a:chOff x="213358" y="2209804"/>
            <a:chExt cx="1167768" cy="2305042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21B8037B-08EF-3E54-8F45-8D9B06810450}"/>
                </a:ext>
              </a:extLst>
            </p:cNvPr>
            <p:cNvSpPr/>
            <p:nvPr/>
          </p:nvSpPr>
          <p:spPr>
            <a:xfrm>
              <a:off x="213358" y="2209804"/>
              <a:ext cx="1167768" cy="2305042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C5A30D4-1511-CD27-AE0E-D63513C615B7}"/>
                </a:ext>
              </a:extLst>
            </p:cNvPr>
            <p:cNvSpPr/>
            <p:nvPr/>
          </p:nvSpPr>
          <p:spPr>
            <a:xfrm>
              <a:off x="479440" y="2703419"/>
              <a:ext cx="662191" cy="370142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.</a:t>
              </a:r>
              <a:r>
                <a:rPr lang="en-US" sz="1000" dirty="0" err="1">
                  <a:solidFill>
                    <a:srgbClr val="272428"/>
                  </a:solidFill>
                  <a:latin typeface="Poppins Light"/>
                  <a:cs typeface="Sarabun Light"/>
                </a:rPr>
                <a:t>npy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F1664F7B-FD87-8B03-EB74-C30F73F8AEF1}"/>
                </a:ext>
              </a:extLst>
            </p:cNvPr>
            <p:cNvSpPr/>
            <p:nvPr/>
          </p:nvSpPr>
          <p:spPr>
            <a:xfrm>
              <a:off x="479440" y="3141390"/>
              <a:ext cx="662191" cy="370142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feed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81F9424-A448-AEE5-0D99-B45BD0748E1A}"/>
                </a:ext>
              </a:extLst>
            </p:cNvPr>
            <p:cNvSpPr/>
            <p:nvPr/>
          </p:nvSpPr>
          <p:spPr>
            <a:xfrm>
              <a:off x="479440" y="3579361"/>
              <a:ext cx="662191" cy="370142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.</a:t>
              </a:r>
              <a:r>
                <a:rPr lang="en-US" sz="1000" dirty="0" err="1">
                  <a:solidFill>
                    <a:srgbClr val="272428"/>
                  </a:solidFill>
                  <a:latin typeface="Poppins Light"/>
                  <a:cs typeface="Sarabun Light"/>
                </a:rPr>
                <a:t>json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899B0673-A9B5-5CD1-A6A0-47B36A722166}"/>
                </a:ext>
              </a:extLst>
            </p:cNvPr>
            <p:cNvSpPr/>
            <p:nvPr/>
          </p:nvSpPr>
          <p:spPr>
            <a:xfrm>
              <a:off x="479440" y="4017493"/>
              <a:ext cx="662191" cy="370142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.</a:t>
              </a:r>
              <a:r>
                <a:rPr lang="en-US" sz="1000" dirty="0" err="1">
                  <a:solidFill>
                    <a:srgbClr val="272428"/>
                  </a:solidFill>
                  <a:latin typeface="Poppins Light"/>
                  <a:cs typeface="Sarabun Light"/>
                </a:rPr>
                <a:t>yaml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82503278-BF15-406D-D282-8BDA15C214A7}"/>
                </a:ext>
              </a:extLst>
            </p:cNvPr>
            <p:cNvSpPr txBox="1"/>
            <p:nvPr/>
          </p:nvSpPr>
          <p:spPr>
            <a:xfrm>
              <a:off x="302938" y="2299610"/>
              <a:ext cx="978715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Inputs</a:t>
              </a:r>
              <a:endParaRPr lang="en-US" sz="1050" dirty="0"/>
            </a:p>
          </p:txBody>
        </p:sp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FEEBD6AC-14C1-E803-7ABC-0E5455BB037F}"/>
              </a:ext>
            </a:extLst>
          </p:cNvPr>
          <p:cNvGrpSpPr/>
          <p:nvPr/>
        </p:nvGrpSpPr>
        <p:grpSpPr>
          <a:xfrm>
            <a:off x="442914" y="4958641"/>
            <a:ext cx="1758365" cy="1333699"/>
            <a:chOff x="310230" y="5605659"/>
            <a:chExt cx="1758365" cy="1333699"/>
          </a:xfrm>
        </p:grpSpPr>
        <p:grpSp>
          <p:nvGrpSpPr>
            <p:cNvPr id="106" name="Group 105">
              <a:extLst>
                <a:ext uri="{FF2B5EF4-FFF2-40B4-BE49-F238E27FC236}">
                  <a16:creationId xmlns:a16="http://schemas.microsoft.com/office/drawing/2014/main" id="{C4567ED2-C94E-D1C2-0813-5AC95572BF76}"/>
                </a:ext>
              </a:extLst>
            </p:cNvPr>
            <p:cNvGrpSpPr/>
            <p:nvPr/>
          </p:nvGrpSpPr>
          <p:grpSpPr>
            <a:xfrm>
              <a:off x="310231" y="5963091"/>
              <a:ext cx="1758364" cy="976267"/>
              <a:chOff x="10285063" y="608166"/>
              <a:chExt cx="1836174" cy="976267"/>
            </a:xfrm>
          </p:grpSpPr>
          <p:cxnSp>
            <p:nvCxnSpPr>
              <p:cNvPr id="108" name="Straight Arrow Connector 107">
                <a:extLst>
                  <a:ext uri="{FF2B5EF4-FFF2-40B4-BE49-F238E27FC236}">
                    <a16:creationId xmlns:a16="http://schemas.microsoft.com/office/drawing/2014/main" id="{EAA77467-F129-FB39-E452-4C29258CD62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285065" y="1544858"/>
                <a:ext cx="317488" cy="0"/>
              </a:xfrm>
              <a:prstGeom prst="straightConnector1">
                <a:avLst/>
              </a:prstGeom>
              <a:ln w="12700">
                <a:solidFill>
                  <a:srgbClr val="FF0000"/>
                </a:solidFill>
                <a:headEnd type="triangl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9" name="Rounded Rectangle 29">
                <a:extLst>
                  <a:ext uri="{FF2B5EF4-FFF2-40B4-BE49-F238E27FC236}">
                    <a16:creationId xmlns:a16="http://schemas.microsoft.com/office/drawing/2014/main" id="{23BFDF69-FC72-6869-A5E4-788430F50C6D}"/>
                  </a:ext>
                </a:extLst>
              </p:cNvPr>
              <p:cNvSpPr/>
              <p:nvPr/>
            </p:nvSpPr>
            <p:spPr>
              <a:xfrm>
                <a:off x="10285065" y="892606"/>
                <a:ext cx="1541315" cy="211431"/>
              </a:xfrm>
              <a:prstGeom prst="roundRect">
                <a:avLst>
                  <a:gd name="adj" fmla="val 1282"/>
                </a:avLst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+mn-ea"/>
                    <a:cs typeface="Sarabun Light"/>
                  </a:rPr>
                  <a:t>Process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10" name="Rounded Rectangle 30">
                <a:extLst>
                  <a:ext uri="{FF2B5EF4-FFF2-40B4-BE49-F238E27FC236}">
                    <a16:creationId xmlns:a16="http://schemas.microsoft.com/office/drawing/2014/main" id="{14739B05-FD63-8AF6-3EB0-7F7050E16D3D}"/>
                  </a:ext>
                </a:extLst>
              </p:cNvPr>
              <p:cNvSpPr/>
              <p:nvPr/>
            </p:nvSpPr>
            <p:spPr>
              <a:xfrm>
                <a:off x="10285063" y="1167222"/>
                <a:ext cx="1541315" cy="228150"/>
              </a:xfrm>
              <a:prstGeom prst="roundRect">
                <a:avLst>
                  <a:gd name="adj" fmla="val 1282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1">
                        <a:lumMod val="10000"/>
                      </a:schemeClr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Output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1">
                      <a:lumMod val="10000"/>
                    </a:schemeClr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11" name="TextBox 37">
                <a:extLst>
                  <a:ext uri="{FF2B5EF4-FFF2-40B4-BE49-F238E27FC236}">
                    <a16:creationId xmlns:a16="http://schemas.microsoft.com/office/drawing/2014/main" id="{6F21E760-5529-4FFA-C36E-D4CF1E1E5ADC}"/>
                  </a:ext>
                </a:extLst>
              </p:cNvPr>
              <p:cNvSpPr txBox="1"/>
              <p:nvPr/>
            </p:nvSpPr>
            <p:spPr>
              <a:xfrm>
                <a:off x="10647876" y="1445934"/>
                <a:ext cx="1473361" cy="138499"/>
              </a:xfrm>
              <a:prstGeom prst="rect">
                <a:avLst/>
              </a:prstGeom>
              <a:noFill/>
            </p:spPr>
            <p:txBody>
              <a:bodyPr wrap="square" lIns="36000" tIns="0" rIns="0" bIns="0" rtlCol="0" anchor="ctr">
                <a:spAutoFit/>
              </a:bodyPr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Process</a:t>
                </a:r>
                <a:endParaRPr kumimoji="0" lang="en-TH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12" name="Rounded Rectangle 40">
                <a:extLst>
                  <a:ext uri="{FF2B5EF4-FFF2-40B4-BE49-F238E27FC236}">
                    <a16:creationId xmlns:a16="http://schemas.microsoft.com/office/drawing/2014/main" id="{1B24B10A-5939-A002-EC94-8FD1988F574C}"/>
                  </a:ext>
                </a:extLst>
              </p:cNvPr>
              <p:cNvSpPr/>
              <p:nvPr/>
            </p:nvSpPr>
            <p:spPr>
              <a:xfrm>
                <a:off x="10285064" y="608166"/>
                <a:ext cx="1541315" cy="211025"/>
              </a:xfrm>
              <a:prstGeom prst="roundRect">
                <a:avLst>
                  <a:gd name="adj" fmla="val 1282"/>
                </a:avLst>
              </a:prstGeom>
              <a:solidFill>
                <a:schemeClr val="tx2">
                  <a:lumMod val="25000"/>
                  <a:lumOff val="75000"/>
                </a:schemeClr>
              </a:solidFill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1">
                <a:schemeClr val="accent6"/>
              </a:lnRef>
              <a:fillRef idx="3">
                <a:schemeClr val="accent6"/>
              </a:fillRef>
              <a:effectRef idx="2">
                <a:schemeClr val="accent6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Input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</p:grpSp>
        <p:sp>
          <p:nvSpPr>
            <p:cNvPr id="107" name="TextBox 12">
              <a:extLst>
                <a:ext uri="{FF2B5EF4-FFF2-40B4-BE49-F238E27FC236}">
                  <a16:creationId xmlns:a16="http://schemas.microsoft.com/office/drawing/2014/main" id="{4F0BF3ED-7774-AA93-AD56-7CD82FFC9064}"/>
                </a:ext>
              </a:extLst>
            </p:cNvPr>
            <p:cNvSpPr txBox="1"/>
            <p:nvPr/>
          </p:nvSpPr>
          <p:spPr>
            <a:xfrm>
              <a:off x="310230" y="5605659"/>
              <a:ext cx="141092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TH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rPr>
                <a:t>Legend</a:t>
              </a:r>
            </a:p>
          </p:txBody>
        </p:sp>
      </p:grpSp>
      <p:sp>
        <p:nvSpPr>
          <p:cNvPr id="119" name="Rectangle 118">
            <a:extLst>
              <a:ext uri="{FF2B5EF4-FFF2-40B4-BE49-F238E27FC236}">
                <a16:creationId xmlns:a16="http://schemas.microsoft.com/office/drawing/2014/main" id="{22D1E9F8-5C12-D6BF-7BDE-C358864ABFE8}"/>
              </a:ext>
            </a:extLst>
          </p:cNvPr>
          <p:cNvSpPr/>
          <p:nvPr/>
        </p:nvSpPr>
        <p:spPr>
          <a:xfrm>
            <a:off x="1871113" y="1685929"/>
            <a:ext cx="5423030" cy="253371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125" name="Rectangle 124">
            <a:extLst>
              <a:ext uri="{FF2B5EF4-FFF2-40B4-BE49-F238E27FC236}">
                <a16:creationId xmlns:a16="http://schemas.microsoft.com/office/drawing/2014/main" id="{A6D46628-CEA5-6877-0B68-40BE60AC4C7B}"/>
              </a:ext>
            </a:extLst>
          </p:cNvPr>
          <p:cNvSpPr/>
          <p:nvPr/>
        </p:nvSpPr>
        <p:spPr>
          <a:xfrm>
            <a:off x="1930351" y="2739438"/>
            <a:ext cx="1355834" cy="37014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Load + Validate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74C91039-6576-B0F4-72A0-2B4B446D6A6E}"/>
              </a:ext>
            </a:extLst>
          </p:cNvPr>
          <p:cNvCxnSpPr>
            <a:cxnSpLocks/>
          </p:cNvCxnSpPr>
          <p:nvPr/>
        </p:nvCxnSpPr>
        <p:spPr>
          <a:xfrm>
            <a:off x="4431762" y="2331646"/>
            <a:ext cx="0" cy="254726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7" name="Connector: Elbow 126">
            <a:extLst>
              <a:ext uri="{FF2B5EF4-FFF2-40B4-BE49-F238E27FC236}">
                <a16:creationId xmlns:a16="http://schemas.microsoft.com/office/drawing/2014/main" id="{3CB2FBC7-E118-6EB1-4B10-7C6938D92873}"/>
              </a:ext>
            </a:extLst>
          </p:cNvPr>
          <p:cNvCxnSpPr>
            <a:cxnSpLocks/>
          </p:cNvCxnSpPr>
          <p:nvPr/>
        </p:nvCxnSpPr>
        <p:spPr>
          <a:xfrm flipV="1">
            <a:off x="2608268" y="1983632"/>
            <a:ext cx="876300" cy="686151"/>
          </a:xfrm>
          <a:prstGeom prst="bentConnector3">
            <a:avLst>
              <a:gd name="adj1" fmla="val -1359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28" name="Connector: Elbow 127">
            <a:extLst>
              <a:ext uri="{FF2B5EF4-FFF2-40B4-BE49-F238E27FC236}">
                <a16:creationId xmlns:a16="http://schemas.microsoft.com/office/drawing/2014/main" id="{E55AA67B-C693-2CF7-D47A-1FAD7F7FEFDC}"/>
              </a:ext>
            </a:extLst>
          </p:cNvPr>
          <p:cNvCxnSpPr>
            <a:cxnSpLocks/>
          </p:cNvCxnSpPr>
          <p:nvPr/>
        </p:nvCxnSpPr>
        <p:spPr>
          <a:xfrm>
            <a:off x="2608268" y="3149880"/>
            <a:ext cx="876300" cy="682519"/>
          </a:xfrm>
          <a:prstGeom prst="bentConnector3">
            <a:avLst>
              <a:gd name="adj1" fmla="val -997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29" name="Rectangle 128">
            <a:extLst>
              <a:ext uri="{FF2B5EF4-FFF2-40B4-BE49-F238E27FC236}">
                <a16:creationId xmlns:a16="http://schemas.microsoft.com/office/drawing/2014/main" id="{0CA41C4F-B6CB-80D3-DF84-7A6F6E72C3C3}"/>
              </a:ext>
            </a:extLst>
          </p:cNvPr>
          <p:cNvSpPr/>
          <p:nvPr/>
        </p:nvSpPr>
        <p:spPr>
          <a:xfrm>
            <a:off x="3613101" y="1798561"/>
            <a:ext cx="1355834" cy="37014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Load FAISS Index </a:t>
            </a: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read_index</a:t>
            </a: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()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99906EA0-A9BE-4124-89DF-FC68B70CFEAC}"/>
              </a:ext>
            </a:extLst>
          </p:cNvPr>
          <p:cNvSpPr/>
          <p:nvPr/>
        </p:nvSpPr>
        <p:spPr>
          <a:xfrm>
            <a:off x="3613101" y="3647327"/>
            <a:ext cx="1355834" cy="46426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User Embedding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(1 – 5 queries)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56EEB863-B037-992B-3644-1AD8179FE547}"/>
              </a:ext>
            </a:extLst>
          </p:cNvPr>
          <p:cNvSpPr/>
          <p:nvPr/>
        </p:nvSpPr>
        <p:spPr>
          <a:xfrm>
            <a:off x="3753845" y="2711909"/>
            <a:ext cx="1355834" cy="4397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FAISS Search Top K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Score + indices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132" name="Straight Arrow Connector 131">
            <a:extLst>
              <a:ext uri="{FF2B5EF4-FFF2-40B4-BE49-F238E27FC236}">
                <a16:creationId xmlns:a16="http://schemas.microsoft.com/office/drawing/2014/main" id="{39C091F6-A033-F49F-B067-31E23E5D80B0}"/>
              </a:ext>
            </a:extLst>
          </p:cNvPr>
          <p:cNvCxnSpPr>
            <a:cxnSpLocks/>
          </p:cNvCxnSpPr>
          <p:nvPr/>
        </p:nvCxnSpPr>
        <p:spPr>
          <a:xfrm flipV="1">
            <a:off x="4431762" y="3236413"/>
            <a:ext cx="0" cy="254726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3" name="Straight Arrow Connector 132">
            <a:extLst>
              <a:ext uri="{FF2B5EF4-FFF2-40B4-BE49-F238E27FC236}">
                <a16:creationId xmlns:a16="http://schemas.microsoft.com/office/drawing/2014/main" id="{A519C5DA-4FE4-7C5C-6BF4-D212D58530A0}"/>
              </a:ext>
            </a:extLst>
          </p:cNvPr>
          <p:cNvCxnSpPr>
            <a:cxnSpLocks/>
          </p:cNvCxnSpPr>
          <p:nvPr/>
        </p:nvCxnSpPr>
        <p:spPr>
          <a:xfrm>
            <a:off x="5230325" y="2924509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4" name="Rectangle 133">
            <a:extLst>
              <a:ext uri="{FF2B5EF4-FFF2-40B4-BE49-F238E27FC236}">
                <a16:creationId xmlns:a16="http://schemas.microsoft.com/office/drawing/2014/main" id="{EE27F0CF-B464-B963-E470-B1E7ED67AD2F}"/>
              </a:ext>
            </a:extLst>
          </p:cNvPr>
          <p:cNvSpPr/>
          <p:nvPr/>
        </p:nvSpPr>
        <p:spPr>
          <a:xfrm>
            <a:off x="5632602" y="2702872"/>
            <a:ext cx="1593806" cy="4397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Map Indices &lt;-&gt; Meta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Candidates (</a:t>
            </a:r>
            <a:r>
              <a:rPr kumimoji="0" lang="en-US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feed_id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)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CEF62CA1-53A9-3F05-0770-9A2ABF4D5D42}"/>
              </a:ext>
            </a:extLst>
          </p:cNvPr>
          <p:cNvSpPr txBox="1"/>
          <p:nvPr/>
        </p:nvSpPr>
        <p:spPr>
          <a:xfrm>
            <a:off x="6627655" y="1775833"/>
            <a:ext cx="66648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Shin</a:t>
            </a:r>
            <a:endParaRPr lang="en-US" sz="1050" dirty="0"/>
          </a:p>
        </p:txBody>
      </p:sp>
      <p:grpSp>
        <p:nvGrpSpPr>
          <p:cNvPr id="54" name="Group 53">
            <a:extLst>
              <a:ext uri="{FF2B5EF4-FFF2-40B4-BE49-F238E27FC236}">
                <a16:creationId xmlns:a16="http://schemas.microsoft.com/office/drawing/2014/main" id="{407D293F-C843-164B-A871-0373D318BAA3}"/>
              </a:ext>
            </a:extLst>
          </p:cNvPr>
          <p:cNvGrpSpPr/>
          <p:nvPr/>
        </p:nvGrpSpPr>
        <p:grpSpPr>
          <a:xfrm>
            <a:off x="7924945" y="3655355"/>
            <a:ext cx="3893906" cy="1495360"/>
            <a:chOff x="7924945" y="2775355"/>
            <a:chExt cx="3893906" cy="1495360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E35F5371-A458-C79B-6A50-AA8D0BA3C5AB}"/>
                </a:ext>
              </a:extLst>
            </p:cNvPr>
            <p:cNvGrpSpPr/>
            <p:nvPr/>
          </p:nvGrpSpPr>
          <p:grpSpPr>
            <a:xfrm>
              <a:off x="7924945" y="2775355"/>
              <a:ext cx="3893906" cy="1495360"/>
              <a:chOff x="213358" y="1919130"/>
              <a:chExt cx="1283172" cy="1495360"/>
            </a:xfrm>
            <a:solidFill>
              <a:schemeClr val="bg1">
                <a:lumMod val="85000"/>
              </a:schemeClr>
            </a:solidFill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652C74DC-913E-5704-C4C1-44CF9FDABC57}"/>
                  </a:ext>
                </a:extLst>
              </p:cNvPr>
              <p:cNvSpPr/>
              <p:nvPr/>
            </p:nvSpPr>
            <p:spPr>
              <a:xfrm>
                <a:off x="213358" y="1919130"/>
                <a:ext cx="1283172" cy="149536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4492DCD-62E3-FCD6-8222-BD75D6C46EE0}"/>
                  </a:ext>
                </a:extLst>
              </p:cNvPr>
              <p:cNvSpPr/>
              <p:nvPr/>
            </p:nvSpPr>
            <p:spPr>
              <a:xfrm>
                <a:off x="259738" y="2429685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rgbClr val="272428"/>
                    </a:solidFill>
                    <a:latin typeface="Poppins Light"/>
                    <a:cs typeface="Sarabun Light"/>
                  </a:rPr>
                  <a:t>vector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5E464C9F-BD86-DBE4-39C1-0CF1504CE3DA}"/>
                  </a:ext>
                </a:extLst>
              </p:cNvPr>
              <p:cNvSpPr/>
              <p:nvPr/>
            </p:nvSpPr>
            <p:spPr>
              <a:xfrm>
                <a:off x="869945" y="2427304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72428"/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recency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05B055A3-D373-2EEB-D6EC-E991D1B76237}"/>
                  </a:ext>
                </a:extLst>
              </p:cNvPr>
              <p:cNvSpPr/>
              <p:nvPr/>
            </p:nvSpPr>
            <p:spPr>
              <a:xfrm>
                <a:off x="1174409" y="2427304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rgbClr val="272428"/>
                    </a:solidFill>
                    <a:latin typeface="Poppins Light"/>
                    <a:cs typeface="Sarabun Light"/>
                  </a:rPr>
                  <a:t>popularity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83DC885-6161-F0C7-A08C-72726BB7EEC6}"/>
                  </a:ext>
                </a:extLst>
              </p:cNvPr>
              <p:cNvSpPr txBox="1"/>
              <p:nvPr/>
            </p:nvSpPr>
            <p:spPr>
              <a:xfrm>
                <a:off x="240830" y="2000737"/>
                <a:ext cx="1236792" cy="261610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/>
                  <a:t>Subscore function</a:t>
                </a:r>
                <a:endParaRPr lang="en-US" sz="1050" dirty="0"/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6AAFFC89-7C18-D54F-6969-82AF4AF47F23}"/>
                  </a:ext>
                </a:extLst>
              </p:cNvPr>
              <p:cNvSpPr txBox="1"/>
              <p:nvPr/>
            </p:nvSpPr>
            <p:spPr>
              <a:xfrm>
                <a:off x="584012" y="2474012"/>
                <a:ext cx="239806" cy="261610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/>
                  <a:t>…</a:t>
                </a:r>
                <a:endParaRPr lang="en-US" sz="1050" dirty="0"/>
              </a:p>
            </p:txBody>
          </p:sp>
        </p:grp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599C1309-7D85-8907-D7D9-1270B9B0C3AF}"/>
                </a:ext>
              </a:extLst>
            </p:cNvPr>
            <p:cNvSpPr/>
            <p:nvPr/>
          </p:nvSpPr>
          <p:spPr>
            <a:xfrm>
              <a:off x="9762510" y="3842724"/>
              <a:ext cx="218775" cy="218775"/>
            </a:xfrm>
            <a:prstGeom prst="ellipse">
              <a:avLst/>
            </a:prstGeom>
          </p:spPr>
          <p:style>
            <a:lnRef idx="1">
              <a:schemeClr val="dk1"/>
            </a:lnRef>
            <a:fillRef idx="1002">
              <a:schemeClr val="lt2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5" name="Connector: Elbow 14">
              <a:extLst>
                <a:ext uri="{FF2B5EF4-FFF2-40B4-BE49-F238E27FC236}">
                  <a16:creationId xmlns:a16="http://schemas.microsoft.com/office/drawing/2014/main" id="{66E15336-BAF6-39B7-B909-21C580C56C89}"/>
                </a:ext>
              </a:extLst>
            </p:cNvPr>
            <p:cNvCxnSpPr>
              <a:cxnSpLocks/>
            </p:cNvCxnSpPr>
            <p:nvPr/>
          </p:nvCxnSpPr>
          <p:spPr>
            <a:xfrm>
              <a:off x="9407480" y="3760984"/>
              <a:ext cx="285151" cy="145465"/>
            </a:xfrm>
            <a:prstGeom prst="bentConnector3">
              <a:avLst>
                <a:gd name="adj1" fmla="val 3235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: Elbow 15">
              <a:extLst>
                <a:ext uri="{FF2B5EF4-FFF2-40B4-BE49-F238E27FC236}">
                  <a16:creationId xmlns:a16="http://schemas.microsoft.com/office/drawing/2014/main" id="{02C68EE8-C5A3-92A0-1DFB-85826E45648D}"/>
                </a:ext>
              </a:extLst>
            </p:cNvPr>
            <p:cNvCxnSpPr>
              <a:cxnSpLocks/>
            </p:cNvCxnSpPr>
            <p:nvPr/>
          </p:nvCxnSpPr>
          <p:spPr>
            <a:xfrm>
              <a:off x="8487720" y="3794499"/>
              <a:ext cx="1204911" cy="211472"/>
            </a:xfrm>
            <a:prstGeom prst="bentConnector3">
              <a:avLst>
                <a:gd name="adj1" fmla="val -791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or: Elbow 16">
              <a:extLst>
                <a:ext uri="{FF2B5EF4-FFF2-40B4-BE49-F238E27FC236}">
                  <a16:creationId xmlns:a16="http://schemas.microsoft.com/office/drawing/2014/main" id="{0ED6596D-A855-EF14-5B9F-B67A1442EC92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10051164" y="3754770"/>
              <a:ext cx="285151" cy="145465"/>
            </a:xfrm>
            <a:prstGeom prst="bentConnector3">
              <a:avLst>
                <a:gd name="adj1" fmla="val 3235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ctor: Elbow 17">
              <a:extLst>
                <a:ext uri="{FF2B5EF4-FFF2-40B4-BE49-F238E27FC236}">
                  <a16:creationId xmlns:a16="http://schemas.microsoft.com/office/drawing/2014/main" id="{8FB226FE-D6FD-752D-4913-2C7F26375ABE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10055468" y="3789918"/>
              <a:ext cx="1204911" cy="211472"/>
            </a:xfrm>
            <a:prstGeom prst="bentConnector3">
              <a:avLst>
                <a:gd name="adj1" fmla="val -791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F485AA5-13B2-4979-3A5A-12ADF46F842E}"/>
              </a:ext>
            </a:extLst>
          </p:cNvPr>
          <p:cNvCxnSpPr>
            <a:cxnSpLocks/>
          </p:cNvCxnSpPr>
          <p:nvPr/>
        </p:nvCxnSpPr>
        <p:spPr>
          <a:xfrm>
            <a:off x="9873810" y="3296372"/>
            <a:ext cx="0" cy="288651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Rectangle 33">
            <a:extLst>
              <a:ext uri="{FF2B5EF4-FFF2-40B4-BE49-F238E27FC236}">
                <a16:creationId xmlns:a16="http://schemas.microsoft.com/office/drawing/2014/main" id="{B548CDA7-2CC6-9AAD-1F08-D6D95C4EF385}"/>
              </a:ext>
            </a:extLst>
          </p:cNvPr>
          <p:cNvSpPr/>
          <p:nvPr/>
        </p:nvSpPr>
        <p:spPr>
          <a:xfrm>
            <a:off x="9074994" y="2826974"/>
            <a:ext cx="1593806" cy="4397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Seen_feed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A1215361-AF8B-387B-C8C0-287C02B40DC0}"/>
              </a:ext>
            </a:extLst>
          </p:cNvPr>
          <p:cNvCxnSpPr>
            <a:cxnSpLocks/>
          </p:cNvCxnSpPr>
          <p:nvPr/>
        </p:nvCxnSpPr>
        <p:spPr>
          <a:xfrm>
            <a:off x="9875723" y="5204862"/>
            <a:ext cx="0" cy="261371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447D4FE3-6C8F-F3E5-CD22-5A604C7D199D}"/>
              </a:ext>
            </a:extLst>
          </p:cNvPr>
          <p:cNvSpPr/>
          <p:nvPr/>
        </p:nvSpPr>
        <p:spPr>
          <a:xfrm>
            <a:off x="9076907" y="5539299"/>
            <a:ext cx="1593806" cy="4397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Weighted Aggregation</a:t>
            </a:r>
            <a:endParaRPr lang="en-TH" sz="1000" dirty="0">
              <a:solidFill>
                <a:srgbClr val="272428"/>
              </a:solidFill>
              <a:latin typeface="Poppins Light"/>
              <a:cs typeface="Sarabun Light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291844A7-83CD-7C09-6CA7-3D129791D363}"/>
              </a:ext>
            </a:extLst>
          </p:cNvPr>
          <p:cNvSpPr/>
          <p:nvPr/>
        </p:nvSpPr>
        <p:spPr>
          <a:xfrm>
            <a:off x="4312776" y="5539299"/>
            <a:ext cx="1593806" cy="43979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Json response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3C3417BE-D832-6482-9FA3-CD7960D9B3CB}"/>
              </a:ext>
            </a:extLst>
          </p:cNvPr>
          <p:cNvCxnSpPr>
            <a:cxnSpLocks/>
          </p:cNvCxnSpPr>
          <p:nvPr/>
        </p:nvCxnSpPr>
        <p:spPr>
          <a:xfrm flipH="1">
            <a:off x="6039315" y="5785029"/>
            <a:ext cx="390190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9" name="Group 38">
            <a:extLst>
              <a:ext uri="{FF2B5EF4-FFF2-40B4-BE49-F238E27FC236}">
                <a16:creationId xmlns:a16="http://schemas.microsoft.com/office/drawing/2014/main" id="{08205B3A-3E04-DAC9-A8F3-C7E3E05D5594}"/>
              </a:ext>
            </a:extLst>
          </p:cNvPr>
          <p:cNvGrpSpPr/>
          <p:nvPr/>
        </p:nvGrpSpPr>
        <p:grpSpPr>
          <a:xfrm>
            <a:off x="8884373" y="1759912"/>
            <a:ext cx="1975048" cy="775299"/>
            <a:chOff x="10490" y="2427201"/>
            <a:chExt cx="1033571" cy="775299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815F7069-8500-97F7-BAA7-51E8F13028AF}"/>
                </a:ext>
              </a:extLst>
            </p:cNvPr>
            <p:cNvSpPr/>
            <p:nvPr/>
          </p:nvSpPr>
          <p:spPr>
            <a:xfrm>
              <a:off x="10490" y="2427201"/>
              <a:ext cx="1033571" cy="775299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D8A5C685-2978-57A6-5608-AF8A73965722}"/>
                </a:ext>
              </a:extLst>
            </p:cNvPr>
            <p:cNvSpPr/>
            <p:nvPr/>
          </p:nvSpPr>
          <p:spPr>
            <a:xfrm>
              <a:off x="101747" y="2777201"/>
              <a:ext cx="404274" cy="370142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scores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E922F232-858D-33E7-DE5B-FA4A26EE0A6C}"/>
                </a:ext>
              </a:extLst>
            </p:cNvPr>
            <p:cNvSpPr txBox="1"/>
            <p:nvPr/>
          </p:nvSpPr>
          <p:spPr>
            <a:xfrm>
              <a:off x="97803" y="2437180"/>
              <a:ext cx="87626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Inputs</a:t>
              </a:r>
              <a:endParaRPr lang="en-US" sz="1050" dirty="0"/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18FB6723-4899-4D14-9BA3-6622CDF36EB7}"/>
                </a:ext>
              </a:extLst>
            </p:cNvPr>
            <p:cNvSpPr/>
            <p:nvPr/>
          </p:nvSpPr>
          <p:spPr>
            <a:xfrm>
              <a:off x="556345" y="2777201"/>
              <a:ext cx="404274" cy="370142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 err="1">
                  <a:solidFill>
                    <a:srgbClr val="272428"/>
                  </a:solidFill>
                  <a:latin typeface="Poppins Light"/>
                  <a:cs typeface="Sarabun Light"/>
                </a:rPr>
                <a:t>feed_id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</p:grp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162E0F03-1331-5CF1-971B-EF339219C3DC}"/>
              </a:ext>
            </a:extLst>
          </p:cNvPr>
          <p:cNvCxnSpPr>
            <a:cxnSpLocks/>
          </p:cNvCxnSpPr>
          <p:nvPr/>
        </p:nvCxnSpPr>
        <p:spPr>
          <a:xfrm flipH="1">
            <a:off x="9871897" y="2579476"/>
            <a:ext cx="1" cy="159346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0" name="Rectangle 49">
            <a:extLst>
              <a:ext uri="{FF2B5EF4-FFF2-40B4-BE49-F238E27FC236}">
                <a16:creationId xmlns:a16="http://schemas.microsoft.com/office/drawing/2014/main" id="{BB9B59BF-EEFD-872D-3461-56CB778733B2}"/>
              </a:ext>
            </a:extLst>
          </p:cNvPr>
          <p:cNvSpPr/>
          <p:nvPr/>
        </p:nvSpPr>
        <p:spPr>
          <a:xfrm>
            <a:off x="6627655" y="5543726"/>
            <a:ext cx="1593806" cy="4397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Sort + Top-N + Final Output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FAECF85C-3285-9DFB-7775-C00264512701}"/>
              </a:ext>
            </a:extLst>
          </p:cNvPr>
          <p:cNvCxnSpPr>
            <a:cxnSpLocks/>
          </p:cNvCxnSpPr>
          <p:nvPr/>
        </p:nvCxnSpPr>
        <p:spPr>
          <a:xfrm flipH="1">
            <a:off x="8434535" y="5759197"/>
            <a:ext cx="390190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93" name="Group 92">
            <a:extLst>
              <a:ext uri="{FF2B5EF4-FFF2-40B4-BE49-F238E27FC236}">
                <a16:creationId xmlns:a16="http://schemas.microsoft.com/office/drawing/2014/main" id="{892560E5-DA14-68F9-1136-3B0FC1C0FD98}"/>
              </a:ext>
            </a:extLst>
          </p:cNvPr>
          <p:cNvGrpSpPr/>
          <p:nvPr/>
        </p:nvGrpSpPr>
        <p:grpSpPr>
          <a:xfrm>
            <a:off x="881537" y="3045723"/>
            <a:ext cx="8558720" cy="2420510"/>
            <a:chOff x="881537" y="3045723"/>
            <a:chExt cx="8558720" cy="2420510"/>
          </a:xfrm>
        </p:grpSpPr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F8CFBD18-F971-2617-7B5C-71F674CE6C4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1061" y="4131054"/>
              <a:ext cx="0" cy="570122"/>
            </a:xfrm>
            <a:prstGeom prst="line">
              <a:avLst/>
            </a:prstGeom>
            <a:ln w="9525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D6DB7F9B-A1DB-CF67-9695-5731BCA3546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81537" y="4669876"/>
              <a:ext cx="6682119" cy="26538"/>
            </a:xfrm>
            <a:prstGeom prst="line">
              <a:avLst/>
            </a:prstGeom>
            <a:ln w="9525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0FCA085E-9B05-9081-876E-CFF3A6BA2D0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63656" y="3045723"/>
              <a:ext cx="0" cy="2270350"/>
            </a:xfrm>
            <a:prstGeom prst="line">
              <a:avLst/>
            </a:prstGeom>
            <a:ln w="9525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Arrow Connector 84">
              <a:extLst>
                <a:ext uri="{FF2B5EF4-FFF2-40B4-BE49-F238E27FC236}">
                  <a16:creationId xmlns:a16="http://schemas.microsoft.com/office/drawing/2014/main" id="{54219EE4-80AD-ECB7-A04F-7A7BB77A3CF4}"/>
                </a:ext>
              </a:extLst>
            </p:cNvPr>
            <p:cNvCxnSpPr>
              <a:cxnSpLocks/>
            </p:cNvCxnSpPr>
            <p:nvPr/>
          </p:nvCxnSpPr>
          <p:spPr>
            <a:xfrm>
              <a:off x="7560307" y="3048104"/>
              <a:ext cx="1354207" cy="0"/>
            </a:xfrm>
            <a:prstGeom prst="straightConnector1">
              <a:avLst/>
            </a:prstGeom>
            <a:ln w="9525">
              <a:solidFill>
                <a:srgbClr val="FF0000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2794DF43-35C1-28B7-9D8C-E67363DC30E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558894" y="5311761"/>
              <a:ext cx="1881363" cy="0"/>
            </a:xfrm>
            <a:prstGeom prst="line">
              <a:avLst/>
            </a:prstGeom>
            <a:ln w="9525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Straight Arrow Connector 90">
              <a:extLst>
                <a:ext uri="{FF2B5EF4-FFF2-40B4-BE49-F238E27FC236}">
                  <a16:creationId xmlns:a16="http://schemas.microsoft.com/office/drawing/2014/main" id="{98697713-28A9-D9BB-59CD-2B56D6B01588}"/>
                </a:ext>
              </a:extLst>
            </p:cNvPr>
            <p:cNvCxnSpPr>
              <a:cxnSpLocks/>
            </p:cNvCxnSpPr>
            <p:nvPr/>
          </p:nvCxnSpPr>
          <p:spPr>
            <a:xfrm>
              <a:off x="9432214" y="5306999"/>
              <a:ext cx="0" cy="159234"/>
            </a:xfrm>
            <a:prstGeom prst="straightConnector1">
              <a:avLst/>
            </a:prstGeom>
            <a:ln w="9525">
              <a:solidFill>
                <a:srgbClr val="FF0000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94" name="TextBox 93">
            <a:extLst>
              <a:ext uri="{FF2B5EF4-FFF2-40B4-BE49-F238E27FC236}">
                <a16:creationId xmlns:a16="http://schemas.microsoft.com/office/drawing/2014/main" id="{74C30D0B-B69D-B5FE-729F-9113FBE37656}"/>
              </a:ext>
            </a:extLst>
          </p:cNvPr>
          <p:cNvSpPr txBox="1"/>
          <p:nvPr/>
        </p:nvSpPr>
        <p:spPr>
          <a:xfrm>
            <a:off x="9404239" y="6971145"/>
            <a:ext cx="2786886" cy="752951"/>
          </a:xfrm>
          <a:prstGeom prst="roundRect">
            <a:avLst>
              <a:gd name="adj" fmla="val 4406"/>
            </a:avLst>
          </a:prstGeom>
          <a:solidFill>
            <a:srgbClr val="FFD100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-</a:t>
            </a:r>
            <a:r>
              <a:rPr lang="th-TH" sz="1400" dirty="0">
                <a:latin typeface="Consolas" panose="020B0609020204030204" pitchFamily="49" charset="0"/>
              </a:rPr>
              <a:t>อาจจะ </a:t>
            </a:r>
            <a:r>
              <a:rPr lang="en-US" sz="1400" dirty="0">
                <a:latin typeface="Consolas" panose="020B0609020204030204" pitchFamily="49" charset="0"/>
              </a:rPr>
              <a:t>update </a:t>
            </a:r>
            <a:r>
              <a:rPr lang="th-TH" sz="1400" dirty="0">
                <a:latin typeface="Consolas" panose="020B0609020204030204" pitchFamily="49" charset="0"/>
              </a:rPr>
              <a:t>ให้เป็น </a:t>
            </a:r>
            <a:r>
              <a:rPr lang="en-US" sz="1400" dirty="0" err="1">
                <a:latin typeface="Consolas" panose="020B0609020204030204" pitchFamily="49" charset="0"/>
              </a:rPr>
              <a:t>pararell</a:t>
            </a:r>
            <a:r>
              <a:rPr lang="en-US" sz="1400" dirty="0">
                <a:latin typeface="Consolas" panose="020B0609020204030204" pitchFamily="49" charset="0"/>
              </a:rPr>
              <a:t> </a:t>
            </a:r>
            <a:r>
              <a:rPr lang="th-TH" sz="1400" dirty="0">
                <a:latin typeface="Consolas" panose="020B0609020204030204" pitchFamily="49" charset="0"/>
              </a:rPr>
              <a:t>ในอนาคต ตัว </a:t>
            </a:r>
            <a:r>
              <a:rPr lang="en-US" sz="1400" dirty="0" err="1">
                <a:latin typeface="Consolas" panose="020B0609020204030204" pitchFamily="49" charset="0"/>
              </a:rPr>
              <a:t>subscore</a:t>
            </a:r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th-TH" sz="1400" dirty="0">
                <a:latin typeface="Consolas" panose="020B0609020204030204" pitchFamily="49" charset="0"/>
              </a:rPr>
              <a:t>อาจจะ </a:t>
            </a:r>
            <a:r>
              <a:rPr lang="en-US" sz="1400" dirty="0">
                <a:latin typeface="Consolas" panose="020B0609020204030204" pitchFamily="49" charset="0"/>
              </a:rPr>
              <a:t>update</a:t>
            </a:r>
            <a:r>
              <a:rPr lang="th-TH" sz="1400" dirty="0">
                <a:latin typeface="Consolas" panose="020B0609020204030204" pitchFamily="49" charset="0"/>
              </a:rPr>
              <a:t> ช่วง ยิง </a:t>
            </a:r>
            <a:r>
              <a:rPr lang="en-US" sz="1400" dirty="0">
                <a:latin typeface="Consolas" panose="020B0609020204030204" pitchFamily="49" charset="0"/>
              </a:rPr>
              <a:t>shin </a:t>
            </a:r>
            <a:r>
              <a:rPr lang="th-TH" sz="1400" dirty="0">
                <a:latin typeface="Consolas" panose="020B0609020204030204" pitchFamily="49" charset="0"/>
              </a:rPr>
              <a:t>ฟยร</a:t>
            </a:r>
            <a:endParaRPr lang="en-US" sz="14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867000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8F891A-1624-E409-05B5-F9C743711E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7D7A0426-C4C2-C7D5-4466-0B8A96E01C97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6563E37-7449-88E7-531F-DD47615EAE3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4C48FBBE-E37B-6BE6-5135-ED26412ACFDD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742F5E7-F9C6-53A1-4876-A3C0F0F8D5DE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5C95E0F-65CF-965A-9B4C-E37DAA98A067}"/>
              </a:ext>
            </a:extLst>
          </p:cNvPr>
          <p:cNvSpPr/>
          <p:nvPr/>
        </p:nvSpPr>
        <p:spPr>
          <a:xfrm>
            <a:off x="638383" y="859879"/>
            <a:ext cx="5265878" cy="42539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tx1"/>
                </a:solidFill>
                <a:cs typeface="Poppins Light"/>
              </a:rPr>
              <a:t>Overview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BDB2A5C0-BE27-77AF-0A90-BD195188A966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A55254C-4C8B-186C-CFCC-338A05B3F7B6}"/>
              </a:ext>
            </a:extLst>
          </p:cNvPr>
          <p:cNvGrpSpPr/>
          <p:nvPr/>
        </p:nvGrpSpPr>
        <p:grpSpPr>
          <a:xfrm>
            <a:off x="1382298" y="3051224"/>
            <a:ext cx="3893906" cy="1495360"/>
            <a:chOff x="1382298" y="2429185"/>
            <a:chExt cx="3893906" cy="1495360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A57F171E-7E2E-9A8C-4B6A-885202FD2598}"/>
                </a:ext>
              </a:extLst>
            </p:cNvPr>
            <p:cNvGrpSpPr/>
            <p:nvPr/>
          </p:nvGrpSpPr>
          <p:grpSpPr>
            <a:xfrm>
              <a:off x="1382298" y="2429185"/>
              <a:ext cx="3893906" cy="1495360"/>
              <a:chOff x="213358" y="1919130"/>
              <a:chExt cx="1283172" cy="1495360"/>
            </a:xfrm>
            <a:solidFill>
              <a:schemeClr val="bg1">
                <a:lumMod val="85000"/>
              </a:schemeClr>
            </a:solidFill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9733C2A0-0460-4C90-BFF2-1E174A349492}"/>
                  </a:ext>
                </a:extLst>
              </p:cNvPr>
              <p:cNvSpPr/>
              <p:nvPr/>
            </p:nvSpPr>
            <p:spPr>
              <a:xfrm>
                <a:off x="213358" y="1919130"/>
                <a:ext cx="1283172" cy="149536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BF775377-58D5-37AD-BA46-2939DA65ECD8}"/>
                  </a:ext>
                </a:extLst>
              </p:cNvPr>
              <p:cNvSpPr/>
              <p:nvPr/>
            </p:nvSpPr>
            <p:spPr>
              <a:xfrm>
                <a:off x="259738" y="2429685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rgbClr val="272428"/>
                    </a:solidFill>
                    <a:latin typeface="Poppins Light"/>
                    <a:cs typeface="Sarabun Light"/>
                  </a:rPr>
                  <a:t>vector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31587A62-8E3D-68A2-6A1B-A79F02C02E5E}"/>
                  </a:ext>
                </a:extLst>
              </p:cNvPr>
              <p:cNvSpPr/>
              <p:nvPr/>
            </p:nvSpPr>
            <p:spPr>
              <a:xfrm>
                <a:off x="869945" y="2427304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72428"/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recency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072F7038-43B7-0ED4-9BA0-143466498EDE}"/>
                  </a:ext>
                </a:extLst>
              </p:cNvPr>
              <p:cNvSpPr/>
              <p:nvPr/>
            </p:nvSpPr>
            <p:spPr>
              <a:xfrm>
                <a:off x="1174409" y="2427304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rgbClr val="272428"/>
                    </a:solidFill>
                    <a:latin typeface="Poppins Light"/>
                    <a:cs typeface="Sarabun Light"/>
                  </a:rPr>
                  <a:t>popularity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41781D0-C970-DAA7-38E6-76621AA4B788}"/>
                  </a:ext>
                </a:extLst>
              </p:cNvPr>
              <p:cNvSpPr txBox="1"/>
              <p:nvPr/>
            </p:nvSpPr>
            <p:spPr>
              <a:xfrm>
                <a:off x="240830" y="2000737"/>
                <a:ext cx="1236792" cy="261610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/>
                  <a:t>Subscore function</a:t>
                </a:r>
                <a:endParaRPr lang="en-US" sz="1050" dirty="0"/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2BCF69EF-CA74-6AD5-4123-4E936C5EB632}"/>
                  </a:ext>
                </a:extLst>
              </p:cNvPr>
              <p:cNvSpPr/>
              <p:nvPr/>
            </p:nvSpPr>
            <p:spPr>
              <a:xfrm>
                <a:off x="564202" y="2429832"/>
                <a:ext cx="278147" cy="370142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72428"/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…..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</p:grp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69F4E681-72C5-1E9E-5005-2ABF572BF3CF}"/>
                </a:ext>
              </a:extLst>
            </p:cNvPr>
            <p:cNvSpPr/>
            <p:nvPr/>
          </p:nvSpPr>
          <p:spPr>
            <a:xfrm>
              <a:off x="3219863" y="3496554"/>
              <a:ext cx="218775" cy="218775"/>
            </a:xfrm>
            <a:prstGeom prst="ellipse">
              <a:avLst/>
            </a:prstGeom>
          </p:spPr>
          <p:style>
            <a:lnRef idx="1">
              <a:schemeClr val="dk1"/>
            </a:lnRef>
            <a:fillRef idx="1002">
              <a:schemeClr val="lt2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4" name="Connector: Elbow 23">
              <a:extLst>
                <a:ext uri="{FF2B5EF4-FFF2-40B4-BE49-F238E27FC236}">
                  <a16:creationId xmlns:a16="http://schemas.microsoft.com/office/drawing/2014/main" id="{909332E4-E698-D526-9D6F-B32AFDC5974C}"/>
                </a:ext>
              </a:extLst>
            </p:cNvPr>
            <p:cNvCxnSpPr>
              <a:cxnSpLocks/>
            </p:cNvCxnSpPr>
            <p:nvPr/>
          </p:nvCxnSpPr>
          <p:spPr>
            <a:xfrm>
              <a:off x="2864833" y="3414814"/>
              <a:ext cx="285151" cy="145465"/>
            </a:xfrm>
            <a:prstGeom prst="bentConnector3">
              <a:avLst>
                <a:gd name="adj1" fmla="val 3235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or: Elbow 24">
              <a:extLst>
                <a:ext uri="{FF2B5EF4-FFF2-40B4-BE49-F238E27FC236}">
                  <a16:creationId xmlns:a16="http://schemas.microsoft.com/office/drawing/2014/main" id="{DADCC43F-123C-8F18-DFBA-C2A380AAD1B1}"/>
                </a:ext>
              </a:extLst>
            </p:cNvPr>
            <p:cNvCxnSpPr>
              <a:cxnSpLocks/>
            </p:cNvCxnSpPr>
            <p:nvPr/>
          </p:nvCxnSpPr>
          <p:spPr>
            <a:xfrm>
              <a:off x="1945073" y="3448329"/>
              <a:ext cx="1204911" cy="211472"/>
            </a:xfrm>
            <a:prstGeom prst="bentConnector3">
              <a:avLst>
                <a:gd name="adj1" fmla="val -791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nector: Elbow 25">
              <a:extLst>
                <a:ext uri="{FF2B5EF4-FFF2-40B4-BE49-F238E27FC236}">
                  <a16:creationId xmlns:a16="http://schemas.microsoft.com/office/drawing/2014/main" id="{23ED48D1-546C-F56C-C5D4-6A08D055F651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08517" y="3408600"/>
              <a:ext cx="285151" cy="145465"/>
            </a:xfrm>
            <a:prstGeom prst="bentConnector3">
              <a:avLst>
                <a:gd name="adj1" fmla="val 3235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or: Elbow 26">
              <a:extLst>
                <a:ext uri="{FF2B5EF4-FFF2-40B4-BE49-F238E27FC236}">
                  <a16:creationId xmlns:a16="http://schemas.microsoft.com/office/drawing/2014/main" id="{C540817F-8A7D-F590-9CE7-9DF1B506BEAE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12821" y="3443748"/>
              <a:ext cx="1204911" cy="211472"/>
            </a:xfrm>
            <a:prstGeom prst="bentConnector3">
              <a:avLst>
                <a:gd name="adj1" fmla="val -791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BCB34ADD-CB7D-FE73-0DA5-5893BEC5B801}"/>
              </a:ext>
            </a:extLst>
          </p:cNvPr>
          <p:cNvCxnSpPr>
            <a:cxnSpLocks/>
          </p:cNvCxnSpPr>
          <p:nvPr/>
        </p:nvCxnSpPr>
        <p:spPr>
          <a:xfrm>
            <a:off x="3331163" y="4387850"/>
            <a:ext cx="0" cy="348097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353A5567-BEF1-9B5A-9E6D-CA67940FDF7B}"/>
              </a:ext>
            </a:extLst>
          </p:cNvPr>
          <p:cNvSpPr/>
          <p:nvPr/>
        </p:nvSpPr>
        <p:spPr>
          <a:xfrm>
            <a:off x="2532347" y="4752498"/>
            <a:ext cx="1593806" cy="4397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Weighted Aggregation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D4A0D4B-DDC1-E1BB-0944-0DCB360B335F}"/>
              </a:ext>
            </a:extLst>
          </p:cNvPr>
          <p:cNvSpPr/>
          <p:nvPr/>
        </p:nvSpPr>
        <p:spPr>
          <a:xfrm>
            <a:off x="2534260" y="5427247"/>
            <a:ext cx="1593806" cy="4397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Sort + Top-N + Final Output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23E3A03-07FA-A546-4A82-6DD3828FB259}"/>
              </a:ext>
            </a:extLst>
          </p:cNvPr>
          <p:cNvSpPr/>
          <p:nvPr/>
        </p:nvSpPr>
        <p:spPr>
          <a:xfrm>
            <a:off x="2532347" y="6094969"/>
            <a:ext cx="1593806" cy="43979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Json response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771C9F18-5D22-00A3-BD17-710CF420A606}"/>
              </a:ext>
            </a:extLst>
          </p:cNvPr>
          <p:cNvGrpSpPr/>
          <p:nvPr/>
        </p:nvGrpSpPr>
        <p:grpSpPr>
          <a:xfrm>
            <a:off x="2341726" y="1413742"/>
            <a:ext cx="1975048" cy="775299"/>
            <a:chOff x="10490" y="2427201"/>
            <a:chExt cx="1033571" cy="775299"/>
          </a:xfrm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BBCD24EE-0475-6B97-CB96-42CC6773F2E6}"/>
                </a:ext>
              </a:extLst>
            </p:cNvPr>
            <p:cNvSpPr/>
            <p:nvPr/>
          </p:nvSpPr>
          <p:spPr>
            <a:xfrm>
              <a:off x="10490" y="2427201"/>
              <a:ext cx="1033571" cy="775299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09326A14-BF52-E444-F0F5-18B22AFB1F9E}"/>
                </a:ext>
              </a:extLst>
            </p:cNvPr>
            <p:cNvSpPr/>
            <p:nvPr/>
          </p:nvSpPr>
          <p:spPr>
            <a:xfrm>
              <a:off x="101747" y="2777201"/>
              <a:ext cx="404274" cy="370142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scores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DAEE2D35-613D-D270-C629-D452EC5AD7F7}"/>
                </a:ext>
              </a:extLst>
            </p:cNvPr>
            <p:cNvSpPr txBox="1"/>
            <p:nvPr/>
          </p:nvSpPr>
          <p:spPr>
            <a:xfrm>
              <a:off x="97803" y="2437180"/>
              <a:ext cx="87626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Inputs</a:t>
              </a:r>
              <a:endParaRPr lang="en-US" sz="1050" dirty="0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13D220AB-CF8C-E17A-DA60-0EB5FE55809E}"/>
                </a:ext>
              </a:extLst>
            </p:cNvPr>
            <p:cNvSpPr/>
            <p:nvPr/>
          </p:nvSpPr>
          <p:spPr>
            <a:xfrm>
              <a:off x="556345" y="2777201"/>
              <a:ext cx="404274" cy="370142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 algn="ctr"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feed_id</a:t>
              </a:r>
              <a:endParaRPr lang="en-TH" sz="1000" dirty="0">
                <a:solidFill>
                  <a:srgbClr val="272428"/>
                </a:solidFill>
                <a:latin typeface="Poppins Light"/>
                <a:cs typeface="Sarabun Light"/>
              </a:endParaRPr>
            </a:p>
          </p:txBody>
        </p:sp>
      </p:grp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EA30D91C-171C-A9B7-07C2-0F3B3FD1A71D}"/>
              </a:ext>
            </a:extLst>
          </p:cNvPr>
          <p:cNvCxnSpPr>
            <a:cxnSpLocks/>
          </p:cNvCxnSpPr>
          <p:nvPr/>
        </p:nvCxnSpPr>
        <p:spPr>
          <a:xfrm flipH="1">
            <a:off x="3329250" y="2233306"/>
            <a:ext cx="1" cy="159346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Title 1">
            <a:extLst>
              <a:ext uri="{FF2B5EF4-FFF2-40B4-BE49-F238E27FC236}">
                <a16:creationId xmlns:a16="http://schemas.microsoft.com/office/drawing/2014/main" id="{660AAE6E-C334-17DF-9B08-36F6F2A4490A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 err="1"/>
              <a:t>Subscore</a:t>
            </a:r>
            <a:endParaRPr lang="en-US" sz="2400" dirty="0">
              <a:cs typeface="Poppins Light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5B0BFED-D46B-B919-BD9F-BB85F5EC2022}"/>
              </a:ext>
            </a:extLst>
          </p:cNvPr>
          <p:cNvSpPr/>
          <p:nvPr/>
        </p:nvSpPr>
        <p:spPr>
          <a:xfrm>
            <a:off x="2532347" y="2430521"/>
            <a:ext cx="1593806" cy="37470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Seen feed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258FE21-DED5-5281-46B7-6AEDCBB140F7}"/>
              </a:ext>
            </a:extLst>
          </p:cNvPr>
          <p:cNvCxnSpPr>
            <a:cxnSpLocks/>
          </p:cNvCxnSpPr>
          <p:nvPr/>
        </p:nvCxnSpPr>
        <p:spPr>
          <a:xfrm flipH="1">
            <a:off x="3329250" y="2848554"/>
            <a:ext cx="1" cy="159346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BB95AC0-3451-F4EA-8630-5000CA38DF50}"/>
              </a:ext>
            </a:extLst>
          </p:cNvPr>
          <p:cNvCxnSpPr>
            <a:cxnSpLocks/>
          </p:cNvCxnSpPr>
          <p:nvPr/>
        </p:nvCxnSpPr>
        <p:spPr>
          <a:xfrm flipH="1">
            <a:off x="3325410" y="5901333"/>
            <a:ext cx="1" cy="159346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5B4B037-1DFB-4B26-8D0D-BB0A9894F551}"/>
              </a:ext>
            </a:extLst>
          </p:cNvPr>
          <p:cNvCxnSpPr>
            <a:cxnSpLocks/>
          </p:cNvCxnSpPr>
          <p:nvPr/>
        </p:nvCxnSpPr>
        <p:spPr>
          <a:xfrm flipH="1">
            <a:off x="3325409" y="5215768"/>
            <a:ext cx="1" cy="159346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915094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59D991-62A4-29DE-8159-C022271D17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EB920FCE-DE53-F504-21B3-B81A34220B2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D7A0426-C4C2-C7D5-4466-0B8A96E01C9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984AB11B-F517-5299-115A-12F5BED6AC37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A4FB498-0BAF-0232-27AD-C484CED594FA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F0BE1A8-8875-9506-1FA9-B89CB4F692FE}"/>
              </a:ext>
            </a:extLst>
          </p:cNvPr>
          <p:cNvSpPr/>
          <p:nvPr/>
        </p:nvSpPr>
        <p:spPr>
          <a:xfrm>
            <a:off x="638383" y="859879"/>
            <a:ext cx="5265878" cy="42539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tx1"/>
                </a:solidFill>
                <a:cs typeface="Poppins Light"/>
              </a:rPr>
              <a:t>Overview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2DB476C8-2929-3737-1C9D-6D0D72930A2C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705EE4D-F2C0-8108-5837-E70639FD2643}"/>
              </a:ext>
            </a:extLst>
          </p:cNvPr>
          <p:cNvGrpSpPr/>
          <p:nvPr/>
        </p:nvGrpSpPr>
        <p:grpSpPr>
          <a:xfrm>
            <a:off x="1382298" y="3051224"/>
            <a:ext cx="3893906" cy="1495360"/>
            <a:chOff x="1382298" y="2429185"/>
            <a:chExt cx="3893906" cy="1495360"/>
          </a:xfrm>
          <a:solidFill>
            <a:schemeClr val="bg1">
              <a:lumMod val="95000"/>
            </a:schemeClr>
          </a:solidFill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AA4396F3-728B-0469-ECA8-0F77A1E22EA0}"/>
                </a:ext>
              </a:extLst>
            </p:cNvPr>
            <p:cNvGrpSpPr/>
            <p:nvPr/>
          </p:nvGrpSpPr>
          <p:grpSpPr>
            <a:xfrm>
              <a:off x="1382298" y="2429185"/>
              <a:ext cx="3893906" cy="1495360"/>
              <a:chOff x="213358" y="1919130"/>
              <a:chExt cx="1283172" cy="1495360"/>
            </a:xfrm>
            <a:grpFill/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905B3C13-AF03-5FAA-58F0-726CCFBBE093}"/>
                  </a:ext>
                </a:extLst>
              </p:cNvPr>
              <p:cNvSpPr/>
              <p:nvPr/>
            </p:nvSpPr>
            <p:spPr>
              <a:xfrm>
                <a:off x="213358" y="1919130"/>
                <a:ext cx="1283172" cy="1495360"/>
              </a:xfrm>
              <a:prstGeom prst="rect">
                <a:avLst/>
              </a:prstGeom>
              <a:grpFill/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3A29AB80-9FA0-C7EC-2FED-B359FA97F688}"/>
                  </a:ext>
                </a:extLst>
              </p:cNvPr>
              <p:cNvSpPr/>
              <p:nvPr/>
            </p:nvSpPr>
            <p:spPr>
              <a:xfrm>
                <a:off x="259738" y="2429685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chemeClr val="bg1">
                        <a:lumMod val="85000"/>
                      </a:schemeClr>
                    </a:solidFill>
                    <a:latin typeface="Poppins Light"/>
                    <a:cs typeface="Sarabun Light"/>
                  </a:rPr>
                  <a:t>vector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102B1CCD-8967-BD13-358F-9FD2E936AB7E}"/>
                  </a:ext>
                </a:extLst>
              </p:cNvPr>
              <p:cNvSpPr/>
              <p:nvPr/>
            </p:nvSpPr>
            <p:spPr>
              <a:xfrm>
                <a:off x="869945" y="2427304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85000"/>
                      </a:schemeClr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recency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0BF01206-883E-BE41-83A5-2AC65BE771D6}"/>
                  </a:ext>
                </a:extLst>
              </p:cNvPr>
              <p:cNvSpPr/>
              <p:nvPr/>
            </p:nvSpPr>
            <p:spPr>
              <a:xfrm>
                <a:off x="1174409" y="2427304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chemeClr val="bg1">
                        <a:lumMod val="85000"/>
                      </a:schemeClr>
                    </a:solidFill>
                    <a:latin typeface="Poppins Light"/>
                    <a:cs typeface="Sarabun Light"/>
                  </a:rPr>
                  <a:t>popularity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ECF4571C-2CB4-FA37-4A9F-88FD1CA199A1}"/>
                  </a:ext>
                </a:extLst>
              </p:cNvPr>
              <p:cNvSpPr txBox="1"/>
              <p:nvPr/>
            </p:nvSpPr>
            <p:spPr>
              <a:xfrm>
                <a:off x="240830" y="2000737"/>
                <a:ext cx="1236792" cy="261610"/>
              </a:xfrm>
              <a:prstGeom prst="rect">
                <a:avLst/>
              </a:prstGeom>
              <a:grp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bg1">
                        <a:lumMod val="85000"/>
                      </a:schemeClr>
                    </a:solidFill>
                  </a:rPr>
                  <a:t>Subscore function</a:t>
                </a:r>
                <a:endParaRPr lang="en-US" sz="1050" dirty="0">
                  <a:solidFill>
                    <a:schemeClr val="bg1">
                      <a:lumMod val="85000"/>
                    </a:schemeClr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71471B17-7DBA-A277-C968-E7179C6E1FFF}"/>
                  </a:ext>
                </a:extLst>
              </p:cNvPr>
              <p:cNvSpPr/>
              <p:nvPr/>
            </p:nvSpPr>
            <p:spPr>
              <a:xfrm>
                <a:off x="564202" y="2429832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85000"/>
                      </a:schemeClr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…..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</p:grp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9E8F36E7-BF9B-1581-E449-5657E16FCF40}"/>
                </a:ext>
              </a:extLst>
            </p:cNvPr>
            <p:cNvSpPr/>
            <p:nvPr/>
          </p:nvSpPr>
          <p:spPr>
            <a:xfrm>
              <a:off x="3219863" y="3496554"/>
              <a:ext cx="218775" cy="218775"/>
            </a:xfrm>
            <a:prstGeom prst="ellipse">
              <a:avLst/>
            </a:prstGeom>
            <a:grp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dk1"/>
            </a:lnRef>
            <a:fillRef idx="1002">
              <a:schemeClr val="lt2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bg1">
                    <a:lumMod val="85000"/>
                  </a:schemeClr>
                </a:solidFill>
              </a:endParaRPr>
            </a:p>
          </p:txBody>
        </p:sp>
        <p:cxnSp>
          <p:nvCxnSpPr>
            <p:cNvPr id="24" name="Connector: Elbow 23">
              <a:extLst>
                <a:ext uri="{FF2B5EF4-FFF2-40B4-BE49-F238E27FC236}">
                  <a16:creationId xmlns:a16="http://schemas.microsoft.com/office/drawing/2014/main" id="{D267B718-EDBB-60D7-9962-2E981F0AABCF}"/>
                </a:ext>
              </a:extLst>
            </p:cNvPr>
            <p:cNvCxnSpPr>
              <a:cxnSpLocks/>
            </p:cNvCxnSpPr>
            <p:nvPr/>
          </p:nvCxnSpPr>
          <p:spPr>
            <a:xfrm>
              <a:off x="2864833" y="3414814"/>
              <a:ext cx="285151" cy="145465"/>
            </a:xfrm>
            <a:prstGeom prst="bentConnector3">
              <a:avLst>
                <a:gd name="adj1" fmla="val 3235"/>
              </a:avLst>
            </a:prstGeom>
            <a:grp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or: Elbow 24">
              <a:extLst>
                <a:ext uri="{FF2B5EF4-FFF2-40B4-BE49-F238E27FC236}">
                  <a16:creationId xmlns:a16="http://schemas.microsoft.com/office/drawing/2014/main" id="{BB522117-716C-EB5B-E2CE-50F0D1AAE906}"/>
                </a:ext>
              </a:extLst>
            </p:cNvPr>
            <p:cNvCxnSpPr>
              <a:cxnSpLocks/>
            </p:cNvCxnSpPr>
            <p:nvPr/>
          </p:nvCxnSpPr>
          <p:spPr>
            <a:xfrm>
              <a:off x="1945073" y="3448329"/>
              <a:ext cx="1204911" cy="211472"/>
            </a:xfrm>
            <a:prstGeom prst="bentConnector3">
              <a:avLst>
                <a:gd name="adj1" fmla="val -791"/>
              </a:avLst>
            </a:prstGeom>
            <a:grp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nector: Elbow 25">
              <a:extLst>
                <a:ext uri="{FF2B5EF4-FFF2-40B4-BE49-F238E27FC236}">
                  <a16:creationId xmlns:a16="http://schemas.microsoft.com/office/drawing/2014/main" id="{626194FB-5264-EE12-C82A-5C164C58A635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08517" y="3408600"/>
              <a:ext cx="285151" cy="145465"/>
            </a:xfrm>
            <a:prstGeom prst="bentConnector3">
              <a:avLst>
                <a:gd name="adj1" fmla="val 3235"/>
              </a:avLst>
            </a:prstGeom>
            <a:grp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or: Elbow 26">
              <a:extLst>
                <a:ext uri="{FF2B5EF4-FFF2-40B4-BE49-F238E27FC236}">
                  <a16:creationId xmlns:a16="http://schemas.microsoft.com/office/drawing/2014/main" id="{F259E1C0-E1D2-B0D7-230A-131C8D5CEFE5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12821" y="3443748"/>
              <a:ext cx="1204911" cy="211472"/>
            </a:xfrm>
            <a:prstGeom prst="bentConnector3">
              <a:avLst>
                <a:gd name="adj1" fmla="val -791"/>
              </a:avLst>
            </a:prstGeom>
            <a:grp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1FF241FB-6BB9-BC50-70A4-3E5F47272A58}"/>
              </a:ext>
            </a:extLst>
          </p:cNvPr>
          <p:cNvCxnSpPr>
            <a:cxnSpLocks/>
          </p:cNvCxnSpPr>
          <p:nvPr/>
        </p:nvCxnSpPr>
        <p:spPr>
          <a:xfrm>
            <a:off x="3331163" y="4387850"/>
            <a:ext cx="0" cy="348097"/>
          </a:xfrm>
          <a:prstGeom prst="straightConnector1">
            <a:avLst/>
          </a:prstGeom>
          <a:ln w="12700">
            <a:solidFill>
              <a:schemeClr val="bg1">
                <a:lumMod val="8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0DABA0E5-FA0E-E040-8E36-1C6B04DBB0DD}"/>
              </a:ext>
            </a:extLst>
          </p:cNvPr>
          <p:cNvSpPr/>
          <p:nvPr/>
        </p:nvSpPr>
        <p:spPr>
          <a:xfrm>
            <a:off x="2532347" y="4752498"/>
            <a:ext cx="1593806" cy="43979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Weighted Aggregation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6C6A7955-34DD-4C5E-4135-E2897179A05B}"/>
              </a:ext>
            </a:extLst>
          </p:cNvPr>
          <p:cNvSpPr/>
          <p:nvPr/>
        </p:nvSpPr>
        <p:spPr>
          <a:xfrm>
            <a:off x="2534260" y="5427247"/>
            <a:ext cx="1593806" cy="43979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Sort + Top-N + Final Output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DE6D88B-0960-BF25-CA34-60A59EAFC043}"/>
              </a:ext>
            </a:extLst>
          </p:cNvPr>
          <p:cNvSpPr/>
          <p:nvPr/>
        </p:nvSpPr>
        <p:spPr>
          <a:xfrm>
            <a:off x="2532347" y="6094969"/>
            <a:ext cx="1593806" cy="43979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Json response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5CBD9B4-6E58-81F1-11B2-8C7B46E43A7A}"/>
              </a:ext>
            </a:extLst>
          </p:cNvPr>
          <p:cNvGrpSpPr/>
          <p:nvPr/>
        </p:nvGrpSpPr>
        <p:grpSpPr>
          <a:xfrm>
            <a:off x="2341726" y="1413742"/>
            <a:ext cx="1975048" cy="775299"/>
            <a:chOff x="10490" y="2427201"/>
            <a:chExt cx="1033571" cy="775299"/>
          </a:xfrm>
          <a:solidFill>
            <a:schemeClr val="bg1">
              <a:lumMod val="95000"/>
            </a:schemeClr>
          </a:solidFill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A66D0A46-6F08-3853-975B-692D61C2B2DB}"/>
                </a:ext>
              </a:extLst>
            </p:cNvPr>
            <p:cNvSpPr/>
            <p:nvPr/>
          </p:nvSpPr>
          <p:spPr>
            <a:xfrm>
              <a:off x="10490" y="2427201"/>
              <a:ext cx="1033571" cy="775299"/>
            </a:xfrm>
            <a:prstGeom prst="rect">
              <a:avLst/>
            </a:prstGeom>
            <a:grp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4F2E317E-380A-4351-819D-DE59863CC306}"/>
                </a:ext>
              </a:extLst>
            </p:cNvPr>
            <p:cNvSpPr/>
            <p:nvPr/>
          </p:nvSpPr>
          <p:spPr>
            <a:xfrm>
              <a:off x="101747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scores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975E6AB0-1C06-9C9E-307F-16F3C692EC05}"/>
                </a:ext>
              </a:extLst>
            </p:cNvPr>
            <p:cNvSpPr txBox="1"/>
            <p:nvPr/>
          </p:nvSpPr>
          <p:spPr>
            <a:xfrm>
              <a:off x="97803" y="2437180"/>
              <a:ext cx="876269" cy="261610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Inputs</a:t>
              </a:r>
              <a:endParaRPr lang="en-US" sz="1050" dirty="0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1A4EFD37-782E-6443-BC45-64684622BD8D}"/>
                </a:ext>
              </a:extLst>
            </p:cNvPr>
            <p:cNvSpPr/>
            <p:nvPr/>
          </p:nvSpPr>
          <p:spPr>
            <a:xfrm>
              <a:off x="556345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 algn="ctr"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feed_id</a:t>
              </a:r>
              <a:endParaRPr lang="en-TH" sz="1000" dirty="0">
                <a:solidFill>
                  <a:srgbClr val="272428"/>
                </a:solidFill>
                <a:latin typeface="Poppins Light"/>
                <a:cs typeface="Sarabun Light"/>
              </a:endParaRPr>
            </a:p>
          </p:txBody>
        </p:sp>
      </p:grp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244FFAAA-BB49-3AB8-F59B-61DDB6F7CD62}"/>
              </a:ext>
            </a:extLst>
          </p:cNvPr>
          <p:cNvCxnSpPr>
            <a:cxnSpLocks/>
          </p:cNvCxnSpPr>
          <p:nvPr/>
        </p:nvCxnSpPr>
        <p:spPr>
          <a:xfrm flipH="1">
            <a:off x="3329250" y="2233306"/>
            <a:ext cx="1" cy="159346"/>
          </a:xfrm>
          <a:prstGeom prst="straightConnector1">
            <a:avLst/>
          </a:prstGeom>
          <a:ln w="12700">
            <a:solidFill>
              <a:schemeClr val="bg1">
                <a:lumMod val="8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Title 1">
            <a:extLst>
              <a:ext uri="{FF2B5EF4-FFF2-40B4-BE49-F238E27FC236}">
                <a16:creationId xmlns:a16="http://schemas.microsoft.com/office/drawing/2014/main" id="{D26DEDF3-2B93-024D-9FDA-B0AE34368280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 err="1"/>
              <a:t>Subscore</a:t>
            </a:r>
            <a:endParaRPr lang="en-US" sz="2400" dirty="0">
              <a:cs typeface="Poppins Light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FAA6745-38D6-FF6C-55BA-598367E39083}"/>
              </a:ext>
            </a:extLst>
          </p:cNvPr>
          <p:cNvSpPr/>
          <p:nvPr/>
        </p:nvSpPr>
        <p:spPr>
          <a:xfrm>
            <a:off x="2532347" y="2430521"/>
            <a:ext cx="1593806" cy="37470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Seen feed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AB0AFAC-A024-9DE7-77ED-C147E7B52735}"/>
              </a:ext>
            </a:extLst>
          </p:cNvPr>
          <p:cNvCxnSpPr>
            <a:cxnSpLocks/>
          </p:cNvCxnSpPr>
          <p:nvPr/>
        </p:nvCxnSpPr>
        <p:spPr>
          <a:xfrm flipH="1">
            <a:off x="3329250" y="2848554"/>
            <a:ext cx="1" cy="159346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CC70625-A68F-8A21-8C0C-CC2DA273B415}"/>
              </a:ext>
            </a:extLst>
          </p:cNvPr>
          <p:cNvCxnSpPr>
            <a:cxnSpLocks/>
          </p:cNvCxnSpPr>
          <p:nvPr/>
        </p:nvCxnSpPr>
        <p:spPr>
          <a:xfrm flipH="1">
            <a:off x="3325410" y="5901333"/>
            <a:ext cx="1" cy="159346"/>
          </a:xfrm>
          <a:prstGeom prst="straightConnector1">
            <a:avLst/>
          </a:prstGeom>
          <a:ln w="12700">
            <a:solidFill>
              <a:schemeClr val="bg1">
                <a:lumMod val="8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8D930B9-3DE5-588A-47C9-24582BE49EA7}"/>
              </a:ext>
            </a:extLst>
          </p:cNvPr>
          <p:cNvCxnSpPr>
            <a:cxnSpLocks/>
          </p:cNvCxnSpPr>
          <p:nvPr/>
        </p:nvCxnSpPr>
        <p:spPr>
          <a:xfrm flipH="1">
            <a:off x="3325409" y="5215768"/>
            <a:ext cx="1" cy="159346"/>
          </a:xfrm>
          <a:prstGeom prst="straightConnector1">
            <a:avLst/>
          </a:prstGeom>
          <a:ln w="12700">
            <a:solidFill>
              <a:schemeClr val="bg1">
                <a:lumMod val="8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32">
            <a:extLst>
              <a:ext uri="{FF2B5EF4-FFF2-40B4-BE49-F238E27FC236}">
                <a16:creationId xmlns:a16="http://schemas.microsoft.com/office/drawing/2014/main" id="{70D9DDDC-4B11-F74B-314B-17FFFFC0787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0224" y="1027782"/>
            <a:ext cx="3416112" cy="4658980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F8305715-68F2-F252-F307-929B8E49A42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3815" y="5698224"/>
            <a:ext cx="5251769" cy="765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88145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94C78A-1B7D-05CA-201B-32CF4199B3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FBAAA692-302E-4C16-6251-369838024F4D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D7A0426-C4C2-C7D5-4466-0B8A96E01C9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C254FCED-F2D1-2E41-62CF-AE1F62357C52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E7298BD-7398-41ED-C505-BB471FA339BA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D8D7790-A025-CE4C-F52D-946EFE7987C2}"/>
              </a:ext>
            </a:extLst>
          </p:cNvPr>
          <p:cNvSpPr/>
          <p:nvPr/>
        </p:nvSpPr>
        <p:spPr>
          <a:xfrm>
            <a:off x="638383" y="859879"/>
            <a:ext cx="5265878" cy="42539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tx1"/>
                </a:solidFill>
                <a:cs typeface="Poppins Light"/>
              </a:rPr>
              <a:t>Overview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A55C6927-4002-560D-3B5E-5099201B7142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EF9CD11-74F2-0994-E5DC-9B28C40BB47B}"/>
              </a:ext>
            </a:extLst>
          </p:cNvPr>
          <p:cNvGrpSpPr/>
          <p:nvPr/>
        </p:nvGrpSpPr>
        <p:grpSpPr>
          <a:xfrm>
            <a:off x="1382298" y="3051224"/>
            <a:ext cx="3893906" cy="1495360"/>
            <a:chOff x="1382298" y="2429185"/>
            <a:chExt cx="3893906" cy="1495360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CD70DC62-C0C4-0B33-245D-86E68054CAA7}"/>
                </a:ext>
              </a:extLst>
            </p:cNvPr>
            <p:cNvGrpSpPr/>
            <p:nvPr/>
          </p:nvGrpSpPr>
          <p:grpSpPr>
            <a:xfrm>
              <a:off x="1382298" y="2429185"/>
              <a:ext cx="3893906" cy="1495360"/>
              <a:chOff x="213358" y="1919130"/>
              <a:chExt cx="1283172" cy="1495360"/>
            </a:xfrm>
            <a:solidFill>
              <a:schemeClr val="bg1">
                <a:lumMod val="85000"/>
              </a:schemeClr>
            </a:solidFill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7B4C2BD7-5D31-47F9-4673-15921BC87A01}"/>
                  </a:ext>
                </a:extLst>
              </p:cNvPr>
              <p:cNvSpPr/>
              <p:nvPr/>
            </p:nvSpPr>
            <p:spPr>
              <a:xfrm>
                <a:off x="213358" y="1919130"/>
                <a:ext cx="1283172" cy="149536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750B4C71-FA89-09C2-DD45-2A45E60E5571}"/>
                  </a:ext>
                </a:extLst>
              </p:cNvPr>
              <p:cNvSpPr/>
              <p:nvPr/>
            </p:nvSpPr>
            <p:spPr>
              <a:xfrm>
                <a:off x="259738" y="2429685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rgbClr val="272428"/>
                    </a:solidFill>
                    <a:latin typeface="Poppins Light"/>
                    <a:cs typeface="Sarabun Light"/>
                  </a:rPr>
                  <a:t>vector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CE5B264B-2EB1-7239-6FEA-533D5AEE6C41}"/>
                  </a:ext>
                </a:extLst>
              </p:cNvPr>
              <p:cNvSpPr/>
              <p:nvPr/>
            </p:nvSpPr>
            <p:spPr>
              <a:xfrm>
                <a:off x="869945" y="2427304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72428"/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recency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464DC4AE-B7D7-1A34-CC29-5957B43BF0A7}"/>
                  </a:ext>
                </a:extLst>
              </p:cNvPr>
              <p:cNvSpPr/>
              <p:nvPr/>
            </p:nvSpPr>
            <p:spPr>
              <a:xfrm>
                <a:off x="1174409" y="2427304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rgbClr val="272428"/>
                    </a:solidFill>
                    <a:latin typeface="Poppins Light"/>
                    <a:cs typeface="Sarabun Light"/>
                  </a:rPr>
                  <a:t>popularity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6E005509-A62E-9DF1-6CB3-0C055CFD0ADC}"/>
                  </a:ext>
                </a:extLst>
              </p:cNvPr>
              <p:cNvSpPr txBox="1"/>
              <p:nvPr/>
            </p:nvSpPr>
            <p:spPr>
              <a:xfrm>
                <a:off x="240830" y="2000737"/>
                <a:ext cx="1236792" cy="261610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/>
                  <a:t>Subscore function</a:t>
                </a:r>
                <a:endParaRPr lang="en-US" sz="1050" dirty="0"/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F484FA96-B56A-327A-6B16-9B1295E26EB8}"/>
                  </a:ext>
                </a:extLst>
              </p:cNvPr>
              <p:cNvSpPr/>
              <p:nvPr/>
            </p:nvSpPr>
            <p:spPr>
              <a:xfrm>
                <a:off x="564202" y="2429832"/>
                <a:ext cx="278147" cy="370142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72428"/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…..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</p:grp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1690FC74-FE28-C1AA-C8A2-CD6278C46960}"/>
                </a:ext>
              </a:extLst>
            </p:cNvPr>
            <p:cNvSpPr/>
            <p:nvPr/>
          </p:nvSpPr>
          <p:spPr>
            <a:xfrm>
              <a:off x="3219863" y="3496554"/>
              <a:ext cx="218775" cy="218775"/>
            </a:xfrm>
            <a:prstGeom prst="ellipse">
              <a:avLst/>
            </a:prstGeom>
          </p:spPr>
          <p:style>
            <a:lnRef idx="1">
              <a:schemeClr val="dk1"/>
            </a:lnRef>
            <a:fillRef idx="1002">
              <a:schemeClr val="lt2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4" name="Connector: Elbow 23">
              <a:extLst>
                <a:ext uri="{FF2B5EF4-FFF2-40B4-BE49-F238E27FC236}">
                  <a16:creationId xmlns:a16="http://schemas.microsoft.com/office/drawing/2014/main" id="{57F128E0-694D-4D8B-EA26-3E0996C1CAF1}"/>
                </a:ext>
              </a:extLst>
            </p:cNvPr>
            <p:cNvCxnSpPr>
              <a:cxnSpLocks/>
            </p:cNvCxnSpPr>
            <p:nvPr/>
          </p:nvCxnSpPr>
          <p:spPr>
            <a:xfrm>
              <a:off x="2864833" y="3414814"/>
              <a:ext cx="285151" cy="145465"/>
            </a:xfrm>
            <a:prstGeom prst="bentConnector3">
              <a:avLst>
                <a:gd name="adj1" fmla="val 3235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or: Elbow 24">
              <a:extLst>
                <a:ext uri="{FF2B5EF4-FFF2-40B4-BE49-F238E27FC236}">
                  <a16:creationId xmlns:a16="http://schemas.microsoft.com/office/drawing/2014/main" id="{C8C8308B-741E-EE88-CDE3-1DFBD0056DB7}"/>
                </a:ext>
              </a:extLst>
            </p:cNvPr>
            <p:cNvCxnSpPr>
              <a:cxnSpLocks/>
            </p:cNvCxnSpPr>
            <p:nvPr/>
          </p:nvCxnSpPr>
          <p:spPr>
            <a:xfrm>
              <a:off x="1945073" y="3448329"/>
              <a:ext cx="1204911" cy="211472"/>
            </a:xfrm>
            <a:prstGeom prst="bentConnector3">
              <a:avLst>
                <a:gd name="adj1" fmla="val -791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nector: Elbow 25">
              <a:extLst>
                <a:ext uri="{FF2B5EF4-FFF2-40B4-BE49-F238E27FC236}">
                  <a16:creationId xmlns:a16="http://schemas.microsoft.com/office/drawing/2014/main" id="{055E265E-3566-2159-5E39-BF8F61728FB2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08517" y="3408600"/>
              <a:ext cx="285151" cy="145465"/>
            </a:xfrm>
            <a:prstGeom prst="bentConnector3">
              <a:avLst>
                <a:gd name="adj1" fmla="val 3235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or: Elbow 26">
              <a:extLst>
                <a:ext uri="{FF2B5EF4-FFF2-40B4-BE49-F238E27FC236}">
                  <a16:creationId xmlns:a16="http://schemas.microsoft.com/office/drawing/2014/main" id="{E7E25FBA-8D20-57C1-AAEA-84EB4EB50B7B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12821" y="3443748"/>
              <a:ext cx="1204911" cy="211472"/>
            </a:xfrm>
            <a:prstGeom prst="bentConnector3">
              <a:avLst>
                <a:gd name="adj1" fmla="val -791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A2084405-25F7-9236-9EC9-0703093E6BA0}"/>
              </a:ext>
            </a:extLst>
          </p:cNvPr>
          <p:cNvCxnSpPr>
            <a:cxnSpLocks/>
          </p:cNvCxnSpPr>
          <p:nvPr/>
        </p:nvCxnSpPr>
        <p:spPr>
          <a:xfrm>
            <a:off x="3331163" y="4387850"/>
            <a:ext cx="0" cy="348097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B3477188-7F43-5135-7999-FEC49E7D744F}"/>
              </a:ext>
            </a:extLst>
          </p:cNvPr>
          <p:cNvSpPr/>
          <p:nvPr/>
        </p:nvSpPr>
        <p:spPr>
          <a:xfrm>
            <a:off x="2532347" y="4752498"/>
            <a:ext cx="1593806" cy="43979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Weighted Aggregation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030FFF5-CD7F-008A-C4F0-C817374A5441}"/>
              </a:ext>
            </a:extLst>
          </p:cNvPr>
          <p:cNvSpPr/>
          <p:nvPr/>
        </p:nvSpPr>
        <p:spPr>
          <a:xfrm>
            <a:off x="2534260" y="5427247"/>
            <a:ext cx="1593806" cy="43979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Sort + Top-N + Final Output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A76A6FE-3FFB-22E9-9528-51B77613896F}"/>
              </a:ext>
            </a:extLst>
          </p:cNvPr>
          <p:cNvSpPr/>
          <p:nvPr/>
        </p:nvSpPr>
        <p:spPr>
          <a:xfrm>
            <a:off x="2532347" y="6094969"/>
            <a:ext cx="1593806" cy="43979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Json response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7DC7D269-1EE6-1D22-DFF9-B39F3078BAED}"/>
              </a:ext>
            </a:extLst>
          </p:cNvPr>
          <p:cNvGrpSpPr/>
          <p:nvPr/>
        </p:nvGrpSpPr>
        <p:grpSpPr>
          <a:xfrm>
            <a:off x="2341726" y="1413742"/>
            <a:ext cx="1975048" cy="775299"/>
            <a:chOff x="10490" y="2427201"/>
            <a:chExt cx="1033571" cy="775299"/>
          </a:xfrm>
          <a:solidFill>
            <a:schemeClr val="bg1">
              <a:lumMod val="95000"/>
            </a:schemeClr>
          </a:solidFill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0BEDC97E-A71E-4103-E7AF-59AC59C7C132}"/>
                </a:ext>
              </a:extLst>
            </p:cNvPr>
            <p:cNvSpPr/>
            <p:nvPr/>
          </p:nvSpPr>
          <p:spPr>
            <a:xfrm>
              <a:off x="10490" y="2427201"/>
              <a:ext cx="1033571" cy="775299"/>
            </a:xfrm>
            <a:prstGeom prst="rect">
              <a:avLst/>
            </a:prstGeom>
            <a:grp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9E28F4F3-A4D9-1079-8CFD-1183E5D234D4}"/>
                </a:ext>
              </a:extLst>
            </p:cNvPr>
            <p:cNvSpPr/>
            <p:nvPr/>
          </p:nvSpPr>
          <p:spPr>
            <a:xfrm>
              <a:off x="101747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chemeClr val="bg1">
                      <a:lumMod val="85000"/>
                    </a:schemeClr>
                  </a:solidFill>
                  <a:latin typeface="Poppins Light"/>
                  <a:cs typeface="Sarabun Light"/>
                </a:rPr>
                <a:t>scores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60EF5F8C-3B5C-E2CF-F86E-1137854C5ED8}"/>
                </a:ext>
              </a:extLst>
            </p:cNvPr>
            <p:cNvSpPr txBox="1"/>
            <p:nvPr/>
          </p:nvSpPr>
          <p:spPr>
            <a:xfrm>
              <a:off x="97803" y="2437180"/>
              <a:ext cx="876269" cy="261610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>
                  <a:solidFill>
                    <a:schemeClr val="bg1">
                      <a:lumMod val="85000"/>
                    </a:schemeClr>
                  </a:solidFill>
                </a:rPr>
                <a:t>Inputs</a:t>
              </a:r>
              <a:endParaRPr lang="en-US" sz="1050" dirty="0">
                <a:solidFill>
                  <a:schemeClr val="bg1">
                    <a:lumMod val="85000"/>
                  </a:schemeClr>
                </a:solidFill>
              </a:endParaRPr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7AA82C52-64EC-B746-7128-1201AEC96FDE}"/>
                </a:ext>
              </a:extLst>
            </p:cNvPr>
            <p:cNvSpPr/>
            <p:nvPr/>
          </p:nvSpPr>
          <p:spPr>
            <a:xfrm>
              <a:off x="556345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 algn="ctr">
                <a:defRPr/>
              </a:pPr>
              <a:r>
                <a:rPr lang="en-US" sz="1000" dirty="0">
                  <a:solidFill>
                    <a:schemeClr val="bg1">
                      <a:lumMod val="85000"/>
                    </a:schemeClr>
                  </a:solidFill>
                  <a:latin typeface="Poppins Light"/>
                  <a:cs typeface="Sarabun Light"/>
                </a:rPr>
                <a:t>feed_id</a:t>
              </a:r>
              <a:endParaRPr lang="en-TH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endParaRPr>
            </a:p>
          </p:txBody>
        </p:sp>
      </p:grp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B93174D7-B1A3-4F93-5963-FC8F1243E573}"/>
              </a:ext>
            </a:extLst>
          </p:cNvPr>
          <p:cNvCxnSpPr>
            <a:cxnSpLocks/>
          </p:cNvCxnSpPr>
          <p:nvPr/>
        </p:nvCxnSpPr>
        <p:spPr>
          <a:xfrm flipH="1">
            <a:off x="3329250" y="2233306"/>
            <a:ext cx="1" cy="159346"/>
          </a:xfrm>
          <a:prstGeom prst="straightConnector1">
            <a:avLst/>
          </a:prstGeom>
          <a:ln w="12700">
            <a:solidFill>
              <a:schemeClr val="bg1">
                <a:lumMod val="8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Title 1">
            <a:extLst>
              <a:ext uri="{FF2B5EF4-FFF2-40B4-BE49-F238E27FC236}">
                <a16:creationId xmlns:a16="http://schemas.microsoft.com/office/drawing/2014/main" id="{8D2CD153-73B6-8B55-8EB3-F786F64799B7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 err="1"/>
              <a:t>Subscore</a:t>
            </a:r>
            <a:endParaRPr lang="en-US" sz="2400" dirty="0">
              <a:cs typeface="Poppins Light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FD93350-1838-08C5-3481-0914F342F38C}"/>
              </a:ext>
            </a:extLst>
          </p:cNvPr>
          <p:cNvSpPr/>
          <p:nvPr/>
        </p:nvSpPr>
        <p:spPr>
          <a:xfrm>
            <a:off x="2532347" y="2430521"/>
            <a:ext cx="1593806" cy="37470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Seen feed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EED394E-727A-F20C-4DB7-517DEE5E64A5}"/>
              </a:ext>
            </a:extLst>
          </p:cNvPr>
          <p:cNvCxnSpPr>
            <a:cxnSpLocks/>
          </p:cNvCxnSpPr>
          <p:nvPr/>
        </p:nvCxnSpPr>
        <p:spPr>
          <a:xfrm flipH="1">
            <a:off x="3329250" y="2848554"/>
            <a:ext cx="1" cy="159346"/>
          </a:xfrm>
          <a:prstGeom prst="straightConnector1">
            <a:avLst/>
          </a:prstGeom>
          <a:ln w="12700">
            <a:solidFill>
              <a:schemeClr val="bg1">
                <a:lumMod val="8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177D80A-452A-3D35-A252-DA83D888A5BC}"/>
              </a:ext>
            </a:extLst>
          </p:cNvPr>
          <p:cNvCxnSpPr>
            <a:cxnSpLocks/>
          </p:cNvCxnSpPr>
          <p:nvPr/>
        </p:nvCxnSpPr>
        <p:spPr>
          <a:xfrm flipH="1">
            <a:off x="3325410" y="5901333"/>
            <a:ext cx="1" cy="159346"/>
          </a:xfrm>
          <a:prstGeom prst="straightConnector1">
            <a:avLst/>
          </a:prstGeom>
          <a:ln w="12700">
            <a:solidFill>
              <a:schemeClr val="bg1">
                <a:lumMod val="8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601D743-0562-5075-A578-746A49F05A0A}"/>
              </a:ext>
            </a:extLst>
          </p:cNvPr>
          <p:cNvCxnSpPr>
            <a:cxnSpLocks/>
          </p:cNvCxnSpPr>
          <p:nvPr/>
        </p:nvCxnSpPr>
        <p:spPr>
          <a:xfrm flipH="1">
            <a:off x="3325409" y="5215768"/>
            <a:ext cx="1" cy="159346"/>
          </a:xfrm>
          <a:prstGeom prst="straightConnector1">
            <a:avLst/>
          </a:prstGeom>
          <a:ln w="12700">
            <a:solidFill>
              <a:schemeClr val="bg1">
                <a:lumMod val="8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8" name="Picture 17">
            <a:extLst>
              <a:ext uri="{FF2B5EF4-FFF2-40B4-BE49-F238E27FC236}">
                <a16:creationId xmlns:a16="http://schemas.microsoft.com/office/drawing/2014/main" id="{EF5FDFB9-75B0-CE91-556C-484F2A80FC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4189" y="1367955"/>
            <a:ext cx="5045385" cy="47554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07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D063F2-958E-10AB-5C53-2852B42324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987EF0DE-E57D-85D9-DB90-5D9360183F61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BAAA692-302E-4C16-6251-369838024F4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38AAF93D-8481-2221-523A-2181EDC974EB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A182498-2B49-8723-1BF3-7438D7612A2F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0AAC320-91D7-038B-304D-BFDFFB6BC1B7}"/>
              </a:ext>
            </a:extLst>
          </p:cNvPr>
          <p:cNvSpPr/>
          <p:nvPr/>
        </p:nvSpPr>
        <p:spPr>
          <a:xfrm>
            <a:off x="638383" y="859879"/>
            <a:ext cx="5265878" cy="42539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tx1"/>
                </a:solidFill>
                <a:cs typeface="Poppins Light"/>
              </a:rPr>
              <a:t>Overview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7258B399-1BEB-BC1A-3986-DAD60D8D2D5C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010927C5-30B2-2B21-DC90-9A0B2017C05A}"/>
              </a:ext>
            </a:extLst>
          </p:cNvPr>
          <p:cNvGrpSpPr/>
          <p:nvPr/>
        </p:nvGrpSpPr>
        <p:grpSpPr>
          <a:xfrm>
            <a:off x="1382298" y="3051224"/>
            <a:ext cx="3893906" cy="1495360"/>
            <a:chOff x="1382298" y="2429185"/>
            <a:chExt cx="3893906" cy="1495360"/>
          </a:xfrm>
          <a:solidFill>
            <a:schemeClr val="bg1">
              <a:lumMod val="95000"/>
            </a:schemeClr>
          </a:solidFill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02FCBDA4-7F05-CADF-C9BC-F8FC4E0A436A}"/>
                </a:ext>
              </a:extLst>
            </p:cNvPr>
            <p:cNvGrpSpPr/>
            <p:nvPr/>
          </p:nvGrpSpPr>
          <p:grpSpPr>
            <a:xfrm>
              <a:off x="1382298" y="2429185"/>
              <a:ext cx="3893906" cy="1495360"/>
              <a:chOff x="213358" y="1919130"/>
              <a:chExt cx="1283172" cy="1495360"/>
            </a:xfrm>
            <a:grpFill/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1A8F1D66-D1FD-5A22-1381-3E93EF391450}"/>
                  </a:ext>
                </a:extLst>
              </p:cNvPr>
              <p:cNvSpPr/>
              <p:nvPr/>
            </p:nvSpPr>
            <p:spPr>
              <a:xfrm>
                <a:off x="213358" y="1919130"/>
                <a:ext cx="1283172" cy="1495360"/>
              </a:xfrm>
              <a:prstGeom prst="rect">
                <a:avLst/>
              </a:prstGeom>
              <a:grpFill/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7C1D51D4-3CA3-2BD4-EC9E-EBC0DA792A0B}"/>
                  </a:ext>
                </a:extLst>
              </p:cNvPr>
              <p:cNvSpPr/>
              <p:nvPr/>
            </p:nvSpPr>
            <p:spPr>
              <a:xfrm>
                <a:off x="259738" y="2429685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chemeClr val="bg1">
                        <a:lumMod val="85000"/>
                      </a:schemeClr>
                    </a:solidFill>
                    <a:latin typeface="Poppins Light"/>
                    <a:cs typeface="Sarabun Light"/>
                  </a:rPr>
                  <a:t>vector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EFD7189A-1110-A6AD-E33B-05C9F5ED5392}"/>
                  </a:ext>
                </a:extLst>
              </p:cNvPr>
              <p:cNvSpPr/>
              <p:nvPr/>
            </p:nvSpPr>
            <p:spPr>
              <a:xfrm>
                <a:off x="869945" y="2427304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85000"/>
                      </a:schemeClr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recency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BA2F0FBC-CB99-C504-AB5A-C5227F00FC8B}"/>
                  </a:ext>
                </a:extLst>
              </p:cNvPr>
              <p:cNvSpPr/>
              <p:nvPr/>
            </p:nvSpPr>
            <p:spPr>
              <a:xfrm>
                <a:off x="1174409" y="2427304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chemeClr val="bg1">
                        <a:lumMod val="85000"/>
                      </a:schemeClr>
                    </a:solidFill>
                    <a:latin typeface="Poppins Light"/>
                    <a:cs typeface="Sarabun Light"/>
                  </a:rPr>
                  <a:t>popularity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7E0714F-8546-ABD4-C438-7FB3F1032D83}"/>
                  </a:ext>
                </a:extLst>
              </p:cNvPr>
              <p:cNvSpPr txBox="1"/>
              <p:nvPr/>
            </p:nvSpPr>
            <p:spPr>
              <a:xfrm>
                <a:off x="240830" y="2000737"/>
                <a:ext cx="1236792" cy="261610"/>
              </a:xfrm>
              <a:prstGeom prst="rect">
                <a:avLst/>
              </a:prstGeom>
              <a:grp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bg1">
                        <a:lumMod val="85000"/>
                      </a:schemeClr>
                    </a:solidFill>
                  </a:rPr>
                  <a:t>Subscore function</a:t>
                </a:r>
                <a:endParaRPr lang="en-US" sz="1050" dirty="0">
                  <a:solidFill>
                    <a:schemeClr val="bg1">
                      <a:lumMod val="85000"/>
                    </a:schemeClr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EF3C1AFE-EFF2-9F24-DD1C-F3AB1E64706A}"/>
                  </a:ext>
                </a:extLst>
              </p:cNvPr>
              <p:cNvSpPr/>
              <p:nvPr/>
            </p:nvSpPr>
            <p:spPr>
              <a:xfrm>
                <a:off x="564202" y="2429832"/>
                <a:ext cx="278147" cy="370142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85000"/>
                      </a:schemeClr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…..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</p:grp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CFDF2FFE-90E2-8FDE-8DE1-7407E7E5D39E}"/>
                </a:ext>
              </a:extLst>
            </p:cNvPr>
            <p:cNvSpPr/>
            <p:nvPr/>
          </p:nvSpPr>
          <p:spPr>
            <a:xfrm>
              <a:off x="3219863" y="3496554"/>
              <a:ext cx="218775" cy="218775"/>
            </a:xfrm>
            <a:prstGeom prst="ellipse">
              <a:avLst/>
            </a:prstGeom>
            <a:grp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dk1"/>
            </a:lnRef>
            <a:fillRef idx="1002">
              <a:schemeClr val="lt2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bg1">
                    <a:lumMod val="85000"/>
                  </a:schemeClr>
                </a:solidFill>
              </a:endParaRPr>
            </a:p>
          </p:txBody>
        </p:sp>
        <p:cxnSp>
          <p:nvCxnSpPr>
            <p:cNvPr id="24" name="Connector: Elbow 23">
              <a:extLst>
                <a:ext uri="{FF2B5EF4-FFF2-40B4-BE49-F238E27FC236}">
                  <a16:creationId xmlns:a16="http://schemas.microsoft.com/office/drawing/2014/main" id="{4B81B3A3-C894-14CF-CE63-FDA46808301F}"/>
                </a:ext>
              </a:extLst>
            </p:cNvPr>
            <p:cNvCxnSpPr>
              <a:cxnSpLocks/>
            </p:cNvCxnSpPr>
            <p:nvPr/>
          </p:nvCxnSpPr>
          <p:spPr>
            <a:xfrm>
              <a:off x="2864833" y="3414814"/>
              <a:ext cx="285151" cy="145465"/>
            </a:xfrm>
            <a:prstGeom prst="bentConnector3">
              <a:avLst>
                <a:gd name="adj1" fmla="val 3235"/>
              </a:avLst>
            </a:prstGeom>
            <a:grp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or: Elbow 24">
              <a:extLst>
                <a:ext uri="{FF2B5EF4-FFF2-40B4-BE49-F238E27FC236}">
                  <a16:creationId xmlns:a16="http://schemas.microsoft.com/office/drawing/2014/main" id="{293DE321-BD99-A98A-26A2-E721E2EDD273}"/>
                </a:ext>
              </a:extLst>
            </p:cNvPr>
            <p:cNvCxnSpPr>
              <a:cxnSpLocks/>
            </p:cNvCxnSpPr>
            <p:nvPr/>
          </p:nvCxnSpPr>
          <p:spPr>
            <a:xfrm>
              <a:off x="1945073" y="3448329"/>
              <a:ext cx="1204911" cy="211472"/>
            </a:xfrm>
            <a:prstGeom prst="bentConnector3">
              <a:avLst>
                <a:gd name="adj1" fmla="val -791"/>
              </a:avLst>
            </a:prstGeom>
            <a:grp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nector: Elbow 25">
              <a:extLst>
                <a:ext uri="{FF2B5EF4-FFF2-40B4-BE49-F238E27FC236}">
                  <a16:creationId xmlns:a16="http://schemas.microsoft.com/office/drawing/2014/main" id="{B85C7D69-F870-BCB3-0D3B-C082858FDCFF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08517" y="3408600"/>
              <a:ext cx="285151" cy="145465"/>
            </a:xfrm>
            <a:prstGeom prst="bentConnector3">
              <a:avLst>
                <a:gd name="adj1" fmla="val 3235"/>
              </a:avLst>
            </a:prstGeom>
            <a:grp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or: Elbow 26">
              <a:extLst>
                <a:ext uri="{FF2B5EF4-FFF2-40B4-BE49-F238E27FC236}">
                  <a16:creationId xmlns:a16="http://schemas.microsoft.com/office/drawing/2014/main" id="{5A46074D-6FCB-B7D1-F752-814846B9AFD2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12821" y="3443748"/>
              <a:ext cx="1204911" cy="211472"/>
            </a:xfrm>
            <a:prstGeom prst="bentConnector3">
              <a:avLst>
                <a:gd name="adj1" fmla="val -791"/>
              </a:avLst>
            </a:prstGeom>
            <a:grp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9F0C0AEF-6B4A-79A9-48B3-F9669864C0AA}"/>
              </a:ext>
            </a:extLst>
          </p:cNvPr>
          <p:cNvCxnSpPr>
            <a:cxnSpLocks/>
          </p:cNvCxnSpPr>
          <p:nvPr/>
        </p:nvCxnSpPr>
        <p:spPr>
          <a:xfrm>
            <a:off x="3331163" y="4387850"/>
            <a:ext cx="0" cy="348097"/>
          </a:xfrm>
          <a:prstGeom prst="straightConnector1">
            <a:avLst/>
          </a:prstGeom>
          <a:ln w="12700">
            <a:solidFill>
              <a:schemeClr val="bg1">
                <a:lumMod val="8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FAA0D6FD-C3FC-9A78-2FF5-468C4F7198B4}"/>
              </a:ext>
            </a:extLst>
          </p:cNvPr>
          <p:cNvSpPr/>
          <p:nvPr/>
        </p:nvSpPr>
        <p:spPr>
          <a:xfrm>
            <a:off x="2532347" y="4752498"/>
            <a:ext cx="1593806" cy="4397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Weighted Aggregation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267ACA5-DC76-1E78-D750-7A2289729D0E}"/>
              </a:ext>
            </a:extLst>
          </p:cNvPr>
          <p:cNvSpPr/>
          <p:nvPr/>
        </p:nvSpPr>
        <p:spPr>
          <a:xfrm>
            <a:off x="2534260" y="5427247"/>
            <a:ext cx="1593806" cy="43979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Sort + Top-N + Final Output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7B949F2-70B0-8773-C486-4F3874D7E927}"/>
              </a:ext>
            </a:extLst>
          </p:cNvPr>
          <p:cNvSpPr/>
          <p:nvPr/>
        </p:nvSpPr>
        <p:spPr>
          <a:xfrm>
            <a:off x="2532347" y="6094969"/>
            <a:ext cx="1593806" cy="43979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Json response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EE18ACFE-234F-536C-A1C0-C4789F0F7687}"/>
              </a:ext>
            </a:extLst>
          </p:cNvPr>
          <p:cNvGrpSpPr/>
          <p:nvPr/>
        </p:nvGrpSpPr>
        <p:grpSpPr>
          <a:xfrm>
            <a:off x="2341726" y="1413742"/>
            <a:ext cx="1975048" cy="775299"/>
            <a:chOff x="10490" y="2427201"/>
            <a:chExt cx="1033571" cy="775299"/>
          </a:xfrm>
          <a:solidFill>
            <a:schemeClr val="bg1">
              <a:lumMod val="95000"/>
            </a:schemeClr>
          </a:solidFill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7389E8D8-41CF-C893-F4FE-5179FE2CEB01}"/>
                </a:ext>
              </a:extLst>
            </p:cNvPr>
            <p:cNvSpPr/>
            <p:nvPr/>
          </p:nvSpPr>
          <p:spPr>
            <a:xfrm>
              <a:off x="10490" y="2427201"/>
              <a:ext cx="1033571" cy="775299"/>
            </a:xfrm>
            <a:prstGeom prst="rect">
              <a:avLst/>
            </a:prstGeom>
            <a:grp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9FC1169A-01EE-A72E-F265-532E215D698F}"/>
                </a:ext>
              </a:extLst>
            </p:cNvPr>
            <p:cNvSpPr/>
            <p:nvPr/>
          </p:nvSpPr>
          <p:spPr>
            <a:xfrm>
              <a:off x="101747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chemeClr val="bg1">
                      <a:lumMod val="85000"/>
                    </a:schemeClr>
                  </a:solidFill>
                  <a:latin typeface="Poppins Light"/>
                  <a:cs typeface="Sarabun Light"/>
                </a:rPr>
                <a:t>scores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75017D68-D20B-80D9-51E6-0BC53FB88FAF}"/>
                </a:ext>
              </a:extLst>
            </p:cNvPr>
            <p:cNvSpPr txBox="1"/>
            <p:nvPr/>
          </p:nvSpPr>
          <p:spPr>
            <a:xfrm>
              <a:off x="97803" y="2437180"/>
              <a:ext cx="876269" cy="261610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>
                  <a:solidFill>
                    <a:schemeClr val="bg1">
                      <a:lumMod val="85000"/>
                    </a:schemeClr>
                  </a:solidFill>
                </a:rPr>
                <a:t>Inputs</a:t>
              </a:r>
              <a:endParaRPr lang="en-US" sz="1050" dirty="0">
                <a:solidFill>
                  <a:schemeClr val="bg1">
                    <a:lumMod val="85000"/>
                  </a:schemeClr>
                </a:solidFill>
              </a:endParaRPr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D4850D07-D77A-93B5-8595-F6342E5B9907}"/>
                </a:ext>
              </a:extLst>
            </p:cNvPr>
            <p:cNvSpPr/>
            <p:nvPr/>
          </p:nvSpPr>
          <p:spPr>
            <a:xfrm>
              <a:off x="556345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 algn="ctr">
                <a:defRPr/>
              </a:pPr>
              <a:r>
                <a:rPr lang="en-US" sz="1000" dirty="0">
                  <a:solidFill>
                    <a:schemeClr val="bg1">
                      <a:lumMod val="85000"/>
                    </a:schemeClr>
                  </a:solidFill>
                  <a:latin typeface="Poppins Light"/>
                  <a:cs typeface="Sarabun Light"/>
                </a:rPr>
                <a:t>feed_id</a:t>
              </a:r>
              <a:endParaRPr lang="en-TH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endParaRPr>
            </a:p>
          </p:txBody>
        </p:sp>
      </p:grp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59B9D17-035C-E7DC-21C3-623127D02288}"/>
              </a:ext>
            </a:extLst>
          </p:cNvPr>
          <p:cNvCxnSpPr>
            <a:cxnSpLocks/>
          </p:cNvCxnSpPr>
          <p:nvPr/>
        </p:nvCxnSpPr>
        <p:spPr>
          <a:xfrm flipH="1">
            <a:off x="3329250" y="2233306"/>
            <a:ext cx="1" cy="159346"/>
          </a:xfrm>
          <a:prstGeom prst="straightConnector1">
            <a:avLst/>
          </a:prstGeom>
          <a:ln w="12700">
            <a:solidFill>
              <a:schemeClr val="bg1">
                <a:lumMod val="8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Title 1">
            <a:extLst>
              <a:ext uri="{FF2B5EF4-FFF2-40B4-BE49-F238E27FC236}">
                <a16:creationId xmlns:a16="http://schemas.microsoft.com/office/drawing/2014/main" id="{FD2613B8-8F7C-2046-21AD-8CAA72F5886E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 err="1"/>
              <a:t>Subscore</a:t>
            </a:r>
            <a:endParaRPr lang="en-US" sz="2400" dirty="0">
              <a:cs typeface="Poppins Light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B04B2D1-BB9D-2E8B-312C-732FA90F4D5D}"/>
              </a:ext>
            </a:extLst>
          </p:cNvPr>
          <p:cNvSpPr/>
          <p:nvPr/>
        </p:nvSpPr>
        <p:spPr>
          <a:xfrm>
            <a:off x="2532347" y="2430521"/>
            <a:ext cx="1593806" cy="37470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Seen feed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9297908-AD25-7EF7-1633-520714C77688}"/>
              </a:ext>
            </a:extLst>
          </p:cNvPr>
          <p:cNvCxnSpPr>
            <a:cxnSpLocks/>
          </p:cNvCxnSpPr>
          <p:nvPr/>
        </p:nvCxnSpPr>
        <p:spPr>
          <a:xfrm flipH="1">
            <a:off x="3329250" y="2848554"/>
            <a:ext cx="1" cy="159346"/>
          </a:xfrm>
          <a:prstGeom prst="straightConnector1">
            <a:avLst/>
          </a:prstGeom>
          <a:ln w="12700">
            <a:solidFill>
              <a:schemeClr val="bg1">
                <a:lumMod val="8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D63C07C-B8F0-0590-228E-5C26A34828E1}"/>
              </a:ext>
            </a:extLst>
          </p:cNvPr>
          <p:cNvCxnSpPr>
            <a:cxnSpLocks/>
          </p:cNvCxnSpPr>
          <p:nvPr/>
        </p:nvCxnSpPr>
        <p:spPr>
          <a:xfrm flipH="1">
            <a:off x="3325410" y="5901333"/>
            <a:ext cx="1" cy="159346"/>
          </a:xfrm>
          <a:prstGeom prst="straightConnector1">
            <a:avLst/>
          </a:prstGeom>
          <a:ln w="12700">
            <a:solidFill>
              <a:schemeClr val="bg1">
                <a:lumMod val="8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12F5B24-F5D2-6ABB-E35D-E530F57A7EAF}"/>
              </a:ext>
            </a:extLst>
          </p:cNvPr>
          <p:cNvCxnSpPr>
            <a:cxnSpLocks/>
          </p:cNvCxnSpPr>
          <p:nvPr/>
        </p:nvCxnSpPr>
        <p:spPr>
          <a:xfrm flipH="1">
            <a:off x="3325409" y="5215768"/>
            <a:ext cx="1" cy="159346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2" name="Picture 51">
            <a:extLst>
              <a:ext uri="{FF2B5EF4-FFF2-40B4-BE49-F238E27FC236}">
                <a16:creationId xmlns:a16="http://schemas.microsoft.com/office/drawing/2014/main" id="{23AA0BB7-F630-356F-06E5-E2E3B9977B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4189" y="1336359"/>
            <a:ext cx="5014512" cy="4925090"/>
          </a:xfrm>
          <a:prstGeom prst="rect">
            <a:avLst/>
          </a:prstGeom>
        </p:spPr>
      </p:pic>
      <p:pic>
        <p:nvPicPr>
          <p:cNvPr id="53" name="Picture 52">
            <a:extLst>
              <a:ext uri="{FF2B5EF4-FFF2-40B4-BE49-F238E27FC236}">
                <a16:creationId xmlns:a16="http://schemas.microsoft.com/office/drawing/2014/main" id="{9F7FA611-5A7D-A2A0-49CD-453C68ABDDE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04616" y="986247"/>
            <a:ext cx="2644958" cy="1420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25319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099D21-0C89-9EF5-DCF7-CD09833AF9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69245DA8-43F7-6258-9880-70CF09A150B1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D7A0426-C4C2-C7D5-4466-0B8A96E01C9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34B457E7-1D3D-64BE-2CD7-B0D713E3B6D5}"/>
              </a:ext>
            </a:extLst>
          </p:cNvPr>
          <p:cNvSpPr/>
          <p:nvPr/>
        </p:nvSpPr>
        <p:spPr>
          <a:xfrm>
            <a:off x="6467036" y="799344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340E206-3D97-711F-1B9A-B39BF0C0CE12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A16F39B-6AE4-B977-609C-6029CC2793EB}"/>
              </a:ext>
            </a:extLst>
          </p:cNvPr>
          <p:cNvSpPr/>
          <p:nvPr/>
        </p:nvSpPr>
        <p:spPr>
          <a:xfrm>
            <a:off x="638383" y="859879"/>
            <a:ext cx="5265878" cy="42539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tx1"/>
                </a:solidFill>
                <a:cs typeface="Poppins Light"/>
              </a:rPr>
              <a:t>Overview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12D90A3D-D192-6650-AA03-7A9A766A9DAC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B938069E-C133-F9E9-1B41-9C8F4AC1DF6A}"/>
              </a:ext>
            </a:extLst>
          </p:cNvPr>
          <p:cNvGrpSpPr/>
          <p:nvPr/>
        </p:nvGrpSpPr>
        <p:grpSpPr>
          <a:xfrm>
            <a:off x="1382298" y="3051224"/>
            <a:ext cx="3893906" cy="1495360"/>
            <a:chOff x="1382298" y="2429185"/>
            <a:chExt cx="3893906" cy="1495360"/>
          </a:xfrm>
          <a:solidFill>
            <a:schemeClr val="bg1">
              <a:lumMod val="95000"/>
            </a:schemeClr>
          </a:solidFill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C7E98EBF-8414-E94F-C7A8-87D2E572AB6C}"/>
                </a:ext>
              </a:extLst>
            </p:cNvPr>
            <p:cNvGrpSpPr/>
            <p:nvPr/>
          </p:nvGrpSpPr>
          <p:grpSpPr>
            <a:xfrm>
              <a:off x="1382298" y="2429185"/>
              <a:ext cx="3893906" cy="1495360"/>
              <a:chOff x="213358" y="1919130"/>
              <a:chExt cx="1283172" cy="1495360"/>
            </a:xfrm>
            <a:grpFill/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93A5AD57-D54E-2529-8191-89FC751C85EF}"/>
                  </a:ext>
                </a:extLst>
              </p:cNvPr>
              <p:cNvSpPr/>
              <p:nvPr/>
            </p:nvSpPr>
            <p:spPr>
              <a:xfrm>
                <a:off x="213358" y="1919130"/>
                <a:ext cx="1283172" cy="1495360"/>
              </a:xfrm>
              <a:prstGeom prst="rect">
                <a:avLst/>
              </a:prstGeom>
              <a:grpFill/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03CDEE04-2D1B-5F45-2A86-33929EBC2F17}"/>
                  </a:ext>
                </a:extLst>
              </p:cNvPr>
              <p:cNvSpPr/>
              <p:nvPr/>
            </p:nvSpPr>
            <p:spPr>
              <a:xfrm>
                <a:off x="259738" y="2429685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chemeClr val="bg1">
                        <a:lumMod val="85000"/>
                      </a:schemeClr>
                    </a:solidFill>
                    <a:latin typeface="Poppins Light"/>
                    <a:cs typeface="Sarabun Light"/>
                  </a:rPr>
                  <a:t>vector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10403EB9-49DD-031E-87C7-515257376DBC}"/>
                  </a:ext>
                </a:extLst>
              </p:cNvPr>
              <p:cNvSpPr/>
              <p:nvPr/>
            </p:nvSpPr>
            <p:spPr>
              <a:xfrm>
                <a:off x="869945" y="2427304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85000"/>
                      </a:schemeClr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recency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143ADD44-BB46-4C94-6D6F-75800DCB9811}"/>
                  </a:ext>
                </a:extLst>
              </p:cNvPr>
              <p:cNvSpPr/>
              <p:nvPr/>
            </p:nvSpPr>
            <p:spPr>
              <a:xfrm>
                <a:off x="1174409" y="2427304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chemeClr val="bg1">
                        <a:lumMod val="85000"/>
                      </a:schemeClr>
                    </a:solidFill>
                    <a:latin typeface="Poppins Light"/>
                    <a:cs typeface="Sarabun Light"/>
                  </a:rPr>
                  <a:t>popularity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F6B3B6A8-B34F-2AD0-9EE3-79A8C48E7DD9}"/>
                  </a:ext>
                </a:extLst>
              </p:cNvPr>
              <p:cNvSpPr txBox="1"/>
              <p:nvPr/>
            </p:nvSpPr>
            <p:spPr>
              <a:xfrm>
                <a:off x="240830" y="2000737"/>
                <a:ext cx="1236792" cy="261610"/>
              </a:xfrm>
              <a:prstGeom prst="rect">
                <a:avLst/>
              </a:prstGeom>
              <a:grp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bg1">
                        <a:lumMod val="85000"/>
                      </a:schemeClr>
                    </a:solidFill>
                  </a:rPr>
                  <a:t>Subscore function</a:t>
                </a:r>
                <a:endParaRPr lang="en-US" sz="1050" dirty="0">
                  <a:solidFill>
                    <a:schemeClr val="bg1">
                      <a:lumMod val="85000"/>
                    </a:schemeClr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9E55B228-66E6-6585-72C0-62167E0BD84B}"/>
                  </a:ext>
                </a:extLst>
              </p:cNvPr>
              <p:cNvSpPr/>
              <p:nvPr/>
            </p:nvSpPr>
            <p:spPr>
              <a:xfrm>
                <a:off x="564202" y="2429832"/>
                <a:ext cx="278147" cy="370142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85000"/>
                      </a:schemeClr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…..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</p:grp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63130A76-EC96-07E9-8177-E427753258E3}"/>
                </a:ext>
              </a:extLst>
            </p:cNvPr>
            <p:cNvSpPr/>
            <p:nvPr/>
          </p:nvSpPr>
          <p:spPr>
            <a:xfrm>
              <a:off x="3219863" y="3496554"/>
              <a:ext cx="218775" cy="218775"/>
            </a:xfrm>
            <a:prstGeom prst="ellipse">
              <a:avLst/>
            </a:prstGeom>
            <a:grp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dk1"/>
            </a:lnRef>
            <a:fillRef idx="1002">
              <a:schemeClr val="lt2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bg1">
                    <a:lumMod val="85000"/>
                  </a:schemeClr>
                </a:solidFill>
              </a:endParaRPr>
            </a:p>
          </p:txBody>
        </p:sp>
        <p:cxnSp>
          <p:nvCxnSpPr>
            <p:cNvPr id="24" name="Connector: Elbow 23">
              <a:extLst>
                <a:ext uri="{FF2B5EF4-FFF2-40B4-BE49-F238E27FC236}">
                  <a16:creationId xmlns:a16="http://schemas.microsoft.com/office/drawing/2014/main" id="{512F9D25-5E09-EE5B-304A-C073B05B6A88}"/>
                </a:ext>
              </a:extLst>
            </p:cNvPr>
            <p:cNvCxnSpPr>
              <a:cxnSpLocks/>
            </p:cNvCxnSpPr>
            <p:nvPr/>
          </p:nvCxnSpPr>
          <p:spPr>
            <a:xfrm>
              <a:off x="2864833" y="3414814"/>
              <a:ext cx="285151" cy="145465"/>
            </a:xfrm>
            <a:prstGeom prst="bentConnector3">
              <a:avLst>
                <a:gd name="adj1" fmla="val 3235"/>
              </a:avLst>
            </a:prstGeom>
            <a:grp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or: Elbow 24">
              <a:extLst>
                <a:ext uri="{FF2B5EF4-FFF2-40B4-BE49-F238E27FC236}">
                  <a16:creationId xmlns:a16="http://schemas.microsoft.com/office/drawing/2014/main" id="{917C16B3-E001-5292-DA16-8B172A201F8F}"/>
                </a:ext>
              </a:extLst>
            </p:cNvPr>
            <p:cNvCxnSpPr>
              <a:cxnSpLocks/>
            </p:cNvCxnSpPr>
            <p:nvPr/>
          </p:nvCxnSpPr>
          <p:spPr>
            <a:xfrm>
              <a:off x="1945073" y="3448329"/>
              <a:ext cx="1204911" cy="211472"/>
            </a:xfrm>
            <a:prstGeom prst="bentConnector3">
              <a:avLst>
                <a:gd name="adj1" fmla="val -791"/>
              </a:avLst>
            </a:prstGeom>
            <a:grp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nector: Elbow 25">
              <a:extLst>
                <a:ext uri="{FF2B5EF4-FFF2-40B4-BE49-F238E27FC236}">
                  <a16:creationId xmlns:a16="http://schemas.microsoft.com/office/drawing/2014/main" id="{0671B995-80B6-5B10-704C-09952C6C21EE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08517" y="3408600"/>
              <a:ext cx="285151" cy="145465"/>
            </a:xfrm>
            <a:prstGeom prst="bentConnector3">
              <a:avLst>
                <a:gd name="adj1" fmla="val 3235"/>
              </a:avLst>
            </a:prstGeom>
            <a:grp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or: Elbow 26">
              <a:extLst>
                <a:ext uri="{FF2B5EF4-FFF2-40B4-BE49-F238E27FC236}">
                  <a16:creationId xmlns:a16="http://schemas.microsoft.com/office/drawing/2014/main" id="{7A7E1D2E-F90B-4932-FAED-73B0761B02D5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12821" y="3443748"/>
              <a:ext cx="1204911" cy="211472"/>
            </a:xfrm>
            <a:prstGeom prst="bentConnector3">
              <a:avLst>
                <a:gd name="adj1" fmla="val -791"/>
              </a:avLst>
            </a:prstGeom>
            <a:grp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721877F-35E3-E995-9134-C974B7FD91B6}"/>
              </a:ext>
            </a:extLst>
          </p:cNvPr>
          <p:cNvCxnSpPr>
            <a:cxnSpLocks/>
          </p:cNvCxnSpPr>
          <p:nvPr/>
        </p:nvCxnSpPr>
        <p:spPr>
          <a:xfrm>
            <a:off x="3331163" y="4387850"/>
            <a:ext cx="0" cy="348097"/>
          </a:xfrm>
          <a:prstGeom prst="straightConnector1">
            <a:avLst/>
          </a:prstGeom>
          <a:ln w="12700">
            <a:solidFill>
              <a:schemeClr val="bg1">
                <a:lumMod val="8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E46C99C1-D364-3D50-5896-88147ABC81DF}"/>
              </a:ext>
            </a:extLst>
          </p:cNvPr>
          <p:cNvSpPr/>
          <p:nvPr/>
        </p:nvSpPr>
        <p:spPr>
          <a:xfrm>
            <a:off x="2532347" y="4752498"/>
            <a:ext cx="1593806" cy="43979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Weighted Aggregation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AC6FFFB-FA4A-BDE4-7E9D-772B3E9980BD}"/>
              </a:ext>
            </a:extLst>
          </p:cNvPr>
          <p:cNvSpPr/>
          <p:nvPr/>
        </p:nvSpPr>
        <p:spPr>
          <a:xfrm>
            <a:off x="2534260" y="5427247"/>
            <a:ext cx="1593806" cy="43979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Sort + Top-N + Final Output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3C20C09E-B534-B38C-2C28-87942AE8F16B}"/>
              </a:ext>
            </a:extLst>
          </p:cNvPr>
          <p:cNvSpPr/>
          <p:nvPr/>
        </p:nvSpPr>
        <p:spPr>
          <a:xfrm>
            <a:off x="2532347" y="6094969"/>
            <a:ext cx="1593806" cy="43979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Json response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AF1E586C-A2E3-6B36-E657-BF3B79C93128}"/>
              </a:ext>
            </a:extLst>
          </p:cNvPr>
          <p:cNvGrpSpPr/>
          <p:nvPr/>
        </p:nvGrpSpPr>
        <p:grpSpPr>
          <a:xfrm>
            <a:off x="2341726" y="1413742"/>
            <a:ext cx="1975048" cy="775299"/>
            <a:chOff x="10490" y="2427201"/>
            <a:chExt cx="1033571" cy="775299"/>
          </a:xfrm>
          <a:solidFill>
            <a:schemeClr val="bg1">
              <a:lumMod val="95000"/>
            </a:schemeClr>
          </a:solidFill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054FB9E8-EB0D-E687-91E8-486D7E07EB68}"/>
                </a:ext>
              </a:extLst>
            </p:cNvPr>
            <p:cNvSpPr/>
            <p:nvPr/>
          </p:nvSpPr>
          <p:spPr>
            <a:xfrm>
              <a:off x="10490" y="2427201"/>
              <a:ext cx="1033571" cy="775299"/>
            </a:xfrm>
            <a:prstGeom prst="rect">
              <a:avLst/>
            </a:prstGeom>
            <a:grp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8E653140-F199-FCC1-522E-9EF9328D6F17}"/>
                </a:ext>
              </a:extLst>
            </p:cNvPr>
            <p:cNvSpPr/>
            <p:nvPr/>
          </p:nvSpPr>
          <p:spPr>
            <a:xfrm>
              <a:off x="101747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chemeClr val="bg1">
                      <a:lumMod val="85000"/>
                    </a:schemeClr>
                  </a:solidFill>
                  <a:latin typeface="Poppins Light"/>
                  <a:cs typeface="Sarabun Light"/>
                </a:rPr>
                <a:t>scores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2C495739-3F64-0FEA-B889-5B1332B253E4}"/>
                </a:ext>
              </a:extLst>
            </p:cNvPr>
            <p:cNvSpPr txBox="1"/>
            <p:nvPr/>
          </p:nvSpPr>
          <p:spPr>
            <a:xfrm>
              <a:off x="97803" y="2437180"/>
              <a:ext cx="876269" cy="261610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>
                  <a:solidFill>
                    <a:schemeClr val="bg1">
                      <a:lumMod val="85000"/>
                    </a:schemeClr>
                  </a:solidFill>
                </a:rPr>
                <a:t>Inputs</a:t>
              </a:r>
              <a:endParaRPr lang="en-US" sz="1050" dirty="0">
                <a:solidFill>
                  <a:schemeClr val="bg1">
                    <a:lumMod val="85000"/>
                  </a:schemeClr>
                </a:solidFill>
              </a:endParaRPr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33EB73EF-A773-C87D-93AC-B2A71A3A0BB0}"/>
                </a:ext>
              </a:extLst>
            </p:cNvPr>
            <p:cNvSpPr/>
            <p:nvPr/>
          </p:nvSpPr>
          <p:spPr>
            <a:xfrm>
              <a:off x="556345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 algn="ctr">
                <a:defRPr/>
              </a:pPr>
              <a:r>
                <a:rPr lang="en-US" sz="1000" dirty="0">
                  <a:solidFill>
                    <a:schemeClr val="bg1">
                      <a:lumMod val="85000"/>
                    </a:schemeClr>
                  </a:solidFill>
                  <a:latin typeface="Poppins Light"/>
                  <a:cs typeface="Sarabun Light"/>
                </a:rPr>
                <a:t>feed_id</a:t>
              </a:r>
              <a:endParaRPr lang="en-TH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endParaRPr>
            </a:p>
          </p:txBody>
        </p:sp>
      </p:grp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5FD0A83-870B-E936-C7F5-A373584FD1D5}"/>
              </a:ext>
            </a:extLst>
          </p:cNvPr>
          <p:cNvCxnSpPr>
            <a:cxnSpLocks/>
          </p:cNvCxnSpPr>
          <p:nvPr/>
        </p:nvCxnSpPr>
        <p:spPr>
          <a:xfrm flipH="1">
            <a:off x="3329250" y="2233306"/>
            <a:ext cx="1" cy="159346"/>
          </a:xfrm>
          <a:prstGeom prst="straightConnector1">
            <a:avLst/>
          </a:prstGeom>
          <a:ln w="12700">
            <a:solidFill>
              <a:schemeClr val="bg1">
                <a:lumMod val="8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Title 1">
            <a:extLst>
              <a:ext uri="{FF2B5EF4-FFF2-40B4-BE49-F238E27FC236}">
                <a16:creationId xmlns:a16="http://schemas.microsoft.com/office/drawing/2014/main" id="{12B1F7B6-FAA9-E8BD-F69D-FBCA3E243391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 err="1"/>
              <a:t>Subscore</a:t>
            </a:r>
            <a:endParaRPr lang="en-US" sz="2400" dirty="0">
              <a:cs typeface="Poppins Light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EE37186-0D62-A9E3-4D9A-BA0040F672F3}"/>
              </a:ext>
            </a:extLst>
          </p:cNvPr>
          <p:cNvSpPr/>
          <p:nvPr/>
        </p:nvSpPr>
        <p:spPr>
          <a:xfrm>
            <a:off x="2532347" y="2430521"/>
            <a:ext cx="1593806" cy="37470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Seen feed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EDF6FC4-416F-5224-9EDF-F9B56799F972}"/>
              </a:ext>
            </a:extLst>
          </p:cNvPr>
          <p:cNvCxnSpPr>
            <a:cxnSpLocks/>
          </p:cNvCxnSpPr>
          <p:nvPr/>
        </p:nvCxnSpPr>
        <p:spPr>
          <a:xfrm flipH="1">
            <a:off x="3329250" y="2848554"/>
            <a:ext cx="1" cy="159346"/>
          </a:xfrm>
          <a:prstGeom prst="straightConnector1">
            <a:avLst/>
          </a:prstGeom>
          <a:ln w="12700">
            <a:solidFill>
              <a:schemeClr val="bg1">
                <a:lumMod val="8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CD5B87D-FA93-10B8-0FD9-FFDFA4A01B47}"/>
              </a:ext>
            </a:extLst>
          </p:cNvPr>
          <p:cNvCxnSpPr>
            <a:cxnSpLocks/>
          </p:cNvCxnSpPr>
          <p:nvPr/>
        </p:nvCxnSpPr>
        <p:spPr>
          <a:xfrm flipH="1">
            <a:off x="3325410" y="5901333"/>
            <a:ext cx="1" cy="159346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D79A134A-13C3-20B8-34BC-69FBDE915BB5}"/>
              </a:ext>
            </a:extLst>
          </p:cNvPr>
          <p:cNvCxnSpPr>
            <a:cxnSpLocks/>
          </p:cNvCxnSpPr>
          <p:nvPr/>
        </p:nvCxnSpPr>
        <p:spPr>
          <a:xfrm flipH="1">
            <a:off x="3325409" y="5215768"/>
            <a:ext cx="1" cy="159346"/>
          </a:xfrm>
          <a:prstGeom prst="straightConnector1">
            <a:avLst/>
          </a:prstGeom>
          <a:ln w="12700">
            <a:solidFill>
              <a:schemeClr val="bg1">
                <a:lumMod val="8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4" name="Picture 13">
            <a:extLst>
              <a:ext uri="{FF2B5EF4-FFF2-40B4-BE49-F238E27FC236}">
                <a16:creationId xmlns:a16="http://schemas.microsoft.com/office/drawing/2014/main" id="{64D587B4-2670-150B-D839-567084DE93D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4741" y="2516011"/>
            <a:ext cx="5128512" cy="20867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61039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D0A56D-39C0-94C1-830C-9F74D045F0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A88EE21B-1800-BF24-1B00-CE5B8DAE78D6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69245DA8-43F7-6258-9880-70CF09A150B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87525B69-13E3-0042-F6CC-6A3CB9665BB3}"/>
              </a:ext>
            </a:extLst>
          </p:cNvPr>
          <p:cNvSpPr/>
          <p:nvPr/>
        </p:nvSpPr>
        <p:spPr>
          <a:xfrm>
            <a:off x="638383" y="859879"/>
            <a:ext cx="1091119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4C4802CB-8647-31F4-30B3-BDE732F31296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sp>
        <p:nvSpPr>
          <p:cNvPr id="34" name="Title 1">
            <a:extLst>
              <a:ext uri="{FF2B5EF4-FFF2-40B4-BE49-F238E27FC236}">
                <a16:creationId xmlns:a16="http://schemas.microsoft.com/office/drawing/2014/main" id="{43E17CB6-EAE6-983B-B6D6-9CC8F53CE6E6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 err="1"/>
              <a:t>Subscore</a:t>
            </a:r>
            <a:endParaRPr lang="en-US" sz="2400" dirty="0">
              <a:cs typeface="Poppins Light"/>
            </a:endParaRPr>
          </a:p>
        </p:txBody>
      </p:sp>
      <p:graphicFrame>
        <p:nvGraphicFramePr>
          <p:cNvPr id="30" name="Table 29">
            <a:extLst>
              <a:ext uri="{FF2B5EF4-FFF2-40B4-BE49-F238E27FC236}">
                <a16:creationId xmlns:a16="http://schemas.microsoft.com/office/drawing/2014/main" id="{6176F6CD-C0FD-BAA8-A7B7-36B103E93C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7930058"/>
              </p:ext>
            </p:extLst>
          </p:nvPr>
        </p:nvGraphicFramePr>
        <p:xfrm>
          <a:off x="1026258" y="1519238"/>
          <a:ext cx="10045016" cy="411267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05183">
                  <a:extLst>
                    <a:ext uri="{9D8B030D-6E8A-4147-A177-3AD203B41FA5}">
                      <a16:colId xmlns:a16="http://schemas.microsoft.com/office/drawing/2014/main" val="2037621651"/>
                    </a:ext>
                  </a:extLst>
                </a:gridCol>
                <a:gridCol w="3356720">
                  <a:extLst>
                    <a:ext uri="{9D8B030D-6E8A-4147-A177-3AD203B41FA5}">
                      <a16:colId xmlns:a16="http://schemas.microsoft.com/office/drawing/2014/main" val="2900664575"/>
                    </a:ext>
                  </a:extLst>
                </a:gridCol>
                <a:gridCol w="1039285">
                  <a:extLst>
                    <a:ext uri="{9D8B030D-6E8A-4147-A177-3AD203B41FA5}">
                      <a16:colId xmlns:a16="http://schemas.microsoft.com/office/drawing/2014/main" val="1415045291"/>
                    </a:ext>
                  </a:extLst>
                </a:gridCol>
                <a:gridCol w="1223673">
                  <a:extLst>
                    <a:ext uri="{9D8B030D-6E8A-4147-A177-3AD203B41FA5}">
                      <a16:colId xmlns:a16="http://schemas.microsoft.com/office/drawing/2014/main" val="2488475141"/>
                    </a:ext>
                  </a:extLst>
                </a:gridCol>
                <a:gridCol w="905183">
                  <a:extLst>
                    <a:ext uri="{9D8B030D-6E8A-4147-A177-3AD203B41FA5}">
                      <a16:colId xmlns:a16="http://schemas.microsoft.com/office/drawing/2014/main" val="2542184550"/>
                    </a:ext>
                  </a:extLst>
                </a:gridCol>
                <a:gridCol w="2614972">
                  <a:extLst>
                    <a:ext uri="{9D8B030D-6E8A-4147-A177-3AD203B41FA5}">
                      <a16:colId xmlns:a16="http://schemas.microsoft.com/office/drawing/2014/main" val="944804912"/>
                    </a:ext>
                  </a:extLst>
                </a:gridCol>
              </a:tblGrid>
              <a:tr h="50651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Test ID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Description</a:t>
                      </a:r>
                      <a:endParaRPr lang="en-US" sz="16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Method</a:t>
                      </a:r>
                      <a:endParaRPr lang="en-US" sz="16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Type</a:t>
                      </a:r>
                      <a:endParaRPr lang="en-US" sz="16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Result</a:t>
                      </a:r>
                      <a:endParaRPr lang="en-US" sz="16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Evidence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5354368"/>
                  </a:ext>
                </a:extLst>
              </a:tr>
              <a:tr h="41773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5.1.1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Scorer (</a:t>
                      </a:r>
                      <a:r>
                        <a:rPr lang="en-US" sz="1400" u="none" strike="noStrike" dirty="0" err="1">
                          <a:effectLst/>
                        </a:rPr>
                        <a:t>user_state</a:t>
                      </a:r>
                      <a:r>
                        <a:rPr lang="en-US" sz="1400" u="none" strike="noStrike" dirty="0">
                          <a:effectLst/>
                        </a:rPr>
                        <a:t>, candidates) E2E contract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PyTest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Contract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solidFill>
                            <a:schemeClr val="accent3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PASS</a:t>
                      </a:r>
                      <a:endParaRPr lang="en-US" sz="1400" b="0" i="0" u="none" strike="noStrike"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test_5_1_scorer_contract.py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rial Unicode MS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29921038"/>
                  </a:ext>
                </a:extLst>
              </a:tr>
              <a:tr h="39052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5.1.2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return_debug=False production shape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PyTest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Contract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solidFill>
                            <a:schemeClr val="accent3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PASS</a:t>
                      </a:r>
                      <a:endParaRPr lang="en-US" sz="1400" b="0" i="0" u="none" strike="noStrike"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test_5_1_scorer_contract.py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rial Unicode MS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433190204"/>
                  </a:ext>
                </a:extLst>
              </a:tr>
              <a:tr h="39052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5.1.3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Deterministic same input → same output</a:t>
                      </a:r>
                    </a:p>
                    <a:p>
                      <a:pPr algn="l" fontAlgn="ctr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* Decimal issue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PyTest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Determinism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solidFill>
                            <a:schemeClr val="accent3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PASS</a:t>
                      </a:r>
                      <a:endParaRPr lang="en-US" sz="1400" b="0" i="0" u="none" strike="noStrike"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test_5_1_scorer_contract.py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rial Unicode MS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554259327"/>
                  </a:ext>
                </a:extLst>
              </a:tr>
              <a:tr h="39052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5.2.1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Popularity log formula correct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PyTest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Unit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solidFill>
                            <a:schemeClr val="accent3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PASS</a:t>
                      </a:r>
                      <a:endParaRPr lang="en-US" sz="1400" b="0" i="0" u="none" strike="noStrike"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test_5_2_popularity.py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rial Unicode MS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525710613"/>
                  </a:ext>
                </a:extLst>
              </a:tr>
              <a:tr h="39052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5.2.2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Recency exponential decay correct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PyTest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Unit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solidFill>
                            <a:schemeClr val="accent3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PASS</a:t>
                      </a:r>
                      <a:endParaRPr lang="en-US" sz="1400" b="0" i="0" u="none" strike="noStrike"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test_5_2_recency.py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rial Unicode MS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97415028"/>
                  </a:ext>
                </a:extLst>
              </a:tr>
              <a:tr h="39052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5.2.3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YAML weight change deterministic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PyTest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Aggregation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solidFill>
                            <a:schemeClr val="accent3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PASS</a:t>
                      </a:r>
                      <a:endParaRPr lang="en-US" sz="1400" b="0" i="0" u="none" strike="noStrike"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test_5_2_yaml_determinism.py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rial Unicode MS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245155755"/>
                  </a:ext>
                </a:extLst>
              </a:tr>
              <a:tr h="39052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5.3.1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Tie-breaker stable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PyTest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Ranking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solidFill>
                            <a:schemeClr val="accent3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PASS</a:t>
                      </a:r>
                      <a:endParaRPr lang="en-US" sz="1400" b="0" i="0" u="none" strike="noStrike"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test_5_3_tie_breakers.py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rial Unicode MS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576113501"/>
                  </a:ext>
                </a:extLst>
              </a:tr>
              <a:tr h="39052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5.3.2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Post-processing preserves order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PyTest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Ranking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solidFill>
                            <a:schemeClr val="accent3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PASS</a:t>
                      </a:r>
                      <a:endParaRPr lang="en-US" sz="1400" b="0" i="0" u="none" strike="noStrike"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test_5_3_post_processing.py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rial Unicode MS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032195540"/>
                  </a:ext>
                </a:extLst>
              </a:tr>
              <a:tr h="39052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5.3.3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 dirty="0" err="1">
                          <a:effectLst/>
                        </a:rPr>
                        <a:t>NaN</a:t>
                      </a:r>
                      <a:r>
                        <a:rPr lang="en-US" sz="1400" u="none" strike="noStrike" dirty="0">
                          <a:effectLst/>
                        </a:rPr>
                        <a:t> safety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PyTest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Robustness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solidFill>
                            <a:schemeClr val="accent3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PASS</a:t>
                      </a:r>
                      <a:endParaRPr lang="en-US" sz="1400" b="0" i="0" u="none" strike="noStrike" dirty="0"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test_5_3_nan_safety.py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rial Unicode MS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6860847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258860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41B3AE-9A8C-1615-95BF-BCF931FF11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C02A7BE0-75C2-E804-F75B-0B2F7BBCD3E1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A88EE21B-1800-BF24-1B00-CE5B8DAE78D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F97D41D3-CD3C-9BA2-D757-C6C61AF85FA6}"/>
              </a:ext>
            </a:extLst>
          </p:cNvPr>
          <p:cNvSpPr/>
          <p:nvPr/>
        </p:nvSpPr>
        <p:spPr>
          <a:xfrm>
            <a:off x="638383" y="859879"/>
            <a:ext cx="1091119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1B0B7017-8B44-9A38-68FB-879B15C90118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sp>
        <p:nvSpPr>
          <p:cNvPr id="34" name="Title 1">
            <a:extLst>
              <a:ext uri="{FF2B5EF4-FFF2-40B4-BE49-F238E27FC236}">
                <a16:creationId xmlns:a16="http://schemas.microsoft.com/office/drawing/2014/main" id="{8E853F2B-8F31-73A4-8AB8-995E4206B53C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 err="1"/>
              <a:t>Subscore</a:t>
            </a:r>
            <a:endParaRPr lang="en-US" sz="2400" dirty="0">
              <a:cs typeface="Poppins Light"/>
            </a:endParaRP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74BD5F28-4E11-6F2E-ABB9-0029FB9F72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8991229"/>
              </p:ext>
            </p:extLst>
          </p:nvPr>
        </p:nvGraphicFramePr>
        <p:xfrm>
          <a:off x="1205414" y="1405048"/>
          <a:ext cx="6527800" cy="40479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85800">
                  <a:extLst>
                    <a:ext uri="{9D8B030D-6E8A-4147-A177-3AD203B41FA5}">
                      <a16:colId xmlns:a16="http://schemas.microsoft.com/office/drawing/2014/main" val="1754294280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2663420427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123571041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1130218765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1751778116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1206327478"/>
                    </a:ext>
                  </a:extLst>
                </a:gridCol>
              </a:tblGrid>
              <a:tr h="49244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Run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Top1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Top2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Top3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Top4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Top5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3428641"/>
                  </a:ext>
                </a:extLst>
              </a:tr>
              <a:tr h="54512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1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EN_F028 </a:t>
                      </a:r>
                      <a:br>
                        <a:rPr lang="en-US" sz="1400" u="none" strike="noStrike" dirty="0">
                          <a:effectLst/>
                        </a:rPr>
                      </a:br>
                      <a:r>
                        <a:rPr lang="en-US" sz="1400" u="none" strike="noStrike" dirty="0">
                          <a:effectLst/>
                        </a:rPr>
                        <a:t>(0.66477)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TH_F005 </a:t>
                      </a:r>
                      <a:br>
                        <a:rPr lang="en-US" sz="1400" u="none" strike="noStrike" dirty="0">
                          <a:effectLst/>
                        </a:rPr>
                      </a:br>
                      <a:r>
                        <a:rPr lang="en-US" sz="1400" u="none" strike="noStrike" dirty="0">
                          <a:effectLst/>
                        </a:rPr>
                        <a:t>(</a:t>
                      </a:r>
                      <a:r>
                        <a:rPr lang="en-US" sz="1400" u="none" strike="noStrike" dirty="0">
                          <a:solidFill>
                            <a:srgbClr val="E96060"/>
                          </a:solidFill>
                          <a:effectLst/>
                        </a:rPr>
                        <a:t>0.656778</a:t>
                      </a:r>
                      <a:r>
                        <a:rPr lang="en-US" sz="1400" u="none" strike="noStrike" dirty="0">
                          <a:effectLst/>
                        </a:rPr>
                        <a:t>)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EN_F027 </a:t>
                      </a:r>
                      <a:br>
                        <a:rPr lang="en-US" sz="1400" u="none" strike="noStrike" dirty="0">
                          <a:effectLst/>
                        </a:rPr>
                      </a:br>
                      <a:r>
                        <a:rPr lang="en-US" sz="1400" u="none" strike="noStrike" dirty="0">
                          <a:effectLst/>
                        </a:rPr>
                        <a:t>(0.639446)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EN_F029 </a:t>
                      </a:r>
                      <a:br>
                        <a:rPr lang="en-US" sz="1400" u="none" strike="noStrike">
                          <a:effectLst/>
                        </a:rPr>
                      </a:br>
                      <a:r>
                        <a:rPr lang="en-US" sz="1400" u="none" strike="noStrike">
                          <a:effectLst/>
                        </a:rPr>
                        <a:t>(0.636669)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TH_F013 </a:t>
                      </a:r>
                      <a:br>
                        <a:rPr lang="en-US" sz="1400" u="none" strike="noStrike">
                          <a:effectLst/>
                        </a:rPr>
                      </a:br>
                      <a:r>
                        <a:rPr lang="en-US" sz="1400" u="none" strike="noStrike">
                          <a:effectLst/>
                        </a:rPr>
                        <a:t>(0.634252)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958718905"/>
                  </a:ext>
                </a:extLst>
              </a:tr>
              <a:tr h="5064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2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EN_F028 </a:t>
                      </a:r>
                      <a:br>
                        <a:rPr lang="en-US" sz="1400" u="none" strike="noStrike" dirty="0">
                          <a:effectLst/>
                        </a:rPr>
                      </a:br>
                      <a:r>
                        <a:rPr lang="en-US" sz="1400" u="none" strike="noStrike" dirty="0">
                          <a:effectLst/>
                        </a:rPr>
                        <a:t>(0.66477)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TH_F005 </a:t>
                      </a:r>
                      <a:br>
                        <a:rPr lang="en-US" sz="1400" u="none" strike="noStrike" dirty="0">
                          <a:effectLst/>
                        </a:rPr>
                      </a:br>
                      <a:r>
                        <a:rPr lang="en-US" sz="1400" u="none" strike="noStrike" dirty="0">
                          <a:effectLst/>
                        </a:rPr>
                        <a:t>(0.656777)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EN_F027 </a:t>
                      </a:r>
                      <a:br>
                        <a:rPr lang="en-US" sz="1400" u="none" strike="noStrike" dirty="0">
                          <a:effectLst/>
                        </a:rPr>
                      </a:br>
                      <a:r>
                        <a:rPr lang="en-US" sz="1400" u="none" strike="noStrike" dirty="0">
                          <a:effectLst/>
                        </a:rPr>
                        <a:t>(0.639446)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EN_F029 </a:t>
                      </a:r>
                      <a:br>
                        <a:rPr lang="en-US" sz="1400" u="none" strike="noStrike">
                          <a:effectLst/>
                        </a:rPr>
                      </a:br>
                      <a:r>
                        <a:rPr lang="en-US" sz="1400" u="none" strike="noStrike">
                          <a:effectLst/>
                        </a:rPr>
                        <a:t>(0.636669)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TH_F013 </a:t>
                      </a:r>
                      <a:br>
                        <a:rPr lang="en-US" sz="1400" u="none" strike="noStrike">
                          <a:effectLst/>
                        </a:rPr>
                      </a:br>
                      <a:r>
                        <a:rPr lang="en-US" sz="1400" u="none" strike="noStrike">
                          <a:effectLst/>
                        </a:rPr>
                        <a:t>(0.634252)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010267749"/>
                  </a:ext>
                </a:extLst>
              </a:tr>
              <a:tr h="52050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3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EN_F028 </a:t>
                      </a:r>
                      <a:br>
                        <a:rPr lang="en-US" sz="1400" u="none" strike="noStrike" dirty="0">
                          <a:effectLst/>
                        </a:rPr>
                      </a:br>
                      <a:r>
                        <a:rPr lang="en-US" sz="1400" u="none" strike="noStrike" dirty="0">
                          <a:effectLst/>
                        </a:rPr>
                        <a:t>(0.66477)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TH_F005 </a:t>
                      </a:r>
                      <a:br>
                        <a:rPr lang="en-US" sz="1400" u="none" strike="noStrike" dirty="0">
                          <a:effectLst/>
                        </a:rPr>
                      </a:br>
                      <a:r>
                        <a:rPr lang="en-US" sz="1400" u="none" strike="noStrike" dirty="0">
                          <a:effectLst/>
                        </a:rPr>
                        <a:t>(0.656777)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EN_F027 </a:t>
                      </a:r>
                      <a:br>
                        <a:rPr lang="en-US" sz="1400" u="none" strike="noStrike" dirty="0">
                          <a:effectLst/>
                        </a:rPr>
                      </a:br>
                      <a:r>
                        <a:rPr lang="en-US" sz="1400" u="none" strike="noStrike" dirty="0">
                          <a:effectLst/>
                        </a:rPr>
                        <a:t>(0.639446)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EN_F029 </a:t>
                      </a:r>
                      <a:br>
                        <a:rPr lang="en-US" sz="1400" u="none" strike="noStrike">
                          <a:effectLst/>
                        </a:rPr>
                      </a:br>
                      <a:r>
                        <a:rPr lang="en-US" sz="1400" u="none" strike="noStrike">
                          <a:effectLst/>
                        </a:rPr>
                        <a:t>(0.636669)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TH_F013 </a:t>
                      </a:r>
                      <a:br>
                        <a:rPr lang="en-US" sz="1400" u="none" strike="noStrike">
                          <a:effectLst/>
                        </a:rPr>
                      </a:br>
                      <a:r>
                        <a:rPr lang="en-US" sz="1400" u="none" strike="noStrike">
                          <a:effectLst/>
                        </a:rPr>
                        <a:t>(0.634252)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243606185"/>
                  </a:ext>
                </a:extLst>
              </a:tr>
              <a:tr h="58029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4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EN_F028 </a:t>
                      </a:r>
                      <a:br>
                        <a:rPr lang="en-US" sz="1400" u="none" strike="noStrike" dirty="0">
                          <a:effectLst/>
                        </a:rPr>
                      </a:br>
                      <a:r>
                        <a:rPr lang="en-US" sz="1400" u="none" strike="noStrike" dirty="0">
                          <a:solidFill>
                            <a:srgbClr val="E96060"/>
                          </a:solidFill>
                          <a:effectLst/>
                        </a:rPr>
                        <a:t>(0.664769)</a:t>
                      </a:r>
                      <a:endParaRPr lang="en-US" sz="1400" b="0" i="0" u="none" strike="noStrike" dirty="0">
                        <a:solidFill>
                          <a:srgbClr val="E9606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TH_F005 </a:t>
                      </a:r>
                      <a:br>
                        <a:rPr lang="en-US" sz="1400" u="none" strike="noStrike" dirty="0">
                          <a:effectLst/>
                        </a:rPr>
                      </a:br>
                      <a:r>
                        <a:rPr lang="en-US" sz="1400" u="none" strike="noStrike" dirty="0">
                          <a:effectLst/>
                        </a:rPr>
                        <a:t>(0.656777)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EN_F027 </a:t>
                      </a:r>
                      <a:br>
                        <a:rPr lang="en-US" sz="1400" u="none" strike="noStrike" dirty="0">
                          <a:effectLst/>
                        </a:rPr>
                      </a:br>
                      <a:r>
                        <a:rPr lang="en-US" sz="1400" u="none" strike="noStrike" dirty="0">
                          <a:effectLst/>
                        </a:rPr>
                        <a:t>(0.639446)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EN_F029 </a:t>
                      </a:r>
                      <a:br>
                        <a:rPr lang="en-US" sz="1400" u="none" strike="noStrike" dirty="0">
                          <a:effectLst/>
                        </a:rPr>
                      </a:br>
                      <a:r>
                        <a:rPr lang="en-US" sz="1400" u="none" strike="noStrike" dirty="0">
                          <a:effectLst/>
                        </a:rPr>
                        <a:t>(</a:t>
                      </a:r>
                      <a:r>
                        <a:rPr lang="en-US" sz="1400" u="none" strike="noStrike" dirty="0">
                          <a:solidFill>
                            <a:srgbClr val="E96060"/>
                          </a:solidFill>
                          <a:effectLst/>
                        </a:rPr>
                        <a:t>0.636668</a:t>
                      </a:r>
                      <a:r>
                        <a:rPr lang="en-US" sz="1400" u="none" strike="noStrike" dirty="0">
                          <a:effectLst/>
                        </a:rPr>
                        <a:t>)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TH_F013 </a:t>
                      </a:r>
                      <a:br>
                        <a:rPr lang="en-US" sz="1400" u="none" strike="noStrike" dirty="0">
                          <a:effectLst/>
                        </a:rPr>
                      </a:br>
                      <a:r>
                        <a:rPr lang="en-US" sz="1400" u="none" strike="noStrike" dirty="0">
                          <a:effectLst/>
                        </a:rPr>
                        <a:t>(0.634252)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321330517"/>
                  </a:ext>
                </a:extLst>
              </a:tr>
              <a:tr h="390525">
                <a:tc gridSpan="6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…</a:t>
                      </a:r>
                    </a:p>
                  </a:txBody>
                  <a:tcPr marL="9525" marR="9525" marT="9525" marB="0" anchor="b"/>
                </a:tc>
                <a:tc hMerge="1"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 hMerge="1"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 hMerge="1"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 hMerge="1"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 hMerge="1"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165135039"/>
                  </a:ext>
                </a:extLst>
              </a:tr>
              <a:tr h="50629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10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EN_F028 </a:t>
                      </a:r>
                      <a:br>
                        <a:rPr lang="en-US" sz="1400" u="none" strike="noStrike" dirty="0">
                          <a:effectLst/>
                        </a:rPr>
                      </a:br>
                      <a:r>
                        <a:rPr lang="en-US" sz="1400" u="none" strike="noStrike" dirty="0">
                          <a:solidFill>
                            <a:srgbClr val="E96060"/>
                          </a:solidFill>
                          <a:effectLst/>
                        </a:rPr>
                        <a:t>(0.664768)</a:t>
                      </a:r>
                      <a:endParaRPr lang="en-US" sz="1400" b="0" i="0" u="none" strike="noStrike" dirty="0">
                        <a:solidFill>
                          <a:srgbClr val="E9606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TH_F005 </a:t>
                      </a:r>
                      <a:br>
                        <a:rPr lang="en-US" sz="1400" u="none" strike="noStrike" dirty="0">
                          <a:effectLst/>
                        </a:rPr>
                      </a:br>
                      <a:r>
                        <a:rPr lang="en-US" sz="1400" u="none" strike="noStrike" dirty="0">
                          <a:effectLst/>
                        </a:rPr>
                        <a:t>(</a:t>
                      </a:r>
                      <a:r>
                        <a:rPr lang="en-US" sz="1400" u="none" strike="noStrike" dirty="0">
                          <a:solidFill>
                            <a:srgbClr val="E96060"/>
                          </a:solidFill>
                          <a:effectLst/>
                        </a:rPr>
                        <a:t>0.656775</a:t>
                      </a:r>
                      <a:r>
                        <a:rPr lang="en-US" sz="1400" u="none" strike="noStrike" dirty="0">
                          <a:effectLst/>
                        </a:rPr>
                        <a:t>)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EN_F027 </a:t>
                      </a:r>
                      <a:br>
                        <a:rPr lang="en-US" sz="1400" u="none" strike="noStrike" dirty="0">
                          <a:effectLst/>
                        </a:rPr>
                      </a:br>
                      <a:r>
                        <a:rPr lang="en-US" sz="1400" u="none" strike="noStrike" dirty="0">
                          <a:effectLst/>
                        </a:rPr>
                        <a:t>(</a:t>
                      </a:r>
                      <a:r>
                        <a:rPr lang="en-US" sz="1400" u="none" strike="noStrike" dirty="0">
                          <a:solidFill>
                            <a:srgbClr val="E96060"/>
                          </a:solidFill>
                          <a:effectLst/>
                        </a:rPr>
                        <a:t>0.639444</a:t>
                      </a:r>
                      <a:r>
                        <a:rPr lang="en-US" sz="1400" u="none" strike="noStrike" dirty="0">
                          <a:effectLst/>
                        </a:rPr>
                        <a:t>)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EN_F029 </a:t>
                      </a:r>
                      <a:br>
                        <a:rPr lang="en-US" sz="1400" u="none" strike="noStrike" dirty="0">
                          <a:effectLst/>
                        </a:rPr>
                      </a:br>
                      <a:r>
                        <a:rPr lang="en-US" sz="1400" u="none" strike="noStrike" dirty="0">
                          <a:effectLst/>
                        </a:rPr>
                        <a:t>(</a:t>
                      </a:r>
                      <a:r>
                        <a:rPr lang="en-US" sz="1400" u="none" strike="noStrike" dirty="0">
                          <a:solidFill>
                            <a:srgbClr val="E96060"/>
                          </a:solidFill>
                          <a:effectLst/>
                        </a:rPr>
                        <a:t>0.636667</a:t>
                      </a:r>
                      <a:r>
                        <a:rPr lang="en-US" sz="1400" u="none" strike="noStrike" dirty="0">
                          <a:effectLst/>
                        </a:rPr>
                        <a:t>)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TH_F013 </a:t>
                      </a:r>
                      <a:br>
                        <a:rPr lang="en-US" sz="1400" u="none" strike="noStrike" dirty="0">
                          <a:effectLst/>
                        </a:rPr>
                      </a:br>
                      <a:r>
                        <a:rPr lang="en-US" sz="1400" u="none" strike="noStrike" dirty="0">
                          <a:effectLst/>
                        </a:rPr>
                        <a:t>(0.634252)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96371407"/>
                  </a:ext>
                </a:extLst>
              </a:tr>
              <a:tr h="50629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delta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dirty="0"/>
                        <a:t>-0.000002</a:t>
                      </a:r>
                      <a:endParaRPr lang="en-US" sz="1400" b="0" i="0" u="none" strike="noStrike" dirty="0">
                        <a:solidFill>
                          <a:srgbClr val="E9606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dirty="0"/>
                        <a:t>-0.000003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dirty="0"/>
                        <a:t>-0.000002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dirty="0"/>
                        <a:t>-0.000002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dirty="0"/>
                        <a:t>0.000000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447195395"/>
                  </a:ext>
                </a:extLst>
              </a:tr>
            </a:tbl>
          </a:graphicData>
        </a:graphic>
      </p:graphicFrame>
      <p:pic>
        <p:nvPicPr>
          <p:cNvPr id="9" name="Picture 8">
            <a:extLst>
              <a:ext uri="{FF2B5EF4-FFF2-40B4-BE49-F238E27FC236}">
                <a16:creationId xmlns:a16="http://schemas.microsoft.com/office/drawing/2014/main" id="{C4598034-6214-BE9C-43EB-372904486E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00244" y="859878"/>
            <a:ext cx="3097458" cy="583050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9E6CB60-B56B-B947-EF5B-218FDB31727B}"/>
              </a:ext>
            </a:extLst>
          </p:cNvPr>
          <p:cNvSpPr txBox="1"/>
          <p:nvPr/>
        </p:nvSpPr>
        <p:spPr>
          <a:xfrm>
            <a:off x="1205414" y="5813455"/>
            <a:ext cx="23558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Delta (</a:t>
            </a:r>
            <a:r>
              <a:rPr lang="el-GR" dirty="0"/>
              <a:t>Δ</a:t>
            </a:r>
            <a:r>
              <a:rPr lang="en-US" dirty="0"/>
              <a:t>) = ± 0.000003</a:t>
            </a:r>
          </a:p>
        </p:txBody>
      </p:sp>
    </p:spTree>
    <p:extLst>
      <p:ext uri="{BB962C8B-B14F-4D97-AF65-F5344CB8AC3E}">
        <p14:creationId xmlns:p14="http://schemas.microsoft.com/office/powerpoint/2010/main" val="73472100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B5B567-16CE-4951-AF74-895AAFBBF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9F0C8003-7EAA-D010-09AB-CB167965C43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A88EE21B-1800-BF24-1B00-CE5B8DAE78D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050BB317-3FD2-991B-6DA6-0F03278A3155}"/>
              </a:ext>
            </a:extLst>
          </p:cNvPr>
          <p:cNvSpPr/>
          <p:nvPr/>
        </p:nvSpPr>
        <p:spPr>
          <a:xfrm>
            <a:off x="638383" y="859879"/>
            <a:ext cx="1091119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373DEF70-889C-DD92-9A28-F006A0D173A7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sp>
        <p:nvSpPr>
          <p:cNvPr id="34" name="Title 1">
            <a:extLst>
              <a:ext uri="{FF2B5EF4-FFF2-40B4-BE49-F238E27FC236}">
                <a16:creationId xmlns:a16="http://schemas.microsoft.com/office/drawing/2014/main" id="{1CDAD33E-BE9A-655F-0831-BCB464FABEAB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 err="1"/>
              <a:t>Subscore</a:t>
            </a:r>
            <a:endParaRPr lang="en-US" sz="2400" dirty="0">
              <a:cs typeface="Poppins Light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69E9D63A-3F69-3820-8DBC-5C42F8168F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8614036"/>
              </p:ext>
            </p:extLst>
          </p:nvPr>
        </p:nvGraphicFramePr>
        <p:xfrm>
          <a:off x="1026258" y="1519238"/>
          <a:ext cx="10045015" cy="473599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85214">
                  <a:extLst>
                    <a:ext uri="{9D8B030D-6E8A-4147-A177-3AD203B41FA5}">
                      <a16:colId xmlns:a16="http://schemas.microsoft.com/office/drawing/2014/main" val="1071350764"/>
                    </a:ext>
                  </a:extLst>
                </a:gridCol>
                <a:gridCol w="1403701">
                  <a:extLst>
                    <a:ext uri="{9D8B030D-6E8A-4147-A177-3AD203B41FA5}">
                      <a16:colId xmlns:a16="http://schemas.microsoft.com/office/drawing/2014/main" val="1069737016"/>
                    </a:ext>
                  </a:extLst>
                </a:gridCol>
                <a:gridCol w="1430186">
                  <a:extLst>
                    <a:ext uri="{9D8B030D-6E8A-4147-A177-3AD203B41FA5}">
                      <a16:colId xmlns:a16="http://schemas.microsoft.com/office/drawing/2014/main" val="3444959649"/>
                    </a:ext>
                  </a:extLst>
                </a:gridCol>
                <a:gridCol w="1311003">
                  <a:extLst>
                    <a:ext uri="{9D8B030D-6E8A-4147-A177-3AD203B41FA5}">
                      <a16:colId xmlns:a16="http://schemas.microsoft.com/office/drawing/2014/main" val="1199745908"/>
                    </a:ext>
                  </a:extLst>
                </a:gridCol>
                <a:gridCol w="1403701">
                  <a:extLst>
                    <a:ext uri="{9D8B030D-6E8A-4147-A177-3AD203B41FA5}">
                      <a16:colId xmlns:a16="http://schemas.microsoft.com/office/drawing/2014/main" val="439349033"/>
                    </a:ext>
                  </a:extLst>
                </a:gridCol>
                <a:gridCol w="1623981">
                  <a:extLst>
                    <a:ext uri="{9D8B030D-6E8A-4147-A177-3AD203B41FA5}">
                      <a16:colId xmlns:a16="http://schemas.microsoft.com/office/drawing/2014/main" val="1113281984"/>
                    </a:ext>
                  </a:extLst>
                </a:gridCol>
                <a:gridCol w="1350556">
                  <a:extLst>
                    <a:ext uri="{9D8B030D-6E8A-4147-A177-3AD203B41FA5}">
                      <a16:colId xmlns:a16="http://schemas.microsoft.com/office/drawing/2014/main" val="2445969006"/>
                    </a:ext>
                  </a:extLst>
                </a:gridCol>
                <a:gridCol w="936673">
                  <a:extLst>
                    <a:ext uri="{9D8B030D-6E8A-4147-A177-3AD203B41FA5}">
                      <a16:colId xmlns:a16="http://schemas.microsoft.com/office/drawing/2014/main" val="1652998099"/>
                    </a:ext>
                  </a:extLst>
                </a:gridCol>
              </a:tblGrid>
              <a:tr h="50474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Run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u="none" strike="noStrike" dirty="0" err="1">
                          <a:effectLst/>
                        </a:rPr>
                        <a:t>load_params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u="none" strike="noStrike" dirty="0" err="1">
                          <a:effectLst/>
                        </a:rPr>
                        <a:t>extract_query</a:t>
                      </a:r>
                      <a:endParaRPr lang="en-US" sz="1600" u="none" strike="noStrike" dirty="0">
                        <a:effectLst/>
                      </a:endParaRPr>
                    </a:p>
                    <a:p>
                      <a:pPr algn="ctr" fontAlgn="ctr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weight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Vector</a:t>
                      </a:r>
                    </a:p>
                    <a:p>
                      <a:pPr algn="ctr" fontAlgn="ctr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retrieval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Exclude</a:t>
                      </a:r>
                    </a:p>
                    <a:p>
                      <a:pPr algn="ctr" fontAlgn="ctr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seen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Build</a:t>
                      </a:r>
                    </a:p>
                    <a:p>
                      <a:pPr algn="ctr" fontAlgn="ctr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candidate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Score</a:t>
                      </a:r>
                    </a:p>
                    <a:p>
                      <a:pPr algn="ctr" fontAlgn="ctr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aggregation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u="none" strike="noStrike" dirty="0" err="1">
                          <a:effectLst/>
                        </a:rPr>
                        <a:t>total_ms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7479023"/>
                  </a:ext>
                </a:extLst>
              </a:tr>
              <a:tr h="38465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1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2.857</a:t>
                      </a:r>
                      <a:endParaRPr lang="en-US" sz="1400" b="0" i="0" u="none" strike="noStrike" dirty="0">
                        <a:solidFill>
                          <a:srgbClr val="00B05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0.008</a:t>
                      </a:r>
                      <a:endParaRPr lang="en-US" sz="1400" b="0" i="0" u="none" strike="noStrike" dirty="0">
                        <a:solidFill>
                          <a:srgbClr val="00B05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solidFill>
                            <a:srgbClr val="C00000"/>
                          </a:solidFill>
                          <a:effectLst/>
                        </a:rPr>
                        <a:t>0.431</a:t>
                      </a:r>
                      <a:endParaRPr lang="en-US" sz="1400" b="0" i="0" u="none" strike="noStrike" dirty="0">
                        <a:solidFill>
                          <a:srgbClr val="C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solidFill>
                            <a:srgbClr val="C00000"/>
                          </a:solidFill>
                          <a:effectLst/>
                        </a:rPr>
                        <a:t>13.244</a:t>
                      </a:r>
                      <a:endParaRPr lang="en-US" sz="1400" b="0" i="0" u="none" strike="noStrike" dirty="0">
                        <a:solidFill>
                          <a:srgbClr val="C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solidFill>
                            <a:srgbClr val="C00000"/>
                          </a:solidFill>
                          <a:effectLst/>
                        </a:rPr>
                        <a:t>0.135</a:t>
                      </a:r>
                      <a:endParaRPr lang="en-US" sz="1400" b="0" i="0" u="none" strike="noStrike" dirty="0">
                        <a:solidFill>
                          <a:srgbClr val="C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2.012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solidFill>
                            <a:srgbClr val="C00000"/>
                          </a:solidFill>
                          <a:effectLst/>
                        </a:rPr>
                        <a:t>183.546</a:t>
                      </a:r>
                      <a:endParaRPr lang="en-US" sz="1400" b="0" i="0" u="none" strike="noStrike" dirty="0">
                        <a:solidFill>
                          <a:srgbClr val="C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extLst>
                  <a:ext uri="{0D108BD9-81ED-4DB2-BD59-A6C34878D82A}">
                    <a16:rowId xmlns:a16="http://schemas.microsoft.com/office/drawing/2014/main" val="2565680130"/>
                  </a:ext>
                </a:extLst>
              </a:tr>
              <a:tr h="38465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2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3.023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solidFill>
                            <a:srgbClr val="C00000"/>
                          </a:solidFill>
                          <a:effectLst/>
                        </a:rPr>
                        <a:t>0.024</a:t>
                      </a:r>
                      <a:endParaRPr lang="en-US" sz="1400" b="0" i="0" u="none" strike="noStrike" dirty="0">
                        <a:solidFill>
                          <a:srgbClr val="C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0.211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4.087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0.076</a:t>
                      </a:r>
                      <a:endParaRPr lang="en-US" sz="1400" b="0" i="0" u="none" strike="noStrike" dirty="0">
                        <a:solidFill>
                          <a:srgbClr val="00B05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1.399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126.233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extLst>
                  <a:ext uri="{0D108BD9-81ED-4DB2-BD59-A6C34878D82A}">
                    <a16:rowId xmlns:a16="http://schemas.microsoft.com/office/drawing/2014/main" val="1263465747"/>
                  </a:ext>
                </a:extLst>
              </a:tr>
              <a:tr h="38465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3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3.002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0.009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0.109</a:t>
                      </a:r>
                      <a:endParaRPr lang="en-US" sz="1400" b="0" i="0" u="none" strike="noStrike" dirty="0">
                        <a:solidFill>
                          <a:srgbClr val="00B05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3.91</a:t>
                      </a:r>
                      <a:endParaRPr lang="en-US" sz="1400" b="0" i="0" u="none" strike="noStrike" dirty="0">
                        <a:solidFill>
                          <a:srgbClr val="00B05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0.092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1.994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122.945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extLst>
                  <a:ext uri="{0D108BD9-81ED-4DB2-BD59-A6C34878D82A}">
                    <a16:rowId xmlns:a16="http://schemas.microsoft.com/office/drawing/2014/main" val="3833562975"/>
                  </a:ext>
                </a:extLst>
              </a:tr>
              <a:tr h="38465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4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2.933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0.009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0.113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4.01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0.101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1.527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119.943</a:t>
                      </a:r>
                      <a:endParaRPr lang="en-US" sz="1400" b="0" i="0" u="none" strike="noStrike" dirty="0">
                        <a:solidFill>
                          <a:srgbClr val="00B05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extLst>
                  <a:ext uri="{0D108BD9-81ED-4DB2-BD59-A6C34878D82A}">
                    <a16:rowId xmlns:a16="http://schemas.microsoft.com/office/drawing/2014/main" val="837989839"/>
                  </a:ext>
                </a:extLst>
              </a:tr>
              <a:tr h="38465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5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3.013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0.008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0.133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4.478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0.1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solidFill>
                            <a:srgbClr val="C00000"/>
                          </a:solidFill>
                          <a:effectLst/>
                        </a:rPr>
                        <a:t>2.244</a:t>
                      </a:r>
                      <a:endParaRPr lang="en-US" sz="1400" b="0" i="0" u="none" strike="noStrike" dirty="0">
                        <a:solidFill>
                          <a:srgbClr val="C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128.047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extLst>
                  <a:ext uri="{0D108BD9-81ED-4DB2-BD59-A6C34878D82A}">
                    <a16:rowId xmlns:a16="http://schemas.microsoft.com/office/drawing/2014/main" val="478943836"/>
                  </a:ext>
                </a:extLst>
              </a:tr>
              <a:tr h="38465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6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5.121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0.019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0.241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8.278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0.1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1.248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126.97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extLst>
                  <a:ext uri="{0D108BD9-81ED-4DB2-BD59-A6C34878D82A}">
                    <a16:rowId xmlns:a16="http://schemas.microsoft.com/office/drawing/2014/main" val="3465271455"/>
                  </a:ext>
                </a:extLst>
              </a:tr>
              <a:tr h="38465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7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solidFill>
                            <a:srgbClr val="C00000"/>
                          </a:solidFill>
                          <a:effectLst/>
                        </a:rPr>
                        <a:t>5.414</a:t>
                      </a:r>
                      <a:endParaRPr lang="en-US" sz="1400" b="0" i="0" u="none" strike="noStrike" dirty="0">
                        <a:solidFill>
                          <a:srgbClr val="C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0.022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0.243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8.259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0.078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1.093</a:t>
                      </a:r>
                      <a:endParaRPr lang="en-US" sz="1400" b="0" i="0" u="none" strike="noStrike" dirty="0">
                        <a:solidFill>
                          <a:srgbClr val="00B05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133.769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extLst>
                  <a:ext uri="{0D108BD9-81ED-4DB2-BD59-A6C34878D82A}">
                    <a16:rowId xmlns:a16="http://schemas.microsoft.com/office/drawing/2014/main" val="4184971512"/>
                  </a:ext>
                </a:extLst>
              </a:tr>
              <a:tr h="38465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8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4.277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0.021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0.241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7.845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0.098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1.375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131.184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extLst>
                  <a:ext uri="{0D108BD9-81ED-4DB2-BD59-A6C34878D82A}">
                    <a16:rowId xmlns:a16="http://schemas.microsoft.com/office/drawing/2014/main" val="1800033956"/>
                  </a:ext>
                </a:extLst>
              </a:tr>
              <a:tr h="38465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9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2.941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0.009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0.113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3.998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0.1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1.521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132.694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extLst>
                  <a:ext uri="{0D108BD9-81ED-4DB2-BD59-A6C34878D82A}">
                    <a16:rowId xmlns:a16="http://schemas.microsoft.com/office/drawing/2014/main" val="556283805"/>
                  </a:ext>
                </a:extLst>
              </a:tr>
              <a:tr h="38465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10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2.893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0.009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0.116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4.051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0.087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1.346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123.491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extLst>
                  <a:ext uri="{0D108BD9-81ED-4DB2-BD59-A6C34878D82A}">
                    <a16:rowId xmlns:a16="http://schemas.microsoft.com/office/drawing/2014/main" val="4081338078"/>
                  </a:ext>
                </a:extLst>
              </a:tr>
              <a:tr h="38465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avg</a:t>
                      </a: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3.5474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0.0138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0.1951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Aptos Narrow" panose="020B0004020202020204" pitchFamily="34" charset="0"/>
                        </a:rPr>
                        <a:t>6.216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Aptos Narrow" panose="020B0004020202020204" pitchFamily="34" charset="0"/>
                        </a:rPr>
                        <a:t>0.0967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1.5759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132.8822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22210205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6ABEE4D8-C2F1-F281-DE54-507BD14C160C}"/>
              </a:ext>
            </a:extLst>
          </p:cNvPr>
          <p:cNvSpPr txBox="1"/>
          <p:nvPr/>
        </p:nvSpPr>
        <p:spPr>
          <a:xfrm>
            <a:off x="9517141" y="7010400"/>
            <a:ext cx="2674859" cy="533340"/>
          </a:xfrm>
          <a:prstGeom prst="roundRect">
            <a:avLst>
              <a:gd name="adj" fmla="val 4406"/>
            </a:avLst>
          </a:prstGeom>
          <a:solidFill>
            <a:srgbClr val="FFD100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Goal all pipeline &lt; 1500 </a:t>
            </a:r>
            <a:r>
              <a:rPr lang="en-US" sz="1400" dirty="0" err="1">
                <a:latin typeface="Consolas" panose="020B0609020204030204" pitchFamily="49" charset="0"/>
              </a:rPr>
              <a:t>ms</a:t>
            </a:r>
            <a:endParaRPr lang="en-US" sz="14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4101427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50B99623-E537-28DB-A0E7-D30D679DCF6F}"/>
              </a:ext>
            </a:extLst>
          </p:cNvPr>
          <p:cNvSpPr txBox="1">
            <a:spLocks/>
          </p:cNvSpPr>
          <p:nvPr/>
        </p:nvSpPr>
        <p:spPr>
          <a:xfrm>
            <a:off x="479425" y="2444115"/>
            <a:ext cx="11233150" cy="984885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 algn="ctr"/>
            <a:r>
              <a:rPr lang="en-US" b="1" dirty="0"/>
              <a:t>Sprint review #11</a:t>
            </a:r>
            <a:br>
              <a:rPr lang="en-US" b="1" dirty="0"/>
            </a:br>
            <a:r>
              <a:rPr lang="en-US" b="1" dirty="0" err="1"/>
              <a:t>HyDE</a:t>
            </a:r>
            <a:r>
              <a:rPr lang="en-US" b="1" dirty="0"/>
              <a:t> feed recommendation</a:t>
            </a:r>
            <a:endParaRPr lang="en-US" sz="2400" b="1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5490DDD-7E8E-247C-74B9-4FE3AC5FC103}"/>
              </a:ext>
            </a:extLst>
          </p:cNvPr>
          <p:cNvSpPr txBox="1">
            <a:spLocks/>
          </p:cNvSpPr>
          <p:nvPr/>
        </p:nvSpPr>
        <p:spPr>
          <a:xfrm>
            <a:off x="152399" y="5233942"/>
            <a:ext cx="11820525" cy="1399037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>
              <a:lnSpc>
                <a:spcPct val="150000"/>
              </a:lnSpc>
            </a:pPr>
            <a:r>
              <a:rPr lang="en-US" sz="1100" b="1" dirty="0">
                <a:solidFill>
                  <a:schemeClr val="accent1">
                    <a:lumMod val="10000"/>
                  </a:schemeClr>
                </a:solidFill>
              </a:rPr>
              <a:t>API Spec Link : </a:t>
            </a:r>
            <a:endParaRPr lang="en-US" sz="1100" b="1" dirty="0">
              <a:solidFill>
                <a:srgbClr val="509BCA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1100" b="1" dirty="0">
                <a:solidFill>
                  <a:schemeClr val="accent1">
                    <a:lumMod val="10000"/>
                  </a:schemeClr>
                </a:solidFill>
              </a:rPr>
              <a:t>Orchestrator : </a:t>
            </a:r>
            <a:endParaRPr lang="en-US" sz="1100" b="1" dirty="0">
              <a:solidFill>
                <a:srgbClr val="509BCA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1100" b="1" dirty="0">
                <a:solidFill>
                  <a:schemeClr val="accent1">
                    <a:lumMod val="10000"/>
                  </a:schemeClr>
                </a:solidFill>
              </a:rPr>
              <a:t>API core evaluation link : </a:t>
            </a:r>
            <a:r>
              <a:rPr lang="en-US" sz="1100" b="1" dirty="0">
                <a:solidFill>
                  <a:srgbClr val="509BCA"/>
                </a:solidFill>
                <a:hlinkClick r:id="rId2"/>
              </a:rPr>
              <a:t>https://hyderecomment-service-v1-1-0-du7yhkyaqq-as.a.run.app/docs#/</a:t>
            </a:r>
            <a:endParaRPr lang="en-US" sz="1100" b="1" dirty="0">
              <a:solidFill>
                <a:srgbClr val="509BCA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1100" b="1" dirty="0" err="1">
                <a:solidFill>
                  <a:schemeClr val="accent1">
                    <a:lumMod val="10000"/>
                  </a:schemeClr>
                </a:solidFill>
              </a:rPr>
              <a:t>Github</a:t>
            </a:r>
            <a:r>
              <a:rPr lang="en-US" sz="1100" b="1" dirty="0">
                <a:solidFill>
                  <a:schemeClr val="accent1">
                    <a:lumMod val="10000"/>
                  </a:schemeClr>
                </a:solidFill>
              </a:rPr>
              <a:t> :</a:t>
            </a:r>
            <a:r>
              <a:rPr lang="en-US" sz="1100" b="1" dirty="0">
                <a:solidFill>
                  <a:srgbClr val="509BCA"/>
                </a:solidFill>
              </a:rPr>
              <a:t> </a:t>
            </a:r>
            <a:r>
              <a:rPr lang="en-US" sz="1100" b="1" dirty="0">
                <a:solidFill>
                  <a:srgbClr val="509BCA"/>
                </a:solidFill>
                <a:hlinkClick r:id="rId3"/>
              </a:rPr>
              <a:t>https://github.com/TunKedsaro/Hyde</a:t>
            </a:r>
            <a:endParaRPr lang="en-US" sz="1100" b="1" dirty="0">
              <a:solidFill>
                <a:srgbClr val="509BCA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1100" b="1" dirty="0"/>
              <a:t>QA</a:t>
            </a:r>
            <a:r>
              <a:rPr lang="en-US" sz="1100" b="1" dirty="0">
                <a:solidFill>
                  <a:srgbClr val="509BCA"/>
                </a:solidFill>
              </a:rPr>
              <a:t> : https://humanintelligence.atlassian.net/wiki/spaces/CPM/pages/134611027/QA+Test+Plan+CV+Evaluation+Pipeline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8149A64-A47C-1CE1-C334-674E36D15384}"/>
              </a:ext>
            </a:extLst>
          </p:cNvPr>
          <p:cNvSpPr txBox="1">
            <a:spLocks/>
          </p:cNvSpPr>
          <p:nvPr/>
        </p:nvSpPr>
        <p:spPr>
          <a:xfrm>
            <a:off x="152399" y="5933461"/>
            <a:ext cx="11820525" cy="229935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>
              <a:lnSpc>
                <a:spcPct val="150000"/>
              </a:lnSpc>
            </a:pPr>
            <a:endParaRPr lang="en-US" sz="1100">
              <a:solidFill>
                <a:srgbClr val="0432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108630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1D5DAC-2E9F-5C6F-72A9-6A8074DFBB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6D645CAD-80C7-AFC1-7403-2CEAC016EEBD}"/>
              </a:ext>
            </a:extLst>
          </p:cNvPr>
          <p:cNvSpPr/>
          <p:nvPr/>
        </p:nvSpPr>
        <p:spPr>
          <a:xfrm>
            <a:off x="2038350" y="1980000"/>
            <a:ext cx="8134350" cy="2953949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0AAEDCC-AA04-CFB8-4EC3-6BFDA2ECE189}"/>
              </a:ext>
            </a:extLst>
          </p:cNvPr>
          <p:cNvSpPr/>
          <p:nvPr/>
        </p:nvSpPr>
        <p:spPr>
          <a:xfrm>
            <a:off x="2133682" y="3196625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Prepare_history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DB8AEFEC-124E-8483-474F-4191CBBC0C18}"/>
              </a:ext>
            </a:extLst>
          </p:cNvPr>
          <p:cNvCxnSpPr>
            <a:cxnSpLocks/>
          </p:cNvCxnSpPr>
          <p:nvPr/>
        </p:nvCxnSpPr>
        <p:spPr>
          <a:xfrm>
            <a:off x="3589725" y="34290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6648FAF3-F094-EDCC-133F-E18927C4E719}"/>
              </a:ext>
            </a:extLst>
          </p:cNvPr>
          <p:cNvSpPr/>
          <p:nvPr/>
        </p:nvSpPr>
        <p:spPr>
          <a:xfrm>
            <a:off x="3962040" y="3196625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User_context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2585A12-8B61-3431-C660-97E3CFA7D30C}"/>
              </a:ext>
            </a:extLst>
          </p:cNvPr>
          <p:cNvCxnSpPr>
            <a:cxnSpLocks/>
          </p:cNvCxnSpPr>
          <p:nvPr/>
        </p:nvCxnSpPr>
        <p:spPr>
          <a:xfrm>
            <a:off x="5418083" y="34290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7369555D-22B2-9EE5-0E2F-35667972F63A}"/>
              </a:ext>
            </a:extLst>
          </p:cNvPr>
          <p:cNvSpPr/>
          <p:nvPr/>
        </p:nvSpPr>
        <p:spPr>
          <a:xfrm>
            <a:off x="5418083" y="408245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HyDE_prompt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0B9041C3-7521-8F16-40ED-179089D1A75B}"/>
              </a:ext>
            </a:extLst>
          </p:cNvPr>
          <p:cNvCxnSpPr>
            <a:cxnSpLocks/>
          </p:cNvCxnSpPr>
          <p:nvPr/>
        </p:nvCxnSpPr>
        <p:spPr>
          <a:xfrm>
            <a:off x="6395481" y="343795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C235D179-846F-9CAD-E670-8A1036314944}"/>
              </a:ext>
            </a:extLst>
          </p:cNvPr>
          <p:cNvSpPr/>
          <p:nvPr/>
        </p:nvSpPr>
        <p:spPr>
          <a:xfrm>
            <a:off x="5418083" y="227155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Llm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</a:t>
            </a: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_flast_2.5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DF94B03A-C1FF-2E2C-F232-1268ED3176E2}"/>
              </a:ext>
            </a:extLst>
          </p:cNvPr>
          <p:cNvCxnSpPr>
            <a:cxnSpLocks/>
          </p:cNvCxnSpPr>
          <p:nvPr/>
        </p:nvCxnSpPr>
        <p:spPr>
          <a:xfrm>
            <a:off x="6096000" y="2845400"/>
            <a:ext cx="0" cy="25775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B4DC5A0D-9AB4-8437-6B07-3079D3AB85B5}"/>
              </a:ext>
            </a:extLst>
          </p:cNvPr>
          <p:cNvCxnSpPr>
            <a:cxnSpLocks/>
          </p:cNvCxnSpPr>
          <p:nvPr/>
        </p:nvCxnSpPr>
        <p:spPr>
          <a:xfrm flipV="1">
            <a:off x="6096000" y="3747100"/>
            <a:ext cx="0" cy="25775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FE58974E-5EDD-27E2-3351-3EA4EFC4C18D}"/>
              </a:ext>
            </a:extLst>
          </p:cNvPr>
          <p:cNvSpPr/>
          <p:nvPr/>
        </p:nvSpPr>
        <p:spPr>
          <a:xfrm>
            <a:off x="6874126" y="317700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gemini-embedding-001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96B8B490-6B9D-0FE3-76D1-133FDACA02D7}"/>
              </a:ext>
            </a:extLst>
          </p:cNvPr>
          <p:cNvCxnSpPr>
            <a:cxnSpLocks/>
          </p:cNvCxnSpPr>
          <p:nvPr/>
        </p:nvCxnSpPr>
        <p:spPr>
          <a:xfrm>
            <a:off x="8330169" y="34290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4899C310-92E4-0A52-174B-70B6FA9B8C38}"/>
              </a:ext>
            </a:extLst>
          </p:cNvPr>
          <p:cNvSpPr/>
          <p:nvPr/>
        </p:nvSpPr>
        <p:spPr>
          <a:xfrm>
            <a:off x="8702484" y="317700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Embedded vector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505086C5-18C5-99AD-4C6D-1CDF8167FA4A}"/>
              </a:ext>
            </a:extLst>
          </p:cNvPr>
          <p:cNvSpPr/>
          <p:nvPr/>
        </p:nvSpPr>
        <p:spPr>
          <a:xfrm>
            <a:off x="5896850" y="3249475"/>
            <a:ext cx="398300" cy="398300"/>
          </a:xfrm>
          <a:prstGeom prst="ellipse">
            <a:avLst/>
          </a:prstGeom>
        </p:spPr>
        <p:style>
          <a:lnRef idx="1">
            <a:schemeClr val="dk1"/>
          </a:lnRef>
          <a:fillRef idx="1002">
            <a:schemeClr val="lt2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61522C35-B45E-A1A4-3B17-EC90A794CE8A}"/>
              </a:ext>
            </a:extLst>
          </p:cNvPr>
          <p:cNvSpPr/>
          <p:nvPr/>
        </p:nvSpPr>
        <p:spPr>
          <a:xfrm>
            <a:off x="213358" y="3200925"/>
            <a:ext cx="1355834" cy="5040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Interactions.csv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83C49D83-2E68-34FB-0EC5-0774FD903A79}"/>
              </a:ext>
            </a:extLst>
          </p:cNvPr>
          <p:cNvCxnSpPr>
            <a:cxnSpLocks/>
          </p:cNvCxnSpPr>
          <p:nvPr/>
        </p:nvCxnSpPr>
        <p:spPr>
          <a:xfrm>
            <a:off x="1669401" y="34333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Rectangle 46">
            <a:extLst>
              <a:ext uri="{FF2B5EF4-FFF2-40B4-BE49-F238E27FC236}">
                <a16:creationId xmlns:a16="http://schemas.microsoft.com/office/drawing/2014/main" id="{6EE2F411-EB9D-C466-A91F-CF2451029B18}"/>
              </a:ext>
            </a:extLst>
          </p:cNvPr>
          <p:cNvSpPr/>
          <p:nvPr/>
        </p:nvSpPr>
        <p:spPr>
          <a:xfrm>
            <a:off x="213358" y="3859025"/>
            <a:ext cx="1355834" cy="5040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Students.csv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DDDED7D5-2DDE-8F99-C83B-633E0328B2E0}"/>
              </a:ext>
            </a:extLst>
          </p:cNvPr>
          <p:cNvSpPr/>
          <p:nvPr/>
        </p:nvSpPr>
        <p:spPr>
          <a:xfrm>
            <a:off x="213358" y="2542825"/>
            <a:ext cx="1355834" cy="5040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feeds.jsonl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14975A39-AAFD-329C-1B94-647C51D2F91C}"/>
              </a:ext>
            </a:extLst>
          </p:cNvPr>
          <p:cNvSpPr/>
          <p:nvPr/>
        </p:nvSpPr>
        <p:spPr>
          <a:xfrm>
            <a:off x="10622808" y="2851150"/>
            <a:ext cx="1355834" cy="50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stu_p001.npy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DEE013BD-2041-63F7-A3E2-128661AA4FFD}"/>
              </a:ext>
            </a:extLst>
          </p:cNvPr>
          <p:cNvSpPr/>
          <p:nvPr/>
        </p:nvSpPr>
        <p:spPr>
          <a:xfrm>
            <a:off x="10622808" y="3509250"/>
            <a:ext cx="1355834" cy="50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stu_p001.json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73D66D51-F5EE-4A1E-3105-9938E6764CFB}"/>
              </a:ext>
            </a:extLst>
          </p:cNvPr>
          <p:cNvCxnSpPr>
            <a:cxnSpLocks/>
          </p:cNvCxnSpPr>
          <p:nvPr/>
        </p:nvCxnSpPr>
        <p:spPr>
          <a:xfrm>
            <a:off x="10239375" y="3428049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3AA605D3-3F52-AE84-0A94-1D8FCD23470E}"/>
              </a:ext>
            </a:extLst>
          </p:cNvPr>
          <p:cNvGrpSpPr/>
          <p:nvPr/>
        </p:nvGrpSpPr>
        <p:grpSpPr>
          <a:xfrm>
            <a:off x="10474617" y="5418270"/>
            <a:ext cx="1758365" cy="1333699"/>
            <a:chOff x="310230" y="5605659"/>
            <a:chExt cx="1758365" cy="1333699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A8DC7162-845C-C049-6F5A-0A28C8B9AE44}"/>
                </a:ext>
              </a:extLst>
            </p:cNvPr>
            <p:cNvGrpSpPr/>
            <p:nvPr/>
          </p:nvGrpSpPr>
          <p:grpSpPr>
            <a:xfrm>
              <a:off x="310231" y="5963091"/>
              <a:ext cx="1758364" cy="976267"/>
              <a:chOff x="10285063" y="608166"/>
              <a:chExt cx="1836174" cy="976267"/>
            </a:xfrm>
          </p:grpSpPr>
          <p:cxnSp>
            <p:nvCxnSpPr>
              <p:cNvPr id="6" name="Straight Arrow Connector 5">
                <a:extLst>
                  <a:ext uri="{FF2B5EF4-FFF2-40B4-BE49-F238E27FC236}">
                    <a16:creationId xmlns:a16="http://schemas.microsoft.com/office/drawing/2014/main" id="{4F0844B0-EB32-F897-59F8-DEDD922A602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285065" y="1544858"/>
                <a:ext cx="317488" cy="0"/>
              </a:xfrm>
              <a:prstGeom prst="straightConnector1">
                <a:avLst/>
              </a:prstGeom>
              <a:ln w="12700">
                <a:solidFill>
                  <a:srgbClr val="FF0000"/>
                </a:solidFill>
                <a:headEnd type="triangl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Rounded Rectangle 29">
                <a:extLst>
                  <a:ext uri="{FF2B5EF4-FFF2-40B4-BE49-F238E27FC236}">
                    <a16:creationId xmlns:a16="http://schemas.microsoft.com/office/drawing/2014/main" id="{3D96962B-5E93-D6FA-E57C-55DD43BAA659}"/>
                  </a:ext>
                </a:extLst>
              </p:cNvPr>
              <p:cNvSpPr/>
              <p:nvPr/>
            </p:nvSpPr>
            <p:spPr>
              <a:xfrm>
                <a:off x="10285065" y="892606"/>
                <a:ext cx="1541315" cy="211431"/>
              </a:xfrm>
              <a:prstGeom prst="roundRect">
                <a:avLst>
                  <a:gd name="adj" fmla="val 1282"/>
                </a:avLst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+mn-ea"/>
                    <a:cs typeface="Sarabun Light"/>
                  </a:rPr>
                  <a:t>Process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9" name="Rounded Rectangle 30">
                <a:extLst>
                  <a:ext uri="{FF2B5EF4-FFF2-40B4-BE49-F238E27FC236}">
                    <a16:creationId xmlns:a16="http://schemas.microsoft.com/office/drawing/2014/main" id="{38AB5593-E205-4255-15C0-D5E574917877}"/>
                  </a:ext>
                </a:extLst>
              </p:cNvPr>
              <p:cNvSpPr/>
              <p:nvPr/>
            </p:nvSpPr>
            <p:spPr>
              <a:xfrm>
                <a:off x="10285063" y="1167222"/>
                <a:ext cx="1541315" cy="228150"/>
              </a:xfrm>
              <a:prstGeom prst="roundRect">
                <a:avLst>
                  <a:gd name="adj" fmla="val 1282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1">
                        <a:lumMod val="10000"/>
                      </a:schemeClr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Output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1">
                      <a:lumMod val="10000"/>
                    </a:schemeClr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0" name="TextBox 37">
                <a:extLst>
                  <a:ext uri="{FF2B5EF4-FFF2-40B4-BE49-F238E27FC236}">
                    <a16:creationId xmlns:a16="http://schemas.microsoft.com/office/drawing/2014/main" id="{B71589B4-8A32-F032-4D19-A070FD6E4F92}"/>
                  </a:ext>
                </a:extLst>
              </p:cNvPr>
              <p:cNvSpPr txBox="1"/>
              <p:nvPr/>
            </p:nvSpPr>
            <p:spPr>
              <a:xfrm>
                <a:off x="10647876" y="1445934"/>
                <a:ext cx="1473361" cy="138499"/>
              </a:xfrm>
              <a:prstGeom prst="rect">
                <a:avLst/>
              </a:prstGeom>
              <a:noFill/>
            </p:spPr>
            <p:txBody>
              <a:bodyPr wrap="square" lIns="36000" tIns="0" rIns="0" bIns="0" rtlCol="0" anchor="ctr">
                <a:spAutoFit/>
              </a:bodyPr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Process</a:t>
                </a:r>
                <a:endParaRPr kumimoji="0" lang="en-TH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2" name="Rounded Rectangle 40">
                <a:extLst>
                  <a:ext uri="{FF2B5EF4-FFF2-40B4-BE49-F238E27FC236}">
                    <a16:creationId xmlns:a16="http://schemas.microsoft.com/office/drawing/2014/main" id="{F2BC0BD0-6819-8468-8FD5-A9782311D04F}"/>
                  </a:ext>
                </a:extLst>
              </p:cNvPr>
              <p:cNvSpPr/>
              <p:nvPr/>
            </p:nvSpPr>
            <p:spPr>
              <a:xfrm>
                <a:off x="10285064" y="608166"/>
                <a:ext cx="1541315" cy="211025"/>
              </a:xfrm>
              <a:prstGeom prst="roundRect">
                <a:avLst>
                  <a:gd name="adj" fmla="val 1282"/>
                </a:avLst>
              </a:prstGeom>
              <a:solidFill>
                <a:schemeClr val="tx2">
                  <a:lumMod val="25000"/>
                  <a:lumOff val="75000"/>
                </a:schemeClr>
              </a:solidFill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1">
                <a:schemeClr val="accent6"/>
              </a:lnRef>
              <a:fillRef idx="3">
                <a:schemeClr val="accent6"/>
              </a:fillRef>
              <a:effectRef idx="2">
                <a:schemeClr val="accent6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Input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</p:grpSp>
        <p:sp>
          <p:nvSpPr>
            <p:cNvPr id="5" name="TextBox 12">
              <a:extLst>
                <a:ext uri="{FF2B5EF4-FFF2-40B4-BE49-F238E27FC236}">
                  <a16:creationId xmlns:a16="http://schemas.microsoft.com/office/drawing/2014/main" id="{EB21E330-A43D-3348-645A-88328EBF3198}"/>
                </a:ext>
              </a:extLst>
            </p:cNvPr>
            <p:cNvSpPr txBox="1"/>
            <p:nvPr/>
          </p:nvSpPr>
          <p:spPr>
            <a:xfrm>
              <a:off x="310230" y="5605659"/>
              <a:ext cx="141092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TH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rPr>
                <a:t>Legend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96FC09C4-5DA0-9140-E3A2-3EEA4BAD9944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248466367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ED56AB-14C7-2361-D224-32409E84F3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6BCDDC-8915-19EF-4FC2-ADB45C4EF110}"/>
              </a:ext>
            </a:extLst>
          </p:cNvPr>
          <p:cNvSpPr txBox="1">
            <a:spLocks/>
          </p:cNvSpPr>
          <p:nvPr/>
        </p:nvSpPr>
        <p:spPr>
          <a:xfrm>
            <a:off x="365759" y="394952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  <p:sp>
        <p:nvSpPr>
          <p:cNvPr id="7" name="TextBox 2">
            <a:hlinkClick r:id="rId2"/>
            <a:extLst>
              <a:ext uri="{FF2B5EF4-FFF2-40B4-BE49-F238E27FC236}">
                <a16:creationId xmlns:a16="http://schemas.microsoft.com/office/drawing/2014/main" id="{9944DF89-2799-D6A5-E1EB-AEC6FB3CC2E3}"/>
              </a:ext>
            </a:extLst>
          </p:cNvPr>
          <p:cNvSpPr txBox="1"/>
          <p:nvPr/>
        </p:nvSpPr>
        <p:spPr>
          <a:xfrm>
            <a:off x="522317" y="6124494"/>
            <a:ext cx="3830608" cy="338554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 err="1">
                <a:solidFill>
                  <a:schemeClr val="tx1"/>
                </a:solidFill>
              </a:rPr>
              <a:t>HyDE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recommentdation</a:t>
            </a:r>
            <a:r>
              <a:rPr lang="en-US" sz="1600" dirty="0">
                <a:solidFill>
                  <a:schemeClr val="tx1"/>
                </a:solidFill>
              </a:rPr>
              <a:t> core engine API</a:t>
            </a:r>
          </a:p>
        </p:txBody>
      </p:sp>
      <p:sp>
        <p:nvSpPr>
          <p:cNvPr id="11" name="TextBox 2">
            <a:hlinkClick r:id="rId3"/>
            <a:extLst>
              <a:ext uri="{FF2B5EF4-FFF2-40B4-BE49-F238E27FC236}">
                <a16:creationId xmlns:a16="http://schemas.microsoft.com/office/drawing/2014/main" id="{B92AA9E9-0735-3C75-510D-B51CA42FD424}"/>
              </a:ext>
            </a:extLst>
          </p:cNvPr>
          <p:cNvSpPr txBox="1"/>
          <p:nvPr/>
        </p:nvSpPr>
        <p:spPr>
          <a:xfrm>
            <a:off x="522317" y="6463048"/>
            <a:ext cx="4331464" cy="338554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>
                <a:solidFill>
                  <a:schemeClr val="tx1"/>
                </a:solidFill>
              </a:rPr>
              <a:t>GCS / </a:t>
            </a:r>
            <a:r>
              <a:rPr lang="en-US" sz="1600" dirty="0" err="1">
                <a:solidFill>
                  <a:schemeClr val="tx1"/>
                </a:solidFill>
              </a:rPr>
              <a:t>hyde-datalake</a:t>
            </a:r>
            <a:r>
              <a:rPr lang="en-US" sz="1600" dirty="0">
                <a:solidFill>
                  <a:schemeClr val="tx1"/>
                </a:solidFill>
              </a:rPr>
              <a:t> (Test)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9F1C03FF-9FB0-C786-170E-329FC0AED9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85666" y="1063171"/>
            <a:ext cx="9144000" cy="49130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22549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73BD75-4AAE-A967-9FE8-90EB5CE93D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D2233A-7CE8-2E0A-05C7-B12CEF4AA6BB}"/>
              </a:ext>
            </a:extLst>
          </p:cNvPr>
          <p:cNvSpPr txBox="1">
            <a:spLocks/>
          </p:cNvSpPr>
          <p:nvPr/>
        </p:nvSpPr>
        <p:spPr>
          <a:xfrm>
            <a:off x="365759" y="394952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da-DK" sz="2400" dirty="0"/>
              <a:t>Generate HyDE bundle for a single student</a:t>
            </a:r>
            <a:endParaRPr lang="en-US" sz="2400" dirty="0">
              <a:cs typeface="Poppins Light"/>
            </a:endParaRPr>
          </a:p>
        </p:txBody>
      </p:sp>
      <p:sp>
        <p:nvSpPr>
          <p:cNvPr id="7" name="TextBox 2">
            <a:hlinkClick r:id="rId2"/>
            <a:extLst>
              <a:ext uri="{FF2B5EF4-FFF2-40B4-BE49-F238E27FC236}">
                <a16:creationId xmlns:a16="http://schemas.microsoft.com/office/drawing/2014/main" id="{7755FBE3-5BEC-504D-862B-1190A8A0B683}"/>
              </a:ext>
            </a:extLst>
          </p:cNvPr>
          <p:cNvSpPr txBox="1"/>
          <p:nvPr/>
        </p:nvSpPr>
        <p:spPr>
          <a:xfrm>
            <a:off x="522317" y="6124494"/>
            <a:ext cx="3830608" cy="338554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 err="1">
                <a:solidFill>
                  <a:schemeClr val="tx1"/>
                </a:solidFill>
              </a:rPr>
              <a:t>HyDE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recommentdation</a:t>
            </a:r>
            <a:r>
              <a:rPr lang="en-US" sz="1600" dirty="0">
                <a:solidFill>
                  <a:schemeClr val="tx1"/>
                </a:solidFill>
              </a:rPr>
              <a:t> core engine API</a:t>
            </a:r>
          </a:p>
        </p:txBody>
      </p:sp>
      <p:sp>
        <p:nvSpPr>
          <p:cNvPr id="11" name="TextBox 2">
            <a:hlinkClick r:id="rId3"/>
            <a:extLst>
              <a:ext uri="{FF2B5EF4-FFF2-40B4-BE49-F238E27FC236}">
                <a16:creationId xmlns:a16="http://schemas.microsoft.com/office/drawing/2014/main" id="{50754EA3-1B2B-8E31-8AD0-D4A2AC26B374}"/>
              </a:ext>
            </a:extLst>
          </p:cNvPr>
          <p:cNvSpPr txBox="1"/>
          <p:nvPr/>
        </p:nvSpPr>
        <p:spPr>
          <a:xfrm>
            <a:off x="522317" y="6463048"/>
            <a:ext cx="4331464" cy="338554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>
                <a:solidFill>
                  <a:schemeClr val="tx1"/>
                </a:solidFill>
              </a:rPr>
              <a:t>GCS / </a:t>
            </a:r>
            <a:r>
              <a:rPr lang="en-US" sz="1600" dirty="0" err="1">
                <a:solidFill>
                  <a:schemeClr val="tx1"/>
                </a:solidFill>
              </a:rPr>
              <a:t>hyde-datalake</a:t>
            </a:r>
            <a:r>
              <a:rPr lang="en-US" sz="1600" dirty="0">
                <a:solidFill>
                  <a:schemeClr val="tx1"/>
                </a:solidFill>
              </a:rPr>
              <a:t> (Test)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E59B40F-AD47-7F2E-15E1-6DAF2CA40D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85666" y="985753"/>
            <a:ext cx="9144000" cy="5141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572897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E66F04-6EE9-7CEF-C9C8-71E72BF06C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28E6A-CCE3-7795-456F-AA6B731C7F45}"/>
              </a:ext>
            </a:extLst>
          </p:cNvPr>
          <p:cNvSpPr txBox="1">
            <a:spLocks/>
          </p:cNvSpPr>
          <p:nvPr/>
        </p:nvSpPr>
        <p:spPr>
          <a:xfrm>
            <a:off x="365759" y="394952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da-DK" sz="2400" dirty="0"/>
              <a:t>Generate HyDE bundle for a single student</a:t>
            </a:r>
            <a:endParaRPr lang="en-US" sz="2400" dirty="0">
              <a:cs typeface="Poppins Light"/>
            </a:endParaRPr>
          </a:p>
        </p:txBody>
      </p:sp>
      <p:sp>
        <p:nvSpPr>
          <p:cNvPr id="7" name="TextBox 2">
            <a:hlinkClick r:id="rId2"/>
            <a:extLst>
              <a:ext uri="{FF2B5EF4-FFF2-40B4-BE49-F238E27FC236}">
                <a16:creationId xmlns:a16="http://schemas.microsoft.com/office/drawing/2014/main" id="{B7DBD1C8-EAF4-E6F6-4FB4-E868F01FE28D}"/>
              </a:ext>
            </a:extLst>
          </p:cNvPr>
          <p:cNvSpPr txBox="1"/>
          <p:nvPr/>
        </p:nvSpPr>
        <p:spPr>
          <a:xfrm>
            <a:off x="522317" y="6124494"/>
            <a:ext cx="3830608" cy="338554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 err="1">
                <a:solidFill>
                  <a:schemeClr val="tx1"/>
                </a:solidFill>
              </a:rPr>
              <a:t>HyDE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recommentdation</a:t>
            </a:r>
            <a:r>
              <a:rPr lang="en-US" sz="1600" dirty="0">
                <a:solidFill>
                  <a:schemeClr val="tx1"/>
                </a:solidFill>
              </a:rPr>
              <a:t> core engine API</a:t>
            </a:r>
          </a:p>
        </p:txBody>
      </p:sp>
      <p:sp>
        <p:nvSpPr>
          <p:cNvPr id="11" name="TextBox 2">
            <a:hlinkClick r:id="rId3"/>
            <a:extLst>
              <a:ext uri="{FF2B5EF4-FFF2-40B4-BE49-F238E27FC236}">
                <a16:creationId xmlns:a16="http://schemas.microsoft.com/office/drawing/2014/main" id="{37E7C733-E2AD-813A-5055-5CC12BCF572B}"/>
              </a:ext>
            </a:extLst>
          </p:cNvPr>
          <p:cNvSpPr txBox="1"/>
          <p:nvPr/>
        </p:nvSpPr>
        <p:spPr>
          <a:xfrm>
            <a:off x="522317" y="6463048"/>
            <a:ext cx="4331464" cy="338554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>
                <a:solidFill>
                  <a:schemeClr val="tx1"/>
                </a:solidFill>
              </a:rPr>
              <a:t>GCS / </a:t>
            </a:r>
            <a:r>
              <a:rPr lang="en-US" sz="1600" dirty="0" err="1">
                <a:solidFill>
                  <a:schemeClr val="tx1"/>
                </a:solidFill>
              </a:rPr>
              <a:t>hyde-datalake</a:t>
            </a:r>
            <a:r>
              <a:rPr lang="en-US" sz="1600" dirty="0">
                <a:solidFill>
                  <a:schemeClr val="tx1"/>
                </a:solidFill>
              </a:rPr>
              <a:t> (Test)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24BF8F7-9B03-AEB2-2119-A6C10BD985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85666" y="983079"/>
            <a:ext cx="9144000" cy="5141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308832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9EFE81-CFD9-426F-21FD-0519776FA3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C4CA89-4C19-6A73-D2A9-53DE83536724}"/>
              </a:ext>
            </a:extLst>
          </p:cNvPr>
          <p:cNvSpPr txBox="1">
            <a:spLocks/>
          </p:cNvSpPr>
          <p:nvPr/>
        </p:nvSpPr>
        <p:spPr>
          <a:xfrm>
            <a:off x="365759" y="394952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da-DK" sz="2400" dirty="0"/>
              <a:t>Generate HyDE bundle for a single student</a:t>
            </a:r>
            <a:endParaRPr lang="en-US" sz="2400" dirty="0">
              <a:cs typeface="Poppins Light"/>
            </a:endParaRPr>
          </a:p>
        </p:txBody>
      </p:sp>
      <p:sp>
        <p:nvSpPr>
          <p:cNvPr id="7" name="TextBox 2">
            <a:hlinkClick r:id="rId2"/>
            <a:extLst>
              <a:ext uri="{FF2B5EF4-FFF2-40B4-BE49-F238E27FC236}">
                <a16:creationId xmlns:a16="http://schemas.microsoft.com/office/drawing/2014/main" id="{0DDFC57F-7F3A-7A34-5538-A1D11E99EF95}"/>
              </a:ext>
            </a:extLst>
          </p:cNvPr>
          <p:cNvSpPr txBox="1"/>
          <p:nvPr/>
        </p:nvSpPr>
        <p:spPr>
          <a:xfrm>
            <a:off x="522317" y="6124494"/>
            <a:ext cx="3830608" cy="338554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 err="1">
                <a:solidFill>
                  <a:schemeClr val="tx1"/>
                </a:solidFill>
              </a:rPr>
              <a:t>HyDE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recommentdation</a:t>
            </a:r>
            <a:r>
              <a:rPr lang="en-US" sz="1600" dirty="0">
                <a:solidFill>
                  <a:schemeClr val="tx1"/>
                </a:solidFill>
              </a:rPr>
              <a:t> core engine API</a:t>
            </a:r>
          </a:p>
        </p:txBody>
      </p:sp>
      <p:sp>
        <p:nvSpPr>
          <p:cNvPr id="11" name="TextBox 2">
            <a:hlinkClick r:id="rId3"/>
            <a:extLst>
              <a:ext uri="{FF2B5EF4-FFF2-40B4-BE49-F238E27FC236}">
                <a16:creationId xmlns:a16="http://schemas.microsoft.com/office/drawing/2014/main" id="{F0E3CC55-E344-04A0-7BD2-DA342141CE99}"/>
              </a:ext>
            </a:extLst>
          </p:cNvPr>
          <p:cNvSpPr txBox="1"/>
          <p:nvPr/>
        </p:nvSpPr>
        <p:spPr>
          <a:xfrm>
            <a:off x="522317" y="6463048"/>
            <a:ext cx="4331464" cy="338554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>
                <a:solidFill>
                  <a:schemeClr val="tx1"/>
                </a:solidFill>
              </a:rPr>
              <a:t>GCS / </a:t>
            </a:r>
            <a:r>
              <a:rPr lang="en-US" sz="1600" dirty="0" err="1">
                <a:solidFill>
                  <a:schemeClr val="tx1"/>
                </a:solidFill>
              </a:rPr>
              <a:t>hyde-datalake</a:t>
            </a:r>
            <a:r>
              <a:rPr lang="en-US" sz="1600" dirty="0">
                <a:solidFill>
                  <a:schemeClr val="tx1"/>
                </a:solidFill>
              </a:rPr>
              <a:t> (Test)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B6DE1CD-DB7E-8C04-1C86-8AF9EACB20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85666" y="983079"/>
            <a:ext cx="9144000" cy="5141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891435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6C5BF5-1DE8-5147-0015-81AA67712B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6759D2-0285-C6DF-5260-F6E5888CC44F}"/>
              </a:ext>
            </a:extLst>
          </p:cNvPr>
          <p:cNvSpPr txBox="1">
            <a:spLocks/>
          </p:cNvSpPr>
          <p:nvPr/>
        </p:nvSpPr>
        <p:spPr>
          <a:xfrm>
            <a:off x="365759" y="394952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da-DK" sz="2400" dirty="0"/>
              <a:t>Generate HyDE bundle for a single student</a:t>
            </a:r>
            <a:endParaRPr lang="en-US" sz="2400" dirty="0">
              <a:cs typeface="Poppins Light"/>
            </a:endParaRPr>
          </a:p>
        </p:txBody>
      </p:sp>
      <p:sp>
        <p:nvSpPr>
          <p:cNvPr id="7" name="TextBox 2">
            <a:hlinkClick r:id="rId2"/>
            <a:extLst>
              <a:ext uri="{FF2B5EF4-FFF2-40B4-BE49-F238E27FC236}">
                <a16:creationId xmlns:a16="http://schemas.microsoft.com/office/drawing/2014/main" id="{507264E4-5473-7F05-5675-52C7877719B7}"/>
              </a:ext>
            </a:extLst>
          </p:cNvPr>
          <p:cNvSpPr txBox="1"/>
          <p:nvPr/>
        </p:nvSpPr>
        <p:spPr>
          <a:xfrm>
            <a:off x="522317" y="6124494"/>
            <a:ext cx="3830608" cy="338554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 err="1">
                <a:solidFill>
                  <a:schemeClr val="tx1"/>
                </a:solidFill>
              </a:rPr>
              <a:t>HyDE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recommentdation</a:t>
            </a:r>
            <a:r>
              <a:rPr lang="en-US" sz="1600" dirty="0">
                <a:solidFill>
                  <a:schemeClr val="tx1"/>
                </a:solidFill>
              </a:rPr>
              <a:t> core engine API</a:t>
            </a:r>
          </a:p>
        </p:txBody>
      </p:sp>
      <p:sp>
        <p:nvSpPr>
          <p:cNvPr id="11" name="TextBox 2">
            <a:hlinkClick r:id="rId3"/>
            <a:extLst>
              <a:ext uri="{FF2B5EF4-FFF2-40B4-BE49-F238E27FC236}">
                <a16:creationId xmlns:a16="http://schemas.microsoft.com/office/drawing/2014/main" id="{DEAAC102-4A9E-8897-C772-3097E368A32C}"/>
              </a:ext>
            </a:extLst>
          </p:cNvPr>
          <p:cNvSpPr txBox="1"/>
          <p:nvPr/>
        </p:nvSpPr>
        <p:spPr>
          <a:xfrm>
            <a:off x="522317" y="6463048"/>
            <a:ext cx="4331464" cy="338554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>
                <a:solidFill>
                  <a:schemeClr val="tx1"/>
                </a:solidFill>
              </a:rPr>
              <a:t>GCS / </a:t>
            </a:r>
            <a:r>
              <a:rPr lang="en-US" sz="1600" dirty="0" err="1">
                <a:solidFill>
                  <a:schemeClr val="tx1"/>
                </a:solidFill>
              </a:rPr>
              <a:t>hyde-datalake</a:t>
            </a:r>
            <a:r>
              <a:rPr lang="en-US" sz="1600" dirty="0">
                <a:solidFill>
                  <a:schemeClr val="tx1"/>
                </a:solidFill>
              </a:rPr>
              <a:t> (Test)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2E0EA98-42C4-CEF8-22A5-4BB9B8C64E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85666" y="983079"/>
            <a:ext cx="9144000" cy="5141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850271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322234-6F64-8279-E74C-EF53D67F11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0C98D0-CF59-65D6-6AC0-A947F9210BBE}"/>
              </a:ext>
            </a:extLst>
          </p:cNvPr>
          <p:cNvSpPr txBox="1">
            <a:spLocks/>
          </p:cNvSpPr>
          <p:nvPr/>
        </p:nvSpPr>
        <p:spPr>
          <a:xfrm>
            <a:off x="365759" y="394952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– </a:t>
            </a:r>
            <a:r>
              <a:rPr lang="da-DK" sz="2400" dirty="0"/>
              <a:t>Fetch result</a:t>
            </a:r>
            <a:endParaRPr lang="en-US" sz="2400" dirty="0">
              <a:cs typeface="Poppins Light"/>
            </a:endParaRPr>
          </a:p>
        </p:txBody>
      </p:sp>
      <p:sp>
        <p:nvSpPr>
          <p:cNvPr id="7" name="TextBox 2">
            <a:hlinkClick r:id="rId2"/>
            <a:extLst>
              <a:ext uri="{FF2B5EF4-FFF2-40B4-BE49-F238E27FC236}">
                <a16:creationId xmlns:a16="http://schemas.microsoft.com/office/drawing/2014/main" id="{1F305EFC-64A5-F50F-B38D-67A01733493F}"/>
              </a:ext>
            </a:extLst>
          </p:cNvPr>
          <p:cNvSpPr txBox="1"/>
          <p:nvPr/>
        </p:nvSpPr>
        <p:spPr>
          <a:xfrm>
            <a:off x="522317" y="6124494"/>
            <a:ext cx="3830608" cy="338554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 err="1">
                <a:solidFill>
                  <a:schemeClr val="tx1"/>
                </a:solidFill>
              </a:rPr>
              <a:t>HyDE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recommentdation</a:t>
            </a:r>
            <a:r>
              <a:rPr lang="en-US" sz="1600" dirty="0">
                <a:solidFill>
                  <a:schemeClr val="tx1"/>
                </a:solidFill>
              </a:rPr>
              <a:t> core engine API</a:t>
            </a:r>
          </a:p>
        </p:txBody>
      </p:sp>
      <p:sp>
        <p:nvSpPr>
          <p:cNvPr id="11" name="TextBox 2">
            <a:hlinkClick r:id="rId3"/>
            <a:extLst>
              <a:ext uri="{FF2B5EF4-FFF2-40B4-BE49-F238E27FC236}">
                <a16:creationId xmlns:a16="http://schemas.microsoft.com/office/drawing/2014/main" id="{F76C497C-7893-378E-AB9F-C9273F721380}"/>
              </a:ext>
            </a:extLst>
          </p:cNvPr>
          <p:cNvSpPr txBox="1"/>
          <p:nvPr/>
        </p:nvSpPr>
        <p:spPr>
          <a:xfrm>
            <a:off x="522317" y="6463048"/>
            <a:ext cx="4331464" cy="338554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>
                <a:solidFill>
                  <a:schemeClr val="tx1"/>
                </a:solidFill>
              </a:rPr>
              <a:t>GCS / </a:t>
            </a:r>
            <a:r>
              <a:rPr lang="en-US" sz="1600" dirty="0" err="1">
                <a:solidFill>
                  <a:schemeClr val="tx1"/>
                </a:solidFill>
              </a:rPr>
              <a:t>hyde-datalake</a:t>
            </a:r>
            <a:r>
              <a:rPr lang="en-US" sz="1600" dirty="0">
                <a:solidFill>
                  <a:schemeClr val="tx1"/>
                </a:solidFill>
              </a:rPr>
              <a:t> (Test)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927D2E-2677-EBF2-E7E8-496F249DDD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85666" y="983079"/>
            <a:ext cx="9144000" cy="5141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107421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6BE176-4A0E-0629-3D59-1426D74350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E51517-E103-6F56-2A0E-BF571A965489}"/>
              </a:ext>
            </a:extLst>
          </p:cNvPr>
          <p:cNvSpPr txBox="1">
            <a:spLocks/>
          </p:cNvSpPr>
          <p:nvPr/>
        </p:nvSpPr>
        <p:spPr>
          <a:xfrm>
            <a:off x="365759" y="394952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– </a:t>
            </a:r>
            <a:r>
              <a:rPr lang="da-DK" sz="2400" dirty="0"/>
              <a:t>Fetch result</a:t>
            </a:r>
            <a:endParaRPr lang="en-US" sz="2400" dirty="0">
              <a:cs typeface="Poppins Light"/>
            </a:endParaRPr>
          </a:p>
        </p:txBody>
      </p:sp>
      <p:sp>
        <p:nvSpPr>
          <p:cNvPr id="7" name="TextBox 2">
            <a:hlinkClick r:id="rId2"/>
            <a:extLst>
              <a:ext uri="{FF2B5EF4-FFF2-40B4-BE49-F238E27FC236}">
                <a16:creationId xmlns:a16="http://schemas.microsoft.com/office/drawing/2014/main" id="{D7753B6E-ADB3-4FA7-078D-3F9E5030726C}"/>
              </a:ext>
            </a:extLst>
          </p:cNvPr>
          <p:cNvSpPr txBox="1"/>
          <p:nvPr/>
        </p:nvSpPr>
        <p:spPr>
          <a:xfrm>
            <a:off x="522317" y="6124494"/>
            <a:ext cx="3830608" cy="338554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 err="1">
                <a:solidFill>
                  <a:schemeClr val="tx1"/>
                </a:solidFill>
              </a:rPr>
              <a:t>HyDE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recommentdation</a:t>
            </a:r>
            <a:r>
              <a:rPr lang="en-US" sz="1600" dirty="0">
                <a:solidFill>
                  <a:schemeClr val="tx1"/>
                </a:solidFill>
              </a:rPr>
              <a:t> core engine API</a:t>
            </a:r>
          </a:p>
        </p:txBody>
      </p:sp>
      <p:sp>
        <p:nvSpPr>
          <p:cNvPr id="11" name="TextBox 2">
            <a:hlinkClick r:id="rId3"/>
            <a:extLst>
              <a:ext uri="{FF2B5EF4-FFF2-40B4-BE49-F238E27FC236}">
                <a16:creationId xmlns:a16="http://schemas.microsoft.com/office/drawing/2014/main" id="{6F023A72-9880-3F1B-902D-EF34E4A37BAC}"/>
              </a:ext>
            </a:extLst>
          </p:cNvPr>
          <p:cNvSpPr txBox="1"/>
          <p:nvPr/>
        </p:nvSpPr>
        <p:spPr>
          <a:xfrm>
            <a:off x="522317" y="6463048"/>
            <a:ext cx="4331464" cy="338554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>
                <a:solidFill>
                  <a:schemeClr val="tx1"/>
                </a:solidFill>
              </a:rPr>
              <a:t>GCS / </a:t>
            </a:r>
            <a:r>
              <a:rPr lang="en-US" sz="1600" dirty="0" err="1">
                <a:solidFill>
                  <a:schemeClr val="tx1"/>
                </a:solidFill>
              </a:rPr>
              <a:t>hyde-datalake</a:t>
            </a:r>
            <a:r>
              <a:rPr lang="en-US" sz="1600" dirty="0">
                <a:solidFill>
                  <a:schemeClr val="tx1"/>
                </a:solidFill>
              </a:rPr>
              <a:t> (Test)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BD29084-FB9C-1010-7159-C9236643EF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85666" y="983079"/>
            <a:ext cx="9144000" cy="5141415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09EF7273-3206-955D-BD73-82963020C37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76462" y="983078"/>
            <a:ext cx="4552295" cy="5141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983453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7DE03D-5923-ADE8-53AE-51C11C888D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07BB332C-A8BB-641A-E510-B1783BEF2DE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6563E37-7449-88E7-531F-DD47615EAE3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1E0AC960-2F31-AB42-5C7D-B07A8E626685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4A3E04B-E6D8-9C9A-582C-CFA6FCEB9DDB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6E31D81-69E6-E1A2-72D2-A350899F9FA0}"/>
              </a:ext>
            </a:extLst>
          </p:cNvPr>
          <p:cNvSpPr/>
          <p:nvPr/>
        </p:nvSpPr>
        <p:spPr>
          <a:xfrm>
            <a:off x="638383" y="859879"/>
            <a:ext cx="5265878" cy="51871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tx1"/>
                </a:solidFill>
                <a:cs typeface="Poppins Light"/>
              </a:rPr>
              <a:t>Overview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2C0B0219-A335-D2B9-72C5-4416AFDA42A0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1FE77D8-46BC-623B-D5BE-3C351C8CAB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6096" y="1378594"/>
            <a:ext cx="4552295" cy="5141415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EA9A4EE7-2CA5-04BD-4196-13C2CA674887}"/>
              </a:ext>
            </a:extLst>
          </p:cNvPr>
          <p:cNvSpPr txBox="1">
            <a:spLocks/>
          </p:cNvSpPr>
          <p:nvPr/>
        </p:nvSpPr>
        <p:spPr>
          <a:xfrm>
            <a:off x="365759" y="326856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409723415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7C11BF-70DD-E177-A2A0-E72D99A756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99F3D829-9CE2-A388-614F-B7F7167F8B1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07BB332C-A8BB-641A-E510-B1783BEF2DE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A270E2B7-F67B-E305-80EF-6CBB4928E2B0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2178DA8-9C6E-6180-78B7-290F6A8854EA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26219DF-E267-4EAC-7875-07754772C6A9}"/>
              </a:ext>
            </a:extLst>
          </p:cNvPr>
          <p:cNvSpPr/>
          <p:nvPr/>
        </p:nvSpPr>
        <p:spPr>
          <a:xfrm>
            <a:off x="638383" y="859879"/>
            <a:ext cx="5265878" cy="51871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tx1"/>
                </a:solidFill>
                <a:cs typeface="Poppins Light"/>
              </a:rPr>
              <a:t>Overview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1C0D5CBE-AC51-9265-0FD8-1AC7DEC042AF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2B31FA2-9E3B-70A0-52A3-9BBF2D67110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6096" y="1378594"/>
            <a:ext cx="4552295" cy="514141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7F85A1B-01EC-96BE-2E64-B0B0E7519BD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63852" y="1739501"/>
            <a:ext cx="4689948" cy="4419600"/>
          </a:xfrm>
          <a:prstGeom prst="rect">
            <a:avLst/>
          </a:prstGeom>
        </p:spPr>
      </p:pic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BBC481F5-7F68-39EC-F081-E24BE354E36B}"/>
              </a:ext>
            </a:extLst>
          </p:cNvPr>
          <p:cNvCxnSpPr>
            <a:cxnSpLocks/>
          </p:cNvCxnSpPr>
          <p:nvPr/>
        </p:nvCxnSpPr>
        <p:spPr>
          <a:xfrm>
            <a:off x="5618391" y="1739501"/>
            <a:ext cx="955220" cy="349817"/>
          </a:xfrm>
          <a:prstGeom prst="bentConnector3">
            <a:avLst>
              <a:gd name="adj1" fmla="val 50000"/>
            </a:avLst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itle 1">
            <a:extLst>
              <a:ext uri="{FF2B5EF4-FFF2-40B4-BE49-F238E27FC236}">
                <a16:creationId xmlns:a16="http://schemas.microsoft.com/office/drawing/2014/main" id="{BE8538CC-3613-BEFD-298A-B8FCAEB1B97E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81892002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4FA9C6-B787-387B-05A7-F3B4363682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397BD07D-EA7E-1D6D-EFDF-F1F97F93C52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99F3D829-9CE2-A388-614F-B7F7167F8B1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6A3191FC-A01B-1C87-D8D5-C4AD6506FB02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4E24675-BC37-DD07-FB80-A36E2E6FCBEE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EEF9D27-BDE5-A4B9-3B54-0985EA2EB4B3}"/>
              </a:ext>
            </a:extLst>
          </p:cNvPr>
          <p:cNvSpPr/>
          <p:nvPr/>
        </p:nvSpPr>
        <p:spPr>
          <a:xfrm>
            <a:off x="638383" y="859879"/>
            <a:ext cx="5265878" cy="51871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tx1"/>
                </a:solidFill>
                <a:cs typeface="Poppins Light"/>
              </a:rPr>
              <a:t>Overview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9DD7FDD7-D549-B5AB-DD2D-B9E036EA2CEB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92A62C7-F741-4164-2599-84C877BFD5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6096" y="1378594"/>
            <a:ext cx="4552295" cy="514141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A8CA30E-C5FE-62B7-A1B8-D8FFB155958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63852" y="1739501"/>
            <a:ext cx="4689948" cy="3032405"/>
          </a:xfrm>
          <a:prstGeom prst="rect">
            <a:avLst/>
          </a:prstGeom>
        </p:spPr>
      </p:pic>
      <p:pic>
        <p:nvPicPr>
          <p:cNvPr id="12" name="Picture 4" descr="Google Cloud Storage: solution for data lakes - Flowygo">
            <a:extLst>
              <a:ext uri="{FF2B5EF4-FFF2-40B4-BE49-F238E27FC236}">
                <a16:creationId xmlns:a16="http://schemas.microsoft.com/office/drawing/2014/main" id="{7DF2DD97-00E4-90B1-DD77-A4171D4965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80657" y="5300160"/>
            <a:ext cx="1576747" cy="11194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8" descr="What Is BigQuery And How Do You Load Data Into It? - Seattle Data Guy">
            <a:extLst>
              <a:ext uri="{FF2B5EF4-FFF2-40B4-BE49-F238E27FC236}">
                <a16:creationId xmlns:a16="http://schemas.microsoft.com/office/drawing/2014/main" id="{AB453E88-2DBC-92C0-7F9C-A653C1ACE1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36119" y="5300160"/>
            <a:ext cx="1689785" cy="9505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332354EF-FE57-FC73-2448-6090EF7E106D}"/>
              </a:ext>
            </a:extLst>
          </p:cNvPr>
          <p:cNvSpPr/>
          <p:nvPr/>
        </p:nvSpPr>
        <p:spPr>
          <a:xfrm>
            <a:off x="6971746" y="5067076"/>
            <a:ext cx="1585658" cy="1585658"/>
          </a:xfrm>
          <a:prstGeom prst="mathMultiply">
            <a:avLst>
              <a:gd name="adj1" fmla="val 5798"/>
            </a:avLst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F7D76EA3-823E-C92D-2445-C43DE88E30BB}"/>
              </a:ext>
            </a:extLst>
          </p:cNvPr>
          <p:cNvCxnSpPr/>
          <p:nvPr/>
        </p:nvCxnSpPr>
        <p:spPr>
          <a:xfrm>
            <a:off x="8729932" y="5859905"/>
            <a:ext cx="569343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9D7288F9-8FAB-F484-02BE-13BAF9E73F26}"/>
              </a:ext>
            </a:extLst>
          </p:cNvPr>
          <p:cNvCxnSpPr>
            <a:cxnSpLocks/>
          </p:cNvCxnSpPr>
          <p:nvPr/>
        </p:nvCxnSpPr>
        <p:spPr>
          <a:xfrm flipV="1">
            <a:off x="2863970" y="2089318"/>
            <a:ext cx="3709641" cy="326078"/>
          </a:xfrm>
          <a:prstGeom prst="bentConnector3">
            <a:avLst>
              <a:gd name="adj1" fmla="val 88137"/>
            </a:avLst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itle 1">
            <a:extLst>
              <a:ext uri="{FF2B5EF4-FFF2-40B4-BE49-F238E27FC236}">
                <a16:creationId xmlns:a16="http://schemas.microsoft.com/office/drawing/2014/main" id="{CEC49167-7B2B-5C70-F4FA-9F6E8868D218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53BB0B5-FC0A-2A8B-616F-61F2E5969DDA}"/>
              </a:ext>
            </a:extLst>
          </p:cNvPr>
          <p:cNvSpPr txBox="1"/>
          <p:nvPr/>
        </p:nvSpPr>
        <p:spPr>
          <a:xfrm>
            <a:off x="12378249" y="3618268"/>
            <a:ext cx="1937826" cy="313730"/>
          </a:xfrm>
          <a:prstGeom prst="roundRect">
            <a:avLst>
              <a:gd name="adj" fmla="val 4406"/>
            </a:avLst>
          </a:prstGeom>
          <a:solidFill>
            <a:srgbClr val="E96060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2.5 -&gt; gemini-3.0</a:t>
            </a:r>
          </a:p>
        </p:txBody>
      </p:sp>
    </p:spTree>
    <p:extLst>
      <p:ext uri="{BB962C8B-B14F-4D97-AF65-F5344CB8AC3E}">
        <p14:creationId xmlns:p14="http://schemas.microsoft.com/office/powerpoint/2010/main" val="190523481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6F91A7-D98B-44A2-CCB0-3FFD6D3083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CCCF8882-FAD6-6DCE-2F05-118649EFA65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99F3D829-9CE2-A388-614F-B7F7167F8B1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32C8CE53-04F1-A31D-BDD7-66AC5C72E203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D408920-66E2-0E25-94AB-1FD7D73BBFE1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A3F3859-E96B-7E2F-593A-C4F7B3BCB7EE}"/>
              </a:ext>
            </a:extLst>
          </p:cNvPr>
          <p:cNvSpPr/>
          <p:nvPr/>
        </p:nvSpPr>
        <p:spPr>
          <a:xfrm>
            <a:off x="638383" y="859879"/>
            <a:ext cx="5265878" cy="51871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tx1"/>
                </a:solidFill>
                <a:cs typeface="Poppins Light"/>
              </a:rPr>
              <a:t>Overview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AF6BF057-2A69-9CA9-B5B7-E3A43EF66CDA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1193133-D3F6-6A04-F079-9B46FF90BA7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6096" y="1378594"/>
            <a:ext cx="4552295" cy="514141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DC5C535-5029-5AB6-3D97-774B201ECD7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5881" y="3309178"/>
            <a:ext cx="5290449" cy="1452603"/>
          </a:xfrm>
          <a:prstGeom prst="rect">
            <a:avLst/>
          </a:prstGeom>
        </p:spPr>
      </p:pic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2E87A348-24EF-C554-1EFD-95520CE0B4C6}"/>
              </a:ext>
            </a:extLst>
          </p:cNvPr>
          <p:cNvCxnSpPr>
            <a:cxnSpLocks/>
          </p:cNvCxnSpPr>
          <p:nvPr/>
        </p:nvCxnSpPr>
        <p:spPr>
          <a:xfrm flipV="1">
            <a:off x="4226943" y="3429000"/>
            <a:ext cx="2060796" cy="366623"/>
          </a:xfrm>
          <a:prstGeom prst="bentConnector3">
            <a:avLst>
              <a:gd name="adj1" fmla="val 91860"/>
            </a:avLst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itle 1">
            <a:extLst>
              <a:ext uri="{FF2B5EF4-FFF2-40B4-BE49-F238E27FC236}">
                <a16:creationId xmlns:a16="http://schemas.microsoft.com/office/drawing/2014/main" id="{7E876344-446F-803C-C12B-BBAC8C2C29C2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34849477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9156A1-3390-7810-1739-AE5D4B47D3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3D6B1512-68DA-B526-491E-5B1E4015E42C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CCCF8882-FAD6-6DCE-2F05-118649EFA65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AE37F567-C436-964B-66C6-A47CF477E587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CEBCC7D-2AEC-4C37-2C69-5A818C3F6991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A0B33DC-27BB-C173-3147-372020C8B3E3}"/>
              </a:ext>
            </a:extLst>
          </p:cNvPr>
          <p:cNvSpPr/>
          <p:nvPr/>
        </p:nvSpPr>
        <p:spPr>
          <a:xfrm>
            <a:off x="638383" y="859879"/>
            <a:ext cx="5265878" cy="51871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tx1"/>
                </a:solidFill>
                <a:cs typeface="Poppins Light"/>
              </a:rPr>
              <a:t>Overview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8E735444-4A89-0643-F3D3-DD7A8852FF7D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2662351-9D29-A077-ACA4-BE532409123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6096" y="1378594"/>
            <a:ext cx="4552295" cy="514141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286B501-9330-1461-122C-0EDE9E553D3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20875" y="1119236"/>
            <a:ext cx="3617649" cy="5141415"/>
          </a:xfrm>
          <a:prstGeom prst="rect">
            <a:avLst/>
          </a:prstGeom>
        </p:spPr>
      </p:pic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9941B954-E0BD-6C80-D9E3-636061A62186}"/>
              </a:ext>
            </a:extLst>
          </p:cNvPr>
          <p:cNvCxnSpPr>
            <a:cxnSpLocks/>
          </p:cNvCxnSpPr>
          <p:nvPr/>
        </p:nvCxnSpPr>
        <p:spPr>
          <a:xfrm flipV="1">
            <a:off x="2553419" y="1378594"/>
            <a:ext cx="4537494" cy="2969119"/>
          </a:xfrm>
          <a:prstGeom prst="bentConnector3">
            <a:avLst>
              <a:gd name="adj1" fmla="val 79657"/>
            </a:avLst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itle 1">
            <a:extLst>
              <a:ext uri="{FF2B5EF4-FFF2-40B4-BE49-F238E27FC236}">
                <a16:creationId xmlns:a16="http://schemas.microsoft.com/office/drawing/2014/main" id="{CF63507F-C6F8-D32A-C385-36201931EED7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412802764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1E4E9D-82FE-ABCF-E7D8-596AFBE267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16563E37-7449-88E7-531F-DD47615EAE3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D412317A-D09F-EFF2-C875-46B41971223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00207D98-3AEE-A2C0-DB07-F7C6BA7777AE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5133C71-30BE-A9F1-A5A6-6CACFB2661C5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8F1D59A-6A6B-4BCD-B009-8D9614F47532}"/>
              </a:ext>
            </a:extLst>
          </p:cNvPr>
          <p:cNvSpPr/>
          <p:nvPr/>
        </p:nvSpPr>
        <p:spPr>
          <a:xfrm>
            <a:off x="638383" y="859879"/>
            <a:ext cx="5265878" cy="51871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tx1"/>
                </a:solidFill>
                <a:cs typeface="Poppins Light"/>
              </a:rPr>
              <a:t>Overview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E9FAD9D9-09F0-C2E8-4BA5-8EF90876A2C0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471108E-0CB2-34E8-8985-9EF77DAFED80}"/>
              </a:ext>
            </a:extLst>
          </p:cNvPr>
          <p:cNvGrpSpPr/>
          <p:nvPr/>
        </p:nvGrpSpPr>
        <p:grpSpPr>
          <a:xfrm>
            <a:off x="1382298" y="2429185"/>
            <a:ext cx="3893906" cy="1495360"/>
            <a:chOff x="213358" y="1919130"/>
            <a:chExt cx="1283172" cy="1495360"/>
          </a:xfrm>
          <a:solidFill>
            <a:schemeClr val="bg1">
              <a:lumMod val="85000"/>
            </a:schemeClr>
          </a:solidFill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B0EC03F2-64D0-86BA-B3D8-B13A3FD2205A}"/>
                </a:ext>
              </a:extLst>
            </p:cNvPr>
            <p:cNvSpPr/>
            <p:nvPr/>
          </p:nvSpPr>
          <p:spPr>
            <a:xfrm>
              <a:off x="213358" y="1919130"/>
              <a:ext cx="1283172" cy="149536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2346D41F-7650-2E3D-7F69-A8EF456DAD7E}"/>
                </a:ext>
              </a:extLst>
            </p:cNvPr>
            <p:cNvSpPr/>
            <p:nvPr/>
          </p:nvSpPr>
          <p:spPr>
            <a:xfrm>
              <a:off x="259738" y="2429685"/>
              <a:ext cx="278147" cy="370142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vector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E77DC2D9-24AD-D02B-7EB8-3AFA24FE219C}"/>
                </a:ext>
              </a:extLst>
            </p:cNvPr>
            <p:cNvSpPr/>
            <p:nvPr/>
          </p:nvSpPr>
          <p:spPr>
            <a:xfrm>
              <a:off x="869945" y="2427304"/>
              <a:ext cx="278147" cy="370142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rPr>
                <a:t>recency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48DC336-83AE-F030-D3D9-6AF38E576CF2}"/>
                </a:ext>
              </a:extLst>
            </p:cNvPr>
            <p:cNvSpPr/>
            <p:nvPr/>
          </p:nvSpPr>
          <p:spPr>
            <a:xfrm>
              <a:off x="1174409" y="2427304"/>
              <a:ext cx="278147" cy="370142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popularity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F674EDE2-DE4F-ACBE-D1CD-62C38B4F767A}"/>
                </a:ext>
              </a:extLst>
            </p:cNvPr>
            <p:cNvSpPr txBox="1"/>
            <p:nvPr/>
          </p:nvSpPr>
          <p:spPr>
            <a:xfrm>
              <a:off x="240830" y="2000737"/>
              <a:ext cx="1236792" cy="261610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Subscore function</a:t>
              </a:r>
              <a:endParaRPr lang="en-US" sz="1050" dirty="0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770E0B11-0E08-8A51-1FEC-50960C044A06}"/>
                </a:ext>
              </a:extLst>
            </p:cNvPr>
            <p:cNvSpPr/>
            <p:nvPr/>
          </p:nvSpPr>
          <p:spPr>
            <a:xfrm>
              <a:off x="564202" y="2429832"/>
              <a:ext cx="278147" cy="370142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rPr>
                <a:t>language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</p:grpSp>
      <p:sp>
        <p:nvSpPr>
          <p:cNvPr id="23" name="Oval 22">
            <a:extLst>
              <a:ext uri="{FF2B5EF4-FFF2-40B4-BE49-F238E27FC236}">
                <a16:creationId xmlns:a16="http://schemas.microsoft.com/office/drawing/2014/main" id="{168D6686-89C1-C69E-7700-3E42482BD5D1}"/>
              </a:ext>
            </a:extLst>
          </p:cNvPr>
          <p:cNvSpPr/>
          <p:nvPr/>
        </p:nvSpPr>
        <p:spPr>
          <a:xfrm>
            <a:off x="3219863" y="3496554"/>
            <a:ext cx="218775" cy="218775"/>
          </a:xfrm>
          <a:prstGeom prst="ellipse">
            <a:avLst/>
          </a:prstGeom>
        </p:spPr>
        <p:style>
          <a:lnRef idx="1">
            <a:schemeClr val="dk1"/>
          </a:lnRef>
          <a:fillRef idx="1002">
            <a:schemeClr val="lt2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296CED02-FFE2-A722-645B-6E24A7CB53D1}"/>
              </a:ext>
            </a:extLst>
          </p:cNvPr>
          <p:cNvCxnSpPr>
            <a:cxnSpLocks/>
          </p:cNvCxnSpPr>
          <p:nvPr/>
        </p:nvCxnSpPr>
        <p:spPr>
          <a:xfrm>
            <a:off x="2864833" y="3414814"/>
            <a:ext cx="285151" cy="145465"/>
          </a:xfrm>
          <a:prstGeom prst="bentConnector3">
            <a:avLst>
              <a:gd name="adj1" fmla="val 323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FEB54D67-E7ED-7534-05CB-D120A1A9571E}"/>
              </a:ext>
            </a:extLst>
          </p:cNvPr>
          <p:cNvCxnSpPr>
            <a:cxnSpLocks/>
          </p:cNvCxnSpPr>
          <p:nvPr/>
        </p:nvCxnSpPr>
        <p:spPr>
          <a:xfrm>
            <a:off x="1945073" y="3448329"/>
            <a:ext cx="1204911" cy="211472"/>
          </a:xfrm>
          <a:prstGeom prst="bentConnector3">
            <a:avLst>
              <a:gd name="adj1" fmla="val -79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876AECEE-E23B-9A5F-8CEC-BB2BFB092C10}"/>
              </a:ext>
            </a:extLst>
          </p:cNvPr>
          <p:cNvCxnSpPr>
            <a:cxnSpLocks/>
          </p:cNvCxnSpPr>
          <p:nvPr/>
        </p:nvCxnSpPr>
        <p:spPr>
          <a:xfrm rot="10800000" flipV="1">
            <a:off x="3508517" y="3408600"/>
            <a:ext cx="285151" cy="145465"/>
          </a:xfrm>
          <a:prstGeom prst="bentConnector3">
            <a:avLst>
              <a:gd name="adj1" fmla="val 323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1D20CF27-E296-CEC9-9BA1-35436660E275}"/>
              </a:ext>
            </a:extLst>
          </p:cNvPr>
          <p:cNvCxnSpPr>
            <a:cxnSpLocks/>
          </p:cNvCxnSpPr>
          <p:nvPr/>
        </p:nvCxnSpPr>
        <p:spPr>
          <a:xfrm rot="10800000" flipV="1">
            <a:off x="3512821" y="3443748"/>
            <a:ext cx="1204911" cy="211472"/>
          </a:xfrm>
          <a:prstGeom prst="bentConnector3">
            <a:avLst>
              <a:gd name="adj1" fmla="val -79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8CBB2AC6-0A72-F98C-75D2-6A9E86932B15}"/>
              </a:ext>
            </a:extLst>
          </p:cNvPr>
          <p:cNvCxnSpPr>
            <a:cxnSpLocks/>
          </p:cNvCxnSpPr>
          <p:nvPr/>
        </p:nvCxnSpPr>
        <p:spPr>
          <a:xfrm>
            <a:off x="3331163" y="3812302"/>
            <a:ext cx="0" cy="378727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528B0C6E-8C35-077E-CAE4-B53AF7828286}"/>
              </a:ext>
            </a:extLst>
          </p:cNvPr>
          <p:cNvSpPr/>
          <p:nvPr/>
        </p:nvSpPr>
        <p:spPr>
          <a:xfrm>
            <a:off x="2532347" y="4297430"/>
            <a:ext cx="1593806" cy="4397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Weighted Aggregation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85110F05-288A-C1FD-C6F3-F39A4945E24F}"/>
              </a:ext>
            </a:extLst>
          </p:cNvPr>
          <p:cNvCxnSpPr>
            <a:cxnSpLocks/>
          </p:cNvCxnSpPr>
          <p:nvPr/>
        </p:nvCxnSpPr>
        <p:spPr>
          <a:xfrm>
            <a:off x="3333076" y="4810293"/>
            <a:ext cx="0" cy="30977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399E5E69-58E4-12C7-E916-DC318EDC6571}"/>
              </a:ext>
            </a:extLst>
          </p:cNvPr>
          <p:cNvSpPr/>
          <p:nvPr/>
        </p:nvSpPr>
        <p:spPr>
          <a:xfrm>
            <a:off x="2534260" y="5193129"/>
            <a:ext cx="1593806" cy="4397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Sort + Top-N + Final Output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135256E-E243-2B41-C61E-E60437A662AF}"/>
              </a:ext>
            </a:extLst>
          </p:cNvPr>
          <p:cNvSpPr/>
          <p:nvPr/>
        </p:nvSpPr>
        <p:spPr>
          <a:xfrm>
            <a:off x="2532347" y="6094969"/>
            <a:ext cx="1593806" cy="43979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Json response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2C0C9292-BAD7-C0BF-1877-6ED4A4C5D0F0}"/>
              </a:ext>
            </a:extLst>
          </p:cNvPr>
          <p:cNvCxnSpPr>
            <a:cxnSpLocks/>
          </p:cNvCxnSpPr>
          <p:nvPr/>
        </p:nvCxnSpPr>
        <p:spPr>
          <a:xfrm>
            <a:off x="3333323" y="5694868"/>
            <a:ext cx="0" cy="30977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E927AEFB-A76E-E448-3ECC-069460DCFBF2}"/>
              </a:ext>
            </a:extLst>
          </p:cNvPr>
          <p:cNvGrpSpPr/>
          <p:nvPr/>
        </p:nvGrpSpPr>
        <p:grpSpPr>
          <a:xfrm>
            <a:off x="2341726" y="1413742"/>
            <a:ext cx="1975048" cy="775299"/>
            <a:chOff x="10490" y="2427201"/>
            <a:chExt cx="1033571" cy="775299"/>
          </a:xfrm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3BE55D54-34E1-9437-60DF-85543AF56F1F}"/>
                </a:ext>
              </a:extLst>
            </p:cNvPr>
            <p:cNvSpPr/>
            <p:nvPr/>
          </p:nvSpPr>
          <p:spPr>
            <a:xfrm>
              <a:off x="10490" y="2427201"/>
              <a:ext cx="1033571" cy="775299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8EF347C6-7739-F72B-A0E3-5A8AB1305966}"/>
                </a:ext>
              </a:extLst>
            </p:cNvPr>
            <p:cNvSpPr/>
            <p:nvPr/>
          </p:nvSpPr>
          <p:spPr>
            <a:xfrm>
              <a:off x="101747" y="2777201"/>
              <a:ext cx="404274" cy="370142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scores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96DAEC91-5854-85A8-0920-E7F87FF8C688}"/>
                </a:ext>
              </a:extLst>
            </p:cNvPr>
            <p:cNvSpPr txBox="1"/>
            <p:nvPr/>
          </p:nvSpPr>
          <p:spPr>
            <a:xfrm>
              <a:off x="97803" y="2437180"/>
              <a:ext cx="87626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Inputs</a:t>
              </a:r>
              <a:endParaRPr lang="en-US" sz="1050" dirty="0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1FB94F6F-0378-0DBC-FB6D-A8D1CAAEDB81}"/>
                </a:ext>
              </a:extLst>
            </p:cNvPr>
            <p:cNvSpPr/>
            <p:nvPr/>
          </p:nvSpPr>
          <p:spPr>
            <a:xfrm>
              <a:off x="556345" y="2777201"/>
              <a:ext cx="404274" cy="370142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indices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</p:grp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B5FF820D-76D3-DD5C-F3C6-A639AE8CE4E9}"/>
              </a:ext>
            </a:extLst>
          </p:cNvPr>
          <p:cNvCxnSpPr>
            <a:cxnSpLocks/>
          </p:cNvCxnSpPr>
          <p:nvPr/>
        </p:nvCxnSpPr>
        <p:spPr>
          <a:xfrm flipH="1">
            <a:off x="3329250" y="2233306"/>
            <a:ext cx="1" cy="159346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Title 1">
            <a:extLst>
              <a:ext uri="{FF2B5EF4-FFF2-40B4-BE49-F238E27FC236}">
                <a16:creationId xmlns:a16="http://schemas.microsoft.com/office/drawing/2014/main" id="{9FA5D99E-E6DE-48C5-C466-1A0AE1BAB550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265507744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909368-9E79-D3EF-1AD5-DFC62AC515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0F877005-7842-E53A-71EC-67ACC39C250B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6563E37-7449-88E7-531F-DD47615EAE3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D9C1BA16-659F-45F7-5FE9-1A88F51C87BA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D079BC7-4DCC-AB79-F052-194CD572C250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F26FAD5-A802-C811-C405-6B1D7C332810}"/>
              </a:ext>
            </a:extLst>
          </p:cNvPr>
          <p:cNvSpPr/>
          <p:nvPr/>
        </p:nvSpPr>
        <p:spPr>
          <a:xfrm>
            <a:off x="638383" y="859879"/>
            <a:ext cx="5265878" cy="51871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tx1"/>
                </a:solidFill>
                <a:cs typeface="Poppins Light"/>
              </a:rPr>
              <a:t>Overview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DB9B9DCE-C567-1BB7-E620-4C6C6684A090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5491010-09BD-D72B-DAB3-E812DCB3318A}"/>
              </a:ext>
            </a:extLst>
          </p:cNvPr>
          <p:cNvGrpSpPr/>
          <p:nvPr/>
        </p:nvGrpSpPr>
        <p:grpSpPr>
          <a:xfrm>
            <a:off x="1382298" y="2429185"/>
            <a:ext cx="3893906" cy="1495360"/>
            <a:chOff x="213358" y="1919130"/>
            <a:chExt cx="1283172" cy="1495360"/>
          </a:xfrm>
          <a:solidFill>
            <a:schemeClr val="bg1">
              <a:lumMod val="85000"/>
            </a:schemeClr>
          </a:solidFill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47FD92FA-19D5-C4E0-AC6A-0FD1CF67040F}"/>
                </a:ext>
              </a:extLst>
            </p:cNvPr>
            <p:cNvSpPr/>
            <p:nvPr/>
          </p:nvSpPr>
          <p:spPr>
            <a:xfrm>
              <a:off x="213358" y="1919130"/>
              <a:ext cx="1283172" cy="149536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27278496-A1BD-24D4-2ABA-4CC587947B91}"/>
                </a:ext>
              </a:extLst>
            </p:cNvPr>
            <p:cNvSpPr/>
            <p:nvPr/>
          </p:nvSpPr>
          <p:spPr>
            <a:xfrm>
              <a:off x="259738" y="2429685"/>
              <a:ext cx="278147" cy="370142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vector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A7BB0661-51A9-EACF-9104-0C8878CBFA21}"/>
                </a:ext>
              </a:extLst>
            </p:cNvPr>
            <p:cNvSpPr/>
            <p:nvPr/>
          </p:nvSpPr>
          <p:spPr>
            <a:xfrm>
              <a:off x="869945" y="2427304"/>
              <a:ext cx="278147" cy="370142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rPr>
                <a:t>recency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9898E261-58D7-25AB-EE67-169A6C391EB0}"/>
                </a:ext>
              </a:extLst>
            </p:cNvPr>
            <p:cNvSpPr/>
            <p:nvPr/>
          </p:nvSpPr>
          <p:spPr>
            <a:xfrm>
              <a:off x="1174409" y="2427304"/>
              <a:ext cx="278147" cy="370142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popularity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82B7F7FC-2ABE-F979-6C1E-6ABB5FADD5CE}"/>
                </a:ext>
              </a:extLst>
            </p:cNvPr>
            <p:cNvSpPr txBox="1"/>
            <p:nvPr/>
          </p:nvSpPr>
          <p:spPr>
            <a:xfrm>
              <a:off x="240830" y="2000737"/>
              <a:ext cx="1236792" cy="261610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Subscore function</a:t>
              </a:r>
              <a:endParaRPr lang="en-US" sz="1050" dirty="0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02D368C5-C47A-3418-88A3-C08B65FC54C6}"/>
                </a:ext>
              </a:extLst>
            </p:cNvPr>
            <p:cNvSpPr/>
            <p:nvPr/>
          </p:nvSpPr>
          <p:spPr>
            <a:xfrm>
              <a:off x="564202" y="2429832"/>
              <a:ext cx="278147" cy="370142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rPr>
                <a:t>language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</p:grpSp>
      <p:sp>
        <p:nvSpPr>
          <p:cNvPr id="23" name="Oval 22">
            <a:extLst>
              <a:ext uri="{FF2B5EF4-FFF2-40B4-BE49-F238E27FC236}">
                <a16:creationId xmlns:a16="http://schemas.microsoft.com/office/drawing/2014/main" id="{716C64F0-8B7E-AEBA-BB23-74A1DCF1C96D}"/>
              </a:ext>
            </a:extLst>
          </p:cNvPr>
          <p:cNvSpPr/>
          <p:nvPr/>
        </p:nvSpPr>
        <p:spPr>
          <a:xfrm>
            <a:off x="3219863" y="3496554"/>
            <a:ext cx="218775" cy="218775"/>
          </a:xfrm>
          <a:prstGeom prst="ellipse">
            <a:avLst/>
          </a:prstGeom>
        </p:spPr>
        <p:style>
          <a:lnRef idx="1">
            <a:schemeClr val="dk1"/>
          </a:lnRef>
          <a:fillRef idx="1002">
            <a:schemeClr val="lt2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BA8DA86A-B888-313E-4A4C-398CA563ADA1}"/>
              </a:ext>
            </a:extLst>
          </p:cNvPr>
          <p:cNvCxnSpPr>
            <a:cxnSpLocks/>
          </p:cNvCxnSpPr>
          <p:nvPr/>
        </p:nvCxnSpPr>
        <p:spPr>
          <a:xfrm>
            <a:off x="2864833" y="3414814"/>
            <a:ext cx="285151" cy="145465"/>
          </a:xfrm>
          <a:prstGeom prst="bentConnector3">
            <a:avLst>
              <a:gd name="adj1" fmla="val 323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B77E7002-B9A5-561B-DFDB-DFBA4F89549F}"/>
              </a:ext>
            </a:extLst>
          </p:cNvPr>
          <p:cNvCxnSpPr>
            <a:cxnSpLocks/>
          </p:cNvCxnSpPr>
          <p:nvPr/>
        </p:nvCxnSpPr>
        <p:spPr>
          <a:xfrm>
            <a:off x="1945073" y="3448329"/>
            <a:ext cx="1204911" cy="211472"/>
          </a:xfrm>
          <a:prstGeom prst="bentConnector3">
            <a:avLst>
              <a:gd name="adj1" fmla="val -79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F2DEA4AA-4054-1D98-B6A4-9CCCF573DB4A}"/>
              </a:ext>
            </a:extLst>
          </p:cNvPr>
          <p:cNvCxnSpPr>
            <a:cxnSpLocks/>
          </p:cNvCxnSpPr>
          <p:nvPr/>
        </p:nvCxnSpPr>
        <p:spPr>
          <a:xfrm rot="10800000" flipV="1">
            <a:off x="3508517" y="3408600"/>
            <a:ext cx="285151" cy="145465"/>
          </a:xfrm>
          <a:prstGeom prst="bentConnector3">
            <a:avLst>
              <a:gd name="adj1" fmla="val 323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080BB0D4-1D1E-8CF2-2F0A-F53B099296FB}"/>
              </a:ext>
            </a:extLst>
          </p:cNvPr>
          <p:cNvCxnSpPr>
            <a:cxnSpLocks/>
          </p:cNvCxnSpPr>
          <p:nvPr/>
        </p:nvCxnSpPr>
        <p:spPr>
          <a:xfrm rot="10800000" flipV="1">
            <a:off x="3512821" y="3443748"/>
            <a:ext cx="1204911" cy="211472"/>
          </a:xfrm>
          <a:prstGeom prst="bentConnector3">
            <a:avLst>
              <a:gd name="adj1" fmla="val -79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B76214C-B180-E68D-5B6E-EFE99F0AD4B0}"/>
              </a:ext>
            </a:extLst>
          </p:cNvPr>
          <p:cNvCxnSpPr>
            <a:cxnSpLocks/>
          </p:cNvCxnSpPr>
          <p:nvPr/>
        </p:nvCxnSpPr>
        <p:spPr>
          <a:xfrm>
            <a:off x="3331163" y="3812302"/>
            <a:ext cx="0" cy="378727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6DEF2FBF-CF6D-8FA8-6D53-783CA3416607}"/>
              </a:ext>
            </a:extLst>
          </p:cNvPr>
          <p:cNvSpPr/>
          <p:nvPr/>
        </p:nvSpPr>
        <p:spPr>
          <a:xfrm>
            <a:off x="2532347" y="4297430"/>
            <a:ext cx="1593806" cy="4397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Weighted Aggregation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45751129-AE06-40E0-1841-98BEB017D0D3}"/>
              </a:ext>
            </a:extLst>
          </p:cNvPr>
          <p:cNvCxnSpPr>
            <a:cxnSpLocks/>
          </p:cNvCxnSpPr>
          <p:nvPr/>
        </p:nvCxnSpPr>
        <p:spPr>
          <a:xfrm>
            <a:off x="3333076" y="4810293"/>
            <a:ext cx="0" cy="30977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51CCFB54-3959-8114-4473-081D7C124DDC}"/>
              </a:ext>
            </a:extLst>
          </p:cNvPr>
          <p:cNvSpPr/>
          <p:nvPr/>
        </p:nvSpPr>
        <p:spPr>
          <a:xfrm>
            <a:off x="2534260" y="5193129"/>
            <a:ext cx="1593806" cy="4397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Sort + Top-N + Final Output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799B2D1A-80A1-4320-24F1-0134E22FF3B7}"/>
              </a:ext>
            </a:extLst>
          </p:cNvPr>
          <p:cNvSpPr/>
          <p:nvPr/>
        </p:nvSpPr>
        <p:spPr>
          <a:xfrm>
            <a:off x="2532347" y="6094969"/>
            <a:ext cx="1593806" cy="43979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Json response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DA2C6905-6B8A-EF7C-7E44-834EFED5438F}"/>
              </a:ext>
            </a:extLst>
          </p:cNvPr>
          <p:cNvCxnSpPr>
            <a:cxnSpLocks/>
          </p:cNvCxnSpPr>
          <p:nvPr/>
        </p:nvCxnSpPr>
        <p:spPr>
          <a:xfrm>
            <a:off x="3333323" y="5694868"/>
            <a:ext cx="0" cy="30977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EB8F3F62-1A7F-6C40-4DBC-A059B9643DF6}"/>
              </a:ext>
            </a:extLst>
          </p:cNvPr>
          <p:cNvGrpSpPr/>
          <p:nvPr/>
        </p:nvGrpSpPr>
        <p:grpSpPr>
          <a:xfrm>
            <a:off x="2341726" y="1413742"/>
            <a:ext cx="1975048" cy="775299"/>
            <a:chOff x="10490" y="2427201"/>
            <a:chExt cx="1033571" cy="775299"/>
          </a:xfrm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4E43FA45-CDC3-88DC-79E3-361430B2CC9C}"/>
                </a:ext>
              </a:extLst>
            </p:cNvPr>
            <p:cNvSpPr/>
            <p:nvPr/>
          </p:nvSpPr>
          <p:spPr>
            <a:xfrm>
              <a:off x="10490" y="2427201"/>
              <a:ext cx="1033571" cy="775299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5E164CC3-F414-79A8-0112-89A0745169B6}"/>
                </a:ext>
              </a:extLst>
            </p:cNvPr>
            <p:cNvSpPr/>
            <p:nvPr/>
          </p:nvSpPr>
          <p:spPr>
            <a:xfrm>
              <a:off x="101747" y="2777201"/>
              <a:ext cx="404274" cy="370142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scores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FC26CA43-E642-F4BA-BC87-88FCE07591DD}"/>
                </a:ext>
              </a:extLst>
            </p:cNvPr>
            <p:cNvSpPr txBox="1"/>
            <p:nvPr/>
          </p:nvSpPr>
          <p:spPr>
            <a:xfrm>
              <a:off x="97803" y="2437180"/>
              <a:ext cx="87626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Inputs</a:t>
              </a:r>
              <a:endParaRPr lang="en-US" sz="1050" dirty="0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AE3A051B-B424-B54F-D7C8-57E10172D28E}"/>
                </a:ext>
              </a:extLst>
            </p:cNvPr>
            <p:cNvSpPr/>
            <p:nvPr/>
          </p:nvSpPr>
          <p:spPr>
            <a:xfrm>
              <a:off x="556345" y="2777201"/>
              <a:ext cx="404274" cy="370142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indices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</p:grp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219489E0-CC04-BBC8-FCCA-9500FC83C87C}"/>
              </a:ext>
            </a:extLst>
          </p:cNvPr>
          <p:cNvCxnSpPr>
            <a:cxnSpLocks/>
          </p:cNvCxnSpPr>
          <p:nvPr/>
        </p:nvCxnSpPr>
        <p:spPr>
          <a:xfrm flipH="1">
            <a:off x="3329250" y="2233306"/>
            <a:ext cx="1" cy="159346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Title 1">
            <a:extLst>
              <a:ext uri="{FF2B5EF4-FFF2-40B4-BE49-F238E27FC236}">
                <a16:creationId xmlns:a16="http://schemas.microsoft.com/office/drawing/2014/main" id="{8927D82A-436B-CA9A-2CB0-3F56BB2822DB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372881305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D45594-519C-BE0C-1757-09039F93AE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D412317A-D09F-EFF2-C875-46B419712237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A569F37A-CF64-C48B-D116-6DAFFAB89B4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44A656C5-F5D5-269A-E195-6A93D0901851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781347B-51E8-65AE-127D-AA5A32F1A9C7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4220FE5-1DC5-E096-59BE-32BFCE01C76C}"/>
              </a:ext>
            </a:extLst>
          </p:cNvPr>
          <p:cNvSpPr/>
          <p:nvPr/>
        </p:nvSpPr>
        <p:spPr>
          <a:xfrm>
            <a:off x="638383" y="859879"/>
            <a:ext cx="5265878" cy="51871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tx1"/>
                </a:solidFill>
                <a:cs typeface="Poppins Light"/>
              </a:rPr>
              <a:t>Overview</a:t>
            </a:r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9A9FEF29-C9FF-4B0D-5BBE-786816058058}"/>
              </a:ext>
            </a:extLst>
          </p:cNvPr>
          <p:cNvCxnSpPr>
            <a:cxnSpLocks/>
          </p:cNvCxnSpPr>
          <p:nvPr/>
        </p:nvCxnSpPr>
        <p:spPr>
          <a:xfrm>
            <a:off x="4424666" y="1763742"/>
            <a:ext cx="2157109" cy="2007134"/>
          </a:xfrm>
          <a:prstGeom prst="bentConnector3">
            <a:avLst>
              <a:gd name="adj1" fmla="val 79585"/>
            </a:avLst>
          </a:prstGeom>
          <a:ln w="19050" cap="flat" cmpd="sng" algn="ctr">
            <a:solidFill>
              <a:srgbClr val="FF7E79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" name="Oval 1">
            <a:extLst>
              <a:ext uri="{FF2B5EF4-FFF2-40B4-BE49-F238E27FC236}">
                <a16:creationId xmlns:a16="http://schemas.microsoft.com/office/drawing/2014/main" id="{EF73F69C-0C1F-7EBE-BFA5-2FB242CBE595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B42891DF-1064-DFEE-2B4D-6041C3EE30E1}"/>
              </a:ext>
            </a:extLst>
          </p:cNvPr>
          <p:cNvGrpSpPr/>
          <p:nvPr/>
        </p:nvGrpSpPr>
        <p:grpSpPr>
          <a:xfrm>
            <a:off x="1382298" y="2429185"/>
            <a:ext cx="3893906" cy="1495360"/>
            <a:chOff x="213358" y="1919130"/>
            <a:chExt cx="1283172" cy="1495360"/>
          </a:xfrm>
          <a:solidFill>
            <a:srgbClr val="EAF3F8"/>
          </a:solidFill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2CFF6432-7F06-5C1F-EA27-82B562BA8F47}"/>
                </a:ext>
              </a:extLst>
            </p:cNvPr>
            <p:cNvSpPr/>
            <p:nvPr/>
          </p:nvSpPr>
          <p:spPr>
            <a:xfrm>
              <a:off x="213358" y="1919130"/>
              <a:ext cx="1283172" cy="1495360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A1EF3998-A10A-3FF8-784B-69CAE498955E}"/>
                </a:ext>
              </a:extLst>
            </p:cNvPr>
            <p:cNvSpPr/>
            <p:nvPr/>
          </p:nvSpPr>
          <p:spPr>
            <a:xfrm>
              <a:off x="259738" y="2429685"/>
              <a:ext cx="278147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chemeClr val="bg1">
                      <a:lumMod val="85000"/>
                    </a:schemeClr>
                  </a:solidFill>
                  <a:latin typeface="Poppins Light"/>
                  <a:cs typeface="Sarabun Light"/>
                </a:rPr>
                <a:t>vector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86D454AD-D130-20E5-D617-F1739891A1DD}"/>
                </a:ext>
              </a:extLst>
            </p:cNvPr>
            <p:cNvSpPr/>
            <p:nvPr/>
          </p:nvSpPr>
          <p:spPr>
            <a:xfrm>
              <a:off x="869945" y="2427304"/>
              <a:ext cx="278147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rPr>
                <a:t>recency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51CB45C9-F548-143E-69B6-BCFDF6DF8FA6}"/>
                </a:ext>
              </a:extLst>
            </p:cNvPr>
            <p:cNvSpPr/>
            <p:nvPr/>
          </p:nvSpPr>
          <p:spPr>
            <a:xfrm>
              <a:off x="1174409" y="2427304"/>
              <a:ext cx="278147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chemeClr val="bg1">
                      <a:lumMod val="85000"/>
                    </a:schemeClr>
                  </a:solidFill>
                  <a:latin typeface="Poppins Light"/>
                  <a:cs typeface="Sarabun Light"/>
                </a:rPr>
                <a:t>popularity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FBA05F9A-455C-E693-5C46-2AFBEE83525A}"/>
                </a:ext>
              </a:extLst>
            </p:cNvPr>
            <p:cNvSpPr txBox="1"/>
            <p:nvPr/>
          </p:nvSpPr>
          <p:spPr>
            <a:xfrm>
              <a:off x="240830" y="2000737"/>
              <a:ext cx="1236792" cy="261610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>
                  <a:solidFill>
                    <a:schemeClr val="bg1">
                      <a:lumMod val="85000"/>
                    </a:schemeClr>
                  </a:solidFill>
                </a:rPr>
                <a:t>Subscore function</a:t>
              </a:r>
              <a:endParaRPr lang="en-US" sz="1050" dirty="0">
                <a:solidFill>
                  <a:schemeClr val="bg1">
                    <a:lumMod val="85000"/>
                  </a:schemeClr>
                </a:solidFill>
              </a:endParaRP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5D5900E3-32F4-4766-3EC3-CEB4AD9D0BE8}"/>
                </a:ext>
              </a:extLst>
            </p:cNvPr>
            <p:cNvSpPr/>
            <p:nvPr/>
          </p:nvSpPr>
          <p:spPr>
            <a:xfrm>
              <a:off x="564202" y="2429832"/>
              <a:ext cx="278147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rPr>
                <a:t>language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</p:grpSp>
      <p:sp>
        <p:nvSpPr>
          <p:cNvPr id="23" name="Oval 22">
            <a:extLst>
              <a:ext uri="{FF2B5EF4-FFF2-40B4-BE49-F238E27FC236}">
                <a16:creationId xmlns:a16="http://schemas.microsoft.com/office/drawing/2014/main" id="{1C45376E-D6B8-D99D-69AF-4D68DA471265}"/>
              </a:ext>
            </a:extLst>
          </p:cNvPr>
          <p:cNvSpPr/>
          <p:nvPr/>
        </p:nvSpPr>
        <p:spPr>
          <a:xfrm>
            <a:off x="3219863" y="3496554"/>
            <a:ext cx="218775" cy="218775"/>
          </a:xfrm>
          <a:prstGeom prst="ellipse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dk1"/>
          </a:lnRef>
          <a:fillRef idx="1002">
            <a:schemeClr val="lt2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4EF6E033-55B1-DEC0-2EC3-E9C016E6463F}"/>
              </a:ext>
            </a:extLst>
          </p:cNvPr>
          <p:cNvCxnSpPr>
            <a:cxnSpLocks/>
          </p:cNvCxnSpPr>
          <p:nvPr/>
        </p:nvCxnSpPr>
        <p:spPr>
          <a:xfrm>
            <a:off x="2864833" y="3414814"/>
            <a:ext cx="285151" cy="145465"/>
          </a:xfrm>
          <a:prstGeom prst="bentConnector3">
            <a:avLst>
              <a:gd name="adj1" fmla="val 3235"/>
            </a:avLst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369E44FC-725B-BEE5-E931-6AC310E76525}"/>
              </a:ext>
            </a:extLst>
          </p:cNvPr>
          <p:cNvCxnSpPr>
            <a:cxnSpLocks/>
          </p:cNvCxnSpPr>
          <p:nvPr/>
        </p:nvCxnSpPr>
        <p:spPr>
          <a:xfrm>
            <a:off x="1945073" y="3448329"/>
            <a:ext cx="1204911" cy="211472"/>
          </a:xfrm>
          <a:prstGeom prst="bentConnector3">
            <a:avLst>
              <a:gd name="adj1" fmla="val -791"/>
            </a:avLst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BD316B90-41EB-105A-0881-5A897E577975}"/>
              </a:ext>
            </a:extLst>
          </p:cNvPr>
          <p:cNvCxnSpPr>
            <a:cxnSpLocks/>
          </p:cNvCxnSpPr>
          <p:nvPr/>
        </p:nvCxnSpPr>
        <p:spPr>
          <a:xfrm rot="10800000" flipV="1">
            <a:off x="3508517" y="3408600"/>
            <a:ext cx="285151" cy="145465"/>
          </a:xfrm>
          <a:prstGeom prst="bentConnector3">
            <a:avLst>
              <a:gd name="adj1" fmla="val 3235"/>
            </a:avLst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C22C76C5-5170-1513-7FBA-93FF6071046B}"/>
              </a:ext>
            </a:extLst>
          </p:cNvPr>
          <p:cNvCxnSpPr>
            <a:cxnSpLocks/>
          </p:cNvCxnSpPr>
          <p:nvPr/>
        </p:nvCxnSpPr>
        <p:spPr>
          <a:xfrm rot="10800000" flipV="1">
            <a:off x="3512821" y="3443748"/>
            <a:ext cx="1204911" cy="211472"/>
          </a:xfrm>
          <a:prstGeom prst="bentConnector3">
            <a:avLst>
              <a:gd name="adj1" fmla="val -791"/>
            </a:avLst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DD409CC3-6763-4AB4-850A-4EE0A6707CEE}"/>
              </a:ext>
            </a:extLst>
          </p:cNvPr>
          <p:cNvSpPr/>
          <p:nvPr/>
        </p:nvSpPr>
        <p:spPr>
          <a:xfrm>
            <a:off x="2532347" y="4297430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Weighted Aggregation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2F76015A-7AE5-F2A6-F7EC-D198992E760E}"/>
              </a:ext>
            </a:extLst>
          </p:cNvPr>
          <p:cNvCxnSpPr>
            <a:cxnSpLocks/>
          </p:cNvCxnSpPr>
          <p:nvPr/>
        </p:nvCxnSpPr>
        <p:spPr>
          <a:xfrm>
            <a:off x="3333076" y="4810293"/>
            <a:ext cx="0" cy="30977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2C7FB823-E1C3-0FE9-F8AD-C805A30F97B6}"/>
              </a:ext>
            </a:extLst>
          </p:cNvPr>
          <p:cNvSpPr/>
          <p:nvPr/>
        </p:nvSpPr>
        <p:spPr>
          <a:xfrm>
            <a:off x="2534260" y="5193129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Sort + Top-N + Final Output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6985525-FBF1-FC54-1BAA-05A220086B2C}"/>
              </a:ext>
            </a:extLst>
          </p:cNvPr>
          <p:cNvSpPr/>
          <p:nvPr/>
        </p:nvSpPr>
        <p:spPr>
          <a:xfrm>
            <a:off x="2532347" y="6094969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Json response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0AD31339-DD70-D931-D14C-B2E19A042153}"/>
              </a:ext>
            </a:extLst>
          </p:cNvPr>
          <p:cNvCxnSpPr>
            <a:cxnSpLocks/>
          </p:cNvCxnSpPr>
          <p:nvPr/>
        </p:nvCxnSpPr>
        <p:spPr>
          <a:xfrm>
            <a:off x="3333323" y="5694868"/>
            <a:ext cx="0" cy="30977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6B29E37C-A279-81A9-1730-4F1CE8F07966}"/>
              </a:ext>
            </a:extLst>
          </p:cNvPr>
          <p:cNvGrpSpPr/>
          <p:nvPr/>
        </p:nvGrpSpPr>
        <p:grpSpPr>
          <a:xfrm>
            <a:off x="2341726" y="1413742"/>
            <a:ext cx="1975048" cy="775299"/>
            <a:chOff x="10490" y="2427201"/>
            <a:chExt cx="1033571" cy="775299"/>
          </a:xfrm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70D4DAB0-5E19-F052-DEF6-2213190977A5}"/>
                </a:ext>
              </a:extLst>
            </p:cNvPr>
            <p:cNvSpPr/>
            <p:nvPr/>
          </p:nvSpPr>
          <p:spPr>
            <a:xfrm>
              <a:off x="10490" y="2427201"/>
              <a:ext cx="1033571" cy="775299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60225100-D0CC-12AF-F979-52159EAE1FF6}"/>
                </a:ext>
              </a:extLst>
            </p:cNvPr>
            <p:cNvSpPr/>
            <p:nvPr/>
          </p:nvSpPr>
          <p:spPr>
            <a:xfrm>
              <a:off x="101747" y="2777201"/>
              <a:ext cx="404274" cy="370142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scores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A2FFA875-0EF1-75D3-D800-D89459F900B7}"/>
                </a:ext>
              </a:extLst>
            </p:cNvPr>
            <p:cNvSpPr txBox="1"/>
            <p:nvPr/>
          </p:nvSpPr>
          <p:spPr>
            <a:xfrm>
              <a:off x="97803" y="2437180"/>
              <a:ext cx="87626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Inputs</a:t>
              </a:r>
              <a:endParaRPr lang="en-US" sz="1050" dirty="0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6835A5B1-85CA-74B0-BF5D-5F41D736C6A6}"/>
                </a:ext>
              </a:extLst>
            </p:cNvPr>
            <p:cNvSpPr/>
            <p:nvPr/>
          </p:nvSpPr>
          <p:spPr>
            <a:xfrm>
              <a:off x="556345" y="2777201"/>
              <a:ext cx="404274" cy="370142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indices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</p:grp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49DBF2AE-8306-8A3C-F27F-E1AEB62E091F}"/>
              </a:ext>
            </a:extLst>
          </p:cNvPr>
          <p:cNvCxnSpPr>
            <a:cxnSpLocks/>
          </p:cNvCxnSpPr>
          <p:nvPr/>
        </p:nvCxnSpPr>
        <p:spPr>
          <a:xfrm flipH="1">
            <a:off x="3329250" y="2233306"/>
            <a:ext cx="1" cy="159346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98D23E93-A175-33FE-F64E-4F33669957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01361" y="1524278"/>
            <a:ext cx="4737798" cy="4731370"/>
          </a:xfrm>
          <a:prstGeom prst="rect">
            <a:avLst/>
          </a:prstGeom>
        </p:spPr>
      </p:pic>
      <p:grpSp>
        <p:nvGrpSpPr>
          <p:cNvPr id="34" name="Group 33">
            <a:extLst>
              <a:ext uri="{FF2B5EF4-FFF2-40B4-BE49-F238E27FC236}">
                <a16:creationId xmlns:a16="http://schemas.microsoft.com/office/drawing/2014/main" id="{B2743EA5-7AB5-6F0F-7BCA-71017BCA6B53}"/>
              </a:ext>
            </a:extLst>
          </p:cNvPr>
          <p:cNvGrpSpPr/>
          <p:nvPr/>
        </p:nvGrpSpPr>
        <p:grpSpPr>
          <a:xfrm>
            <a:off x="1382298" y="2429185"/>
            <a:ext cx="3893906" cy="1495360"/>
            <a:chOff x="1382298" y="2429185"/>
            <a:chExt cx="3893906" cy="1495360"/>
          </a:xfrm>
          <a:solidFill>
            <a:srgbClr val="EAF3F8"/>
          </a:solidFill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18FC226A-EAED-B484-7E92-65AD95DB02AB}"/>
                </a:ext>
              </a:extLst>
            </p:cNvPr>
            <p:cNvGrpSpPr/>
            <p:nvPr/>
          </p:nvGrpSpPr>
          <p:grpSpPr>
            <a:xfrm>
              <a:off x="1382298" y="2429185"/>
              <a:ext cx="3893906" cy="1495360"/>
              <a:chOff x="213358" y="1919130"/>
              <a:chExt cx="1283172" cy="1495360"/>
            </a:xfrm>
            <a:grpFill/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56E8FF67-4F1C-F398-F610-009ED6FA9D3E}"/>
                  </a:ext>
                </a:extLst>
              </p:cNvPr>
              <p:cNvSpPr/>
              <p:nvPr/>
            </p:nvSpPr>
            <p:spPr>
              <a:xfrm>
                <a:off x="213358" y="1919130"/>
                <a:ext cx="1283172" cy="1495360"/>
              </a:xfrm>
              <a:prstGeom prst="rect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7A018568-8852-1235-BF28-F24B3047C867}"/>
                  </a:ext>
                </a:extLst>
              </p:cNvPr>
              <p:cNvSpPr/>
              <p:nvPr/>
            </p:nvSpPr>
            <p:spPr>
              <a:xfrm>
                <a:off x="869945" y="2427304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85000"/>
                      </a:schemeClr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recency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078EE70A-CA54-D888-6429-26469192F112}"/>
                  </a:ext>
                </a:extLst>
              </p:cNvPr>
              <p:cNvSpPr/>
              <p:nvPr/>
            </p:nvSpPr>
            <p:spPr>
              <a:xfrm>
                <a:off x="1174409" y="2427304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chemeClr val="bg1">
                        <a:lumMod val="85000"/>
                      </a:schemeClr>
                    </a:solidFill>
                    <a:latin typeface="Poppins Light"/>
                    <a:cs typeface="Sarabun Light"/>
                  </a:rPr>
                  <a:t>popularity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2F0D9EF4-C48B-157A-2490-7B545816138B}"/>
                  </a:ext>
                </a:extLst>
              </p:cNvPr>
              <p:cNvSpPr txBox="1"/>
              <p:nvPr/>
            </p:nvSpPr>
            <p:spPr>
              <a:xfrm>
                <a:off x="240830" y="2000737"/>
                <a:ext cx="1236792" cy="261610"/>
              </a:xfrm>
              <a:prstGeom prst="rect">
                <a:avLst/>
              </a:prstGeom>
              <a:solidFill>
                <a:srgbClr val="EAF3F8"/>
              </a:solidFill>
              <a:ln>
                <a:solidFill>
                  <a:srgbClr val="EAF3F8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bg1">
                        <a:lumMod val="85000"/>
                      </a:schemeClr>
                    </a:solidFill>
                  </a:rPr>
                  <a:t>Subscore function</a:t>
                </a:r>
                <a:endParaRPr lang="en-US" sz="1050" dirty="0">
                  <a:solidFill>
                    <a:schemeClr val="bg1">
                      <a:lumMod val="85000"/>
                    </a:schemeClr>
                  </a:solidFill>
                </a:endParaRPr>
              </a:p>
            </p:txBody>
          </p:sp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64053970-BE13-D663-B14D-483FA039059A}"/>
                  </a:ext>
                </a:extLst>
              </p:cNvPr>
              <p:cNvSpPr/>
              <p:nvPr/>
            </p:nvSpPr>
            <p:spPr>
              <a:xfrm>
                <a:off x="263504" y="2429832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85000"/>
                      </a:schemeClr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language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258D2B0C-911F-DBA9-28CB-6A5DD6B48C91}"/>
                  </a:ext>
                </a:extLst>
              </p:cNvPr>
              <p:cNvSpPr txBox="1"/>
              <p:nvPr/>
            </p:nvSpPr>
            <p:spPr>
              <a:xfrm>
                <a:off x="566725" y="2435991"/>
                <a:ext cx="278147" cy="261610"/>
              </a:xfrm>
              <a:prstGeom prst="rect">
                <a:avLst/>
              </a:prstGeom>
              <a:grpFill/>
              <a:ln>
                <a:solidFill>
                  <a:srgbClr val="EAF3F8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bg1">
                        <a:lumMod val="85000"/>
                      </a:schemeClr>
                    </a:solidFill>
                  </a:rPr>
                  <a:t>..…</a:t>
                </a:r>
                <a:endParaRPr lang="en-US" sz="1050" dirty="0">
                  <a:solidFill>
                    <a:schemeClr val="bg1">
                      <a:lumMod val="85000"/>
                    </a:schemeClr>
                  </a:solidFill>
                </a:endParaRPr>
              </a:p>
            </p:txBody>
          </p:sp>
        </p:grp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620BBFFD-E072-9135-C4B6-0A2662E22B62}"/>
                </a:ext>
              </a:extLst>
            </p:cNvPr>
            <p:cNvSpPr/>
            <p:nvPr/>
          </p:nvSpPr>
          <p:spPr>
            <a:xfrm>
              <a:off x="3219863" y="3496554"/>
              <a:ext cx="218775" cy="218775"/>
            </a:xfrm>
            <a:prstGeom prst="ellipse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dk1"/>
            </a:lnRef>
            <a:fillRef idx="1002">
              <a:schemeClr val="lt2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bg1">
                    <a:lumMod val="85000"/>
                  </a:schemeClr>
                </a:solidFill>
              </a:endParaRPr>
            </a:p>
          </p:txBody>
        </p:sp>
        <p:cxnSp>
          <p:nvCxnSpPr>
            <p:cNvPr id="40" name="Connector: Elbow 39">
              <a:extLst>
                <a:ext uri="{FF2B5EF4-FFF2-40B4-BE49-F238E27FC236}">
                  <a16:creationId xmlns:a16="http://schemas.microsoft.com/office/drawing/2014/main" id="{1C6268DE-32F1-166C-8A2B-71D8816B3696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08517" y="3408600"/>
              <a:ext cx="285151" cy="145465"/>
            </a:xfrm>
            <a:prstGeom prst="bentConnector3">
              <a:avLst>
                <a:gd name="adj1" fmla="val 3235"/>
              </a:avLst>
            </a:prstGeom>
            <a:grp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nector: Elbow 40">
              <a:extLst>
                <a:ext uri="{FF2B5EF4-FFF2-40B4-BE49-F238E27FC236}">
                  <a16:creationId xmlns:a16="http://schemas.microsoft.com/office/drawing/2014/main" id="{84B40231-D718-E1FB-AAB0-C486BF71F465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12821" y="3443748"/>
              <a:ext cx="1204911" cy="211472"/>
            </a:xfrm>
            <a:prstGeom prst="bentConnector3">
              <a:avLst>
                <a:gd name="adj1" fmla="val -791"/>
              </a:avLst>
            </a:prstGeom>
            <a:grp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nector: Elbow 41">
              <a:extLst>
                <a:ext uri="{FF2B5EF4-FFF2-40B4-BE49-F238E27FC236}">
                  <a16:creationId xmlns:a16="http://schemas.microsoft.com/office/drawing/2014/main" id="{67F6FDBF-36CB-F794-C722-5AA85A37DE9B}"/>
                </a:ext>
              </a:extLst>
            </p:cNvPr>
            <p:cNvCxnSpPr>
              <a:cxnSpLocks/>
            </p:cNvCxnSpPr>
            <p:nvPr/>
          </p:nvCxnSpPr>
          <p:spPr>
            <a:xfrm>
              <a:off x="2864833" y="3414814"/>
              <a:ext cx="285151" cy="145465"/>
            </a:xfrm>
            <a:prstGeom prst="bentConnector3">
              <a:avLst>
                <a:gd name="adj1" fmla="val 3235"/>
              </a:avLst>
            </a:prstGeom>
            <a:grp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nector: Elbow 45">
              <a:extLst>
                <a:ext uri="{FF2B5EF4-FFF2-40B4-BE49-F238E27FC236}">
                  <a16:creationId xmlns:a16="http://schemas.microsoft.com/office/drawing/2014/main" id="{0F4F1E4D-9BCD-1505-A5DA-621145A30E4C}"/>
                </a:ext>
              </a:extLst>
            </p:cNvPr>
            <p:cNvCxnSpPr>
              <a:cxnSpLocks/>
            </p:cNvCxnSpPr>
            <p:nvPr/>
          </p:nvCxnSpPr>
          <p:spPr>
            <a:xfrm>
              <a:off x="1945073" y="3448329"/>
              <a:ext cx="1204911" cy="211472"/>
            </a:xfrm>
            <a:prstGeom prst="bentConnector3">
              <a:avLst>
                <a:gd name="adj1" fmla="val -791"/>
              </a:avLst>
            </a:prstGeom>
            <a:grp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A14A5430-ED2C-93AB-933E-4022EDEB2C9A}"/>
              </a:ext>
            </a:extLst>
          </p:cNvPr>
          <p:cNvCxnSpPr>
            <a:cxnSpLocks/>
          </p:cNvCxnSpPr>
          <p:nvPr/>
        </p:nvCxnSpPr>
        <p:spPr>
          <a:xfrm>
            <a:off x="3331163" y="3812302"/>
            <a:ext cx="0" cy="378727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4" name="Title 1">
            <a:extLst>
              <a:ext uri="{FF2B5EF4-FFF2-40B4-BE49-F238E27FC236}">
                <a16:creationId xmlns:a16="http://schemas.microsoft.com/office/drawing/2014/main" id="{A774E6D4-1560-CFB3-8AAC-C60187592858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>
                <a:ea typeface="+mn-lt"/>
                <a:cs typeface="+mn-lt"/>
              </a:rPr>
              <a:t>Subscore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46320132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1723A2-BAFD-96D1-B9E6-EC7E9143D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9248C7DB-AB72-EA8B-09B5-CEE68C641AAF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D412317A-D09F-EFF2-C875-46B41971223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014FC34F-4B8F-14DD-89A6-8E6D49B23489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B131A40-4EAB-9B36-F658-3EE6B344C7AF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7C9C6E1-310B-0535-7AE5-AE00523680CD}"/>
              </a:ext>
            </a:extLst>
          </p:cNvPr>
          <p:cNvSpPr/>
          <p:nvPr/>
        </p:nvSpPr>
        <p:spPr>
          <a:xfrm>
            <a:off x="638383" y="859879"/>
            <a:ext cx="5265878" cy="51871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tx1"/>
                </a:solidFill>
                <a:cs typeface="Poppins Light"/>
              </a:rPr>
              <a:t>Overview</a:t>
            </a:r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28738FBB-C9A7-F484-4E25-95BD2344DE98}"/>
              </a:ext>
            </a:extLst>
          </p:cNvPr>
          <p:cNvCxnSpPr>
            <a:cxnSpLocks/>
          </p:cNvCxnSpPr>
          <p:nvPr/>
        </p:nvCxnSpPr>
        <p:spPr>
          <a:xfrm>
            <a:off x="4336919" y="2312979"/>
            <a:ext cx="2931760" cy="1462154"/>
          </a:xfrm>
          <a:prstGeom prst="bentConnector3">
            <a:avLst>
              <a:gd name="adj1" fmla="val 62671"/>
            </a:avLst>
          </a:prstGeom>
          <a:ln w="19050" cap="flat" cmpd="sng" algn="ctr">
            <a:solidFill>
              <a:srgbClr val="FF7E79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" name="Oval 1">
            <a:extLst>
              <a:ext uri="{FF2B5EF4-FFF2-40B4-BE49-F238E27FC236}">
                <a16:creationId xmlns:a16="http://schemas.microsoft.com/office/drawing/2014/main" id="{510993FC-A740-05D8-7BB0-04A25FAACF76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1BCBEC6-6E8A-1FB2-3540-72D99CE96DC8}"/>
              </a:ext>
            </a:extLst>
          </p:cNvPr>
          <p:cNvSpPr/>
          <p:nvPr/>
        </p:nvSpPr>
        <p:spPr>
          <a:xfrm>
            <a:off x="2532347" y="4297430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Weighted Aggregation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F879D052-F790-6690-C5C0-28118DF7FF46}"/>
              </a:ext>
            </a:extLst>
          </p:cNvPr>
          <p:cNvCxnSpPr>
            <a:cxnSpLocks/>
          </p:cNvCxnSpPr>
          <p:nvPr/>
        </p:nvCxnSpPr>
        <p:spPr>
          <a:xfrm>
            <a:off x="3333076" y="4810293"/>
            <a:ext cx="0" cy="30977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7DF5A861-6D96-DA63-B584-2A63C43C765F}"/>
              </a:ext>
            </a:extLst>
          </p:cNvPr>
          <p:cNvSpPr/>
          <p:nvPr/>
        </p:nvSpPr>
        <p:spPr>
          <a:xfrm>
            <a:off x="2534260" y="5193129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Sort + Top-N + Final Output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E40C9F4-4DE7-0DBE-4574-DB603D8048A9}"/>
              </a:ext>
            </a:extLst>
          </p:cNvPr>
          <p:cNvSpPr/>
          <p:nvPr/>
        </p:nvSpPr>
        <p:spPr>
          <a:xfrm>
            <a:off x="2532347" y="6094969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Json response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F2BF5D95-59D2-9994-0A2B-765B6120543F}"/>
              </a:ext>
            </a:extLst>
          </p:cNvPr>
          <p:cNvCxnSpPr>
            <a:cxnSpLocks/>
          </p:cNvCxnSpPr>
          <p:nvPr/>
        </p:nvCxnSpPr>
        <p:spPr>
          <a:xfrm>
            <a:off x="3333323" y="5694868"/>
            <a:ext cx="0" cy="30977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5FE1F1FE-9F65-0D56-9481-1E0DA4FD2736}"/>
              </a:ext>
            </a:extLst>
          </p:cNvPr>
          <p:cNvGrpSpPr/>
          <p:nvPr/>
        </p:nvGrpSpPr>
        <p:grpSpPr>
          <a:xfrm>
            <a:off x="2341726" y="1413742"/>
            <a:ext cx="1975048" cy="775299"/>
            <a:chOff x="10490" y="2427201"/>
            <a:chExt cx="1033571" cy="775299"/>
          </a:xfrm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DC3F51F6-948E-4214-379D-0D4345E1E01C}"/>
                </a:ext>
              </a:extLst>
            </p:cNvPr>
            <p:cNvSpPr/>
            <p:nvPr/>
          </p:nvSpPr>
          <p:spPr>
            <a:xfrm>
              <a:off x="10490" y="2427201"/>
              <a:ext cx="1033571" cy="775299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13CFFBA0-7900-462B-7DB1-E8B4C9A7A497}"/>
                </a:ext>
              </a:extLst>
            </p:cNvPr>
            <p:cNvSpPr/>
            <p:nvPr/>
          </p:nvSpPr>
          <p:spPr>
            <a:xfrm>
              <a:off x="101747" y="2777201"/>
              <a:ext cx="404274" cy="370142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scores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9FA0B320-A474-E2CC-07CA-55500E71A737}"/>
                </a:ext>
              </a:extLst>
            </p:cNvPr>
            <p:cNvSpPr txBox="1"/>
            <p:nvPr/>
          </p:nvSpPr>
          <p:spPr>
            <a:xfrm>
              <a:off x="97803" y="2437180"/>
              <a:ext cx="87626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Inputs</a:t>
              </a:r>
              <a:endParaRPr lang="en-US" sz="1050" dirty="0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6DB6CF18-EEF4-D851-7FF1-A3E86CA28E3E}"/>
                </a:ext>
              </a:extLst>
            </p:cNvPr>
            <p:cNvSpPr/>
            <p:nvPr/>
          </p:nvSpPr>
          <p:spPr>
            <a:xfrm>
              <a:off x="556345" y="2777201"/>
              <a:ext cx="404274" cy="370142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indices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</p:grp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0AFD4F2C-3A42-C4EF-FC69-CE2747E06ECE}"/>
              </a:ext>
            </a:extLst>
          </p:cNvPr>
          <p:cNvCxnSpPr>
            <a:cxnSpLocks/>
          </p:cNvCxnSpPr>
          <p:nvPr/>
        </p:nvCxnSpPr>
        <p:spPr>
          <a:xfrm flipH="1">
            <a:off x="3329250" y="2233306"/>
            <a:ext cx="1" cy="159346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5B7B39A7-5FAD-CC73-5F0B-4F0A472FA7A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3620" y="1119236"/>
            <a:ext cx="3298992" cy="5479406"/>
          </a:xfrm>
          <a:prstGeom prst="rect">
            <a:avLst/>
          </a:prstGeom>
        </p:spPr>
      </p:pic>
      <p:grpSp>
        <p:nvGrpSpPr>
          <p:cNvPr id="34" name="Group 33">
            <a:extLst>
              <a:ext uri="{FF2B5EF4-FFF2-40B4-BE49-F238E27FC236}">
                <a16:creationId xmlns:a16="http://schemas.microsoft.com/office/drawing/2014/main" id="{3AC01373-17C2-0477-DDD3-2C2E3F190909}"/>
              </a:ext>
            </a:extLst>
          </p:cNvPr>
          <p:cNvGrpSpPr/>
          <p:nvPr/>
        </p:nvGrpSpPr>
        <p:grpSpPr>
          <a:xfrm>
            <a:off x="1382298" y="2429185"/>
            <a:ext cx="3893906" cy="1495360"/>
            <a:chOff x="1382298" y="2429185"/>
            <a:chExt cx="3893906" cy="1495360"/>
          </a:xfrm>
          <a:solidFill>
            <a:srgbClr val="EAF3F8"/>
          </a:solidFill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10807C64-C7B8-63E5-957A-37D0E0129BFE}"/>
                </a:ext>
              </a:extLst>
            </p:cNvPr>
            <p:cNvGrpSpPr/>
            <p:nvPr/>
          </p:nvGrpSpPr>
          <p:grpSpPr>
            <a:xfrm>
              <a:off x="1382298" y="2429185"/>
              <a:ext cx="3893906" cy="1495360"/>
              <a:chOff x="213358" y="1919130"/>
              <a:chExt cx="1283172" cy="1495360"/>
            </a:xfrm>
            <a:grpFill/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53922170-6C23-E26D-DE16-9FC6028956A0}"/>
                  </a:ext>
                </a:extLst>
              </p:cNvPr>
              <p:cNvSpPr/>
              <p:nvPr/>
            </p:nvSpPr>
            <p:spPr>
              <a:xfrm>
                <a:off x="213358" y="1919130"/>
                <a:ext cx="1283172" cy="1495360"/>
              </a:xfrm>
              <a:prstGeom prst="rect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15A1EB48-5644-CB7D-710B-ACD6786AEB9E}"/>
                  </a:ext>
                </a:extLst>
              </p:cNvPr>
              <p:cNvSpPr/>
              <p:nvPr/>
            </p:nvSpPr>
            <p:spPr>
              <a:xfrm>
                <a:off x="869945" y="2427304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85000"/>
                      </a:schemeClr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recency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6ED65D0-050E-80CB-FAA8-D7353DD5325B}"/>
                  </a:ext>
                </a:extLst>
              </p:cNvPr>
              <p:cNvSpPr/>
              <p:nvPr/>
            </p:nvSpPr>
            <p:spPr>
              <a:xfrm>
                <a:off x="1174409" y="2427304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chemeClr val="bg1">
                        <a:lumMod val="85000"/>
                      </a:schemeClr>
                    </a:solidFill>
                    <a:latin typeface="Poppins Light"/>
                    <a:cs typeface="Sarabun Light"/>
                  </a:rPr>
                  <a:t>popularity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285B8865-03E7-931C-CE27-AEAFBA9E2880}"/>
                  </a:ext>
                </a:extLst>
              </p:cNvPr>
              <p:cNvSpPr txBox="1"/>
              <p:nvPr/>
            </p:nvSpPr>
            <p:spPr>
              <a:xfrm>
                <a:off x="240830" y="2000737"/>
                <a:ext cx="1236792" cy="261610"/>
              </a:xfrm>
              <a:prstGeom prst="rect">
                <a:avLst/>
              </a:prstGeom>
              <a:solidFill>
                <a:srgbClr val="EAF3F8"/>
              </a:solidFill>
              <a:ln>
                <a:solidFill>
                  <a:srgbClr val="EAF3F8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bg1">
                        <a:lumMod val="85000"/>
                      </a:schemeClr>
                    </a:solidFill>
                  </a:rPr>
                  <a:t>Subscore function</a:t>
                </a:r>
                <a:endParaRPr lang="en-US" sz="1050" dirty="0">
                  <a:solidFill>
                    <a:schemeClr val="bg1">
                      <a:lumMod val="85000"/>
                    </a:schemeClr>
                  </a:solidFill>
                </a:endParaRPr>
              </a:p>
            </p:txBody>
          </p:sp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D26B6A24-7B8D-E5BC-D316-4D4BF98445CF}"/>
                  </a:ext>
                </a:extLst>
              </p:cNvPr>
              <p:cNvSpPr/>
              <p:nvPr/>
            </p:nvSpPr>
            <p:spPr>
              <a:xfrm>
                <a:off x="263504" y="2429832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85000"/>
                      </a:schemeClr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language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CE7181E6-D6C3-2A75-8D47-D6122BF53F76}"/>
                  </a:ext>
                </a:extLst>
              </p:cNvPr>
              <p:cNvSpPr txBox="1"/>
              <p:nvPr/>
            </p:nvSpPr>
            <p:spPr>
              <a:xfrm>
                <a:off x="566725" y="2435991"/>
                <a:ext cx="278147" cy="261610"/>
              </a:xfrm>
              <a:prstGeom prst="rect">
                <a:avLst/>
              </a:prstGeom>
              <a:grpFill/>
              <a:ln>
                <a:solidFill>
                  <a:srgbClr val="EAF3F8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bg1">
                        <a:lumMod val="85000"/>
                      </a:schemeClr>
                    </a:solidFill>
                  </a:rPr>
                  <a:t>..…</a:t>
                </a:r>
                <a:endParaRPr lang="en-US" sz="1050" dirty="0">
                  <a:solidFill>
                    <a:schemeClr val="bg1">
                      <a:lumMod val="85000"/>
                    </a:schemeClr>
                  </a:solidFill>
                </a:endParaRPr>
              </a:p>
            </p:txBody>
          </p:sp>
        </p:grp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151075AA-3E2C-7E7E-F350-C76F7F7C5774}"/>
                </a:ext>
              </a:extLst>
            </p:cNvPr>
            <p:cNvSpPr/>
            <p:nvPr/>
          </p:nvSpPr>
          <p:spPr>
            <a:xfrm>
              <a:off x="3219863" y="3496554"/>
              <a:ext cx="218775" cy="218775"/>
            </a:xfrm>
            <a:prstGeom prst="ellipse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dk1"/>
            </a:lnRef>
            <a:fillRef idx="1002">
              <a:schemeClr val="lt2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bg1">
                    <a:lumMod val="85000"/>
                  </a:schemeClr>
                </a:solidFill>
              </a:endParaRPr>
            </a:p>
          </p:txBody>
        </p:sp>
        <p:cxnSp>
          <p:nvCxnSpPr>
            <p:cNvPr id="40" name="Connector: Elbow 39">
              <a:extLst>
                <a:ext uri="{FF2B5EF4-FFF2-40B4-BE49-F238E27FC236}">
                  <a16:creationId xmlns:a16="http://schemas.microsoft.com/office/drawing/2014/main" id="{1C72B69A-E424-492D-8FAD-0D05F807AEBC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08517" y="3408600"/>
              <a:ext cx="285151" cy="145465"/>
            </a:xfrm>
            <a:prstGeom prst="bentConnector3">
              <a:avLst>
                <a:gd name="adj1" fmla="val 3235"/>
              </a:avLst>
            </a:prstGeom>
            <a:grp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nector: Elbow 40">
              <a:extLst>
                <a:ext uri="{FF2B5EF4-FFF2-40B4-BE49-F238E27FC236}">
                  <a16:creationId xmlns:a16="http://schemas.microsoft.com/office/drawing/2014/main" id="{4E05F5A1-6970-EF25-855E-BD7795C5290A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12821" y="3443748"/>
              <a:ext cx="1204911" cy="211472"/>
            </a:xfrm>
            <a:prstGeom prst="bentConnector3">
              <a:avLst>
                <a:gd name="adj1" fmla="val -791"/>
              </a:avLst>
            </a:prstGeom>
            <a:grp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nector: Elbow 41">
              <a:extLst>
                <a:ext uri="{FF2B5EF4-FFF2-40B4-BE49-F238E27FC236}">
                  <a16:creationId xmlns:a16="http://schemas.microsoft.com/office/drawing/2014/main" id="{4C04D171-C5AB-E747-E245-D5B311CFFD98}"/>
                </a:ext>
              </a:extLst>
            </p:cNvPr>
            <p:cNvCxnSpPr>
              <a:cxnSpLocks/>
            </p:cNvCxnSpPr>
            <p:nvPr/>
          </p:nvCxnSpPr>
          <p:spPr>
            <a:xfrm>
              <a:off x="2864833" y="3414814"/>
              <a:ext cx="285151" cy="145465"/>
            </a:xfrm>
            <a:prstGeom prst="bentConnector3">
              <a:avLst>
                <a:gd name="adj1" fmla="val 3235"/>
              </a:avLst>
            </a:prstGeom>
            <a:grp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nector: Elbow 45">
              <a:extLst>
                <a:ext uri="{FF2B5EF4-FFF2-40B4-BE49-F238E27FC236}">
                  <a16:creationId xmlns:a16="http://schemas.microsoft.com/office/drawing/2014/main" id="{65C0CA04-251B-CCA1-CAE4-53D0F7712FED}"/>
                </a:ext>
              </a:extLst>
            </p:cNvPr>
            <p:cNvCxnSpPr>
              <a:cxnSpLocks/>
            </p:cNvCxnSpPr>
            <p:nvPr/>
          </p:nvCxnSpPr>
          <p:spPr>
            <a:xfrm>
              <a:off x="1945073" y="3448329"/>
              <a:ext cx="1204911" cy="211472"/>
            </a:xfrm>
            <a:prstGeom prst="bentConnector3">
              <a:avLst>
                <a:gd name="adj1" fmla="val -791"/>
              </a:avLst>
            </a:prstGeom>
            <a:grp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0BA02801-144E-4ABD-9216-E5ABB683026B}"/>
              </a:ext>
            </a:extLst>
          </p:cNvPr>
          <p:cNvCxnSpPr>
            <a:cxnSpLocks/>
          </p:cNvCxnSpPr>
          <p:nvPr/>
        </p:nvCxnSpPr>
        <p:spPr>
          <a:xfrm>
            <a:off x="3331163" y="3812302"/>
            <a:ext cx="0" cy="378727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4" name="Title 1">
            <a:extLst>
              <a:ext uri="{FF2B5EF4-FFF2-40B4-BE49-F238E27FC236}">
                <a16:creationId xmlns:a16="http://schemas.microsoft.com/office/drawing/2014/main" id="{FBD09A45-9B62-23BC-40EC-1517CB234641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>
                <a:ea typeface="+mn-lt"/>
                <a:cs typeface="+mn-lt"/>
              </a:rPr>
              <a:t>Subscore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401451670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C7A2A8-2BBD-1FAB-AE6E-7A94817A6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AB117EBD-B359-09D7-824C-FD288B49D801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C7F02565-9BD3-8B54-4586-807BD81F850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79AD7FAE-94D8-3F36-80BC-D0D2C475A6EC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B109CA9-FB45-7808-42A9-75EAE46DC87C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B2025BA-7943-1D33-BC92-A487335C1506}"/>
              </a:ext>
            </a:extLst>
          </p:cNvPr>
          <p:cNvSpPr/>
          <p:nvPr/>
        </p:nvSpPr>
        <p:spPr>
          <a:xfrm>
            <a:off x="638383" y="859879"/>
            <a:ext cx="5265878" cy="51871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600" b="1" dirty="0">
                <a:solidFill>
                  <a:schemeClr val="tx1"/>
                </a:solidFill>
                <a:cs typeface="Poppins Light"/>
              </a:rPr>
              <a:t>Overview</a:t>
            </a:r>
            <a:endParaRPr lang="en-GB" sz="1400" b="1" dirty="0">
              <a:solidFill>
                <a:schemeClr val="tx1"/>
              </a:solidFill>
              <a:cs typeface="Poppins Light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1C55A8D0-1077-A0FC-8B26-218552473424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4B532A52-197D-551E-C22D-F8455A5BFAB9}"/>
              </a:ext>
            </a:extLst>
          </p:cNvPr>
          <p:cNvGrpSpPr/>
          <p:nvPr/>
        </p:nvGrpSpPr>
        <p:grpSpPr>
          <a:xfrm>
            <a:off x="2341726" y="1413742"/>
            <a:ext cx="1975048" cy="775299"/>
            <a:chOff x="10490" y="2427201"/>
            <a:chExt cx="1033571" cy="775299"/>
          </a:xfrm>
          <a:solidFill>
            <a:srgbClr val="EAF3F8"/>
          </a:solidFill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C75CB9AE-E280-7622-F80F-AA66C6706986}"/>
                </a:ext>
              </a:extLst>
            </p:cNvPr>
            <p:cNvSpPr/>
            <p:nvPr/>
          </p:nvSpPr>
          <p:spPr>
            <a:xfrm>
              <a:off x="10490" y="2427201"/>
              <a:ext cx="1033571" cy="775299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CB5881E4-D292-D8FE-AAE5-EE88B21EC8A2}"/>
                </a:ext>
              </a:extLst>
            </p:cNvPr>
            <p:cNvSpPr/>
            <p:nvPr/>
          </p:nvSpPr>
          <p:spPr>
            <a:xfrm>
              <a:off x="101747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scores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873A94C9-D6CC-A25B-A246-3F5085FC645E}"/>
                </a:ext>
              </a:extLst>
            </p:cNvPr>
            <p:cNvSpPr txBox="1"/>
            <p:nvPr/>
          </p:nvSpPr>
          <p:spPr>
            <a:xfrm>
              <a:off x="97803" y="2437180"/>
              <a:ext cx="876269" cy="261610"/>
            </a:xfrm>
            <a:prstGeom prst="rect">
              <a:avLst/>
            </a:prstGeom>
            <a:noFill/>
            <a:ln>
              <a:solidFill>
                <a:srgbClr val="EAF3F8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Inputs</a:t>
              </a:r>
              <a:endParaRPr lang="en-US" sz="1050" dirty="0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647F9FEC-6D63-B5CB-1CC0-768BD3B6ADDF}"/>
                </a:ext>
              </a:extLst>
            </p:cNvPr>
            <p:cNvSpPr/>
            <p:nvPr/>
          </p:nvSpPr>
          <p:spPr>
            <a:xfrm>
              <a:off x="556345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indices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</p:grp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CE3BB53B-0521-6051-FE2C-8A9D320214B5}"/>
              </a:ext>
            </a:extLst>
          </p:cNvPr>
          <p:cNvCxnSpPr>
            <a:cxnSpLocks/>
          </p:cNvCxnSpPr>
          <p:nvPr/>
        </p:nvCxnSpPr>
        <p:spPr>
          <a:xfrm flipH="1">
            <a:off x="3329250" y="2233306"/>
            <a:ext cx="1" cy="159346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7D937F98-FBB0-2362-A2A3-50BAE97BED40}"/>
              </a:ext>
            </a:extLst>
          </p:cNvPr>
          <p:cNvSpPr/>
          <p:nvPr/>
        </p:nvSpPr>
        <p:spPr>
          <a:xfrm>
            <a:off x="2532347" y="4297430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Weighted Aggregation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B0D5ED3-BF63-040F-689C-B79DDFF8988C}"/>
              </a:ext>
            </a:extLst>
          </p:cNvPr>
          <p:cNvCxnSpPr>
            <a:cxnSpLocks/>
          </p:cNvCxnSpPr>
          <p:nvPr/>
        </p:nvCxnSpPr>
        <p:spPr>
          <a:xfrm>
            <a:off x="3333076" y="4810293"/>
            <a:ext cx="0" cy="30977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5B06F27F-98E2-A3C6-46DE-F2C690CE449D}"/>
              </a:ext>
            </a:extLst>
          </p:cNvPr>
          <p:cNvSpPr/>
          <p:nvPr/>
        </p:nvSpPr>
        <p:spPr>
          <a:xfrm>
            <a:off x="2534260" y="5193129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Sort + Top-N + Final Output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0A48C33-4B1A-B765-032D-318AEEB0CAFA}"/>
              </a:ext>
            </a:extLst>
          </p:cNvPr>
          <p:cNvSpPr/>
          <p:nvPr/>
        </p:nvSpPr>
        <p:spPr>
          <a:xfrm>
            <a:off x="2532347" y="6094969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Json response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85E2E22-6C84-0AD2-8A1D-E0B1B43AB5B9}"/>
              </a:ext>
            </a:extLst>
          </p:cNvPr>
          <p:cNvCxnSpPr>
            <a:cxnSpLocks/>
          </p:cNvCxnSpPr>
          <p:nvPr/>
        </p:nvCxnSpPr>
        <p:spPr>
          <a:xfrm>
            <a:off x="3333323" y="5694868"/>
            <a:ext cx="0" cy="30977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60C1516-4C1C-011A-F848-6B516CC9DF8D}"/>
              </a:ext>
            </a:extLst>
          </p:cNvPr>
          <p:cNvGrpSpPr/>
          <p:nvPr/>
        </p:nvGrpSpPr>
        <p:grpSpPr>
          <a:xfrm>
            <a:off x="1382298" y="2429185"/>
            <a:ext cx="3893906" cy="1495360"/>
            <a:chOff x="1382298" y="2429185"/>
            <a:chExt cx="3893906" cy="1495360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F52B0AE4-788E-3A1D-17D4-5D0D9AE7D5D4}"/>
                </a:ext>
              </a:extLst>
            </p:cNvPr>
            <p:cNvGrpSpPr/>
            <p:nvPr/>
          </p:nvGrpSpPr>
          <p:grpSpPr>
            <a:xfrm>
              <a:off x="1382298" y="2429185"/>
              <a:ext cx="3893906" cy="1495360"/>
              <a:chOff x="213358" y="1919130"/>
              <a:chExt cx="1283172" cy="1495360"/>
            </a:xfrm>
            <a:solidFill>
              <a:schemeClr val="bg1">
                <a:lumMod val="85000"/>
              </a:schemeClr>
            </a:solidFill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00B8B9C1-B7D9-1AEB-C1C8-A070A5D10DF2}"/>
                  </a:ext>
                </a:extLst>
              </p:cNvPr>
              <p:cNvSpPr/>
              <p:nvPr/>
            </p:nvSpPr>
            <p:spPr>
              <a:xfrm>
                <a:off x="213358" y="1919130"/>
                <a:ext cx="1283172" cy="149536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66D24E9C-47D2-F228-E748-34BAD6527B58}"/>
                  </a:ext>
                </a:extLst>
              </p:cNvPr>
              <p:cNvSpPr/>
              <p:nvPr/>
            </p:nvSpPr>
            <p:spPr>
              <a:xfrm>
                <a:off x="869945" y="2427304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72428"/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recency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41543E57-F9E7-0997-5CE8-18DD214D9263}"/>
                  </a:ext>
                </a:extLst>
              </p:cNvPr>
              <p:cNvSpPr/>
              <p:nvPr/>
            </p:nvSpPr>
            <p:spPr>
              <a:xfrm>
                <a:off x="1174409" y="2427304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rgbClr val="272428"/>
                    </a:solidFill>
                    <a:latin typeface="Poppins Light"/>
                    <a:cs typeface="Sarabun Light"/>
                  </a:rPr>
                  <a:t>popularity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1EE363FD-5969-E474-6A3B-A50D7C9EF879}"/>
                  </a:ext>
                </a:extLst>
              </p:cNvPr>
              <p:cNvSpPr txBox="1"/>
              <p:nvPr/>
            </p:nvSpPr>
            <p:spPr>
              <a:xfrm>
                <a:off x="240830" y="2000737"/>
                <a:ext cx="1236792" cy="261610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/>
                  <a:t>Subscore function</a:t>
                </a:r>
                <a:endParaRPr lang="en-US" sz="1050" dirty="0"/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BE0341EA-ACBA-3B50-BDFA-8C1C12985886}"/>
                  </a:ext>
                </a:extLst>
              </p:cNvPr>
              <p:cNvSpPr/>
              <p:nvPr/>
            </p:nvSpPr>
            <p:spPr>
              <a:xfrm>
                <a:off x="263504" y="2429832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72428"/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language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4F51BF4E-B292-05D0-8DCA-274F639EAE3E}"/>
                  </a:ext>
                </a:extLst>
              </p:cNvPr>
              <p:cNvSpPr txBox="1"/>
              <p:nvPr/>
            </p:nvSpPr>
            <p:spPr>
              <a:xfrm>
                <a:off x="566725" y="2435991"/>
                <a:ext cx="278147" cy="261610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/>
                  <a:t>..…</a:t>
                </a:r>
                <a:endParaRPr lang="en-US" sz="1050" dirty="0"/>
              </a:p>
            </p:txBody>
          </p:sp>
        </p:grp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C1D8B076-668A-5641-EEE1-426501E1028F}"/>
                </a:ext>
              </a:extLst>
            </p:cNvPr>
            <p:cNvSpPr/>
            <p:nvPr/>
          </p:nvSpPr>
          <p:spPr>
            <a:xfrm>
              <a:off x="3219863" y="3496554"/>
              <a:ext cx="218775" cy="218775"/>
            </a:xfrm>
            <a:prstGeom prst="ellipse">
              <a:avLst/>
            </a:prstGeom>
          </p:spPr>
          <p:style>
            <a:lnRef idx="1">
              <a:schemeClr val="dk1"/>
            </a:lnRef>
            <a:fillRef idx="1002">
              <a:schemeClr val="lt2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6" name="Connector: Elbow 25">
              <a:extLst>
                <a:ext uri="{FF2B5EF4-FFF2-40B4-BE49-F238E27FC236}">
                  <a16:creationId xmlns:a16="http://schemas.microsoft.com/office/drawing/2014/main" id="{1CD61B43-96C3-2970-E17A-CD88CE2AA8E3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08517" y="3408600"/>
              <a:ext cx="285151" cy="145465"/>
            </a:xfrm>
            <a:prstGeom prst="bentConnector3">
              <a:avLst>
                <a:gd name="adj1" fmla="val 3235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or: Elbow 26">
              <a:extLst>
                <a:ext uri="{FF2B5EF4-FFF2-40B4-BE49-F238E27FC236}">
                  <a16:creationId xmlns:a16="http://schemas.microsoft.com/office/drawing/2014/main" id="{C91B314F-E0BF-F89A-694A-D28B9CC1756F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12821" y="3443748"/>
              <a:ext cx="1204911" cy="211472"/>
            </a:xfrm>
            <a:prstGeom prst="bentConnector3">
              <a:avLst>
                <a:gd name="adj1" fmla="val -791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nector: Elbow 28">
              <a:extLst>
                <a:ext uri="{FF2B5EF4-FFF2-40B4-BE49-F238E27FC236}">
                  <a16:creationId xmlns:a16="http://schemas.microsoft.com/office/drawing/2014/main" id="{39A9ED73-D39D-D559-4957-2B6A34FCFCF3}"/>
                </a:ext>
              </a:extLst>
            </p:cNvPr>
            <p:cNvCxnSpPr>
              <a:cxnSpLocks/>
            </p:cNvCxnSpPr>
            <p:nvPr/>
          </p:nvCxnSpPr>
          <p:spPr>
            <a:xfrm>
              <a:off x="2864833" y="3414814"/>
              <a:ext cx="285151" cy="145465"/>
            </a:xfrm>
            <a:prstGeom prst="bentConnector3">
              <a:avLst>
                <a:gd name="adj1" fmla="val 3235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6FA11DD8-72C6-22AA-AC43-53EE3E65E9F3}"/>
                </a:ext>
              </a:extLst>
            </p:cNvPr>
            <p:cNvCxnSpPr>
              <a:cxnSpLocks/>
            </p:cNvCxnSpPr>
            <p:nvPr/>
          </p:nvCxnSpPr>
          <p:spPr>
            <a:xfrm>
              <a:off x="1945073" y="3448329"/>
              <a:ext cx="1204911" cy="211472"/>
            </a:xfrm>
            <a:prstGeom prst="bentConnector3">
              <a:avLst>
                <a:gd name="adj1" fmla="val -791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89C3215B-40E4-7597-EE8E-7F59612F290A}"/>
              </a:ext>
            </a:extLst>
          </p:cNvPr>
          <p:cNvCxnSpPr>
            <a:cxnSpLocks/>
          </p:cNvCxnSpPr>
          <p:nvPr/>
        </p:nvCxnSpPr>
        <p:spPr>
          <a:xfrm>
            <a:off x="3331163" y="3812302"/>
            <a:ext cx="0" cy="378727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F34772BD-380B-5B05-C84E-1491EC5A802D}"/>
              </a:ext>
            </a:extLst>
          </p:cNvPr>
          <p:cNvSpPr txBox="1"/>
          <p:nvPr/>
        </p:nvSpPr>
        <p:spPr>
          <a:xfrm>
            <a:off x="6382369" y="950934"/>
            <a:ext cx="5294661" cy="1415772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t">
            <a:spAutoFit/>
          </a:bodyPr>
          <a:lstStyle/>
          <a:p>
            <a:r>
              <a:rPr lang="en-US" sz="1600" dirty="0">
                <a:solidFill>
                  <a:schemeClr val="tx1"/>
                </a:solidFill>
                <a:ea typeface="+mn-lt"/>
                <a:cs typeface="+mn-lt"/>
              </a:rPr>
              <a:t>Mapping retrieval outputs to real feed items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- We got internal vector ids (indices), NOT business ids</a:t>
            </a:r>
          </a:p>
          <a:p>
            <a:r>
              <a:rPr lang="en-US" sz="1400" dirty="0">
                <a:solidFill>
                  <a:schemeClr val="tx1"/>
                </a:solidFill>
                <a:cs typeface="Poppins Light"/>
              </a:rPr>
              <a:t>- We convert `</a:t>
            </a:r>
            <a:r>
              <a:rPr lang="en-US" sz="1400" dirty="0" err="1">
                <a:solidFill>
                  <a:schemeClr val="tx1"/>
                </a:solidFill>
                <a:cs typeface="Poppins Light"/>
              </a:rPr>
              <a:t>index_id</a:t>
            </a:r>
            <a:r>
              <a:rPr lang="en-US" sz="1400" dirty="0">
                <a:solidFill>
                  <a:schemeClr val="tx1"/>
                </a:solidFill>
                <a:cs typeface="Poppins Light"/>
              </a:rPr>
              <a:t>` -&gt; `</a:t>
            </a:r>
            <a:r>
              <a:rPr lang="en-US" sz="1400" dirty="0" err="1">
                <a:solidFill>
                  <a:schemeClr val="tx1"/>
                </a:solidFill>
                <a:cs typeface="Poppins Light"/>
              </a:rPr>
              <a:t>feed_id</a:t>
            </a:r>
            <a:r>
              <a:rPr lang="en-US" sz="1400" dirty="0">
                <a:solidFill>
                  <a:schemeClr val="tx1"/>
                </a:solidFill>
                <a:cs typeface="Poppins Light"/>
              </a:rPr>
              <a:t>` via aligned metadata array</a:t>
            </a:r>
          </a:p>
          <a:p>
            <a:r>
              <a:rPr lang="en-US" sz="1400" dirty="0">
                <a:solidFill>
                  <a:schemeClr val="tx1"/>
                </a:solidFill>
                <a:cs typeface="Poppins Light"/>
              </a:rPr>
              <a:t>- Then join `</a:t>
            </a:r>
            <a:r>
              <a:rPr lang="en-US" sz="1400" dirty="0" err="1">
                <a:solidFill>
                  <a:schemeClr val="tx1"/>
                </a:solidFill>
                <a:cs typeface="Poppins Light"/>
              </a:rPr>
              <a:t>feed_id</a:t>
            </a:r>
            <a:r>
              <a:rPr lang="en-US" sz="1400" dirty="0">
                <a:solidFill>
                  <a:schemeClr val="tx1"/>
                </a:solidFill>
                <a:cs typeface="Poppins Light"/>
              </a:rPr>
              <a:t>` -&gt; full feed metadata from </a:t>
            </a:r>
            <a:r>
              <a:rPr lang="en-US" sz="1400" dirty="0" err="1">
                <a:solidFill>
                  <a:schemeClr val="tx1"/>
                </a:solidFill>
                <a:cs typeface="Poppins Light"/>
              </a:rPr>
              <a:t>feeds_meta.jsonl</a:t>
            </a:r>
            <a:endParaRPr lang="en-US" sz="1400" dirty="0">
              <a:solidFill>
                <a:schemeClr val="tx1"/>
              </a:solidFill>
              <a:cs typeface="Poppins Light"/>
            </a:endParaRPr>
          </a:p>
          <a:p>
            <a:r>
              <a:rPr lang="en-US" sz="1400" dirty="0">
                <a:solidFill>
                  <a:schemeClr val="tx1"/>
                </a:solidFill>
                <a:cs typeface="Poppins Light"/>
              </a:rPr>
              <a:t>- </a:t>
            </a:r>
            <a:r>
              <a:rPr lang="en-US" sz="1400" dirty="0" err="1">
                <a:solidFill>
                  <a:schemeClr val="tx1"/>
                </a:solidFill>
                <a:cs typeface="Poppins Light"/>
              </a:rPr>
              <a:t>Resuts</a:t>
            </a:r>
            <a:r>
              <a:rPr lang="en-US" sz="1400" dirty="0">
                <a:solidFill>
                  <a:schemeClr val="tx1"/>
                </a:solidFill>
                <a:cs typeface="Poppins Light"/>
              </a:rPr>
              <a:t> candidates become “real feed items” with fields like title, language </a:t>
            </a:r>
            <a:r>
              <a:rPr lang="en-US" sz="1400" dirty="0" err="1">
                <a:solidFill>
                  <a:schemeClr val="tx1"/>
                </a:solidFill>
                <a:cs typeface="Poppins Light"/>
              </a:rPr>
              <a:t>created_at</a:t>
            </a:r>
            <a:r>
              <a:rPr lang="en-US" sz="1400" dirty="0">
                <a:solidFill>
                  <a:schemeClr val="tx1"/>
                </a:solidFill>
                <a:cs typeface="Poppins Light"/>
              </a:rPr>
              <a:t>, views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2D537747-22FA-EC83-C61B-F9B53CDBAFD9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>
                <a:ea typeface="+mn-lt"/>
                <a:cs typeface="+mn-lt"/>
              </a:rPr>
              <a:t>Subscore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187391437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0BAA11-DA03-B9FB-A84C-5033CFF574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C7F02565-9BD3-8B54-4586-807BD81F8505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6563E37-7449-88E7-531F-DD47615EAE3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5FC47A65-0FD0-5E9C-767F-CB343CF229AE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8F5733A-6FF5-7179-5781-38489A58A312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BCAF373-93D0-9A63-EC39-A26C04A4C8DA}"/>
              </a:ext>
            </a:extLst>
          </p:cNvPr>
          <p:cNvSpPr/>
          <p:nvPr/>
        </p:nvSpPr>
        <p:spPr>
          <a:xfrm>
            <a:off x="638383" y="859879"/>
            <a:ext cx="5265878" cy="51871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600" b="1" dirty="0">
                <a:solidFill>
                  <a:schemeClr val="tx1"/>
                </a:solidFill>
                <a:cs typeface="Poppins Light"/>
              </a:rPr>
              <a:t>Overview</a:t>
            </a:r>
            <a:endParaRPr lang="en-GB" sz="1400" b="1" dirty="0">
              <a:solidFill>
                <a:schemeClr val="tx1"/>
              </a:solidFill>
              <a:cs typeface="Poppins Light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2E0383DA-6807-3554-D7E2-C9EB51F35CE2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A806CB42-170B-9154-488A-AAC77F752229}"/>
              </a:ext>
            </a:extLst>
          </p:cNvPr>
          <p:cNvGrpSpPr/>
          <p:nvPr/>
        </p:nvGrpSpPr>
        <p:grpSpPr>
          <a:xfrm>
            <a:off x="2341726" y="1413742"/>
            <a:ext cx="1975048" cy="775299"/>
            <a:chOff x="10490" y="2427201"/>
            <a:chExt cx="1033571" cy="775299"/>
          </a:xfrm>
          <a:solidFill>
            <a:srgbClr val="EAF3F8"/>
          </a:solidFill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579C701E-3041-66E3-DB3E-BDE611CE82B9}"/>
                </a:ext>
              </a:extLst>
            </p:cNvPr>
            <p:cNvSpPr/>
            <p:nvPr/>
          </p:nvSpPr>
          <p:spPr>
            <a:xfrm>
              <a:off x="10490" y="2427201"/>
              <a:ext cx="1033571" cy="775299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365C9E0D-D850-1766-0BB1-B69D5FCD44EB}"/>
                </a:ext>
              </a:extLst>
            </p:cNvPr>
            <p:cNvSpPr/>
            <p:nvPr/>
          </p:nvSpPr>
          <p:spPr>
            <a:xfrm>
              <a:off x="101747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scores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43AF1C36-05FC-163D-89B4-288C166FA09B}"/>
                </a:ext>
              </a:extLst>
            </p:cNvPr>
            <p:cNvSpPr txBox="1"/>
            <p:nvPr/>
          </p:nvSpPr>
          <p:spPr>
            <a:xfrm>
              <a:off x="97803" y="2437180"/>
              <a:ext cx="876269" cy="261610"/>
            </a:xfrm>
            <a:prstGeom prst="rect">
              <a:avLst/>
            </a:prstGeom>
            <a:noFill/>
            <a:ln>
              <a:solidFill>
                <a:srgbClr val="EAF3F8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Inputs</a:t>
              </a:r>
              <a:endParaRPr lang="en-US" sz="1050" dirty="0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445A8785-5199-6A40-8F16-79F45DEFB426}"/>
                </a:ext>
              </a:extLst>
            </p:cNvPr>
            <p:cNvSpPr/>
            <p:nvPr/>
          </p:nvSpPr>
          <p:spPr>
            <a:xfrm>
              <a:off x="556345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indices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</p:grp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595CB878-6260-8C40-5472-27EA74373D0E}"/>
              </a:ext>
            </a:extLst>
          </p:cNvPr>
          <p:cNvCxnSpPr>
            <a:cxnSpLocks/>
          </p:cNvCxnSpPr>
          <p:nvPr/>
        </p:nvCxnSpPr>
        <p:spPr>
          <a:xfrm flipH="1">
            <a:off x="3329250" y="2233306"/>
            <a:ext cx="1" cy="159346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66C41C58-6C81-1955-31BC-2BD22E9E6B65}"/>
              </a:ext>
            </a:extLst>
          </p:cNvPr>
          <p:cNvSpPr/>
          <p:nvPr/>
        </p:nvSpPr>
        <p:spPr>
          <a:xfrm>
            <a:off x="2532347" y="4297430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Weighted Aggregation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50A20E62-6D42-F24F-7535-680DB0E1770F}"/>
              </a:ext>
            </a:extLst>
          </p:cNvPr>
          <p:cNvCxnSpPr>
            <a:cxnSpLocks/>
          </p:cNvCxnSpPr>
          <p:nvPr/>
        </p:nvCxnSpPr>
        <p:spPr>
          <a:xfrm>
            <a:off x="3333076" y="4810293"/>
            <a:ext cx="0" cy="30977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40919DF4-846A-9BD3-2FEA-574DD5E67EA8}"/>
              </a:ext>
            </a:extLst>
          </p:cNvPr>
          <p:cNvSpPr/>
          <p:nvPr/>
        </p:nvSpPr>
        <p:spPr>
          <a:xfrm>
            <a:off x="2534260" y="5193129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Sort + Top-N + Final Output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2805988-D4C8-87D8-8AE4-33D13215F46F}"/>
              </a:ext>
            </a:extLst>
          </p:cNvPr>
          <p:cNvSpPr/>
          <p:nvPr/>
        </p:nvSpPr>
        <p:spPr>
          <a:xfrm>
            <a:off x="2532347" y="6094969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Json response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3329614-7E00-4B22-321B-31217723F48B}"/>
              </a:ext>
            </a:extLst>
          </p:cNvPr>
          <p:cNvCxnSpPr>
            <a:cxnSpLocks/>
          </p:cNvCxnSpPr>
          <p:nvPr/>
        </p:nvCxnSpPr>
        <p:spPr>
          <a:xfrm>
            <a:off x="3333323" y="5694868"/>
            <a:ext cx="0" cy="30977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4BA004AC-E2EB-5B2E-366B-542EAE8DB7E8}"/>
              </a:ext>
            </a:extLst>
          </p:cNvPr>
          <p:cNvGrpSpPr/>
          <p:nvPr/>
        </p:nvGrpSpPr>
        <p:grpSpPr>
          <a:xfrm>
            <a:off x="1382298" y="2429185"/>
            <a:ext cx="3893906" cy="1495360"/>
            <a:chOff x="1382298" y="2429185"/>
            <a:chExt cx="3893906" cy="1495360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3084A2FE-9CBC-5A09-50B4-EFE54A6471CE}"/>
                </a:ext>
              </a:extLst>
            </p:cNvPr>
            <p:cNvGrpSpPr/>
            <p:nvPr/>
          </p:nvGrpSpPr>
          <p:grpSpPr>
            <a:xfrm>
              <a:off x="1382298" y="2429185"/>
              <a:ext cx="3893906" cy="1495360"/>
              <a:chOff x="213358" y="1919130"/>
              <a:chExt cx="1283172" cy="1495360"/>
            </a:xfrm>
            <a:solidFill>
              <a:schemeClr val="bg1">
                <a:lumMod val="85000"/>
              </a:schemeClr>
            </a:solidFill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3B78ED10-A28A-78C6-3E1F-70B1945030FC}"/>
                  </a:ext>
                </a:extLst>
              </p:cNvPr>
              <p:cNvSpPr/>
              <p:nvPr/>
            </p:nvSpPr>
            <p:spPr>
              <a:xfrm>
                <a:off x="213358" y="1919130"/>
                <a:ext cx="1283172" cy="149536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C3381439-17D9-E29D-4B8D-48A86E01CB1A}"/>
                  </a:ext>
                </a:extLst>
              </p:cNvPr>
              <p:cNvSpPr/>
              <p:nvPr/>
            </p:nvSpPr>
            <p:spPr>
              <a:xfrm>
                <a:off x="869945" y="2427304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72428"/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recency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B4950B6F-0F9D-C48B-0B4F-3B7F80CAAC94}"/>
                  </a:ext>
                </a:extLst>
              </p:cNvPr>
              <p:cNvSpPr/>
              <p:nvPr/>
            </p:nvSpPr>
            <p:spPr>
              <a:xfrm>
                <a:off x="1174409" y="2427304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rgbClr val="272428"/>
                    </a:solidFill>
                    <a:latin typeface="Poppins Light"/>
                    <a:cs typeface="Sarabun Light"/>
                  </a:rPr>
                  <a:t>popularity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8054762C-4CF6-6294-AF4E-06B583090291}"/>
                  </a:ext>
                </a:extLst>
              </p:cNvPr>
              <p:cNvSpPr txBox="1"/>
              <p:nvPr/>
            </p:nvSpPr>
            <p:spPr>
              <a:xfrm>
                <a:off x="240830" y="2000737"/>
                <a:ext cx="1236792" cy="261610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/>
                  <a:t>Subscore function</a:t>
                </a:r>
                <a:endParaRPr lang="en-US" sz="1050" dirty="0"/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4605E307-AB19-74CD-B4CF-F542AEA5C7FD}"/>
                  </a:ext>
                </a:extLst>
              </p:cNvPr>
              <p:cNvSpPr/>
              <p:nvPr/>
            </p:nvSpPr>
            <p:spPr>
              <a:xfrm>
                <a:off x="263504" y="2429832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72428"/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language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70ECE1FA-697A-0E06-05CF-7AB7D0AA735E}"/>
                  </a:ext>
                </a:extLst>
              </p:cNvPr>
              <p:cNvSpPr txBox="1"/>
              <p:nvPr/>
            </p:nvSpPr>
            <p:spPr>
              <a:xfrm>
                <a:off x="566725" y="2435991"/>
                <a:ext cx="278147" cy="261610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/>
                  <a:t>..…</a:t>
                </a:r>
                <a:endParaRPr lang="en-US" sz="1050" dirty="0"/>
              </a:p>
            </p:txBody>
          </p:sp>
        </p:grp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355FED49-11BB-6A2A-0ED9-4EDFECC47DD0}"/>
                </a:ext>
              </a:extLst>
            </p:cNvPr>
            <p:cNvSpPr/>
            <p:nvPr/>
          </p:nvSpPr>
          <p:spPr>
            <a:xfrm>
              <a:off x="3219863" y="3496554"/>
              <a:ext cx="218775" cy="218775"/>
            </a:xfrm>
            <a:prstGeom prst="ellipse">
              <a:avLst/>
            </a:prstGeom>
          </p:spPr>
          <p:style>
            <a:lnRef idx="1">
              <a:schemeClr val="dk1"/>
            </a:lnRef>
            <a:fillRef idx="1002">
              <a:schemeClr val="lt2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6" name="Connector: Elbow 25">
              <a:extLst>
                <a:ext uri="{FF2B5EF4-FFF2-40B4-BE49-F238E27FC236}">
                  <a16:creationId xmlns:a16="http://schemas.microsoft.com/office/drawing/2014/main" id="{E701BFF8-81E7-2BE2-1BD0-4D891FF006C7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08517" y="3408600"/>
              <a:ext cx="285151" cy="145465"/>
            </a:xfrm>
            <a:prstGeom prst="bentConnector3">
              <a:avLst>
                <a:gd name="adj1" fmla="val 3235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or: Elbow 26">
              <a:extLst>
                <a:ext uri="{FF2B5EF4-FFF2-40B4-BE49-F238E27FC236}">
                  <a16:creationId xmlns:a16="http://schemas.microsoft.com/office/drawing/2014/main" id="{7C35158C-31B2-C660-BE07-BF3B680D7693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12821" y="3443748"/>
              <a:ext cx="1204911" cy="211472"/>
            </a:xfrm>
            <a:prstGeom prst="bentConnector3">
              <a:avLst>
                <a:gd name="adj1" fmla="val -791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nector: Elbow 28">
              <a:extLst>
                <a:ext uri="{FF2B5EF4-FFF2-40B4-BE49-F238E27FC236}">
                  <a16:creationId xmlns:a16="http://schemas.microsoft.com/office/drawing/2014/main" id="{63D863BA-4A40-7348-8CF9-CF84331D9B14}"/>
                </a:ext>
              </a:extLst>
            </p:cNvPr>
            <p:cNvCxnSpPr>
              <a:cxnSpLocks/>
            </p:cNvCxnSpPr>
            <p:nvPr/>
          </p:nvCxnSpPr>
          <p:spPr>
            <a:xfrm>
              <a:off x="2864833" y="3414814"/>
              <a:ext cx="285151" cy="145465"/>
            </a:xfrm>
            <a:prstGeom prst="bentConnector3">
              <a:avLst>
                <a:gd name="adj1" fmla="val 3235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9C504984-90DC-DBFF-4287-FA8B71CFB646}"/>
                </a:ext>
              </a:extLst>
            </p:cNvPr>
            <p:cNvCxnSpPr>
              <a:cxnSpLocks/>
            </p:cNvCxnSpPr>
            <p:nvPr/>
          </p:nvCxnSpPr>
          <p:spPr>
            <a:xfrm>
              <a:off x="1945073" y="3448329"/>
              <a:ext cx="1204911" cy="211472"/>
            </a:xfrm>
            <a:prstGeom prst="bentConnector3">
              <a:avLst>
                <a:gd name="adj1" fmla="val -791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28030BF9-BE0D-8E5B-D9D6-56EE69043C08}"/>
              </a:ext>
            </a:extLst>
          </p:cNvPr>
          <p:cNvCxnSpPr>
            <a:cxnSpLocks/>
          </p:cNvCxnSpPr>
          <p:nvPr/>
        </p:nvCxnSpPr>
        <p:spPr>
          <a:xfrm>
            <a:off x="3331163" y="3812302"/>
            <a:ext cx="0" cy="378727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37383AE0-AB7A-A26B-1CF0-A18C356BE24D}"/>
              </a:ext>
            </a:extLst>
          </p:cNvPr>
          <p:cNvSpPr txBox="1"/>
          <p:nvPr/>
        </p:nvSpPr>
        <p:spPr>
          <a:xfrm>
            <a:off x="6404638" y="879576"/>
            <a:ext cx="5282538" cy="1631216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t">
            <a:spAutoFit/>
          </a:bodyPr>
          <a:lstStyle/>
          <a:p>
            <a:r>
              <a:rPr lang="en-US" sz="1600" dirty="0">
                <a:solidFill>
                  <a:schemeClr val="tx1"/>
                </a:solidFill>
                <a:ea typeface="+mn-lt"/>
                <a:cs typeface="+mn-lt"/>
              </a:rPr>
              <a:t>Deterministic Subscore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- We compute 3 interpretable signals per feed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         1. </a:t>
            </a:r>
            <a:r>
              <a:rPr lang="en-US" sz="1400" dirty="0" err="1">
                <a:solidFill>
                  <a:schemeClr val="tx1"/>
                </a:solidFill>
                <a:ea typeface="+mn-lt"/>
                <a:cs typeface="+mn-lt"/>
              </a:rPr>
              <a:t>Language_match</a:t>
            </a:r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 : exact match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         </a:t>
            </a:r>
            <a:r>
              <a:rPr lang="en-US" sz="1400" dirty="0">
                <a:solidFill>
                  <a:schemeClr val="tx1"/>
                </a:solidFill>
                <a:cs typeface="Poppins Light"/>
              </a:rPr>
              <a:t>2. Recency : exponential decay using half-life days</a:t>
            </a:r>
          </a:p>
          <a:p>
            <a:r>
              <a:rPr lang="en-US" sz="1400" dirty="0">
                <a:solidFill>
                  <a:schemeClr val="tx1"/>
                </a:solidFill>
                <a:cs typeface="Poppins Light"/>
              </a:rPr>
              <a:t>         3. Popularity : log-normalized engagement (views/likes/etc.)</a:t>
            </a:r>
          </a:p>
          <a:p>
            <a:r>
              <a:rPr lang="en-US" sz="1400" dirty="0">
                <a:solidFill>
                  <a:schemeClr val="tx1"/>
                </a:solidFill>
                <a:cs typeface="Poppins Light"/>
              </a:rPr>
              <a:t>- All score are bounded in [0,1]</a:t>
            </a:r>
          </a:p>
          <a:p>
            <a:r>
              <a:rPr lang="en-US" sz="1400" dirty="0">
                <a:solidFill>
                  <a:schemeClr val="tx1"/>
                </a:solidFill>
                <a:cs typeface="Poppins Light"/>
              </a:rPr>
              <a:t>- Subscore are deterministic (same inputs -&gt; same output0</a:t>
            </a:r>
          </a:p>
        </p:txBody>
      </p:sp>
      <p:pic>
        <p:nvPicPr>
          <p:cNvPr id="40" name="Picture 39">
            <a:extLst>
              <a:ext uri="{FF2B5EF4-FFF2-40B4-BE49-F238E27FC236}">
                <a16:creationId xmlns:a16="http://schemas.microsoft.com/office/drawing/2014/main" id="{FA1AA7F7-D28D-060F-3A9C-C287CF96FF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8884" y="2866973"/>
            <a:ext cx="5268767" cy="910486"/>
          </a:xfrm>
          <a:prstGeom prst="rect">
            <a:avLst/>
          </a:prstGeom>
        </p:spPr>
      </p:pic>
      <p:sp>
        <p:nvSpPr>
          <p:cNvPr id="41" name="Title 1">
            <a:extLst>
              <a:ext uri="{FF2B5EF4-FFF2-40B4-BE49-F238E27FC236}">
                <a16:creationId xmlns:a16="http://schemas.microsoft.com/office/drawing/2014/main" id="{D5C0CC68-2522-F08B-E8CF-8819A90CF6BF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>
                <a:ea typeface="+mn-lt"/>
                <a:cs typeface="+mn-lt"/>
              </a:rPr>
              <a:t>Subscore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146442347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31CC8C-A038-C7B6-04ED-43DC63E5AB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5DBC14B8-CF74-78B7-9501-415068190D16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C7F02565-9BD3-8B54-4586-807BD81F850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937D2DE4-6678-77A4-4300-7E4B2D0F4BA2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9FC4329-E7B8-D867-EDC0-BE3EC96001D2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AA562E7-7B34-7137-CDCF-FF45FF0BF6A6}"/>
              </a:ext>
            </a:extLst>
          </p:cNvPr>
          <p:cNvSpPr/>
          <p:nvPr/>
        </p:nvSpPr>
        <p:spPr>
          <a:xfrm>
            <a:off x="638383" y="859879"/>
            <a:ext cx="5265878" cy="51871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600" b="1" dirty="0">
                <a:solidFill>
                  <a:schemeClr val="tx1"/>
                </a:solidFill>
                <a:cs typeface="Poppins Light"/>
              </a:rPr>
              <a:t>Overview</a:t>
            </a:r>
            <a:endParaRPr lang="en-GB" sz="1400" b="1" dirty="0">
              <a:solidFill>
                <a:schemeClr val="tx1"/>
              </a:solidFill>
              <a:cs typeface="Poppins Light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5FC5A754-3506-DC46-B281-6A095EB928B2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DCE54055-44A9-29CA-51B8-E7999A1F21E8}"/>
              </a:ext>
            </a:extLst>
          </p:cNvPr>
          <p:cNvGrpSpPr/>
          <p:nvPr/>
        </p:nvGrpSpPr>
        <p:grpSpPr>
          <a:xfrm>
            <a:off x="2341726" y="1413742"/>
            <a:ext cx="1975048" cy="775299"/>
            <a:chOff x="10490" y="2427201"/>
            <a:chExt cx="1033571" cy="775299"/>
          </a:xfrm>
          <a:solidFill>
            <a:srgbClr val="EAF3F8"/>
          </a:solidFill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39B54DAC-6A05-1C02-AD9F-B4D2020B37F4}"/>
                </a:ext>
              </a:extLst>
            </p:cNvPr>
            <p:cNvSpPr/>
            <p:nvPr/>
          </p:nvSpPr>
          <p:spPr>
            <a:xfrm>
              <a:off x="10490" y="2427201"/>
              <a:ext cx="1033571" cy="775299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0FA6D93F-1673-B531-18B6-88923AB850E1}"/>
                </a:ext>
              </a:extLst>
            </p:cNvPr>
            <p:cNvSpPr/>
            <p:nvPr/>
          </p:nvSpPr>
          <p:spPr>
            <a:xfrm>
              <a:off x="101747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scores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50228F97-1C2E-D8EF-F4F1-1499CB3C82BF}"/>
                </a:ext>
              </a:extLst>
            </p:cNvPr>
            <p:cNvSpPr txBox="1"/>
            <p:nvPr/>
          </p:nvSpPr>
          <p:spPr>
            <a:xfrm>
              <a:off x="97803" y="2437180"/>
              <a:ext cx="876269" cy="261610"/>
            </a:xfrm>
            <a:prstGeom prst="rect">
              <a:avLst/>
            </a:prstGeom>
            <a:noFill/>
            <a:ln>
              <a:solidFill>
                <a:srgbClr val="EAF3F8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Inputs</a:t>
              </a:r>
              <a:endParaRPr lang="en-US" sz="1050" dirty="0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AB5FC451-3D27-398D-36C9-16BFA0D5F410}"/>
                </a:ext>
              </a:extLst>
            </p:cNvPr>
            <p:cNvSpPr/>
            <p:nvPr/>
          </p:nvSpPr>
          <p:spPr>
            <a:xfrm>
              <a:off x="556345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indices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</p:grp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F0FE8E83-545A-BF46-2722-7F3CCE1E869A}"/>
              </a:ext>
            </a:extLst>
          </p:cNvPr>
          <p:cNvCxnSpPr>
            <a:cxnSpLocks/>
          </p:cNvCxnSpPr>
          <p:nvPr/>
        </p:nvCxnSpPr>
        <p:spPr>
          <a:xfrm flipH="1">
            <a:off x="3329250" y="2233306"/>
            <a:ext cx="1" cy="159346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7D5B2714-16B5-A232-100A-4CEECD667A95}"/>
              </a:ext>
            </a:extLst>
          </p:cNvPr>
          <p:cNvSpPr/>
          <p:nvPr/>
        </p:nvSpPr>
        <p:spPr>
          <a:xfrm>
            <a:off x="2532347" y="4297430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Weighted Aggregation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394CF2A-0110-7006-70AE-58733A01FAC2}"/>
              </a:ext>
            </a:extLst>
          </p:cNvPr>
          <p:cNvCxnSpPr>
            <a:cxnSpLocks/>
          </p:cNvCxnSpPr>
          <p:nvPr/>
        </p:nvCxnSpPr>
        <p:spPr>
          <a:xfrm>
            <a:off x="3333076" y="4810293"/>
            <a:ext cx="0" cy="30977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D6B7732E-D467-C8AE-2FC3-E43245A36528}"/>
              </a:ext>
            </a:extLst>
          </p:cNvPr>
          <p:cNvSpPr/>
          <p:nvPr/>
        </p:nvSpPr>
        <p:spPr>
          <a:xfrm>
            <a:off x="2534260" y="5193129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Sort + Top-N + Final Output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271B63B-4769-0E45-4293-69C3A674CC7B}"/>
              </a:ext>
            </a:extLst>
          </p:cNvPr>
          <p:cNvSpPr/>
          <p:nvPr/>
        </p:nvSpPr>
        <p:spPr>
          <a:xfrm>
            <a:off x="2532347" y="6094969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Json response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CFA9A62-D97D-429D-FF00-6D2A7B5B491F}"/>
              </a:ext>
            </a:extLst>
          </p:cNvPr>
          <p:cNvCxnSpPr>
            <a:cxnSpLocks/>
          </p:cNvCxnSpPr>
          <p:nvPr/>
        </p:nvCxnSpPr>
        <p:spPr>
          <a:xfrm>
            <a:off x="3333323" y="5694868"/>
            <a:ext cx="0" cy="30977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B9C17C06-C580-4D0B-CF84-12555808DF27}"/>
              </a:ext>
            </a:extLst>
          </p:cNvPr>
          <p:cNvGrpSpPr/>
          <p:nvPr/>
        </p:nvGrpSpPr>
        <p:grpSpPr>
          <a:xfrm>
            <a:off x="1382298" y="2429185"/>
            <a:ext cx="3893906" cy="1495360"/>
            <a:chOff x="1382298" y="2429185"/>
            <a:chExt cx="3893906" cy="1495360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DDAF0763-D9DE-B8F1-FE15-16236BDBAFB8}"/>
                </a:ext>
              </a:extLst>
            </p:cNvPr>
            <p:cNvGrpSpPr/>
            <p:nvPr/>
          </p:nvGrpSpPr>
          <p:grpSpPr>
            <a:xfrm>
              <a:off x="1382298" y="2429185"/>
              <a:ext cx="3893906" cy="1495360"/>
              <a:chOff x="213358" y="1919130"/>
              <a:chExt cx="1283172" cy="1495360"/>
            </a:xfrm>
            <a:solidFill>
              <a:schemeClr val="bg1">
                <a:lumMod val="85000"/>
              </a:schemeClr>
            </a:solidFill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A877B49C-B947-5435-CCEB-E643B1933039}"/>
                  </a:ext>
                </a:extLst>
              </p:cNvPr>
              <p:cNvSpPr/>
              <p:nvPr/>
            </p:nvSpPr>
            <p:spPr>
              <a:xfrm>
                <a:off x="213358" y="1919130"/>
                <a:ext cx="1283172" cy="149536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3DA011A5-F2F2-5DE5-1B4B-1E2E97A87B06}"/>
                  </a:ext>
                </a:extLst>
              </p:cNvPr>
              <p:cNvSpPr/>
              <p:nvPr/>
            </p:nvSpPr>
            <p:spPr>
              <a:xfrm>
                <a:off x="869945" y="2427304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72428"/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recency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10B8E3ED-3B3D-131D-945C-A7ACD819A53A}"/>
                  </a:ext>
                </a:extLst>
              </p:cNvPr>
              <p:cNvSpPr/>
              <p:nvPr/>
            </p:nvSpPr>
            <p:spPr>
              <a:xfrm>
                <a:off x="1174409" y="2427304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rgbClr val="272428"/>
                    </a:solidFill>
                    <a:latin typeface="Poppins Light"/>
                    <a:cs typeface="Sarabun Light"/>
                  </a:rPr>
                  <a:t>popularity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EA85FF01-274E-5C84-D570-537D09EA013F}"/>
                  </a:ext>
                </a:extLst>
              </p:cNvPr>
              <p:cNvSpPr txBox="1"/>
              <p:nvPr/>
            </p:nvSpPr>
            <p:spPr>
              <a:xfrm>
                <a:off x="240830" y="2000737"/>
                <a:ext cx="1236792" cy="261610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/>
                  <a:t>Subscore function</a:t>
                </a:r>
                <a:endParaRPr lang="en-US" sz="1050" dirty="0"/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DEB5F3BC-0904-1503-2661-5ED41D177E8C}"/>
                  </a:ext>
                </a:extLst>
              </p:cNvPr>
              <p:cNvSpPr/>
              <p:nvPr/>
            </p:nvSpPr>
            <p:spPr>
              <a:xfrm>
                <a:off x="263504" y="2429832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72428"/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language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60002C70-98C4-EA0D-F1F2-277B2214F44D}"/>
                  </a:ext>
                </a:extLst>
              </p:cNvPr>
              <p:cNvSpPr txBox="1"/>
              <p:nvPr/>
            </p:nvSpPr>
            <p:spPr>
              <a:xfrm>
                <a:off x="566725" y="2435991"/>
                <a:ext cx="278147" cy="261610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/>
                  <a:t>..…</a:t>
                </a:r>
                <a:endParaRPr lang="en-US" sz="1050" dirty="0"/>
              </a:p>
            </p:txBody>
          </p:sp>
        </p:grp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6BC3B381-7EBE-72B0-3AFA-893443EC901A}"/>
                </a:ext>
              </a:extLst>
            </p:cNvPr>
            <p:cNvSpPr/>
            <p:nvPr/>
          </p:nvSpPr>
          <p:spPr>
            <a:xfrm>
              <a:off x="3219863" y="3496554"/>
              <a:ext cx="218775" cy="218775"/>
            </a:xfrm>
            <a:prstGeom prst="ellipse">
              <a:avLst/>
            </a:prstGeom>
          </p:spPr>
          <p:style>
            <a:lnRef idx="1">
              <a:schemeClr val="dk1"/>
            </a:lnRef>
            <a:fillRef idx="1002">
              <a:schemeClr val="lt2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6" name="Connector: Elbow 25">
              <a:extLst>
                <a:ext uri="{FF2B5EF4-FFF2-40B4-BE49-F238E27FC236}">
                  <a16:creationId xmlns:a16="http://schemas.microsoft.com/office/drawing/2014/main" id="{D2945243-53B9-8704-9DF3-D011A3E4508E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08517" y="3408600"/>
              <a:ext cx="285151" cy="145465"/>
            </a:xfrm>
            <a:prstGeom prst="bentConnector3">
              <a:avLst>
                <a:gd name="adj1" fmla="val 3235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or: Elbow 26">
              <a:extLst>
                <a:ext uri="{FF2B5EF4-FFF2-40B4-BE49-F238E27FC236}">
                  <a16:creationId xmlns:a16="http://schemas.microsoft.com/office/drawing/2014/main" id="{0543E9D4-DF09-E494-BD2E-B8F28B94F0EB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12821" y="3443748"/>
              <a:ext cx="1204911" cy="211472"/>
            </a:xfrm>
            <a:prstGeom prst="bentConnector3">
              <a:avLst>
                <a:gd name="adj1" fmla="val -791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nector: Elbow 28">
              <a:extLst>
                <a:ext uri="{FF2B5EF4-FFF2-40B4-BE49-F238E27FC236}">
                  <a16:creationId xmlns:a16="http://schemas.microsoft.com/office/drawing/2014/main" id="{64012070-0FEE-E5BA-D70D-DAE2DFB29F68}"/>
                </a:ext>
              </a:extLst>
            </p:cNvPr>
            <p:cNvCxnSpPr>
              <a:cxnSpLocks/>
            </p:cNvCxnSpPr>
            <p:nvPr/>
          </p:nvCxnSpPr>
          <p:spPr>
            <a:xfrm>
              <a:off x="2864833" y="3414814"/>
              <a:ext cx="285151" cy="145465"/>
            </a:xfrm>
            <a:prstGeom prst="bentConnector3">
              <a:avLst>
                <a:gd name="adj1" fmla="val 3235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5A0123B6-D1AC-4905-677B-BB8B5B4A9752}"/>
                </a:ext>
              </a:extLst>
            </p:cNvPr>
            <p:cNvCxnSpPr>
              <a:cxnSpLocks/>
            </p:cNvCxnSpPr>
            <p:nvPr/>
          </p:nvCxnSpPr>
          <p:spPr>
            <a:xfrm>
              <a:off x="1945073" y="3448329"/>
              <a:ext cx="1204911" cy="211472"/>
            </a:xfrm>
            <a:prstGeom prst="bentConnector3">
              <a:avLst>
                <a:gd name="adj1" fmla="val -791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D4B2D342-F359-3F30-0885-E4659E0169BA}"/>
              </a:ext>
            </a:extLst>
          </p:cNvPr>
          <p:cNvCxnSpPr>
            <a:cxnSpLocks/>
          </p:cNvCxnSpPr>
          <p:nvPr/>
        </p:nvCxnSpPr>
        <p:spPr>
          <a:xfrm>
            <a:off x="3331163" y="3812302"/>
            <a:ext cx="0" cy="378727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7360D693-86A8-3B13-6724-93D771819668}"/>
              </a:ext>
            </a:extLst>
          </p:cNvPr>
          <p:cNvSpPr txBox="1"/>
          <p:nvPr/>
        </p:nvSpPr>
        <p:spPr>
          <a:xfrm>
            <a:off x="6404638" y="879576"/>
            <a:ext cx="5282538" cy="1200329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t">
            <a:spAutoFit/>
          </a:bodyPr>
          <a:lstStyle/>
          <a:p>
            <a:r>
              <a:rPr lang="en-US" sz="1600" dirty="0">
                <a:solidFill>
                  <a:schemeClr val="tx1"/>
                </a:solidFill>
                <a:ea typeface="+mn-lt"/>
                <a:cs typeface="+mn-lt"/>
              </a:rPr>
              <a:t>Deterministic Subscore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- We compute 3 interpretable signals per feed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         1. </a:t>
            </a:r>
            <a:r>
              <a:rPr lang="en-US" sz="1400" dirty="0" err="1">
                <a:solidFill>
                  <a:schemeClr val="tx1"/>
                </a:solidFill>
                <a:ea typeface="+mn-lt"/>
                <a:cs typeface="+mn-lt"/>
              </a:rPr>
              <a:t>Language_match</a:t>
            </a:r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 : exact match</a:t>
            </a:r>
          </a:p>
          <a:p>
            <a:r>
              <a:rPr lang="en-US" sz="1400" dirty="0">
                <a:solidFill>
                  <a:schemeClr val="bg1">
                    <a:lumMod val="75000"/>
                  </a:schemeClr>
                </a:solidFill>
                <a:ea typeface="+mn-lt"/>
                <a:cs typeface="+mn-lt"/>
              </a:rPr>
              <a:t>         </a:t>
            </a:r>
            <a:r>
              <a:rPr lang="en-US" sz="1400" dirty="0">
                <a:solidFill>
                  <a:schemeClr val="bg1">
                    <a:lumMod val="75000"/>
                  </a:schemeClr>
                </a:solidFill>
                <a:cs typeface="Poppins Light"/>
              </a:rPr>
              <a:t>2. Recency : exponential decay using half-life days</a:t>
            </a:r>
          </a:p>
          <a:p>
            <a:r>
              <a:rPr lang="en-US" sz="1400" dirty="0">
                <a:solidFill>
                  <a:schemeClr val="bg1">
                    <a:lumMod val="75000"/>
                  </a:schemeClr>
                </a:solidFill>
                <a:cs typeface="Poppins Light"/>
              </a:rPr>
              <a:t>         3. Popularity : log-normalized engagement (views/likes/etc.)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04B13D69-EABA-0B75-8D79-A9C283686F7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8431" y="3460877"/>
            <a:ext cx="5282538" cy="1815667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90C9B75A-3DE5-3B36-C3A6-F3607A83A785}"/>
              </a:ext>
            </a:extLst>
          </p:cNvPr>
          <p:cNvSpPr txBox="1"/>
          <p:nvPr/>
        </p:nvSpPr>
        <p:spPr>
          <a:xfrm>
            <a:off x="6404638" y="2148444"/>
            <a:ext cx="5282538" cy="954107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t">
            <a:spAutoFit/>
          </a:bodyPr>
          <a:lstStyle/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- Read feed language from : </a:t>
            </a:r>
            <a:r>
              <a:rPr lang="en-US" sz="1400" dirty="0" err="1">
                <a:solidFill>
                  <a:schemeClr val="tx1"/>
                </a:solidFill>
                <a:ea typeface="+mn-lt"/>
                <a:cs typeface="+mn-lt"/>
              </a:rPr>
              <a:t>feed_meta</a:t>
            </a:r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["lang"]</a:t>
            </a:r>
          </a:p>
          <a:p>
            <a:r>
              <a:rPr lang="en-US" sz="1400" dirty="0">
                <a:solidFill>
                  <a:schemeClr val="tx1"/>
                </a:solidFill>
                <a:cs typeface="Poppins Light"/>
              </a:rPr>
              <a:t>- If equal user language -&gt; 1.0 else -&gt;0.0</a:t>
            </a:r>
          </a:p>
          <a:p>
            <a:r>
              <a:rPr lang="en-US" sz="1400" dirty="0">
                <a:solidFill>
                  <a:schemeClr val="tx1"/>
                </a:solidFill>
                <a:cs typeface="Poppins Light"/>
              </a:rPr>
              <a:t>- It’s a hard match (not similarity, just exact match)</a:t>
            </a:r>
          </a:p>
          <a:p>
            <a:r>
              <a:rPr lang="en-US" sz="1400" dirty="0">
                <a:solidFill>
                  <a:schemeClr val="tx1"/>
                </a:solidFill>
                <a:cs typeface="Poppins Light"/>
              </a:rPr>
              <a:t>- If user prefers "</a:t>
            </a:r>
            <a:r>
              <a:rPr lang="en-US" sz="1400" dirty="0" err="1">
                <a:solidFill>
                  <a:schemeClr val="tx1"/>
                </a:solidFill>
                <a:cs typeface="Poppins Light"/>
              </a:rPr>
              <a:t>th</a:t>
            </a:r>
            <a:r>
              <a:rPr lang="en-US" sz="1400" dirty="0">
                <a:solidFill>
                  <a:schemeClr val="tx1"/>
                </a:solidFill>
                <a:cs typeface="Poppins Light"/>
              </a:rPr>
              <a:t>" , Thai content gets a boost</a:t>
            </a:r>
          </a:p>
        </p:txBody>
      </p:sp>
      <p:sp>
        <p:nvSpPr>
          <p:cNvPr id="25" name="Title 1">
            <a:extLst>
              <a:ext uri="{FF2B5EF4-FFF2-40B4-BE49-F238E27FC236}">
                <a16:creationId xmlns:a16="http://schemas.microsoft.com/office/drawing/2014/main" id="{2049E155-47D1-EFAC-DEB8-9C281AEA6243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>
                <a:ea typeface="+mn-lt"/>
                <a:cs typeface="+mn-lt"/>
              </a:rPr>
              <a:t>Subscore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252953539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9D4918-0ABD-0C97-756A-23C5A65BE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0392DB5E-A91A-8357-C5DE-D625739D2A0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DBC14B8-CF74-78B7-9501-415068190D1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D7C06489-2CFE-58F2-66D1-C49554AFD358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92BDFC8-3B70-998C-093D-71F6AF881802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8365400-A5D7-76BE-32D1-B7522ADAD361}"/>
              </a:ext>
            </a:extLst>
          </p:cNvPr>
          <p:cNvSpPr/>
          <p:nvPr/>
        </p:nvSpPr>
        <p:spPr>
          <a:xfrm>
            <a:off x="638383" y="859879"/>
            <a:ext cx="5265878" cy="51871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600" b="1" dirty="0">
                <a:solidFill>
                  <a:schemeClr val="tx1"/>
                </a:solidFill>
                <a:cs typeface="Poppins Light"/>
              </a:rPr>
              <a:t>Overview</a:t>
            </a:r>
            <a:endParaRPr lang="en-GB" sz="1400" b="1" dirty="0">
              <a:solidFill>
                <a:schemeClr val="tx1"/>
              </a:solidFill>
              <a:cs typeface="Poppins Light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A538B223-8DF6-4384-E2B7-E581CAA3F662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1AF117AC-8250-178D-BE1A-7F5D674822E8}"/>
              </a:ext>
            </a:extLst>
          </p:cNvPr>
          <p:cNvGrpSpPr/>
          <p:nvPr/>
        </p:nvGrpSpPr>
        <p:grpSpPr>
          <a:xfrm>
            <a:off x="2341726" y="1413742"/>
            <a:ext cx="1975048" cy="775299"/>
            <a:chOff x="10490" y="2427201"/>
            <a:chExt cx="1033571" cy="775299"/>
          </a:xfrm>
          <a:solidFill>
            <a:srgbClr val="EAF3F8"/>
          </a:solidFill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187A6233-302C-E9B6-B73B-46B4E7FA6243}"/>
                </a:ext>
              </a:extLst>
            </p:cNvPr>
            <p:cNvSpPr/>
            <p:nvPr/>
          </p:nvSpPr>
          <p:spPr>
            <a:xfrm>
              <a:off x="10490" y="2427201"/>
              <a:ext cx="1033571" cy="775299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383F8C8E-AA9C-487D-B674-38393B9341CC}"/>
                </a:ext>
              </a:extLst>
            </p:cNvPr>
            <p:cNvSpPr/>
            <p:nvPr/>
          </p:nvSpPr>
          <p:spPr>
            <a:xfrm>
              <a:off x="101747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scores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554A4FC4-917B-F4D9-B5C0-2C8324D53879}"/>
                </a:ext>
              </a:extLst>
            </p:cNvPr>
            <p:cNvSpPr txBox="1"/>
            <p:nvPr/>
          </p:nvSpPr>
          <p:spPr>
            <a:xfrm>
              <a:off x="97803" y="2437180"/>
              <a:ext cx="876269" cy="261610"/>
            </a:xfrm>
            <a:prstGeom prst="rect">
              <a:avLst/>
            </a:prstGeom>
            <a:noFill/>
            <a:ln>
              <a:solidFill>
                <a:srgbClr val="EAF3F8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Inputs</a:t>
              </a:r>
              <a:endParaRPr lang="en-US" sz="1050" dirty="0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E9232A0B-1A4C-E7A7-6864-4CC4C6B79D88}"/>
                </a:ext>
              </a:extLst>
            </p:cNvPr>
            <p:cNvSpPr/>
            <p:nvPr/>
          </p:nvSpPr>
          <p:spPr>
            <a:xfrm>
              <a:off x="556345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indices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</p:grp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887AEE92-66BE-8B0E-2CF6-B97C4A206CAF}"/>
              </a:ext>
            </a:extLst>
          </p:cNvPr>
          <p:cNvCxnSpPr>
            <a:cxnSpLocks/>
          </p:cNvCxnSpPr>
          <p:nvPr/>
        </p:nvCxnSpPr>
        <p:spPr>
          <a:xfrm flipH="1">
            <a:off x="3329250" y="2233306"/>
            <a:ext cx="1" cy="159346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FA4D5E8E-6292-D7B9-7BBF-19157849CC83}"/>
              </a:ext>
            </a:extLst>
          </p:cNvPr>
          <p:cNvSpPr/>
          <p:nvPr/>
        </p:nvSpPr>
        <p:spPr>
          <a:xfrm>
            <a:off x="2532347" y="4297430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Weighted Aggregation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51F9A90-4F80-4E95-004A-DD1BD143F6DC}"/>
              </a:ext>
            </a:extLst>
          </p:cNvPr>
          <p:cNvCxnSpPr>
            <a:cxnSpLocks/>
          </p:cNvCxnSpPr>
          <p:nvPr/>
        </p:nvCxnSpPr>
        <p:spPr>
          <a:xfrm>
            <a:off x="3333076" y="4810293"/>
            <a:ext cx="0" cy="30977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B3149DD6-A744-43A0-9113-236A886977DF}"/>
              </a:ext>
            </a:extLst>
          </p:cNvPr>
          <p:cNvSpPr/>
          <p:nvPr/>
        </p:nvSpPr>
        <p:spPr>
          <a:xfrm>
            <a:off x="2534260" y="5193129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Sort + Top-N + Final Output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B8BE398-D5EF-3747-8A3B-392A52644AD8}"/>
              </a:ext>
            </a:extLst>
          </p:cNvPr>
          <p:cNvSpPr/>
          <p:nvPr/>
        </p:nvSpPr>
        <p:spPr>
          <a:xfrm>
            <a:off x="2532347" y="6094969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Json response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E2A42F5-33F7-BA9C-A5D2-BEBC1D1EC48E}"/>
              </a:ext>
            </a:extLst>
          </p:cNvPr>
          <p:cNvCxnSpPr>
            <a:cxnSpLocks/>
          </p:cNvCxnSpPr>
          <p:nvPr/>
        </p:nvCxnSpPr>
        <p:spPr>
          <a:xfrm>
            <a:off x="3333323" y="5694868"/>
            <a:ext cx="0" cy="30977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3F2E92B-82C1-C168-91D0-CE1B6ECB043C}"/>
              </a:ext>
            </a:extLst>
          </p:cNvPr>
          <p:cNvGrpSpPr/>
          <p:nvPr/>
        </p:nvGrpSpPr>
        <p:grpSpPr>
          <a:xfrm>
            <a:off x="1382298" y="2429185"/>
            <a:ext cx="3893906" cy="1495360"/>
            <a:chOff x="1382298" y="2429185"/>
            <a:chExt cx="3893906" cy="1495360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133B1DBA-BFEE-42FB-8B74-FAC8FEBFC029}"/>
                </a:ext>
              </a:extLst>
            </p:cNvPr>
            <p:cNvGrpSpPr/>
            <p:nvPr/>
          </p:nvGrpSpPr>
          <p:grpSpPr>
            <a:xfrm>
              <a:off x="1382298" y="2429185"/>
              <a:ext cx="3893906" cy="1495360"/>
              <a:chOff x="213358" y="1919130"/>
              <a:chExt cx="1283172" cy="1495360"/>
            </a:xfrm>
            <a:solidFill>
              <a:schemeClr val="bg1">
                <a:lumMod val="85000"/>
              </a:schemeClr>
            </a:solidFill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9E4622D7-B505-47CF-7483-9E76C5C8ED4A}"/>
                  </a:ext>
                </a:extLst>
              </p:cNvPr>
              <p:cNvSpPr/>
              <p:nvPr/>
            </p:nvSpPr>
            <p:spPr>
              <a:xfrm>
                <a:off x="213358" y="1919130"/>
                <a:ext cx="1283172" cy="149536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E34B87CB-8157-2492-3867-55E70F7675C3}"/>
                  </a:ext>
                </a:extLst>
              </p:cNvPr>
              <p:cNvSpPr/>
              <p:nvPr/>
            </p:nvSpPr>
            <p:spPr>
              <a:xfrm>
                <a:off x="869945" y="2427304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72428"/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recency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3B677785-AB9E-3631-B426-A895FB662595}"/>
                  </a:ext>
                </a:extLst>
              </p:cNvPr>
              <p:cNvSpPr/>
              <p:nvPr/>
            </p:nvSpPr>
            <p:spPr>
              <a:xfrm>
                <a:off x="1174409" y="2427304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rgbClr val="272428"/>
                    </a:solidFill>
                    <a:latin typeface="Poppins Light"/>
                    <a:cs typeface="Sarabun Light"/>
                  </a:rPr>
                  <a:t>popularity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4A4093D7-E2B7-B427-C0B8-8FB769622B94}"/>
                  </a:ext>
                </a:extLst>
              </p:cNvPr>
              <p:cNvSpPr txBox="1"/>
              <p:nvPr/>
            </p:nvSpPr>
            <p:spPr>
              <a:xfrm>
                <a:off x="240830" y="2000737"/>
                <a:ext cx="1236792" cy="261610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/>
                  <a:t>Subscore function</a:t>
                </a:r>
                <a:endParaRPr lang="en-US" sz="1050" dirty="0"/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9B79193A-EDCC-0F9A-785E-DFD4B5DC6A6D}"/>
                  </a:ext>
                </a:extLst>
              </p:cNvPr>
              <p:cNvSpPr/>
              <p:nvPr/>
            </p:nvSpPr>
            <p:spPr>
              <a:xfrm>
                <a:off x="263504" y="2429832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72428"/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language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22725548-8A1D-97FB-AE84-D5932C278C85}"/>
                  </a:ext>
                </a:extLst>
              </p:cNvPr>
              <p:cNvSpPr txBox="1"/>
              <p:nvPr/>
            </p:nvSpPr>
            <p:spPr>
              <a:xfrm>
                <a:off x="566725" y="2435991"/>
                <a:ext cx="278147" cy="261610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/>
                  <a:t>..…</a:t>
                </a:r>
                <a:endParaRPr lang="en-US" sz="1050" dirty="0"/>
              </a:p>
            </p:txBody>
          </p:sp>
        </p:grp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42F73136-56D1-F8A3-E224-AD3B29B6959F}"/>
                </a:ext>
              </a:extLst>
            </p:cNvPr>
            <p:cNvSpPr/>
            <p:nvPr/>
          </p:nvSpPr>
          <p:spPr>
            <a:xfrm>
              <a:off x="3219863" y="3496554"/>
              <a:ext cx="218775" cy="218775"/>
            </a:xfrm>
            <a:prstGeom prst="ellipse">
              <a:avLst/>
            </a:prstGeom>
          </p:spPr>
          <p:style>
            <a:lnRef idx="1">
              <a:schemeClr val="dk1"/>
            </a:lnRef>
            <a:fillRef idx="1002">
              <a:schemeClr val="lt2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6" name="Connector: Elbow 25">
              <a:extLst>
                <a:ext uri="{FF2B5EF4-FFF2-40B4-BE49-F238E27FC236}">
                  <a16:creationId xmlns:a16="http://schemas.microsoft.com/office/drawing/2014/main" id="{EEB64928-C099-2368-7450-FFCD95443FFA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08517" y="3408600"/>
              <a:ext cx="285151" cy="145465"/>
            </a:xfrm>
            <a:prstGeom prst="bentConnector3">
              <a:avLst>
                <a:gd name="adj1" fmla="val 3235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or: Elbow 26">
              <a:extLst>
                <a:ext uri="{FF2B5EF4-FFF2-40B4-BE49-F238E27FC236}">
                  <a16:creationId xmlns:a16="http://schemas.microsoft.com/office/drawing/2014/main" id="{EE2DEB9C-8296-1682-47BD-F98057DC3768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12821" y="3443748"/>
              <a:ext cx="1204911" cy="211472"/>
            </a:xfrm>
            <a:prstGeom prst="bentConnector3">
              <a:avLst>
                <a:gd name="adj1" fmla="val -791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nector: Elbow 28">
              <a:extLst>
                <a:ext uri="{FF2B5EF4-FFF2-40B4-BE49-F238E27FC236}">
                  <a16:creationId xmlns:a16="http://schemas.microsoft.com/office/drawing/2014/main" id="{9DD9F6FD-0DF9-4F02-2A89-7483315C310A}"/>
                </a:ext>
              </a:extLst>
            </p:cNvPr>
            <p:cNvCxnSpPr>
              <a:cxnSpLocks/>
            </p:cNvCxnSpPr>
            <p:nvPr/>
          </p:nvCxnSpPr>
          <p:spPr>
            <a:xfrm>
              <a:off x="2864833" y="3414814"/>
              <a:ext cx="285151" cy="145465"/>
            </a:xfrm>
            <a:prstGeom prst="bentConnector3">
              <a:avLst>
                <a:gd name="adj1" fmla="val 3235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376CC44B-7571-3626-7369-93194BCFCC65}"/>
                </a:ext>
              </a:extLst>
            </p:cNvPr>
            <p:cNvCxnSpPr>
              <a:cxnSpLocks/>
            </p:cNvCxnSpPr>
            <p:nvPr/>
          </p:nvCxnSpPr>
          <p:spPr>
            <a:xfrm>
              <a:off x="1945073" y="3448329"/>
              <a:ext cx="1204911" cy="211472"/>
            </a:xfrm>
            <a:prstGeom prst="bentConnector3">
              <a:avLst>
                <a:gd name="adj1" fmla="val -791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68990276-48F5-C567-D20A-5428401D7C6F}"/>
              </a:ext>
            </a:extLst>
          </p:cNvPr>
          <p:cNvCxnSpPr>
            <a:cxnSpLocks/>
          </p:cNvCxnSpPr>
          <p:nvPr/>
        </p:nvCxnSpPr>
        <p:spPr>
          <a:xfrm>
            <a:off x="3331163" y="3812302"/>
            <a:ext cx="0" cy="378727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5571BFCE-3A30-AE35-5736-0E912ECF49DE}"/>
              </a:ext>
            </a:extLst>
          </p:cNvPr>
          <p:cNvSpPr txBox="1"/>
          <p:nvPr/>
        </p:nvSpPr>
        <p:spPr>
          <a:xfrm>
            <a:off x="6404638" y="879576"/>
            <a:ext cx="5282538" cy="1200329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t">
            <a:spAutoFit/>
          </a:bodyPr>
          <a:lstStyle/>
          <a:p>
            <a:r>
              <a:rPr lang="en-US" sz="1600" dirty="0">
                <a:solidFill>
                  <a:schemeClr val="tx1"/>
                </a:solidFill>
                <a:ea typeface="+mn-lt"/>
                <a:cs typeface="+mn-lt"/>
              </a:rPr>
              <a:t>Deterministic Subscore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- We compute 3 interpretable signals per feed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         </a:t>
            </a:r>
            <a:r>
              <a:rPr lang="en-US" sz="1400" dirty="0">
                <a:solidFill>
                  <a:schemeClr val="bg1">
                    <a:lumMod val="75000"/>
                  </a:schemeClr>
                </a:solidFill>
                <a:ea typeface="+mn-lt"/>
                <a:cs typeface="+mn-lt"/>
              </a:rPr>
              <a:t>1. </a:t>
            </a:r>
            <a:r>
              <a:rPr lang="en-US" sz="1400" dirty="0" err="1">
                <a:solidFill>
                  <a:schemeClr val="bg1">
                    <a:lumMod val="75000"/>
                  </a:schemeClr>
                </a:solidFill>
                <a:ea typeface="+mn-lt"/>
                <a:cs typeface="+mn-lt"/>
              </a:rPr>
              <a:t>Language_match</a:t>
            </a:r>
            <a:r>
              <a:rPr lang="en-US" sz="1400" dirty="0">
                <a:solidFill>
                  <a:schemeClr val="bg1">
                    <a:lumMod val="75000"/>
                  </a:schemeClr>
                </a:solidFill>
                <a:ea typeface="+mn-lt"/>
                <a:cs typeface="+mn-lt"/>
              </a:rPr>
              <a:t> : exact match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         </a:t>
            </a:r>
            <a:r>
              <a:rPr lang="en-US" sz="1400" dirty="0">
                <a:solidFill>
                  <a:schemeClr val="tx1"/>
                </a:solidFill>
                <a:cs typeface="Poppins Light"/>
              </a:rPr>
              <a:t>2. Recency : exponential decay using half-life days</a:t>
            </a:r>
          </a:p>
          <a:p>
            <a:r>
              <a:rPr lang="en-US" sz="1400" dirty="0">
                <a:solidFill>
                  <a:schemeClr val="bg1">
                    <a:lumMod val="75000"/>
                  </a:schemeClr>
                </a:solidFill>
                <a:cs typeface="Poppins Light"/>
              </a:rPr>
              <a:t>         3. Popularity : log-normalized engagement (views/likes/etc.)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D82AFA85-6CBD-E805-554A-8A5490AF0007}"/>
                  </a:ext>
                </a:extLst>
              </p:cNvPr>
              <p:cNvSpPr txBox="1"/>
              <p:nvPr/>
            </p:nvSpPr>
            <p:spPr>
              <a:xfrm>
                <a:off x="7707575" y="2201348"/>
                <a:ext cx="2644250" cy="44024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𝑟𝑒𝑐𝑒𝑛𝑐𝑦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𝑎𝑔𝑒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_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𝑑𝑎𝑦𝑠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𝑎𝑙𝑓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_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𝑙𝑖𝑓𝑒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_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𝑑𝑎𝑦𝑠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D82AFA85-6CBD-E805-554A-8A5490AF00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07575" y="2201348"/>
                <a:ext cx="2644250" cy="44024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8" name="Picture 47">
            <a:extLst>
              <a:ext uri="{FF2B5EF4-FFF2-40B4-BE49-F238E27FC236}">
                <a16:creationId xmlns:a16="http://schemas.microsoft.com/office/drawing/2014/main" id="{74DF67C0-43A4-2324-0D5D-784EA392289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9897" y="2858950"/>
            <a:ext cx="4832019" cy="3756554"/>
          </a:xfrm>
          <a:prstGeom prst="rect">
            <a:avLst/>
          </a:prstGeom>
        </p:spPr>
      </p:pic>
      <p:sp>
        <p:nvSpPr>
          <p:cNvPr id="49" name="Title 1">
            <a:extLst>
              <a:ext uri="{FF2B5EF4-FFF2-40B4-BE49-F238E27FC236}">
                <a16:creationId xmlns:a16="http://schemas.microsoft.com/office/drawing/2014/main" id="{DF5C407E-AB73-86D1-06A9-15AD8E60DC23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>
                <a:ea typeface="+mn-lt"/>
                <a:cs typeface="+mn-lt"/>
              </a:rPr>
              <a:t>Subscore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293310335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839F05-698A-DC23-F86C-A7F0533DC9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244A1350-3AA1-C79C-AE05-03FFA159CF26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0392DB5E-A91A-8357-C5DE-D625739D2A0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1C67EF69-9187-982E-269C-9B68D47C0C48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E1A2835-88D7-2F97-0AD0-906C0B0C910E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6235209-A1DD-B307-EC8D-70609BDCE3D2}"/>
              </a:ext>
            </a:extLst>
          </p:cNvPr>
          <p:cNvSpPr/>
          <p:nvPr/>
        </p:nvSpPr>
        <p:spPr>
          <a:xfrm>
            <a:off x="638383" y="859879"/>
            <a:ext cx="5265878" cy="51871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600" b="1" dirty="0">
                <a:solidFill>
                  <a:schemeClr val="tx1"/>
                </a:solidFill>
                <a:cs typeface="Poppins Light"/>
              </a:rPr>
              <a:t>Overview</a:t>
            </a:r>
            <a:endParaRPr lang="en-GB" sz="1400" b="1" dirty="0">
              <a:solidFill>
                <a:schemeClr val="tx1"/>
              </a:solidFill>
              <a:cs typeface="Poppins Light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C74BB245-A65F-E0F3-BB41-7C380398A757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2DE17FC4-CA79-D8A7-7F48-01AA6FBA35A4}"/>
              </a:ext>
            </a:extLst>
          </p:cNvPr>
          <p:cNvGrpSpPr/>
          <p:nvPr/>
        </p:nvGrpSpPr>
        <p:grpSpPr>
          <a:xfrm>
            <a:off x="2341726" y="1413742"/>
            <a:ext cx="1975048" cy="775299"/>
            <a:chOff x="10490" y="2427201"/>
            <a:chExt cx="1033571" cy="775299"/>
          </a:xfrm>
          <a:solidFill>
            <a:srgbClr val="EAF3F8"/>
          </a:solidFill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8C8E34DA-F70F-936B-1994-3054E19510D1}"/>
                </a:ext>
              </a:extLst>
            </p:cNvPr>
            <p:cNvSpPr/>
            <p:nvPr/>
          </p:nvSpPr>
          <p:spPr>
            <a:xfrm>
              <a:off x="10490" y="2427201"/>
              <a:ext cx="1033571" cy="775299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7C18BA04-3B82-7B91-7B18-CB22D364EDBE}"/>
                </a:ext>
              </a:extLst>
            </p:cNvPr>
            <p:cNvSpPr/>
            <p:nvPr/>
          </p:nvSpPr>
          <p:spPr>
            <a:xfrm>
              <a:off x="101747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scores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2D9F765C-43D3-21DD-2E90-3EB3CFF5F26A}"/>
                </a:ext>
              </a:extLst>
            </p:cNvPr>
            <p:cNvSpPr txBox="1"/>
            <p:nvPr/>
          </p:nvSpPr>
          <p:spPr>
            <a:xfrm>
              <a:off x="97803" y="2437180"/>
              <a:ext cx="876269" cy="261610"/>
            </a:xfrm>
            <a:prstGeom prst="rect">
              <a:avLst/>
            </a:prstGeom>
            <a:noFill/>
            <a:ln>
              <a:solidFill>
                <a:srgbClr val="EAF3F8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Inputs</a:t>
              </a:r>
              <a:endParaRPr lang="en-US" sz="1050" dirty="0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6088EE78-286E-1951-FC1E-D8A456313CDD}"/>
                </a:ext>
              </a:extLst>
            </p:cNvPr>
            <p:cNvSpPr/>
            <p:nvPr/>
          </p:nvSpPr>
          <p:spPr>
            <a:xfrm>
              <a:off x="556345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indices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</p:grp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80246640-7F72-6F6A-5FC5-E76047D71C83}"/>
              </a:ext>
            </a:extLst>
          </p:cNvPr>
          <p:cNvCxnSpPr>
            <a:cxnSpLocks/>
          </p:cNvCxnSpPr>
          <p:nvPr/>
        </p:nvCxnSpPr>
        <p:spPr>
          <a:xfrm flipH="1">
            <a:off x="3329250" y="2233306"/>
            <a:ext cx="1" cy="159346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FA4C73F2-15D3-FFCF-6E80-A862E6BE8AEA}"/>
              </a:ext>
            </a:extLst>
          </p:cNvPr>
          <p:cNvSpPr/>
          <p:nvPr/>
        </p:nvSpPr>
        <p:spPr>
          <a:xfrm>
            <a:off x="2532347" y="4297430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Weighted Aggregation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6006245-F699-3C2D-CB84-20E9E0EA9E55}"/>
              </a:ext>
            </a:extLst>
          </p:cNvPr>
          <p:cNvCxnSpPr>
            <a:cxnSpLocks/>
          </p:cNvCxnSpPr>
          <p:nvPr/>
        </p:nvCxnSpPr>
        <p:spPr>
          <a:xfrm>
            <a:off x="3333076" y="4810293"/>
            <a:ext cx="0" cy="30977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DF652944-AAA3-FEFE-3B91-33B83A90652D}"/>
              </a:ext>
            </a:extLst>
          </p:cNvPr>
          <p:cNvSpPr/>
          <p:nvPr/>
        </p:nvSpPr>
        <p:spPr>
          <a:xfrm>
            <a:off x="2534260" y="5193129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Sort + Top-N + Final Output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C78DECE-8127-FC8B-6CB4-2D9427BA1E9E}"/>
              </a:ext>
            </a:extLst>
          </p:cNvPr>
          <p:cNvSpPr/>
          <p:nvPr/>
        </p:nvSpPr>
        <p:spPr>
          <a:xfrm>
            <a:off x="2532347" y="6094969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Json response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E053D1E-83D2-3CBA-59C4-ABDC9DCDBD9D}"/>
              </a:ext>
            </a:extLst>
          </p:cNvPr>
          <p:cNvCxnSpPr>
            <a:cxnSpLocks/>
          </p:cNvCxnSpPr>
          <p:nvPr/>
        </p:nvCxnSpPr>
        <p:spPr>
          <a:xfrm>
            <a:off x="3333323" y="5694868"/>
            <a:ext cx="0" cy="30977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A1EDC035-2A8A-1BE0-F228-DF94245CBD43}"/>
              </a:ext>
            </a:extLst>
          </p:cNvPr>
          <p:cNvGrpSpPr/>
          <p:nvPr/>
        </p:nvGrpSpPr>
        <p:grpSpPr>
          <a:xfrm>
            <a:off x="1382298" y="2429185"/>
            <a:ext cx="3893906" cy="1495360"/>
            <a:chOff x="1382298" y="2429185"/>
            <a:chExt cx="3893906" cy="1495360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F44FD97A-F13E-371F-7FB1-D10B0EEE9751}"/>
                </a:ext>
              </a:extLst>
            </p:cNvPr>
            <p:cNvGrpSpPr/>
            <p:nvPr/>
          </p:nvGrpSpPr>
          <p:grpSpPr>
            <a:xfrm>
              <a:off x="1382298" y="2429185"/>
              <a:ext cx="3893906" cy="1495360"/>
              <a:chOff x="213358" y="1919130"/>
              <a:chExt cx="1283172" cy="1495360"/>
            </a:xfrm>
            <a:solidFill>
              <a:schemeClr val="bg1">
                <a:lumMod val="85000"/>
              </a:schemeClr>
            </a:solidFill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17B7A5CA-9E06-FD41-60E3-69D4E656FB4C}"/>
                  </a:ext>
                </a:extLst>
              </p:cNvPr>
              <p:cNvSpPr/>
              <p:nvPr/>
            </p:nvSpPr>
            <p:spPr>
              <a:xfrm>
                <a:off x="213358" y="1919130"/>
                <a:ext cx="1283172" cy="149536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CF86CEEA-BAB7-A0E4-E1B0-1A17CDA18B8D}"/>
                  </a:ext>
                </a:extLst>
              </p:cNvPr>
              <p:cNvSpPr/>
              <p:nvPr/>
            </p:nvSpPr>
            <p:spPr>
              <a:xfrm>
                <a:off x="869945" y="2427304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72428"/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recency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D1E53ADA-0B44-CD9C-0657-875DEDD3A69A}"/>
                  </a:ext>
                </a:extLst>
              </p:cNvPr>
              <p:cNvSpPr/>
              <p:nvPr/>
            </p:nvSpPr>
            <p:spPr>
              <a:xfrm>
                <a:off x="1174409" y="2427304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rgbClr val="272428"/>
                    </a:solidFill>
                    <a:latin typeface="Poppins Light"/>
                    <a:cs typeface="Sarabun Light"/>
                  </a:rPr>
                  <a:t>popularity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E4C687EE-03F4-E051-63CD-DCD2F0BCD139}"/>
                  </a:ext>
                </a:extLst>
              </p:cNvPr>
              <p:cNvSpPr txBox="1"/>
              <p:nvPr/>
            </p:nvSpPr>
            <p:spPr>
              <a:xfrm>
                <a:off x="240830" y="2000737"/>
                <a:ext cx="1236792" cy="261610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/>
                  <a:t>Subscore function</a:t>
                </a:r>
                <a:endParaRPr lang="en-US" sz="1050" dirty="0"/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1115D5F9-54E7-2C69-F0DA-DD106BEE1753}"/>
                  </a:ext>
                </a:extLst>
              </p:cNvPr>
              <p:cNvSpPr/>
              <p:nvPr/>
            </p:nvSpPr>
            <p:spPr>
              <a:xfrm>
                <a:off x="263504" y="2429832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72428"/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language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0D6505D8-90E3-5DC8-158F-209CBDD2C8DE}"/>
                  </a:ext>
                </a:extLst>
              </p:cNvPr>
              <p:cNvSpPr txBox="1"/>
              <p:nvPr/>
            </p:nvSpPr>
            <p:spPr>
              <a:xfrm>
                <a:off x="566725" y="2435991"/>
                <a:ext cx="278147" cy="261610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/>
                  <a:t>..…</a:t>
                </a:r>
                <a:endParaRPr lang="en-US" sz="1050" dirty="0"/>
              </a:p>
            </p:txBody>
          </p:sp>
        </p:grp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2AAE2C73-0869-4B62-D08B-C14C407C1760}"/>
                </a:ext>
              </a:extLst>
            </p:cNvPr>
            <p:cNvSpPr/>
            <p:nvPr/>
          </p:nvSpPr>
          <p:spPr>
            <a:xfrm>
              <a:off x="3219863" y="3496554"/>
              <a:ext cx="218775" cy="218775"/>
            </a:xfrm>
            <a:prstGeom prst="ellipse">
              <a:avLst/>
            </a:prstGeom>
          </p:spPr>
          <p:style>
            <a:lnRef idx="1">
              <a:schemeClr val="dk1"/>
            </a:lnRef>
            <a:fillRef idx="1002">
              <a:schemeClr val="lt2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6" name="Connector: Elbow 25">
              <a:extLst>
                <a:ext uri="{FF2B5EF4-FFF2-40B4-BE49-F238E27FC236}">
                  <a16:creationId xmlns:a16="http://schemas.microsoft.com/office/drawing/2014/main" id="{2561F284-7C8F-750B-9762-95F53ACDFAFF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08517" y="3408600"/>
              <a:ext cx="285151" cy="145465"/>
            </a:xfrm>
            <a:prstGeom prst="bentConnector3">
              <a:avLst>
                <a:gd name="adj1" fmla="val 3235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or: Elbow 26">
              <a:extLst>
                <a:ext uri="{FF2B5EF4-FFF2-40B4-BE49-F238E27FC236}">
                  <a16:creationId xmlns:a16="http://schemas.microsoft.com/office/drawing/2014/main" id="{D0C08F1B-6A77-DFDB-7158-3AAAC988FA99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12821" y="3443748"/>
              <a:ext cx="1204911" cy="211472"/>
            </a:xfrm>
            <a:prstGeom prst="bentConnector3">
              <a:avLst>
                <a:gd name="adj1" fmla="val -791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nector: Elbow 28">
              <a:extLst>
                <a:ext uri="{FF2B5EF4-FFF2-40B4-BE49-F238E27FC236}">
                  <a16:creationId xmlns:a16="http://schemas.microsoft.com/office/drawing/2014/main" id="{91FC0682-EBA6-9EA4-5126-173DFE75B022}"/>
                </a:ext>
              </a:extLst>
            </p:cNvPr>
            <p:cNvCxnSpPr>
              <a:cxnSpLocks/>
            </p:cNvCxnSpPr>
            <p:nvPr/>
          </p:nvCxnSpPr>
          <p:spPr>
            <a:xfrm>
              <a:off x="2864833" y="3414814"/>
              <a:ext cx="285151" cy="145465"/>
            </a:xfrm>
            <a:prstGeom prst="bentConnector3">
              <a:avLst>
                <a:gd name="adj1" fmla="val 3235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E1D6F5F4-C680-B4E1-3CFA-83F53BDFFE5C}"/>
                </a:ext>
              </a:extLst>
            </p:cNvPr>
            <p:cNvCxnSpPr>
              <a:cxnSpLocks/>
            </p:cNvCxnSpPr>
            <p:nvPr/>
          </p:nvCxnSpPr>
          <p:spPr>
            <a:xfrm>
              <a:off x="1945073" y="3448329"/>
              <a:ext cx="1204911" cy="211472"/>
            </a:xfrm>
            <a:prstGeom prst="bentConnector3">
              <a:avLst>
                <a:gd name="adj1" fmla="val -791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4F26C16D-83CA-2819-173B-55C6D8BB4497}"/>
              </a:ext>
            </a:extLst>
          </p:cNvPr>
          <p:cNvCxnSpPr>
            <a:cxnSpLocks/>
          </p:cNvCxnSpPr>
          <p:nvPr/>
        </p:nvCxnSpPr>
        <p:spPr>
          <a:xfrm>
            <a:off x="3331163" y="3812302"/>
            <a:ext cx="0" cy="378727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4CC79386-6326-A45D-46ED-1FA1905D96E4}"/>
              </a:ext>
            </a:extLst>
          </p:cNvPr>
          <p:cNvSpPr txBox="1"/>
          <p:nvPr/>
        </p:nvSpPr>
        <p:spPr>
          <a:xfrm>
            <a:off x="6404638" y="879576"/>
            <a:ext cx="5282538" cy="1200329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t">
            <a:spAutoFit/>
          </a:bodyPr>
          <a:lstStyle/>
          <a:p>
            <a:r>
              <a:rPr lang="en-US" sz="1600" dirty="0">
                <a:solidFill>
                  <a:schemeClr val="tx1"/>
                </a:solidFill>
                <a:ea typeface="+mn-lt"/>
                <a:cs typeface="+mn-lt"/>
              </a:rPr>
              <a:t>Deterministic Subscore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- We compute 3 interpretable signals per feed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         </a:t>
            </a:r>
            <a:r>
              <a:rPr lang="en-US" sz="1400" dirty="0">
                <a:solidFill>
                  <a:schemeClr val="bg1">
                    <a:lumMod val="75000"/>
                  </a:schemeClr>
                </a:solidFill>
                <a:ea typeface="+mn-lt"/>
                <a:cs typeface="+mn-lt"/>
              </a:rPr>
              <a:t>1. </a:t>
            </a:r>
            <a:r>
              <a:rPr lang="en-US" sz="1400" dirty="0" err="1">
                <a:solidFill>
                  <a:schemeClr val="bg1">
                    <a:lumMod val="75000"/>
                  </a:schemeClr>
                </a:solidFill>
                <a:ea typeface="+mn-lt"/>
                <a:cs typeface="+mn-lt"/>
              </a:rPr>
              <a:t>Language_match</a:t>
            </a:r>
            <a:r>
              <a:rPr lang="en-US" sz="1400" dirty="0">
                <a:solidFill>
                  <a:schemeClr val="bg1">
                    <a:lumMod val="75000"/>
                  </a:schemeClr>
                </a:solidFill>
                <a:ea typeface="+mn-lt"/>
                <a:cs typeface="+mn-lt"/>
              </a:rPr>
              <a:t> : exact match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         </a:t>
            </a:r>
            <a:r>
              <a:rPr lang="en-US" sz="1400" dirty="0">
                <a:solidFill>
                  <a:schemeClr val="tx1"/>
                </a:solidFill>
                <a:cs typeface="Poppins Light"/>
              </a:rPr>
              <a:t>2. Recency : exponential decay using half-life days</a:t>
            </a:r>
          </a:p>
          <a:p>
            <a:r>
              <a:rPr lang="en-US" sz="1400" dirty="0">
                <a:solidFill>
                  <a:schemeClr val="bg1">
                    <a:lumMod val="75000"/>
                  </a:schemeClr>
                </a:solidFill>
                <a:cs typeface="Poppins Light"/>
              </a:rPr>
              <a:t>         3. Popularity : log-normalized engagement (views/likes/etc.)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44D478D-E6C2-FEB7-F48F-7FD9A21328E4}"/>
              </a:ext>
            </a:extLst>
          </p:cNvPr>
          <p:cNvSpPr txBox="1"/>
          <p:nvPr/>
        </p:nvSpPr>
        <p:spPr>
          <a:xfrm>
            <a:off x="6404638" y="2867781"/>
            <a:ext cx="5282538" cy="1384995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t">
            <a:spAutoFit/>
          </a:bodyPr>
          <a:lstStyle/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- This is a “freshness score”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        - age =   0 days -&gt; recency = 1.0       (2**(-0/30)    -&gt; 1.0)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        - age = 15 days -&gt; recency = 0.707 (2**(-15/30)  -&gt; 0.707)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        - age = 30 days -&gt; recency = 0.5      (2**(-30/30)  -&gt; 0.5)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        - age = 60 days -&gt; recency = 0.25   ( 2**(-60/30) -&gt; 0.25)</a:t>
            </a:r>
          </a:p>
          <a:p>
            <a:r>
              <a:rPr lang="en-US" sz="1400" dirty="0">
                <a:solidFill>
                  <a:schemeClr val="tx1"/>
                </a:solidFill>
                <a:cs typeface="Poppins Light"/>
              </a:rPr>
              <a:t>- The half - life is configurable (recency_half_life_days from YAML)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0088C4F-3B91-777A-6F69-3742D820833F}"/>
                  </a:ext>
                </a:extLst>
              </p:cNvPr>
              <p:cNvSpPr txBox="1"/>
              <p:nvPr/>
            </p:nvSpPr>
            <p:spPr>
              <a:xfrm>
                <a:off x="7707575" y="2201348"/>
                <a:ext cx="2644250" cy="44024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𝑟𝑒𝑐𝑒𝑛𝑐𝑦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𝑎𝑔𝑒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_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𝑑𝑎𝑦𝑠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h𝑎𝑙𝑓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_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𝑙𝑖𝑓𝑒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_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𝑑𝑎𝑦𝑠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0088C4F-3B91-777A-6F69-3742D82083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07575" y="2201348"/>
                <a:ext cx="2644250" cy="44024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Title 1">
            <a:extLst>
              <a:ext uri="{FF2B5EF4-FFF2-40B4-BE49-F238E27FC236}">
                <a16:creationId xmlns:a16="http://schemas.microsoft.com/office/drawing/2014/main" id="{3E663FA4-6399-23C3-9A44-37F5E60C27AD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>
                <a:ea typeface="+mn-lt"/>
                <a:cs typeface="+mn-lt"/>
              </a:rPr>
              <a:t>Subscore</a:t>
            </a:r>
            <a:endParaRPr lang="en-US" sz="2400" dirty="0">
              <a:cs typeface="Poppins Light"/>
            </a:endParaRPr>
          </a:p>
        </p:txBody>
      </p:sp>
      <p:pic>
        <p:nvPicPr>
          <p:cNvPr id="53" name="Picture 52">
            <a:extLst>
              <a:ext uri="{FF2B5EF4-FFF2-40B4-BE49-F238E27FC236}">
                <a16:creationId xmlns:a16="http://schemas.microsoft.com/office/drawing/2014/main" id="{2619C2C3-2D38-8DAE-AB10-6DBE10C942A7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4749"/>
          <a:stretch>
            <a:fillRect/>
          </a:stretch>
        </p:blipFill>
        <p:spPr>
          <a:xfrm>
            <a:off x="6375620" y="4436905"/>
            <a:ext cx="2658728" cy="2019895"/>
          </a:xfrm>
          <a:prstGeom prst="rect">
            <a:avLst/>
          </a:prstGeom>
        </p:spPr>
      </p:pic>
      <p:pic>
        <p:nvPicPr>
          <p:cNvPr id="55" name="Picture 54">
            <a:extLst>
              <a:ext uri="{FF2B5EF4-FFF2-40B4-BE49-F238E27FC236}">
                <a16:creationId xmlns:a16="http://schemas.microsoft.com/office/drawing/2014/main" id="{EAF9643A-9B28-066D-16E4-668F2FEDE3B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18833" y="4436905"/>
            <a:ext cx="2568343" cy="2019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324368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4AA83E-9A99-07B9-2AD9-72DE5597C3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16B59B9B-D094-F95A-0081-D6C1101365A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7C065D9-DDDD-5425-432E-A1095A99DC3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D98C0A14-926B-3E47-9222-8156E03EBA5C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236FC82-5D7F-CE9A-1897-39F80DD3A9B2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D5A9054-B80E-645A-06E0-6C03B8178E39}"/>
              </a:ext>
            </a:extLst>
          </p:cNvPr>
          <p:cNvSpPr/>
          <p:nvPr/>
        </p:nvSpPr>
        <p:spPr>
          <a:xfrm>
            <a:off x="638383" y="859879"/>
            <a:ext cx="5265878" cy="51871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600" b="1" dirty="0">
                <a:solidFill>
                  <a:schemeClr val="tx1"/>
                </a:solidFill>
                <a:cs typeface="Poppins Light"/>
              </a:rPr>
              <a:t>Overview</a:t>
            </a:r>
            <a:endParaRPr lang="en-GB" sz="1400" b="1" dirty="0">
              <a:solidFill>
                <a:schemeClr val="tx1"/>
              </a:solidFill>
              <a:cs typeface="Poppins Light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F3DEE601-7ACC-D35F-19C8-D83AFA2B7771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9EE39990-A019-0BB4-2020-686993CC2608}"/>
              </a:ext>
            </a:extLst>
          </p:cNvPr>
          <p:cNvGrpSpPr/>
          <p:nvPr/>
        </p:nvGrpSpPr>
        <p:grpSpPr>
          <a:xfrm>
            <a:off x="2341726" y="1413742"/>
            <a:ext cx="1975048" cy="775299"/>
            <a:chOff x="10490" y="2427201"/>
            <a:chExt cx="1033571" cy="775299"/>
          </a:xfrm>
          <a:solidFill>
            <a:srgbClr val="EAF3F8"/>
          </a:solidFill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4DFA1978-4935-5BE2-1C47-C5E5F86E77A2}"/>
                </a:ext>
              </a:extLst>
            </p:cNvPr>
            <p:cNvSpPr/>
            <p:nvPr/>
          </p:nvSpPr>
          <p:spPr>
            <a:xfrm>
              <a:off x="10490" y="2427201"/>
              <a:ext cx="1033571" cy="775299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042A66CB-CB7A-0D33-F77E-08965595F1D1}"/>
                </a:ext>
              </a:extLst>
            </p:cNvPr>
            <p:cNvSpPr/>
            <p:nvPr/>
          </p:nvSpPr>
          <p:spPr>
            <a:xfrm>
              <a:off x="101747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scores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D722828D-1642-D5E6-0B26-4B0A06B19AB6}"/>
                </a:ext>
              </a:extLst>
            </p:cNvPr>
            <p:cNvSpPr txBox="1"/>
            <p:nvPr/>
          </p:nvSpPr>
          <p:spPr>
            <a:xfrm>
              <a:off x="97803" y="2437180"/>
              <a:ext cx="876269" cy="261610"/>
            </a:xfrm>
            <a:prstGeom prst="rect">
              <a:avLst/>
            </a:prstGeom>
            <a:noFill/>
            <a:ln>
              <a:solidFill>
                <a:srgbClr val="EAF3F8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Inputs</a:t>
              </a:r>
              <a:endParaRPr lang="en-US" sz="1050" dirty="0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DB39A458-FE8B-3AB5-F895-FF7E6D606F95}"/>
                </a:ext>
              </a:extLst>
            </p:cNvPr>
            <p:cNvSpPr/>
            <p:nvPr/>
          </p:nvSpPr>
          <p:spPr>
            <a:xfrm>
              <a:off x="556345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indices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</p:grp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0F116DAD-8112-C910-7BBA-D2AB50D1B233}"/>
              </a:ext>
            </a:extLst>
          </p:cNvPr>
          <p:cNvCxnSpPr>
            <a:cxnSpLocks/>
          </p:cNvCxnSpPr>
          <p:nvPr/>
        </p:nvCxnSpPr>
        <p:spPr>
          <a:xfrm flipH="1">
            <a:off x="3329250" y="2233306"/>
            <a:ext cx="1" cy="159346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F7DF89FA-2F44-6F8E-F835-AF89EE8B494F}"/>
              </a:ext>
            </a:extLst>
          </p:cNvPr>
          <p:cNvSpPr/>
          <p:nvPr/>
        </p:nvSpPr>
        <p:spPr>
          <a:xfrm>
            <a:off x="2532347" y="4297430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Weighted Aggregation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18E8996-945C-DF39-9E9A-300E58956C84}"/>
              </a:ext>
            </a:extLst>
          </p:cNvPr>
          <p:cNvCxnSpPr>
            <a:cxnSpLocks/>
          </p:cNvCxnSpPr>
          <p:nvPr/>
        </p:nvCxnSpPr>
        <p:spPr>
          <a:xfrm>
            <a:off x="3333076" y="4810293"/>
            <a:ext cx="0" cy="30977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67F5D4DB-1B84-F5FE-2DB4-EA0482FDAE5C}"/>
              </a:ext>
            </a:extLst>
          </p:cNvPr>
          <p:cNvSpPr/>
          <p:nvPr/>
        </p:nvSpPr>
        <p:spPr>
          <a:xfrm>
            <a:off x="2534260" y="5193129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Sort + Top-N + Final Output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5C00DD6-8E82-D7B1-C119-0C655B16E441}"/>
              </a:ext>
            </a:extLst>
          </p:cNvPr>
          <p:cNvSpPr/>
          <p:nvPr/>
        </p:nvSpPr>
        <p:spPr>
          <a:xfrm>
            <a:off x="2532347" y="6094969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Json response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1D0C22D-26B4-401F-C355-E872397207B7}"/>
              </a:ext>
            </a:extLst>
          </p:cNvPr>
          <p:cNvCxnSpPr>
            <a:cxnSpLocks/>
          </p:cNvCxnSpPr>
          <p:nvPr/>
        </p:nvCxnSpPr>
        <p:spPr>
          <a:xfrm>
            <a:off x="3333323" y="5694868"/>
            <a:ext cx="0" cy="30977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FA0331B-D658-ED59-9D9A-1809C9161FB6}"/>
              </a:ext>
            </a:extLst>
          </p:cNvPr>
          <p:cNvGrpSpPr/>
          <p:nvPr/>
        </p:nvGrpSpPr>
        <p:grpSpPr>
          <a:xfrm>
            <a:off x="1382298" y="2429185"/>
            <a:ext cx="3893906" cy="1495360"/>
            <a:chOff x="1382298" y="2429185"/>
            <a:chExt cx="3893906" cy="1495360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BE304F55-4268-A85A-083A-FC40695D6E71}"/>
                </a:ext>
              </a:extLst>
            </p:cNvPr>
            <p:cNvGrpSpPr/>
            <p:nvPr/>
          </p:nvGrpSpPr>
          <p:grpSpPr>
            <a:xfrm>
              <a:off x="1382298" y="2429185"/>
              <a:ext cx="3893906" cy="1495360"/>
              <a:chOff x="213358" y="1919130"/>
              <a:chExt cx="1283172" cy="1495360"/>
            </a:xfrm>
            <a:solidFill>
              <a:schemeClr val="bg1">
                <a:lumMod val="85000"/>
              </a:schemeClr>
            </a:solidFill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D5B6B43-5C3B-25D3-BD52-1A9557D31588}"/>
                  </a:ext>
                </a:extLst>
              </p:cNvPr>
              <p:cNvSpPr/>
              <p:nvPr/>
            </p:nvSpPr>
            <p:spPr>
              <a:xfrm>
                <a:off x="213358" y="1919130"/>
                <a:ext cx="1283172" cy="149536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7BB455B5-20AF-2062-E585-95657E1496D0}"/>
                  </a:ext>
                </a:extLst>
              </p:cNvPr>
              <p:cNvSpPr/>
              <p:nvPr/>
            </p:nvSpPr>
            <p:spPr>
              <a:xfrm>
                <a:off x="869945" y="2427304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72428"/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recency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5A192545-205D-2EE3-623C-B3E272752F4F}"/>
                  </a:ext>
                </a:extLst>
              </p:cNvPr>
              <p:cNvSpPr/>
              <p:nvPr/>
            </p:nvSpPr>
            <p:spPr>
              <a:xfrm>
                <a:off x="1174409" y="2427304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rgbClr val="272428"/>
                    </a:solidFill>
                    <a:latin typeface="Poppins Light"/>
                    <a:cs typeface="Sarabun Light"/>
                  </a:rPr>
                  <a:t>popularity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933C6993-F455-9BA4-FF5D-2F141BE460B6}"/>
                  </a:ext>
                </a:extLst>
              </p:cNvPr>
              <p:cNvSpPr txBox="1"/>
              <p:nvPr/>
            </p:nvSpPr>
            <p:spPr>
              <a:xfrm>
                <a:off x="240830" y="2000737"/>
                <a:ext cx="1236792" cy="261610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/>
                  <a:t>Subscore function</a:t>
                </a:r>
                <a:endParaRPr lang="en-US" sz="1050" dirty="0"/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192B7810-E091-6BA8-028C-A697E03DBD77}"/>
                  </a:ext>
                </a:extLst>
              </p:cNvPr>
              <p:cNvSpPr/>
              <p:nvPr/>
            </p:nvSpPr>
            <p:spPr>
              <a:xfrm>
                <a:off x="263504" y="2429832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72428"/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language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FB7AD383-0510-917F-BAA5-06F898676591}"/>
                  </a:ext>
                </a:extLst>
              </p:cNvPr>
              <p:cNvSpPr txBox="1"/>
              <p:nvPr/>
            </p:nvSpPr>
            <p:spPr>
              <a:xfrm>
                <a:off x="566725" y="2435991"/>
                <a:ext cx="278147" cy="261610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/>
                  <a:t>..…</a:t>
                </a:r>
                <a:endParaRPr lang="en-US" sz="1050" dirty="0"/>
              </a:p>
            </p:txBody>
          </p:sp>
        </p:grp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AC54B572-FF0D-D267-3974-BBC412EC0D35}"/>
                </a:ext>
              </a:extLst>
            </p:cNvPr>
            <p:cNvSpPr/>
            <p:nvPr/>
          </p:nvSpPr>
          <p:spPr>
            <a:xfrm>
              <a:off x="3219863" y="3496554"/>
              <a:ext cx="218775" cy="218775"/>
            </a:xfrm>
            <a:prstGeom prst="ellipse">
              <a:avLst/>
            </a:prstGeom>
          </p:spPr>
          <p:style>
            <a:lnRef idx="1">
              <a:schemeClr val="dk1"/>
            </a:lnRef>
            <a:fillRef idx="1002">
              <a:schemeClr val="lt2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6" name="Connector: Elbow 25">
              <a:extLst>
                <a:ext uri="{FF2B5EF4-FFF2-40B4-BE49-F238E27FC236}">
                  <a16:creationId xmlns:a16="http://schemas.microsoft.com/office/drawing/2014/main" id="{1078F405-DBA9-626B-7760-0B3500EB4BAA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08517" y="3408600"/>
              <a:ext cx="285151" cy="145465"/>
            </a:xfrm>
            <a:prstGeom prst="bentConnector3">
              <a:avLst>
                <a:gd name="adj1" fmla="val 3235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or: Elbow 26">
              <a:extLst>
                <a:ext uri="{FF2B5EF4-FFF2-40B4-BE49-F238E27FC236}">
                  <a16:creationId xmlns:a16="http://schemas.microsoft.com/office/drawing/2014/main" id="{735135E0-433C-7AD0-C8D3-BD00B9E49828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12821" y="3443748"/>
              <a:ext cx="1204911" cy="211472"/>
            </a:xfrm>
            <a:prstGeom prst="bentConnector3">
              <a:avLst>
                <a:gd name="adj1" fmla="val -791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nector: Elbow 28">
              <a:extLst>
                <a:ext uri="{FF2B5EF4-FFF2-40B4-BE49-F238E27FC236}">
                  <a16:creationId xmlns:a16="http://schemas.microsoft.com/office/drawing/2014/main" id="{3E815509-8577-D51E-7FCB-E5D680568B94}"/>
                </a:ext>
              </a:extLst>
            </p:cNvPr>
            <p:cNvCxnSpPr>
              <a:cxnSpLocks/>
            </p:cNvCxnSpPr>
            <p:nvPr/>
          </p:nvCxnSpPr>
          <p:spPr>
            <a:xfrm>
              <a:off x="2864833" y="3414814"/>
              <a:ext cx="285151" cy="145465"/>
            </a:xfrm>
            <a:prstGeom prst="bentConnector3">
              <a:avLst>
                <a:gd name="adj1" fmla="val 3235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D43F83D1-7F56-9417-939B-C6AD2CB43EB7}"/>
                </a:ext>
              </a:extLst>
            </p:cNvPr>
            <p:cNvCxnSpPr>
              <a:cxnSpLocks/>
            </p:cNvCxnSpPr>
            <p:nvPr/>
          </p:nvCxnSpPr>
          <p:spPr>
            <a:xfrm>
              <a:off x="1945073" y="3448329"/>
              <a:ext cx="1204911" cy="211472"/>
            </a:xfrm>
            <a:prstGeom prst="bentConnector3">
              <a:avLst>
                <a:gd name="adj1" fmla="val -791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BFDF371F-9137-5D48-C9EF-CCB4E1ADA85E}"/>
              </a:ext>
            </a:extLst>
          </p:cNvPr>
          <p:cNvCxnSpPr>
            <a:cxnSpLocks/>
          </p:cNvCxnSpPr>
          <p:nvPr/>
        </p:nvCxnSpPr>
        <p:spPr>
          <a:xfrm>
            <a:off x="3331163" y="3812302"/>
            <a:ext cx="0" cy="378727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74D29A01-FFEB-519C-9308-61B821C575F5}"/>
              </a:ext>
            </a:extLst>
          </p:cNvPr>
          <p:cNvSpPr txBox="1"/>
          <p:nvPr/>
        </p:nvSpPr>
        <p:spPr>
          <a:xfrm>
            <a:off x="6404638" y="879576"/>
            <a:ext cx="5282538" cy="1200329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t">
            <a:spAutoFit/>
          </a:bodyPr>
          <a:lstStyle/>
          <a:p>
            <a:r>
              <a:rPr lang="en-US" sz="1600" dirty="0">
                <a:solidFill>
                  <a:schemeClr val="tx1"/>
                </a:solidFill>
                <a:ea typeface="+mn-lt"/>
                <a:cs typeface="+mn-lt"/>
              </a:rPr>
              <a:t>Deterministic Subscore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- We compute 3 interpretable signals per feed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         </a:t>
            </a:r>
            <a:r>
              <a:rPr lang="en-US" sz="1400" dirty="0">
                <a:solidFill>
                  <a:schemeClr val="bg1">
                    <a:lumMod val="75000"/>
                  </a:schemeClr>
                </a:solidFill>
                <a:ea typeface="+mn-lt"/>
                <a:cs typeface="+mn-lt"/>
              </a:rPr>
              <a:t>1. </a:t>
            </a:r>
            <a:r>
              <a:rPr lang="en-US" sz="1400" dirty="0" err="1">
                <a:solidFill>
                  <a:schemeClr val="bg1">
                    <a:lumMod val="75000"/>
                  </a:schemeClr>
                </a:solidFill>
                <a:ea typeface="+mn-lt"/>
                <a:cs typeface="+mn-lt"/>
              </a:rPr>
              <a:t>Language_match</a:t>
            </a:r>
            <a:r>
              <a:rPr lang="en-US" sz="1400" dirty="0">
                <a:solidFill>
                  <a:schemeClr val="bg1">
                    <a:lumMod val="75000"/>
                  </a:schemeClr>
                </a:solidFill>
                <a:ea typeface="+mn-lt"/>
                <a:cs typeface="+mn-lt"/>
              </a:rPr>
              <a:t> : exact match</a:t>
            </a:r>
          </a:p>
          <a:p>
            <a:r>
              <a:rPr lang="en-US" sz="1400" dirty="0">
                <a:solidFill>
                  <a:schemeClr val="bg1">
                    <a:lumMod val="75000"/>
                  </a:schemeClr>
                </a:solidFill>
                <a:ea typeface="+mn-lt"/>
                <a:cs typeface="+mn-lt"/>
              </a:rPr>
              <a:t>         </a:t>
            </a:r>
            <a:r>
              <a:rPr lang="en-US" sz="1400" dirty="0">
                <a:solidFill>
                  <a:schemeClr val="bg1">
                    <a:lumMod val="75000"/>
                  </a:schemeClr>
                </a:solidFill>
                <a:cs typeface="Poppins Light"/>
              </a:rPr>
              <a:t>2. Recency : exponential decay using half-life days</a:t>
            </a:r>
          </a:p>
          <a:p>
            <a:r>
              <a:rPr lang="en-US" sz="1400" dirty="0">
                <a:solidFill>
                  <a:schemeClr val="tx1"/>
                </a:solidFill>
                <a:cs typeface="Poppins Light"/>
              </a:rPr>
              <a:t>         3. Popularity : log-normalized engagement (views/likes/etc.)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A2AE602A-DF3E-11C5-50B2-18B0AB5C7BCD}"/>
                  </a:ext>
                </a:extLst>
              </p:cNvPr>
              <p:cNvSpPr txBox="1"/>
              <p:nvPr/>
            </p:nvSpPr>
            <p:spPr>
              <a:xfrm>
                <a:off x="7007641" y="2189041"/>
                <a:ext cx="4280274" cy="62235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𝑝𝑜𝑝𝑢𝑙𝑎𝑟𝑖𝑡𝑦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𝑚𝑖𝑛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1,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func>
                                <m:func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(1+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func>
                            </m:num>
                            <m:den>
                              <m:func>
                                <m:func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(1+1,000,000)</m:t>
                                  </m:r>
                                </m:e>
                              </m:func>
                            </m:den>
                          </m:f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A2AE602A-DF3E-11C5-50B2-18B0AB5C7B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7641" y="2189041"/>
                <a:ext cx="4280274" cy="62235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4" name="Picture 13">
            <a:extLst>
              <a:ext uri="{FF2B5EF4-FFF2-40B4-BE49-F238E27FC236}">
                <a16:creationId xmlns:a16="http://schemas.microsoft.com/office/drawing/2014/main" id="{EC2D33B4-2771-C433-99AE-FC86FD6B64E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9897" y="3076852"/>
            <a:ext cx="4832019" cy="2847710"/>
          </a:xfrm>
          <a:prstGeom prst="rect">
            <a:avLst/>
          </a:prstGeom>
        </p:spPr>
      </p:pic>
      <p:sp>
        <p:nvSpPr>
          <p:cNvPr id="16" name="Title 1">
            <a:extLst>
              <a:ext uri="{FF2B5EF4-FFF2-40B4-BE49-F238E27FC236}">
                <a16:creationId xmlns:a16="http://schemas.microsoft.com/office/drawing/2014/main" id="{CFAEDFA7-941C-D721-55DE-1ADF2E9EF86B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>
                <a:ea typeface="+mn-lt"/>
                <a:cs typeface="+mn-lt"/>
              </a:rPr>
              <a:t>Subscore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67188668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E48EFD-49C7-69E2-85DE-2C146176FB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6C04ACD7-86C6-742A-4BFD-6BD23465EDF5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6B59B9B-D094-F95A-0081-D6C1101365A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847E63B7-E9CD-466B-7D18-14EC4C584892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40AA741-10FA-4F38-3EF4-330AD660F826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1D0B246-3A3D-5AE6-3F2F-8BDC13B29974}"/>
              </a:ext>
            </a:extLst>
          </p:cNvPr>
          <p:cNvSpPr/>
          <p:nvPr/>
        </p:nvSpPr>
        <p:spPr>
          <a:xfrm>
            <a:off x="638383" y="859879"/>
            <a:ext cx="5265878" cy="51871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600" b="1" dirty="0">
                <a:solidFill>
                  <a:schemeClr val="tx1"/>
                </a:solidFill>
                <a:cs typeface="Poppins Light"/>
              </a:rPr>
              <a:t>Overview</a:t>
            </a:r>
            <a:endParaRPr lang="en-GB" sz="1400" b="1" dirty="0">
              <a:solidFill>
                <a:schemeClr val="tx1"/>
              </a:solidFill>
              <a:cs typeface="Poppins Light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173723F8-16ED-1FFD-92EA-80BF45A20AD2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15B4AD7-5173-BD85-D8B0-20F1C85C1D5B}"/>
              </a:ext>
            </a:extLst>
          </p:cNvPr>
          <p:cNvGrpSpPr/>
          <p:nvPr/>
        </p:nvGrpSpPr>
        <p:grpSpPr>
          <a:xfrm>
            <a:off x="2341726" y="1413742"/>
            <a:ext cx="1975048" cy="775299"/>
            <a:chOff x="10490" y="2427201"/>
            <a:chExt cx="1033571" cy="775299"/>
          </a:xfrm>
          <a:solidFill>
            <a:srgbClr val="EAF3F8"/>
          </a:solidFill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06EA4412-24DC-25E8-C5B5-3F74C4B61B43}"/>
                </a:ext>
              </a:extLst>
            </p:cNvPr>
            <p:cNvSpPr/>
            <p:nvPr/>
          </p:nvSpPr>
          <p:spPr>
            <a:xfrm>
              <a:off x="10490" y="2427201"/>
              <a:ext cx="1033571" cy="775299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0D11B4AA-64A0-18F1-CBBE-B814829DFD8B}"/>
                </a:ext>
              </a:extLst>
            </p:cNvPr>
            <p:cNvSpPr/>
            <p:nvPr/>
          </p:nvSpPr>
          <p:spPr>
            <a:xfrm>
              <a:off x="101747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scores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98F56399-A7BB-A48C-2C62-F1DA621D1B1E}"/>
                </a:ext>
              </a:extLst>
            </p:cNvPr>
            <p:cNvSpPr txBox="1"/>
            <p:nvPr/>
          </p:nvSpPr>
          <p:spPr>
            <a:xfrm>
              <a:off x="97803" y="2437180"/>
              <a:ext cx="876269" cy="261610"/>
            </a:xfrm>
            <a:prstGeom prst="rect">
              <a:avLst/>
            </a:prstGeom>
            <a:noFill/>
            <a:ln>
              <a:solidFill>
                <a:srgbClr val="EAF3F8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Inputs</a:t>
              </a:r>
              <a:endParaRPr lang="en-US" sz="1050" dirty="0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E5961D6C-2FBE-CBC3-47E8-E287DEA82F23}"/>
                </a:ext>
              </a:extLst>
            </p:cNvPr>
            <p:cNvSpPr/>
            <p:nvPr/>
          </p:nvSpPr>
          <p:spPr>
            <a:xfrm>
              <a:off x="556345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indices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</p:grp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14116A67-CF50-A241-F794-4FB1FCBBD0C6}"/>
              </a:ext>
            </a:extLst>
          </p:cNvPr>
          <p:cNvCxnSpPr>
            <a:cxnSpLocks/>
          </p:cNvCxnSpPr>
          <p:nvPr/>
        </p:nvCxnSpPr>
        <p:spPr>
          <a:xfrm flipH="1">
            <a:off x="3329250" y="2233306"/>
            <a:ext cx="1" cy="159346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26125CC9-C0AD-EB05-B2C0-A17124763530}"/>
              </a:ext>
            </a:extLst>
          </p:cNvPr>
          <p:cNvSpPr/>
          <p:nvPr/>
        </p:nvSpPr>
        <p:spPr>
          <a:xfrm>
            <a:off x="2532347" y="4297430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Weighted Aggregation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32F94C5-55AD-D0E6-BEB7-3202E6F33C70}"/>
              </a:ext>
            </a:extLst>
          </p:cNvPr>
          <p:cNvCxnSpPr>
            <a:cxnSpLocks/>
          </p:cNvCxnSpPr>
          <p:nvPr/>
        </p:nvCxnSpPr>
        <p:spPr>
          <a:xfrm>
            <a:off x="3333076" y="4810293"/>
            <a:ext cx="0" cy="30977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60D251BB-7EB1-5EE4-EBCE-F5C18549E6AB}"/>
              </a:ext>
            </a:extLst>
          </p:cNvPr>
          <p:cNvSpPr/>
          <p:nvPr/>
        </p:nvSpPr>
        <p:spPr>
          <a:xfrm>
            <a:off x="2534260" y="5193129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Sort + Top-N + Final Output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7C89F84-7790-3871-EDF4-01F12F743B2E}"/>
              </a:ext>
            </a:extLst>
          </p:cNvPr>
          <p:cNvSpPr/>
          <p:nvPr/>
        </p:nvSpPr>
        <p:spPr>
          <a:xfrm>
            <a:off x="2532347" y="6094969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Json response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C4ACD62-AC21-860C-99ED-8CF9F9AC049F}"/>
              </a:ext>
            </a:extLst>
          </p:cNvPr>
          <p:cNvCxnSpPr>
            <a:cxnSpLocks/>
          </p:cNvCxnSpPr>
          <p:nvPr/>
        </p:nvCxnSpPr>
        <p:spPr>
          <a:xfrm>
            <a:off x="3333323" y="5694868"/>
            <a:ext cx="0" cy="30977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5D75F052-F424-E0B3-7961-5F1D1C68752B}"/>
              </a:ext>
            </a:extLst>
          </p:cNvPr>
          <p:cNvGrpSpPr/>
          <p:nvPr/>
        </p:nvGrpSpPr>
        <p:grpSpPr>
          <a:xfrm>
            <a:off x="1382298" y="2429185"/>
            <a:ext cx="3893906" cy="1495360"/>
            <a:chOff x="1382298" y="2429185"/>
            <a:chExt cx="3893906" cy="1495360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53B39559-68E5-29CF-00E6-DCD1448ED382}"/>
                </a:ext>
              </a:extLst>
            </p:cNvPr>
            <p:cNvGrpSpPr/>
            <p:nvPr/>
          </p:nvGrpSpPr>
          <p:grpSpPr>
            <a:xfrm>
              <a:off x="1382298" y="2429185"/>
              <a:ext cx="3893906" cy="1495360"/>
              <a:chOff x="213358" y="1919130"/>
              <a:chExt cx="1283172" cy="1495360"/>
            </a:xfrm>
            <a:solidFill>
              <a:schemeClr val="bg1">
                <a:lumMod val="85000"/>
              </a:schemeClr>
            </a:solidFill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4A0554FF-677B-5A5A-5DB3-1DCF72E4CFBA}"/>
                  </a:ext>
                </a:extLst>
              </p:cNvPr>
              <p:cNvSpPr/>
              <p:nvPr/>
            </p:nvSpPr>
            <p:spPr>
              <a:xfrm>
                <a:off x="213358" y="1919130"/>
                <a:ext cx="1283172" cy="149536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CC6F7302-D9D9-1803-B816-590FE9D158B0}"/>
                  </a:ext>
                </a:extLst>
              </p:cNvPr>
              <p:cNvSpPr/>
              <p:nvPr/>
            </p:nvSpPr>
            <p:spPr>
              <a:xfrm>
                <a:off x="869945" y="2427304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72428"/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recency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FDE4D623-27CC-3ED0-7BAC-51AB2AAF031C}"/>
                  </a:ext>
                </a:extLst>
              </p:cNvPr>
              <p:cNvSpPr/>
              <p:nvPr/>
            </p:nvSpPr>
            <p:spPr>
              <a:xfrm>
                <a:off x="1174409" y="2427304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rgbClr val="272428"/>
                    </a:solidFill>
                    <a:latin typeface="Poppins Light"/>
                    <a:cs typeface="Sarabun Light"/>
                  </a:rPr>
                  <a:t>popularity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311D753-2602-6C47-7533-69B13E28B3EF}"/>
                  </a:ext>
                </a:extLst>
              </p:cNvPr>
              <p:cNvSpPr txBox="1"/>
              <p:nvPr/>
            </p:nvSpPr>
            <p:spPr>
              <a:xfrm>
                <a:off x="240830" y="2000737"/>
                <a:ext cx="1236792" cy="261610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/>
                  <a:t>Subscore function</a:t>
                </a:r>
                <a:endParaRPr lang="en-US" sz="1050" dirty="0"/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64E0BC76-C166-D515-497F-EDD7FBCDDB50}"/>
                  </a:ext>
                </a:extLst>
              </p:cNvPr>
              <p:cNvSpPr/>
              <p:nvPr/>
            </p:nvSpPr>
            <p:spPr>
              <a:xfrm>
                <a:off x="263504" y="2429832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72428"/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language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7A860AE6-436A-AF1D-386C-64734BCDE855}"/>
                  </a:ext>
                </a:extLst>
              </p:cNvPr>
              <p:cNvSpPr txBox="1"/>
              <p:nvPr/>
            </p:nvSpPr>
            <p:spPr>
              <a:xfrm>
                <a:off x="566725" y="2435991"/>
                <a:ext cx="278147" cy="261610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/>
                  <a:t>..…</a:t>
                </a:r>
                <a:endParaRPr lang="en-US" sz="1050" dirty="0"/>
              </a:p>
            </p:txBody>
          </p:sp>
        </p:grp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0A3BA291-9F72-9644-F0D3-236F4338B77B}"/>
                </a:ext>
              </a:extLst>
            </p:cNvPr>
            <p:cNvSpPr/>
            <p:nvPr/>
          </p:nvSpPr>
          <p:spPr>
            <a:xfrm>
              <a:off x="3219863" y="3496554"/>
              <a:ext cx="218775" cy="218775"/>
            </a:xfrm>
            <a:prstGeom prst="ellipse">
              <a:avLst/>
            </a:prstGeom>
          </p:spPr>
          <p:style>
            <a:lnRef idx="1">
              <a:schemeClr val="dk1"/>
            </a:lnRef>
            <a:fillRef idx="1002">
              <a:schemeClr val="lt2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6" name="Connector: Elbow 25">
              <a:extLst>
                <a:ext uri="{FF2B5EF4-FFF2-40B4-BE49-F238E27FC236}">
                  <a16:creationId xmlns:a16="http://schemas.microsoft.com/office/drawing/2014/main" id="{FF771BE9-C45C-DF5F-0287-FE3001C2DFB8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08517" y="3408600"/>
              <a:ext cx="285151" cy="145465"/>
            </a:xfrm>
            <a:prstGeom prst="bentConnector3">
              <a:avLst>
                <a:gd name="adj1" fmla="val 3235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or: Elbow 26">
              <a:extLst>
                <a:ext uri="{FF2B5EF4-FFF2-40B4-BE49-F238E27FC236}">
                  <a16:creationId xmlns:a16="http://schemas.microsoft.com/office/drawing/2014/main" id="{B3095A37-3492-8BEC-B3A6-B888194A2C73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12821" y="3443748"/>
              <a:ext cx="1204911" cy="211472"/>
            </a:xfrm>
            <a:prstGeom prst="bentConnector3">
              <a:avLst>
                <a:gd name="adj1" fmla="val -791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nector: Elbow 28">
              <a:extLst>
                <a:ext uri="{FF2B5EF4-FFF2-40B4-BE49-F238E27FC236}">
                  <a16:creationId xmlns:a16="http://schemas.microsoft.com/office/drawing/2014/main" id="{044F30C1-4A7B-A091-3615-C39B033CB389}"/>
                </a:ext>
              </a:extLst>
            </p:cNvPr>
            <p:cNvCxnSpPr>
              <a:cxnSpLocks/>
            </p:cNvCxnSpPr>
            <p:nvPr/>
          </p:nvCxnSpPr>
          <p:spPr>
            <a:xfrm>
              <a:off x="2864833" y="3414814"/>
              <a:ext cx="285151" cy="145465"/>
            </a:xfrm>
            <a:prstGeom prst="bentConnector3">
              <a:avLst>
                <a:gd name="adj1" fmla="val 3235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2F51D05C-92E5-8DB4-E0B1-4EB062C77332}"/>
                </a:ext>
              </a:extLst>
            </p:cNvPr>
            <p:cNvCxnSpPr>
              <a:cxnSpLocks/>
            </p:cNvCxnSpPr>
            <p:nvPr/>
          </p:nvCxnSpPr>
          <p:spPr>
            <a:xfrm>
              <a:off x="1945073" y="3448329"/>
              <a:ext cx="1204911" cy="211472"/>
            </a:xfrm>
            <a:prstGeom prst="bentConnector3">
              <a:avLst>
                <a:gd name="adj1" fmla="val -791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132E912A-B5AE-40B6-48C5-C12B8150AEBC}"/>
              </a:ext>
            </a:extLst>
          </p:cNvPr>
          <p:cNvCxnSpPr>
            <a:cxnSpLocks/>
          </p:cNvCxnSpPr>
          <p:nvPr/>
        </p:nvCxnSpPr>
        <p:spPr>
          <a:xfrm>
            <a:off x="3331163" y="3812302"/>
            <a:ext cx="0" cy="378727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0C051E73-4396-680D-E4D1-229693D671E2}"/>
              </a:ext>
            </a:extLst>
          </p:cNvPr>
          <p:cNvSpPr txBox="1"/>
          <p:nvPr/>
        </p:nvSpPr>
        <p:spPr>
          <a:xfrm>
            <a:off x="6404638" y="879576"/>
            <a:ext cx="5282538" cy="1200329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t">
            <a:spAutoFit/>
          </a:bodyPr>
          <a:lstStyle/>
          <a:p>
            <a:r>
              <a:rPr lang="en-US" sz="1600" dirty="0">
                <a:solidFill>
                  <a:schemeClr val="tx1"/>
                </a:solidFill>
                <a:ea typeface="+mn-lt"/>
                <a:cs typeface="+mn-lt"/>
              </a:rPr>
              <a:t>Deterministic Subscore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- We compute 3 interpretable signals per feed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         </a:t>
            </a:r>
            <a:r>
              <a:rPr lang="en-US" sz="1400" dirty="0">
                <a:solidFill>
                  <a:schemeClr val="bg1">
                    <a:lumMod val="75000"/>
                  </a:schemeClr>
                </a:solidFill>
                <a:ea typeface="+mn-lt"/>
                <a:cs typeface="+mn-lt"/>
              </a:rPr>
              <a:t>1. </a:t>
            </a:r>
            <a:r>
              <a:rPr lang="en-US" sz="1400" dirty="0" err="1">
                <a:solidFill>
                  <a:schemeClr val="bg1">
                    <a:lumMod val="75000"/>
                  </a:schemeClr>
                </a:solidFill>
                <a:ea typeface="+mn-lt"/>
                <a:cs typeface="+mn-lt"/>
              </a:rPr>
              <a:t>Language_match</a:t>
            </a:r>
            <a:r>
              <a:rPr lang="en-US" sz="1400" dirty="0">
                <a:solidFill>
                  <a:schemeClr val="bg1">
                    <a:lumMod val="75000"/>
                  </a:schemeClr>
                </a:solidFill>
                <a:ea typeface="+mn-lt"/>
                <a:cs typeface="+mn-lt"/>
              </a:rPr>
              <a:t> : exact match</a:t>
            </a:r>
          </a:p>
          <a:p>
            <a:r>
              <a:rPr lang="en-US" sz="1400" dirty="0">
                <a:solidFill>
                  <a:schemeClr val="bg1">
                    <a:lumMod val="75000"/>
                  </a:schemeClr>
                </a:solidFill>
                <a:ea typeface="+mn-lt"/>
                <a:cs typeface="+mn-lt"/>
              </a:rPr>
              <a:t>         </a:t>
            </a:r>
            <a:r>
              <a:rPr lang="en-US" sz="1400" dirty="0">
                <a:solidFill>
                  <a:schemeClr val="bg1">
                    <a:lumMod val="75000"/>
                  </a:schemeClr>
                </a:solidFill>
                <a:cs typeface="Poppins Light"/>
              </a:rPr>
              <a:t>2. Recency : exponential decay using half-life days</a:t>
            </a:r>
          </a:p>
          <a:p>
            <a:r>
              <a:rPr lang="en-US" sz="1400" dirty="0">
                <a:solidFill>
                  <a:schemeClr val="tx1"/>
                </a:solidFill>
                <a:cs typeface="Poppins Light"/>
              </a:rPr>
              <a:t>         3. Popularity : log-normalized engagement (views/likes/etc.)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6CCB4254-4AF8-954B-5B91-C699C4097ADD}"/>
                  </a:ext>
                </a:extLst>
              </p:cNvPr>
              <p:cNvSpPr txBox="1"/>
              <p:nvPr/>
            </p:nvSpPr>
            <p:spPr>
              <a:xfrm>
                <a:off x="7007641" y="2189041"/>
                <a:ext cx="4280274" cy="62235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𝑝𝑜𝑝𝑢𝑙𝑎𝑟𝑖𝑡𝑦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𝑚𝑖𝑛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func>
                                <m:func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func>
                            </m:num>
                            <m:den>
                              <m:func>
                                <m:func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000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000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func>
                            </m:den>
                          </m:f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6CCB4254-4AF8-954B-5B91-C699C4097A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7641" y="2189041"/>
                <a:ext cx="4280274" cy="62235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E4311B85-D91A-D392-ED69-E8204AE53595}"/>
              </a:ext>
            </a:extLst>
          </p:cNvPr>
          <p:cNvSpPr txBox="1"/>
          <p:nvPr/>
        </p:nvSpPr>
        <p:spPr>
          <a:xfrm>
            <a:off x="6404638" y="2920527"/>
            <a:ext cx="5282538" cy="1754326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t">
            <a:spAutoFit/>
          </a:bodyPr>
          <a:lstStyle/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- This is a “popularity score”</a:t>
            </a:r>
          </a:p>
          <a:p>
            <a:r>
              <a:rPr lang="en-US" sz="1300" dirty="0">
                <a:solidFill>
                  <a:schemeClr val="tx1"/>
                </a:solidFill>
                <a:ea typeface="+mn-lt"/>
                <a:cs typeface="+mn-lt"/>
              </a:rPr>
              <a:t>     - view = 0                    -&gt; popularity = 0.0 (log(1) / 13.8155 -&gt; 0)</a:t>
            </a:r>
          </a:p>
          <a:p>
            <a:r>
              <a:rPr lang="en-US" sz="1300" dirty="0">
                <a:solidFill>
                  <a:schemeClr val="tx1"/>
                </a:solidFill>
                <a:ea typeface="+mn-lt"/>
                <a:cs typeface="+mn-lt"/>
              </a:rPr>
              <a:t>     - view = 10,000        -&gt; popularity = 0.67 (log(10,001) / 13.8155 -&gt; 0.67)</a:t>
            </a:r>
          </a:p>
          <a:p>
            <a:r>
              <a:rPr lang="en-US" sz="1300" dirty="0">
                <a:solidFill>
                  <a:schemeClr val="tx1"/>
                </a:solidFill>
                <a:ea typeface="+mn-lt"/>
                <a:cs typeface="+mn-lt"/>
              </a:rPr>
              <a:t>     - view = 100,000     -&gt; popularity = 0.83 (log(100,001) / 13.8155 -&gt; 0.83)</a:t>
            </a:r>
          </a:p>
          <a:p>
            <a:r>
              <a:rPr lang="en-US" sz="1300" dirty="0">
                <a:solidFill>
                  <a:schemeClr val="tx1"/>
                </a:solidFill>
                <a:ea typeface="+mn-lt"/>
                <a:cs typeface="+mn-lt"/>
              </a:rPr>
              <a:t>     - view = 1,000,000 -&gt; popularity = 1.0 (log(1,000,001) / 13.8155  -&gt; 1.0)</a:t>
            </a:r>
          </a:p>
          <a:p>
            <a:r>
              <a:rPr lang="en-US" sz="1400" dirty="0">
                <a:solidFill>
                  <a:schemeClr val="tx1"/>
                </a:solidFill>
                <a:cs typeface="Poppins Light"/>
              </a:rPr>
              <a:t>- Popular feeds get boost But they do NOT overpower semantic similarity</a:t>
            </a:r>
          </a:p>
          <a:p>
            <a:r>
              <a:rPr lang="en-US" sz="1400" dirty="0">
                <a:solidFill>
                  <a:schemeClr val="tx1"/>
                </a:solidFill>
                <a:cs typeface="Poppins Light"/>
              </a:rPr>
              <a:t>- We clamp to 1 (Prevents runaway values)</a:t>
            </a:r>
          </a:p>
        </p:txBody>
      </p:sp>
      <p:sp>
        <p:nvSpPr>
          <p:cNvPr id="25" name="Title 1">
            <a:extLst>
              <a:ext uri="{FF2B5EF4-FFF2-40B4-BE49-F238E27FC236}">
                <a16:creationId xmlns:a16="http://schemas.microsoft.com/office/drawing/2014/main" id="{52D95F09-9AE4-B363-02BA-FC94E4620D19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>
                <a:ea typeface="+mn-lt"/>
                <a:cs typeface="+mn-lt"/>
              </a:rPr>
              <a:t>Subscore</a:t>
            </a:r>
            <a:endParaRPr lang="en-US" sz="2400" dirty="0">
              <a:cs typeface="Poppins Light"/>
            </a:endParaRPr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39B18A54-D101-A9F3-0613-8BA445D2DC0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70615" y="4670037"/>
            <a:ext cx="2519874" cy="1918493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48153AD6-C691-2C8B-B3B6-2751A8ED97A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80428" y="4665219"/>
            <a:ext cx="2401293" cy="1918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170190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8C4FA8-7602-3F9C-CAB1-57CDD06787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E4718078-E4D6-6272-74CE-0963166097D7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6563E37-7449-88E7-531F-DD47615EAE3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9FF07D16-3344-862F-121A-7B3ED82A2A92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E54B300-08AC-2A77-6CC4-C105A11090D8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40E9E58-EEFD-D866-28FB-BA24FD7420A6}"/>
              </a:ext>
            </a:extLst>
          </p:cNvPr>
          <p:cNvSpPr/>
          <p:nvPr/>
        </p:nvSpPr>
        <p:spPr>
          <a:xfrm>
            <a:off x="638383" y="859879"/>
            <a:ext cx="5265878" cy="51871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tx1"/>
                </a:solidFill>
                <a:cs typeface="Poppins Light"/>
              </a:rPr>
              <a:t>Overview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AB2FDEE8-0DAF-45B8-178B-B7C7ACDE67B6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AC8AAD3-0016-62D8-76B7-06AAA689F929}"/>
              </a:ext>
            </a:extLst>
          </p:cNvPr>
          <p:cNvSpPr/>
          <p:nvPr/>
        </p:nvSpPr>
        <p:spPr>
          <a:xfrm>
            <a:off x="2532347" y="4297430"/>
            <a:ext cx="1593806" cy="4397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Weighted Aggregation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6F5B2A1B-2B02-11CC-675A-00E79E54F3F3}"/>
              </a:ext>
            </a:extLst>
          </p:cNvPr>
          <p:cNvGrpSpPr/>
          <p:nvPr/>
        </p:nvGrpSpPr>
        <p:grpSpPr>
          <a:xfrm>
            <a:off x="2341726" y="1413742"/>
            <a:ext cx="1975048" cy="775299"/>
            <a:chOff x="10490" y="2427201"/>
            <a:chExt cx="1033571" cy="775299"/>
          </a:xfrm>
          <a:solidFill>
            <a:srgbClr val="EAF3F8"/>
          </a:solidFill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BF43EB5D-FD29-D266-60FE-EF234B4BA5FA}"/>
                </a:ext>
              </a:extLst>
            </p:cNvPr>
            <p:cNvSpPr/>
            <p:nvPr/>
          </p:nvSpPr>
          <p:spPr>
            <a:xfrm>
              <a:off x="10490" y="2427201"/>
              <a:ext cx="1033571" cy="775299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51666040-E07F-0CCF-3671-E5568954BBCE}"/>
                </a:ext>
              </a:extLst>
            </p:cNvPr>
            <p:cNvSpPr/>
            <p:nvPr/>
          </p:nvSpPr>
          <p:spPr>
            <a:xfrm>
              <a:off x="101747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scores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C3E9EAF6-47DF-D18C-ACA1-08F87D3BB5A3}"/>
                </a:ext>
              </a:extLst>
            </p:cNvPr>
            <p:cNvSpPr txBox="1"/>
            <p:nvPr/>
          </p:nvSpPr>
          <p:spPr>
            <a:xfrm>
              <a:off x="97803" y="2437180"/>
              <a:ext cx="876269" cy="261610"/>
            </a:xfrm>
            <a:prstGeom prst="rect">
              <a:avLst/>
            </a:prstGeom>
            <a:noFill/>
            <a:ln>
              <a:solidFill>
                <a:srgbClr val="EAF3F8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Inputs</a:t>
              </a:r>
              <a:endParaRPr lang="en-US" sz="1050" dirty="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A0B6B7A-2B59-7458-1F5C-C2D38AD67522}"/>
                </a:ext>
              </a:extLst>
            </p:cNvPr>
            <p:cNvSpPr/>
            <p:nvPr/>
          </p:nvSpPr>
          <p:spPr>
            <a:xfrm>
              <a:off x="556345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indices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</p:grp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E9BB35D-5E87-C7D2-C4CD-0376BF9070F4}"/>
              </a:ext>
            </a:extLst>
          </p:cNvPr>
          <p:cNvCxnSpPr>
            <a:cxnSpLocks/>
          </p:cNvCxnSpPr>
          <p:nvPr/>
        </p:nvCxnSpPr>
        <p:spPr>
          <a:xfrm flipH="1">
            <a:off x="3329250" y="2233306"/>
            <a:ext cx="1" cy="159346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0A474C00-0EA6-B063-7121-7F45EDF95099}"/>
              </a:ext>
            </a:extLst>
          </p:cNvPr>
          <p:cNvCxnSpPr>
            <a:cxnSpLocks/>
          </p:cNvCxnSpPr>
          <p:nvPr/>
        </p:nvCxnSpPr>
        <p:spPr>
          <a:xfrm>
            <a:off x="3333076" y="4810293"/>
            <a:ext cx="0" cy="30977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4AB4566A-4357-D8F1-F3E2-58571386C494}"/>
              </a:ext>
            </a:extLst>
          </p:cNvPr>
          <p:cNvSpPr/>
          <p:nvPr/>
        </p:nvSpPr>
        <p:spPr>
          <a:xfrm>
            <a:off x="2534260" y="5193129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Sort + Top-N + Final Output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73A7BA54-8303-A654-406B-BDAF076FC64B}"/>
              </a:ext>
            </a:extLst>
          </p:cNvPr>
          <p:cNvSpPr/>
          <p:nvPr/>
        </p:nvSpPr>
        <p:spPr>
          <a:xfrm>
            <a:off x="2532347" y="6094969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Json response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7EDCDE8E-1913-C5DE-F3FB-0438286A286F}"/>
              </a:ext>
            </a:extLst>
          </p:cNvPr>
          <p:cNvCxnSpPr>
            <a:cxnSpLocks/>
          </p:cNvCxnSpPr>
          <p:nvPr/>
        </p:nvCxnSpPr>
        <p:spPr>
          <a:xfrm>
            <a:off x="3333323" y="5694868"/>
            <a:ext cx="0" cy="30977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60" name="Group 59">
            <a:extLst>
              <a:ext uri="{FF2B5EF4-FFF2-40B4-BE49-F238E27FC236}">
                <a16:creationId xmlns:a16="http://schemas.microsoft.com/office/drawing/2014/main" id="{4A600C25-D5BA-ADD2-60C0-6688096A5FDF}"/>
              </a:ext>
            </a:extLst>
          </p:cNvPr>
          <p:cNvGrpSpPr/>
          <p:nvPr/>
        </p:nvGrpSpPr>
        <p:grpSpPr>
          <a:xfrm>
            <a:off x="1382298" y="2429185"/>
            <a:ext cx="3893906" cy="1495360"/>
            <a:chOff x="1382298" y="2429185"/>
            <a:chExt cx="3893906" cy="1495360"/>
          </a:xfrm>
          <a:solidFill>
            <a:srgbClr val="EAF3F8"/>
          </a:solidFill>
        </p:grpSpPr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F025F275-AAF4-D68C-F18C-BD3B2C22536C}"/>
                </a:ext>
              </a:extLst>
            </p:cNvPr>
            <p:cNvGrpSpPr/>
            <p:nvPr/>
          </p:nvGrpSpPr>
          <p:grpSpPr>
            <a:xfrm>
              <a:off x="1382298" y="2429185"/>
              <a:ext cx="3893906" cy="1495360"/>
              <a:chOff x="213358" y="1919130"/>
              <a:chExt cx="1283172" cy="1495360"/>
            </a:xfrm>
            <a:grpFill/>
          </p:grpSpPr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E62774A1-FCE3-728A-D78F-C4B228EF35CE}"/>
                  </a:ext>
                </a:extLst>
              </p:cNvPr>
              <p:cNvSpPr/>
              <p:nvPr/>
            </p:nvSpPr>
            <p:spPr>
              <a:xfrm>
                <a:off x="213358" y="1919130"/>
                <a:ext cx="1283172" cy="1495360"/>
              </a:xfrm>
              <a:prstGeom prst="rect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B4534B9D-9C15-2615-3E53-E05761894F7F}"/>
                  </a:ext>
                </a:extLst>
              </p:cNvPr>
              <p:cNvSpPr/>
              <p:nvPr/>
            </p:nvSpPr>
            <p:spPr>
              <a:xfrm>
                <a:off x="869945" y="2427304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85000"/>
                      </a:schemeClr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recency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F932D324-C293-2197-D5A8-94CF6B09E9EC}"/>
                  </a:ext>
                </a:extLst>
              </p:cNvPr>
              <p:cNvSpPr/>
              <p:nvPr/>
            </p:nvSpPr>
            <p:spPr>
              <a:xfrm>
                <a:off x="1174409" y="2427304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chemeClr val="bg1">
                        <a:lumMod val="85000"/>
                      </a:schemeClr>
                    </a:solidFill>
                    <a:latin typeface="Poppins Light"/>
                    <a:cs typeface="Sarabun Light"/>
                  </a:rPr>
                  <a:t>popularity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EE619F42-EEC7-931E-D786-2FFC1FA9E350}"/>
                  </a:ext>
                </a:extLst>
              </p:cNvPr>
              <p:cNvSpPr txBox="1"/>
              <p:nvPr/>
            </p:nvSpPr>
            <p:spPr>
              <a:xfrm>
                <a:off x="240830" y="2000737"/>
                <a:ext cx="1236792" cy="261610"/>
              </a:xfrm>
              <a:prstGeom prst="rect">
                <a:avLst/>
              </a:prstGeom>
              <a:solidFill>
                <a:srgbClr val="EAF3F8"/>
              </a:solidFill>
              <a:ln>
                <a:solidFill>
                  <a:srgbClr val="EAF3F8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bg1">
                        <a:lumMod val="85000"/>
                      </a:schemeClr>
                    </a:solidFill>
                  </a:rPr>
                  <a:t>Subscore function</a:t>
                </a:r>
                <a:endParaRPr lang="en-US" sz="1050" dirty="0">
                  <a:solidFill>
                    <a:schemeClr val="bg1">
                      <a:lumMod val="85000"/>
                    </a:schemeClr>
                  </a:solidFill>
                </a:endParaRPr>
              </a:p>
            </p:txBody>
          </p:sp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58F5A67E-F145-3800-5077-5AAD479748E6}"/>
                  </a:ext>
                </a:extLst>
              </p:cNvPr>
              <p:cNvSpPr/>
              <p:nvPr/>
            </p:nvSpPr>
            <p:spPr>
              <a:xfrm>
                <a:off x="263504" y="2429832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85000"/>
                      </a:schemeClr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language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51575402-1C2B-940B-C133-45D932A1769B}"/>
                  </a:ext>
                </a:extLst>
              </p:cNvPr>
              <p:cNvSpPr txBox="1"/>
              <p:nvPr/>
            </p:nvSpPr>
            <p:spPr>
              <a:xfrm>
                <a:off x="566725" y="2435991"/>
                <a:ext cx="278147" cy="261610"/>
              </a:xfrm>
              <a:prstGeom prst="rect">
                <a:avLst/>
              </a:prstGeom>
              <a:grpFill/>
              <a:ln>
                <a:solidFill>
                  <a:srgbClr val="EAF3F8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bg1">
                        <a:lumMod val="85000"/>
                      </a:schemeClr>
                    </a:solidFill>
                  </a:rPr>
                  <a:t>..…</a:t>
                </a:r>
                <a:endParaRPr lang="en-US" sz="1050" dirty="0">
                  <a:solidFill>
                    <a:schemeClr val="bg1">
                      <a:lumMod val="85000"/>
                    </a:schemeClr>
                  </a:solidFill>
                </a:endParaRPr>
              </a:p>
            </p:txBody>
          </p:sp>
        </p:grpSp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F6B65138-52C6-F68F-18D4-3BFC24E173C7}"/>
                </a:ext>
              </a:extLst>
            </p:cNvPr>
            <p:cNvSpPr/>
            <p:nvPr/>
          </p:nvSpPr>
          <p:spPr>
            <a:xfrm>
              <a:off x="3219863" y="3496554"/>
              <a:ext cx="218775" cy="218775"/>
            </a:xfrm>
            <a:prstGeom prst="ellipse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dk1"/>
            </a:lnRef>
            <a:fillRef idx="1002">
              <a:schemeClr val="lt2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bg1">
                    <a:lumMod val="85000"/>
                  </a:schemeClr>
                </a:solidFill>
              </a:endParaRPr>
            </a:p>
          </p:txBody>
        </p:sp>
        <p:cxnSp>
          <p:nvCxnSpPr>
            <p:cNvPr id="63" name="Connector: Elbow 62">
              <a:extLst>
                <a:ext uri="{FF2B5EF4-FFF2-40B4-BE49-F238E27FC236}">
                  <a16:creationId xmlns:a16="http://schemas.microsoft.com/office/drawing/2014/main" id="{66C9F9BB-ED04-7779-4B40-EB0FF5713DD2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08517" y="3408600"/>
              <a:ext cx="285151" cy="145465"/>
            </a:xfrm>
            <a:prstGeom prst="bentConnector3">
              <a:avLst>
                <a:gd name="adj1" fmla="val 3235"/>
              </a:avLst>
            </a:prstGeom>
            <a:grp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Connector: Elbow 63">
              <a:extLst>
                <a:ext uri="{FF2B5EF4-FFF2-40B4-BE49-F238E27FC236}">
                  <a16:creationId xmlns:a16="http://schemas.microsoft.com/office/drawing/2014/main" id="{C4A3AAD9-3B14-4B50-46BC-064DBC1E8CB7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12821" y="3443748"/>
              <a:ext cx="1204911" cy="211472"/>
            </a:xfrm>
            <a:prstGeom prst="bentConnector3">
              <a:avLst>
                <a:gd name="adj1" fmla="val -791"/>
              </a:avLst>
            </a:prstGeom>
            <a:grp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Connector: Elbow 64">
              <a:extLst>
                <a:ext uri="{FF2B5EF4-FFF2-40B4-BE49-F238E27FC236}">
                  <a16:creationId xmlns:a16="http://schemas.microsoft.com/office/drawing/2014/main" id="{234B302F-FA10-EAD8-FF55-464471896D07}"/>
                </a:ext>
              </a:extLst>
            </p:cNvPr>
            <p:cNvCxnSpPr>
              <a:cxnSpLocks/>
            </p:cNvCxnSpPr>
            <p:nvPr/>
          </p:nvCxnSpPr>
          <p:spPr>
            <a:xfrm>
              <a:off x="2864833" y="3414814"/>
              <a:ext cx="285151" cy="145465"/>
            </a:xfrm>
            <a:prstGeom prst="bentConnector3">
              <a:avLst>
                <a:gd name="adj1" fmla="val 3235"/>
              </a:avLst>
            </a:prstGeom>
            <a:grp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Connector: Elbow 65">
              <a:extLst>
                <a:ext uri="{FF2B5EF4-FFF2-40B4-BE49-F238E27FC236}">
                  <a16:creationId xmlns:a16="http://schemas.microsoft.com/office/drawing/2014/main" id="{D6A1A89C-8BDD-801B-3C63-55510118F91A}"/>
                </a:ext>
              </a:extLst>
            </p:cNvPr>
            <p:cNvCxnSpPr>
              <a:cxnSpLocks/>
            </p:cNvCxnSpPr>
            <p:nvPr/>
          </p:nvCxnSpPr>
          <p:spPr>
            <a:xfrm>
              <a:off x="1945073" y="3448329"/>
              <a:ext cx="1204911" cy="211472"/>
            </a:xfrm>
            <a:prstGeom prst="bentConnector3">
              <a:avLst>
                <a:gd name="adj1" fmla="val -791"/>
              </a:avLst>
            </a:prstGeom>
            <a:grp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3CAEEF54-FA15-A356-1F5E-1FD482DDC6D0}"/>
              </a:ext>
            </a:extLst>
          </p:cNvPr>
          <p:cNvCxnSpPr>
            <a:cxnSpLocks/>
          </p:cNvCxnSpPr>
          <p:nvPr/>
        </p:nvCxnSpPr>
        <p:spPr>
          <a:xfrm>
            <a:off x="3331163" y="3812302"/>
            <a:ext cx="0" cy="378727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4" name="TextBox 73">
            <a:extLst>
              <a:ext uri="{FF2B5EF4-FFF2-40B4-BE49-F238E27FC236}">
                <a16:creationId xmlns:a16="http://schemas.microsoft.com/office/drawing/2014/main" id="{A24BB166-38F0-5B5E-4209-A8F8F77D49CC}"/>
              </a:ext>
            </a:extLst>
          </p:cNvPr>
          <p:cNvSpPr txBox="1"/>
          <p:nvPr/>
        </p:nvSpPr>
        <p:spPr>
          <a:xfrm>
            <a:off x="6404638" y="879576"/>
            <a:ext cx="5282538" cy="553998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t">
            <a:spAutoFit/>
          </a:bodyPr>
          <a:lstStyle/>
          <a:p>
            <a:r>
              <a:rPr lang="en-US" sz="1600" dirty="0">
                <a:solidFill>
                  <a:schemeClr val="tx1"/>
                </a:solidFill>
                <a:ea typeface="+mn-lt"/>
                <a:cs typeface="+mn-lt"/>
              </a:rPr>
              <a:t>Weighted Aggregation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- Subscore + vector score are combined into one </a:t>
            </a:r>
            <a:r>
              <a:rPr lang="en-US" sz="1400" dirty="0" err="1">
                <a:solidFill>
                  <a:schemeClr val="tx1"/>
                </a:solidFill>
                <a:ea typeface="+mn-lt"/>
                <a:cs typeface="+mn-lt"/>
              </a:rPr>
              <a:t>final_score</a:t>
            </a:r>
            <a:endParaRPr lang="en-US" sz="1400" dirty="0">
              <a:solidFill>
                <a:schemeClr val="tx1"/>
              </a:solidFill>
              <a:ea typeface="+mn-lt"/>
              <a:cs typeface="+mn-lt"/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633BE178-3FD4-7570-8DE9-3F8CDC51E135}"/>
              </a:ext>
            </a:extLst>
          </p:cNvPr>
          <p:cNvSpPr txBox="1"/>
          <p:nvPr/>
        </p:nvSpPr>
        <p:spPr>
          <a:xfrm>
            <a:off x="6404638" y="2625719"/>
            <a:ext cx="5282538" cy="1169551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t">
            <a:spAutoFit/>
          </a:bodyPr>
          <a:lstStyle/>
          <a:p>
            <a:r>
              <a:rPr lang="en-US" sz="1400" dirty="0">
                <a:solidFill>
                  <a:schemeClr val="tx1"/>
                </a:solidFill>
                <a:cs typeface="Poppins Light"/>
              </a:rPr>
              <a:t>- YAML controls weights (easy to tune without touching code)</a:t>
            </a:r>
            <a:br>
              <a:rPr lang="en-US" sz="1400" dirty="0">
                <a:solidFill>
                  <a:schemeClr val="tx1"/>
                </a:solidFill>
                <a:cs typeface="Poppins Light"/>
              </a:rPr>
            </a:br>
            <a:r>
              <a:rPr lang="en-US" sz="1400" dirty="0">
                <a:solidFill>
                  <a:schemeClr val="tx1"/>
                </a:solidFill>
                <a:cs typeface="Poppins Light"/>
              </a:rPr>
              <a:t>    - which features participate</a:t>
            </a:r>
          </a:p>
          <a:p>
            <a:r>
              <a:rPr lang="en-US" sz="1400" dirty="0">
                <a:solidFill>
                  <a:schemeClr val="tx1"/>
                </a:solidFill>
                <a:cs typeface="Poppins Light"/>
              </a:rPr>
              <a:t>    - their weights</a:t>
            </a:r>
          </a:p>
          <a:p>
            <a:r>
              <a:rPr lang="en-US" sz="1400" dirty="0">
                <a:solidFill>
                  <a:schemeClr val="tx1"/>
                </a:solidFill>
                <a:cs typeface="Poppins Light"/>
              </a:rPr>
              <a:t>    - whether to clamp inputs</a:t>
            </a:r>
          </a:p>
          <a:p>
            <a:r>
              <a:rPr lang="en-US" sz="1400" dirty="0">
                <a:solidFill>
                  <a:schemeClr val="tx1"/>
                </a:solidFill>
                <a:cs typeface="Poppins Light"/>
              </a:rPr>
              <a:t>    - whether to renormalize weights (sum to 1)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41D7CBA2-0608-B590-F65E-79A83DEAF646}"/>
                  </a:ext>
                </a:extLst>
              </p:cNvPr>
              <p:cNvSpPr txBox="1"/>
              <p:nvPr/>
            </p:nvSpPr>
            <p:spPr>
              <a:xfrm>
                <a:off x="6873899" y="1690147"/>
                <a:ext cx="4339265" cy="67223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𝑓𝑖𝑎𝑛𝑙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𝑠𝑐𝑜𝑟𝑒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𝑤𝑒𝑖𝑔h𝑡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∗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𝑐𝑙𝑎𝑚𝑝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𝑣𝑎𝑙𝑢𝑒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41D7CBA2-0608-B590-F65E-79A83DEAF6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73899" y="1690147"/>
                <a:ext cx="4339265" cy="67223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8" name="Picture 77">
            <a:extLst>
              <a:ext uri="{FF2B5EF4-FFF2-40B4-BE49-F238E27FC236}">
                <a16:creationId xmlns:a16="http://schemas.microsoft.com/office/drawing/2014/main" id="{46FA11A8-ECED-B3BF-120A-9436B81B15C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4638" y="3822417"/>
            <a:ext cx="5282538" cy="2701988"/>
          </a:xfrm>
          <a:prstGeom prst="rect">
            <a:avLst/>
          </a:prstGeom>
        </p:spPr>
      </p:pic>
      <p:sp>
        <p:nvSpPr>
          <p:cNvPr id="79" name="Title 1">
            <a:extLst>
              <a:ext uri="{FF2B5EF4-FFF2-40B4-BE49-F238E27FC236}">
                <a16:creationId xmlns:a16="http://schemas.microsoft.com/office/drawing/2014/main" id="{336E4D0F-3682-149F-E16F-5C36275AA983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>
                <a:ea typeface="+mn-lt"/>
                <a:cs typeface="+mn-lt"/>
              </a:rPr>
              <a:t>Subscore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99029412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CDB70A-E69F-F792-4602-BD521B80EF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AFAAEF65-EE5E-0251-BFF8-3150207266F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E4718078-E4D6-6272-74CE-0963166097D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91F7EBAF-FF63-145C-ECC9-7973BCF6F83D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6957D21-8D67-7652-F26B-C961125B89FF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D1430F0-96BD-99B3-EEF0-B8051BC34F90}"/>
              </a:ext>
            </a:extLst>
          </p:cNvPr>
          <p:cNvSpPr/>
          <p:nvPr/>
        </p:nvSpPr>
        <p:spPr>
          <a:xfrm>
            <a:off x="638383" y="859879"/>
            <a:ext cx="5265878" cy="51871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tx1"/>
                </a:solidFill>
                <a:cs typeface="Poppins Light"/>
              </a:rPr>
              <a:t>Overview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BBBF7A26-B7E7-3204-5789-1C9E499FB0C7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C4213CD6-27DE-20F9-B12D-FA0A356C8A64}"/>
              </a:ext>
            </a:extLst>
          </p:cNvPr>
          <p:cNvGrpSpPr/>
          <p:nvPr/>
        </p:nvGrpSpPr>
        <p:grpSpPr>
          <a:xfrm>
            <a:off x="2341726" y="1413742"/>
            <a:ext cx="1975048" cy="775299"/>
            <a:chOff x="10490" y="2427201"/>
            <a:chExt cx="1033571" cy="775299"/>
          </a:xfrm>
          <a:solidFill>
            <a:srgbClr val="EAF3F8"/>
          </a:solidFill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D4E3BBC0-580E-F4EC-0086-511D5CA2F4C7}"/>
                </a:ext>
              </a:extLst>
            </p:cNvPr>
            <p:cNvSpPr/>
            <p:nvPr/>
          </p:nvSpPr>
          <p:spPr>
            <a:xfrm>
              <a:off x="10490" y="2427201"/>
              <a:ext cx="1033571" cy="775299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3F0BA921-0A0D-6912-5955-F60FD403A921}"/>
                </a:ext>
              </a:extLst>
            </p:cNvPr>
            <p:cNvSpPr/>
            <p:nvPr/>
          </p:nvSpPr>
          <p:spPr>
            <a:xfrm>
              <a:off x="101747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scores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6C410E8-E5CA-CE1B-EEBD-2BB022AC1CC9}"/>
                </a:ext>
              </a:extLst>
            </p:cNvPr>
            <p:cNvSpPr txBox="1"/>
            <p:nvPr/>
          </p:nvSpPr>
          <p:spPr>
            <a:xfrm>
              <a:off x="97803" y="2437180"/>
              <a:ext cx="876269" cy="261610"/>
            </a:xfrm>
            <a:prstGeom prst="rect">
              <a:avLst/>
            </a:prstGeom>
            <a:noFill/>
            <a:ln>
              <a:solidFill>
                <a:srgbClr val="EAF3F8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Inputs</a:t>
              </a:r>
              <a:endParaRPr lang="en-US" sz="1050" dirty="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A2DD8D3-B7AC-B862-03BF-176443DD39DA}"/>
                </a:ext>
              </a:extLst>
            </p:cNvPr>
            <p:cNvSpPr/>
            <p:nvPr/>
          </p:nvSpPr>
          <p:spPr>
            <a:xfrm>
              <a:off x="556345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indices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</p:grp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0F48ED4-B928-0C9E-FE8D-06EB15512417}"/>
              </a:ext>
            </a:extLst>
          </p:cNvPr>
          <p:cNvCxnSpPr>
            <a:cxnSpLocks/>
          </p:cNvCxnSpPr>
          <p:nvPr/>
        </p:nvCxnSpPr>
        <p:spPr>
          <a:xfrm flipH="1">
            <a:off x="3329250" y="2233306"/>
            <a:ext cx="1" cy="159346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Rectangle 33">
            <a:extLst>
              <a:ext uri="{FF2B5EF4-FFF2-40B4-BE49-F238E27FC236}">
                <a16:creationId xmlns:a16="http://schemas.microsoft.com/office/drawing/2014/main" id="{A3F79625-7510-E7EC-353A-C26D358F14DE}"/>
              </a:ext>
            </a:extLst>
          </p:cNvPr>
          <p:cNvSpPr/>
          <p:nvPr/>
        </p:nvSpPr>
        <p:spPr>
          <a:xfrm>
            <a:off x="2532347" y="6094969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Json response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31E9B8A6-A942-5D87-7240-E67803FBF268}"/>
              </a:ext>
            </a:extLst>
          </p:cNvPr>
          <p:cNvCxnSpPr>
            <a:cxnSpLocks/>
          </p:cNvCxnSpPr>
          <p:nvPr/>
        </p:nvCxnSpPr>
        <p:spPr>
          <a:xfrm>
            <a:off x="3333323" y="5694868"/>
            <a:ext cx="0" cy="30977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12956D82-B2A6-E241-B82A-FF032ED18D6E}"/>
              </a:ext>
            </a:extLst>
          </p:cNvPr>
          <p:cNvCxnSpPr>
            <a:cxnSpLocks/>
          </p:cNvCxnSpPr>
          <p:nvPr/>
        </p:nvCxnSpPr>
        <p:spPr>
          <a:xfrm>
            <a:off x="3333076" y="4810293"/>
            <a:ext cx="0" cy="30977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0AF61E8C-8FA7-9F32-8DA4-0DC3E97D6657}"/>
              </a:ext>
            </a:extLst>
          </p:cNvPr>
          <p:cNvSpPr/>
          <p:nvPr/>
        </p:nvSpPr>
        <p:spPr>
          <a:xfrm>
            <a:off x="2534260" y="5193129"/>
            <a:ext cx="1593806" cy="4397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Sort + Top-N + Final Output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D554D24-2324-82C6-BCE1-42A919A4B993}"/>
              </a:ext>
            </a:extLst>
          </p:cNvPr>
          <p:cNvSpPr/>
          <p:nvPr/>
        </p:nvSpPr>
        <p:spPr>
          <a:xfrm>
            <a:off x="2532347" y="4297430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Weighted Aggregation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78A78148-40A9-8CDE-4FBE-7C27C158F52B}"/>
              </a:ext>
            </a:extLst>
          </p:cNvPr>
          <p:cNvGrpSpPr/>
          <p:nvPr/>
        </p:nvGrpSpPr>
        <p:grpSpPr>
          <a:xfrm>
            <a:off x="1382298" y="2429185"/>
            <a:ext cx="3893906" cy="1495360"/>
            <a:chOff x="1382298" y="2429185"/>
            <a:chExt cx="3893906" cy="1495360"/>
          </a:xfrm>
          <a:solidFill>
            <a:srgbClr val="EAF3F8"/>
          </a:solidFill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0FBA0625-3158-9883-E774-1C94D9474287}"/>
                </a:ext>
              </a:extLst>
            </p:cNvPr>
            <p:cNvGrpSpPr/>
            <p:nvPr/>
          </p:nvGrpSpPr>
          <p:grpSpPr>
            <a:xfrm>
              <a:off x="1382298" y="2429185"/>
              <a:ext cx="3893906" cy="1495360"/>
              <a:chOff x="213358" y="1919130"/>
              <a:chExt cx="1283172" cy="1495360"/>
            </a:xfrm>
            <a:grpFill/>
          </p:grpSpPr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511F5B7D-3DC2-3C23-192F-85EEA726ECD2}"/>
                  </a:ext>
                </a:extLst>
              </p:cNvPr>
              <p:cNvSpPr/>
              <p:nvPr/>
            </p:nvSpPr>
            <p:spPr>
              <a:xfrm>
                <a:off x="213358" y="1919130"/>
                <a:ext cx="1283172" cy="1495360"/>
              </a:xfrm>
              <a:prstGeom prst="rect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251DD4C9-A25A-68F9-66D3-587261F48DD7}"/>
                  </a:ext>
                </a:extLst>
              </p:cNvPr>
              <p:cNvSpPr/>
              <p:nvPr/>
            </p:nvSpPr>
            <p:spPr>
              <a:xfrm>
                <a:off x="869945" y="2427304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85000"/>
                      </a:schemeClr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recency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6DA67603-D2F0-D2B6-7FEB-11A374255302}"/>
                  </a:ext>
                </a:extLst>
              </p:cNvPr>
              <p:cNvSpPr/>
              <p:nvPr/>
            </p:nvSpPr>
            <p:spPr>
              <a:xfrm>
                <a:off x="1174409" y="2427304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chemeClr val="bg1">
                        <a:lumMod val="85000"/>
                      </a:schemeClr>
                    </a:solidFill>
                    <a:latin typeface="Poppins Light"/>
                    <a:cs typeface="Sarabun Light"/>
                  </a:rPr>
                  <a:t>popularity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2BFD5469-268E-08FD-2E6D-A8E606F957B7}"/>
                  </a:ext>
                </a:extLst>
              </p:cNvPr>
              <p:cNvSpPr txBox="1"/>
              <p:nvPr/>
            </p:nvSpPr>
            <p:spPr>
              <a:xfrm>
                <a:off x="240830" y="2000737"/>
                <a:ext cx="1236792" cy="261610"/>
              </a:xfrm>
              <a:prstGeom prst="rect">
                <a:avLst/>
              </a:prstGeom>
              <a:solidFill>
                <a:srgbClr val="EAF3F8"/>
              </a:solidFill>
              <a:ln>
                <a:solidFill>
                  <a:srgbClr val="EAF3F8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bg1">
                        <a:lumMod val="85000"/>
                      </a:schemeClr>
                    </a:solidFill>
                  </a:rPr>
                  <a:t>Subscore function</a:t>
                </a:r>
                <a:endParaRPr lang="en-US" sz="1050" dirty="0">
                  <a:solidFill>
                    <a:schemeClr val="bg1">
                      <a:lumMod val="85000"/>
                    </a:schemeClr>
                  </a:solidFill>
                </a:endParaRPr>
              </a:p>
            </p:txBody>
          </p:sp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ED336C60-C5DD-837A-2DA1-8306F7DE450A}"/>
                  </a:ext>
                </a:extLst>
              </p:cNvPr>
              <p:cNvSpPr/>
              <p:nvPr/>
            </p:nvSpPr>
            <p:spPr>
              <a:xfrm>
                <a:off x="263504" y="2429832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85000"/>
                      </a:schemeClr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language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AC45D0E6-EE74-E692-6CA4-52BF032A2A24}"/>
                  </a:ext>
                </a:extLst>
              </p:cNvPr>
              <p:cNvSpPr txBox="1"/>
              <p:nvPr/>
            </p:nvSpPr>
            <p:spPr>
              <a:xfrm>
                <a:off x="566725" y="2435991"/>
                <a:ext cx="278147" cy="261610"/>
              </a:xfrm>
              <a:prstGeom prst="rect">
                <a:avLst/>
              </a:prstGeom>
              <a:grpFill/>
              <a:ln>
                <a:solidFill>
                  <a:srgbClr val="EAF3F8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bg1">
                        <a:lumMod val="85000"/>
                      </a:schemeClr>
                    </a:solidFill>
                  </a:rPr>
                  <a:t>..…</a:t>
                </a:r>
                <a:endParaRPr lang="en-US" sz="1050" dirty="0">
                  <a:solidFill>
                    <a:schemeClr val="bg1">
                      <a:lumMod val="85000"/>
                    </a:schemeClr>
                  </a:solidFill>
                </a:endParaRPr>
              </a:p>
            </p:txBody>
          </p:sp>
        </p:grp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70BD8AD2-E4C3-898A-2729-65E08D156C57}"/>
                </a:ext>
              </a:extLst>
            </p:cNvPr>
            <p:cNvSpPr/>
            <p:nvPr/>
          </p:nvSpPr>
          <p:spPr>
            <a:xfrm>
              <a:off x="3219863" y="3496554"/>
              <a:ext cx="218775" cy="218775"/>
            </a:xfrm>
            <a:prstGeom prst="ellipse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dk1"/>
            </a:lnRef>
            <a:fillRef idx="1002">
              <a:schemeClr val="lt2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bg1">
                    <a:lumMod val="85000"/>
                  </a:schemeClr>
                </a:solidFill>
              </a:endParaRPr>
            </a:p>
          </p:txBody>
        </p:sp>
        <p:cxnSp>
          <p:nvCxnSpPr>
            <p:cNvPr id="29" name="Connector: Elbow 28">
              <a:extLst>
                <a:ext uri="{FF2B5EF4-FFF2-40B4-BE49-F238E27FC236}">
                  <a16:creationId xmlns:a16="http://schemas.microsoft.com/office/drawing/2014/main" id="{C9361505-B98F-DCD0-D3E7-B6C14188142C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08517" y="3408600"/>
              <a:ext cx="285151" cy="145465"/>
            </a:xfrm>
            <a:prstGeom prst="bentConnector3">
              <a:avLst>
                <a:gd name="adj1" fmla="val 3235"/>
              </a:avLst>
            </a:prstGeom>
            <a:grp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Connector: Elbow 35">
              <a:extLst>
                <a:ext uri="{FF2B5EF4-FFF2-40B4-BE49-F238E27FC236}">
                  <a16:creationId xmlns:a16="http://schemas.microsoft.com/office/drawing/2014/main" id="{D570957A-4BCB-E5C3-8401-B542F9B36391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12821" y="3443748"/>
              <a:ext cx="1204911" cy="211472"/>
            </a:xfrm>
            <a:prstGeom prst="bentConnector3">
              <a:avLst>
                <a:gd name="adj1" fmla="val -791"/>
              </a:avLst>
            </a:prstGeom>
            <a:grp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Connector: Elbow 36">
              <a:extLst>
                <a:ext uri="{FF2B5EF4-FFF2-40B4-BE49-F238E27FC236}">
                  <a16:creationId xmlns:a16="http://schemas.microsoft.com/office/drawing/2014/main" id="{E5E5AF8D-4DE4-7DAC-0963-84FA52243229}"/>
                </a:ext>
              </a:extLst>
            </p:cNvPr>
            <p:cNvCxnSpPr>
              <a:cxnSpLocks/>
            </p:cNvCxnSpPr>
            <p:nvPr/>
          </p:nvCxnSpPr>
          <p:spPr>
            <a:xfrm>
              <a:off x="2864833" y="3414814"/>
              <a:ext cx="285151" cy="145465"/>
            </a:xfrm>
            <a:prstGeom prst="bentConnector3">
              <a:avLst>
                <a:gd name="adj1" fmla="val 3235"/>
              </a:avLst>
            </a:prstGeom>
            <a:grp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nector: Elbow 37">
              <a:extLst>
                <a:ext uri="{FF2B5EF4-FFF2-40B4-BE49-F238E27FC236}">
                  <a16:creationId xmlns:a16="http://schemas.microsoft.com/office/drawing/2014/main" id="{342AE918-26FB-BBBF-BFE1-FBCDC091A5B4}"/>
                </a:ext>
              </a:extLst>
            </p:cNvPr>
            <p:cNvCxnSpPr>
              <a:cxnSpLocks/>
            </p:cNvCxnSpPr>
            <p:nvPr/>
          </p:nvCxnSpPr>
          <p:spPr>
            <a:xfrm>
              <a:off x="1945073" y="3448329"/>
              <a:ext cx="1204911" cy="211472"/>
            </a:xfrm>
            <a:prstGeom prst="bentConnector3">
              <a:avLst>
                <a:gd name="adj1" fmla="val -791"/>
              </a:avLst>
            </a:prstGeom>
            <a:grp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A0B21DD0-1C2E-28F0-46D7-4E00DDD464D0}"/>
              </a:ext>
            </a:extLst>
          </p:cNvPr>
          <p:cNvCxnSpPr>
            <a:cxnSpLocks/>
          </p:cNvCxnSpPr>
          <p:nvPr/>
        </p:nvCxnSpPr>
        <p:spPr>
          <a:xfrm>
            <a:off x="3331163" y="3812302"/>
            <a:ext cx="0" cy="378727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FA9DBF9A-8FA0-FAC6-04CD-3B54D26404EC}"/>
              </a:ext>
            </a:extLst>
          </p:cNvPr>
          <p:cNvSpPr txBox="1"/>
          <p:nvPr/>
        </p:nvSpPr>
        <p:spPr>
          <a:xfrm>
            <a:off x="6404638" y="879576"/>
            <a:ext cx="5282538" cy="2062103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t">
            <a:spAutoFit/>
          </a:bodyPr>
          <a:lstStyle/>
          <a:p>
            <a:r>
              <a:rPr lang="en-US" sz="1600" dirty="0">
                <a:solidFill>
                  <a:schemeClr val="tx1"/>
                </a:solidFill>
                <a:ea typeface="+mn-lt"/>
                <a:cs typeface="+mn-lt"/>
              </a:rPr>
              <a:t>Sort + Top-N + Final output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- Sort candidates by ranking score key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- Return </a:t>
            </a:r>
            <a:b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</a:br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        - </a:t>
            </a:r>
            <a:r>
              <a:rPr lang="en-US" sz="1400" dirty="0" err="1">
                <a:solidFill>
                  <a:schemeClr val="tx1"/>
                </a:solidFill>
                <a:ea typeface="+mn-lt"/>
                <a:cs typeface="+mn-lt"/>
              </a:rPr>
              <a:t>student_id</a:t>
            </a:r>
            <a:endParaRPr lang="en-US" sz="1400" dirty="0">
              <a:solidFill>
                <a:schemeClr val="tx1"/>
              </a:solidFill>
              <a:ea typeface="+mn-lt"/>
              <a:cs typeface="+mn-lt"/>
            </a:endParaRP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        - meta configuration for debugging / reproducibility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        - candidate list (previews/top-N)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- Candidate includes both</a:t>
            </a:r>
          </a:p>
          <a:p>
            <a:r>
              <a:rPr lang="en-US" sz="1400" dirty="0">
                <a:solidFill>
                  <a:schemeClr val="tx1"/>
                </a:solidFill>
                <a:cs typeface="Poppins Light"/>
              </a:rPr>
              <a:t>        - raw retrieval score (</a:t>
            </a:r>
            <a:r>
              <a:rPr lang="en-US" sz="1400" dirty="0" err="1">
                <a:solidFill>
                  <a:schemeClr val="tx1"/>
                </a:solidFill>
                <a:cs typeface="Poppins Light"/>
              </a:rPr>
              <a:t>vector_score</a:t>
            </a:r>
            <a:r>
              <a:rPr lang="en-US" sz="1400" dirty="0">
                <a:solidFill>
                  <a:schemeClr val="tx1"/>
                </a:solidFill>
                <a:cs typeface="Poppins Light"/>
              </a:rPr>
              <a:t>)</a:t>
            </a:r>
          </a:p>
          <a:p>
            <a:r>
              <a:rPr lang="en-US" sz="1400" dirty="0">
                <a:solidFill>
                  <a:schemeClr val="tx1"/>
                </a:solidFill>
                <a:cs typeface="Poppins Light"/>
              </a:rPr>
              <a:t>        - interpretable </a:t>
            </a:r>
            <a:r>
              <a:rPr lang="en-US" sz="1400" dirty="0" err="1">
                <a:solidFill>
                  <a:schemeClr val="tx1"/>
                </a:solidFill>
                <a:cs typeface="Poppins Light"/>
              </a:rPr>
              <a:t>subscores</a:t>
            </a:r>
            <a:r>
              <a:rPr lang="en-US" sz="1400" dirty="0">
                <a:solidFill>
                  <a:schemeClr val="tx1"/>
                </a:solidFill>
                <a:cs typeface="Poppins Light"/>
              </a:rPr>
              <a:t> (why it ranked)</a:t>
            </a: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ED973128-8746-162B-0A32-DCDEF4881DC8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>
                <a:ea typeface="+mn-lt"/>
                <a:cs typeface="+mn-lt"/>
              </a:rPr>
              <a:t>Subscore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82238478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ACD04-7D98-DDB3-275D-5C0FEA9192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3D33D35D-96A9-729A-4E9D-A452F5AC513D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AFAAEF65-EE5E-0251-BFF8-3150207266F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1769A074-9FF6-3E43-46CB-643AFCA5C725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2CC470-6759-C0F2-A74F-7880AE284D16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43A4145-7337-E2BE-48B9-158C457DE0A3}"/>
              </a:ext>
            </a:extLst>
          </p:cNvPr>
          <p:cNvSpPr/>
          <p:nvPr/>
        </p:nvSpPr>
        <p:spPr>
          <a:xfrm>
            <a:off x="638383" y="859879"/>
            <a:ext cx="5265878" cy="51871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tx1"/>
                </a:solidFill>
                <a:cs typeface="Poppins Light"/>
              </a:rPr>
              <a:t>Overview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2A17A32E-307D-9D32-C187-DDBB319480FA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D886A172-BD52-4F13-1BAF-878147FE2575}"/>
              </a:ext>
            </a:extLst>
          </p:cNvPr>
          <p:cNvGrpSpPr/>
          <p:nvPr/>
        </p:nvGrpSpPr>
        <p:grpSpPr>
          <a:xfrm>
            <a:off x="2341726" y="1413742"/>
            <a:ext cx="1975048" cy="775299"/>
            <a:chOff x="10490" y="2427201"/>
            <a:chExt cx="1033571" cy="775299"/>
          </a:xfrm>
          <a:solidFill>
            <a:srgbClr val="EAF3F8"/>
          </a:solidFill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76153C1-D61C-4A39-D8EE-9D4E4930DDBD}"/>
                </a:ext>
              </a:extLst>
            </p:cNvPr>
            <p:cNvSpPr/>
            <p:nvPr/>
          </p:nvSpPr>
          <p:spPr>
            <a:xfrm>
              <a:off x="10490" y="2427201"/>
              <a:ext cx="1033571" cy="775299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5DC354C3-29BF-5DDE-6E8E-E0368CB436E1}"/>
                </a:ext>
              </a:extLst>
            </p:cNvPr>
            <p:cNvSpPr/>
            <p:nvPr/>
          </p:nvSpPr>
          <p:spPr>
            <a:xfrm>
              <a:off x="101747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scores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75F097A-1C03-21AE-0A0F-5C808DEED370}"/>
                </a:ext>
              </a:extLst>
            </p:cNvPr>
            <p:cNvSpPr txBox="1"/>
            <p:nvPr/>
          </p:nvSpPr>
          <p:spPr>
            <a:xfrm>
              <a:off x="97803" y="2437180"/>
              <a:ext cx="876269" cy="261610"/>
            </a:xfrm>
            <a:prstGeom prst="rect">
              <a:avLst/>
            </a:prstGeom>
            <a:noFill/>
            <a:ln>
              <a:solidFill>
                <a:srgbClr val="EAF3F8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Inputs</a:t>
              </a:r>
              <a:endParaRPr lang="en-US" sz="1050" dirty="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201664F-67CD-6AE0-36B9-5D7B3719123F}"/>
                </a:ext>
              </a:extLst>
            </p:cNvPr>
            <p:cNvSpPr/>
            <p:nvPr/>
          </p:nvSpPr>
          <p:spPr>
            <a:xfrm>
              <a:off x="556345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indices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</p:grp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0A2A70B-B634-D2C0-E30C-5A1DA22DBA2C}"/>
              </a:ext>
            </a:extLst>
          </p:cNvPr>
          <p:cNvCxnSpPr>
            <a:cxnSpLocks/>
          </p:cNvCxnSpPr>
          <p:nvPr/>
        </p:nvCxnSpPr>
        <p:spPr>
          <a:xfrm flipH="1">
            <a:off x="3329250" y="2233306"/>
            <a:ext cx="1" cy="159346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A8292C17-6C3F-3710-7E49-63D51B5507D3}"/>
              </a:ext>
            </a:extLst>
          </p:cNvPr>
          <p:cNvCxnSpPr>
            <a:cxnSpLocks/>
          </p:cNvCxnSpPr>
          <p:nvPr/>
        </p:nvCxnSpPr>
        <p:spPr>
          <a:xfrm>
            <a:off x="3333076" y="4810293"/>
            <a:ext cx="0" cy="30977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3B47D3E6-076D-2BF4-D26C-74FBF2F41731}"/>
              </a:ext>
            </a:extLst>
          </p:cNvPr>
          <p:cNvSpPr/>
          <p:nvPr/>
        </p:nvSpPr>
        <p:spPr>
          <a:xfrm>
            <a:off x="2534260" y="5193129"/>
            <a:ext cx="1593806" cy="4397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Sort + Top-N + Final Output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937E1400-129E-D16F-7786-111F4803D63B}"/>
              </a:ext>
            </a:extLst>
          </p:cNvPr>
          <p:cNvSpPr/>
          <p:nvPr/>
        </p:nvSpPr>
        <p:spPr>
          <a:xfrm>
            <a:off x="2532347" y="4297430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Weighted Aggregation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9A54AD2-CADE-ADDC-743E-F00E18FC50C8}"/>
              </a:ext>
            </a:extLst>
          </p:cNvPr>
          <p:cNvGrpSpPr/>
          <p:nvPr/>
        </p:nvGrpSpPr>
        <p:grpSpPr>
          <a:xfrm>
            <a:off x="1382298" y="2429185"/>
            <a:ext cx="3893906" cy="1495360"/>
            <a:chOff x="1382298" y="2429185"/>
            <a:chExt cx="3893906" cy="1495360"/>
          </a:xfrm>
          <a:solidFill>
            <a:srgbClr val="EAF3F8"/>
          </a:solidFill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8A5A01E9-8B73-19DF-8E7B-BF0362BA37E6}"/>
                </a:ext>
              </a:extLst>
            </p:cNvPr>
            <p:cNvGrpSpPr/>
            <p:nvPr/>
          </p:nvGrpSpPr>
          <p:grpSpPr>
            <a:xfrm>
              <a:off x="1382298" y="2429185"/>
              <a:ext cx="3893906" cy="1495360"/>
              <a:chOff x="213358" y="1919130"/>
              <a:chExt cx="1283172" cy="1495360"/>
            </a:xfrm>
            <a:grpFill/>
          </p:grpSpPr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80B08CBE-9D28-3243-EF1E-1A39688506EF}"/>
                  </a:ext>
                </a:extLst>
              </p:cNvPr>
              <p:cNvSpPr/>
              <p:nvPr/>
            </p:nvSpPr>
            <p:spPr>
              <a:xfrm>
                <a:off x="213358" y="1919130"/>
                <a:ext cx="1283172" cy="1495360"/>
              </a:xfrm>
              <a:prstGeom prst="rect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B46A17D4-B5D6-A81A-B968-B118C17B664F}"/>
                  </a:ext>
                </a:extLst>
              </p:cNvPr>
              <p:cNvSpPr/>
              <p:nvPr/>
            </p:nvSpPr>
            <p:spPr>
              <a:xfrm>
                <a:off x="869945" y="2427304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85000"/>
                      </a:schemeClr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recency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15EF1BA9-9DC9-1409-EBA8-5C5227EE6559}"/>
                  </a:ext>
                </a:extLst>
              </p:cNvPr>
              <p:cNvSpPr/>
              <p:nvPr/>
            </p:nvSpPr>
            <p:spPr>
              <a:xfrm>
                <a:off x="1174409" y="2427304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chemeClr val="bg1">
                        <a:lumMod val="85000"/>
                      </a:schemeClr>
                    </a:solidFill>
                    <a:latin typeface="Poppins Light"/>
                    <a:cs typeface="Sarabun Light"/>
                  </a:rPr>
                  <a:t>popularity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791E05A3-291C-BBDD-512E-F23BA1212B5A}"/>
                  </a:ext>
                </a:extLst>
              </p:cNvPr>
              <p:cNvSpPr txBox="1"/>
              <p:nvPr/>
            </p:nvSpPr>
            <p:spPr>
              <a:xfrm>
                <a:off x="240830" y="2000737"/>
                <a:ext cx="1236792" cy="261610"/>
              </a:xfrm>
              <a:prstGeom prst="rect">
                <a:avLst/>
              </a:prstGeom>
              <a:solidFill>
                <a:srgbClr val="EAF3F8"/>
              </a:solidFill>
              <a:ln>
                <a:solidFill>
                  <a:srgbClr val="EAF3F8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bg1">
                        <a:lumMod val="85000"/>
                      </a:schemeClr>
                    </a:solidFill>
                  </a:rPr>
                  <a:t>Subscore function</a:t>
                </a:r>
                <a:endParaRPr lang="en-US" sz="1050" dirty="0">
                  <a:solidFill>
                    <a:schemeClr val="bg1">
                      <a:lumMod val="85000"/>
                    </a:schemeClr>
                  </a:solidFill>
                </a:endParaRPr>
              </a:p>
            </p:txBody>
          </p:sp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51E32084-B913-4415-D0B3-055B1CC7648E}"/>
                  </a:ext>
                </a:extLst>
              </p:cNvPr>
              <p:cNvSpPr/>
              <p:nvPr/>
            </p:nvSpPr>
            <p:spPr>
              <a:xfrm>
                <a:off x="263504" y="2429832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85000"/>
                      </a:schemeClr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language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897057F-9545-16C0-01BB-1D964DB494B3}"/>
                  </a:ext>
                </a:extLst>
              </p:cNvPr>
              <p:cNvSpPr txBox="1"/>
              <p:nvPr/>
            </p:nvSpPr>
            <p:spPr>
              <a:xfrm>
                <a:off x="566725" y="2435991"/>
                <a:ext cx="278147" cy="261610"/>
              </a:xfrm>
              <a:prstGeom prst="rect">
                <a:avLst/>
              </a:prstGeom>
              <a:grpFill/>
              <a:ln>
                <a:solidFill>
                  <a:srgbClr val="EAF3F8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bg1">
                        <a:lumMod val="85000"/>
                      </a:schemeClr>
                    </a:solidFill>
                  </a:rPr>
                  <a:t>..…</a:t>
                </a:r>
                <a:endParaRPr lang="en-US" sz="1050" dirty="0">
                  <a:solidFill>
                    <a:schemeClr val="bg1">
                      <a:lumMod val="85000"/>
                    </a:schemeClr>
                  </a:solidFill>
                </a:endParaRPr>
              </a:p>
            </p:txBody>
          </p:sp>
        </p:grp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9A4A720-32B8-BBCA-2418-31881FC3FD79}"/>
                </a:ext>
              </a:extLst>
            </p:cNvPr>
            <p:cNvSpPr/>
            <p:nvPr/>
          </p:nvSpPr>
          <p:spPr>
            <a:xfrm>
              <a:off x="3219863" y="3496554"/>
              <a:ext cx="218775" cy="218775"/>
            </a:xfrm>
            <a:prstGeom prst="ellipse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dk1"/>
            </a:lnRef>
            <a:fillRef idx="1002">
              <a:schemeClr val="lt2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bg1">
                    <a:lumMod val="85000"/>
                  </a:schemeClr>
                </a:solidFill>
              </a:endParaRPr>
            </a:p>
          </p:txBody>
        </p:sp>
        <p:cxnSp>
          <p:nvCxnSpPr>
            <p:cNvPr id="29" name="Connector: Elbow 28">
              <a:extLst>
                <a:ext uri="{FF2B5EF4-FFF2-40B4-BE49-F238E27FC236}">
                  <a16:creationId xmlns:a16="http://schemas.microsoft.com/office/drawing/2014/main" id="{B61C9D33-B4DA-F6D5-5C5C-57EE51A833DF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08517" y="3408600"/>
              <a:ext cx="285151" cy="145465"/>
            </a:xfrm>
            <a:prstGeom prst="bentConnector3">
              <a:avLst>
                <a:gd name="adj1" fmla="val 3235"/>
              </a:avLst>
            </a:prstGeom>
            <a:grp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Connector: Elbow 35">
              <a:extLst>
                <a:ext uri="{FF2B5EF4-FFF2-40B4-BE49-F238E27FC236}">
                  <a16:creationId xmlns:a16="http://schemas.microsoft.com/office/drawing/2014/main" id="{CC9DF323-DD2B-B87C-0682-8C73046C8B27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12821" y="3443748"/>
              <a:ext cx="1204911" cy="211472"/>
            </a:xfrm>
            <a:prstGeom prst="bentConnector3">
              <a:avLst>
                <a:gd name="adj1" fmla="val -791"/>
              </a:avLst>
            </a:prstGeom>
            <a:grp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Connector: Elbow 36">
              <a:extLst>
                <a:ext uri="{FF2B5EF4-FFF2-40B4-BE49-F238E27FC236}">
                  <a16:creationId xmlns:a16="http://schemas.microsoft.com/office/drawing/2014/main" id="{F6D0A03E-8B33-9558-C583-D1FBEF2BAE4A}"/>
                </a:ext>
              </a:extLst>
            </p:cNvPr>
            <p:cNvCxnSpPr>
              <a:cxnSpLocks/>
            </p:cNvCxnSpPr>
            <p:nvPr/>
          </p:nvCxnSpPr>
          <p:spPr>
            <a:xfrm>
              <a:off x="2864833" y="3414814"/>
              <a:ext cx="285151" cy="145465"/>
            </a:xfrm>
            <a:prstGeom prst="bentConnector3">
              <a:avLst>
                <a:gd name="adj1" fmla="val 3235"/>
              </a:avLst>
            </a:prstGeom>
            <a:grp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nector: Elbow 37">
              <a:extLst>
                <a:ext uri="{FF2B5EF4-FFF2-40B4-BE49-F238E27FC236}">
                  <a16:creationId xmlns:a16="http://schemas.microsoft.com/office/drawing/2014/main" id="{0EAAE398-AFA7-841F-9065-D782A67E70AC}"/>
                </a:ext>
              </a:extLst>
            </p:cNvPr>
            <p:cNvCxnSpPr>
              <a:cxnSpLocks/>
            </p:cNvCxnSpPr>
            <p:nvPr/>
          </p:nvCxnSpPr>
          <p:spPr>
            <a:xfrm>
              <a:off x="1945073" y="3448329"/>
              <a:ext cx="1204911" cy="211472"/>
            </a:xfrm>
            <a:prstGeom prst="bentConnector3">
              <a:avLst>
                <a:gd name="adj1" fmla="val -791"/>
              </a:avLst>
            </a:prstGeom>
            <a:grp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F8A8366F-E167-87C0-780F-2BC380B36722}"/>
              </a:ext>
            </a:extLst>
          </p:cNvPr>
          <p:cNvCxnSpPr>
            <a:cxnSpLocks/>
          </p:cNvCxnSpPr>
          <p:nvPr/>
        </p:nvCxnSpPr>
        <p:spPr>
          <a:xfrm>
            <a:off x="3331163" y="3812302"/>
            <a:ext cx="0" cy="378727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5" name="Picture 14">
            <a:extLst>
              <a:ext uri="{FF2B5EF4-FFF2-40B4-BE49-F238E27FC236}">
                <a16:creationId xmlns:a16="http://schemas.microsoft.com/office/drawing/2014/main" id="{C3A3CD5D-1605-0914-D5FB-DA7A09B8A3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63635" y="1238128"/>
            <a:ext cx="4132130" cy="5356889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F12A4FA0-ABDF-C328-CA50-AFB46F45CD52}"/>
              </a:ext>
            </a:extLst>
          </p:cNvPr>
          <p:cNvSpPr txBox="1"/>
          <p:nvPr/>
        </p:nvSpPr>
        <p:spPr>
          <a:xfrm>
            <a:off x="6404638" y="879576"/>
            <a:ext cx="5282538" cy="338554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t">
            <a:spAutoFit/>
          </a:bodyPr>
          <a:lstStyle/>
          <a:p>
            <a:r>
              <a:rPr lang="en-US" sz="1600" dirty="0">
                <a:solidFill>
                  <a:schemeClr val="tx1"/>
                </a:solidFill>
                <a:ea typeface="+mn-lt"/>
                <a:cs typeface="+mn-lt"/>
              </a:rPr>
              <a:t>Sort + Top-N + Final output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C2C8385-C90E-2777-9734-FDDC31E4AB4E}"/>
              </a:ext>
            </a:extLst>
          </p:cNvPr>
          <p:cNvSpPr/>
          <p:nvPr/>
        </p:nvSpPr>
        <p:spPr>
          <a:xfrm>
            <a:off x="2532347" y="6094969"/>
            <a:ext cx="1593806" cy="43979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Json response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3FE7B271-5982-599F-C54B-741BC61267D3}"/>
              </a:ext>
            </a:extLst>
          </p:cNvPr>
          <p:cNvCxnSpPr>
            <a:cxnSpLocks/>
          </p:cNvCxnSpPr>
          <p:nvPr/>
        </p:nvCxnSpPr>
        <p:spPr>
          <a:xfrm>
            <a:off x="3333323" y="5694868"/>
            <a:ext cx="0" cy="30977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" name="Title 1">
            <a:extLst>
              <a:ext uri="{FF2B5EF4-FFF2-40B4-BE49-F238E27FC236}">
                <a16:creationId xmlns:a16="http://schemas.microsoft.com/office/drawing/2014/main" id="{86B1882E-CD11-7CB3-E288-C144D854FDCF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>
                <a:ea typeface="+mn-lt"/>
                <a:cs typeface="+mn-lt"/>
              </a:rPr>
              <a:t>Subscore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86420161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BBF5AA-2FB3-DF51-4954-123B1CDFBD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A553937A-482A-20D9-1DCC-DA2E519C38E7}"/>
              </a:ext>
            </a:extLst>
          </p:cNvPr>
          <p:cNvSpPr txBox="1">
            <a:spLocks/>
          </p:cNvSpPr>
          <p:nvPr/>
        </p:nvSpPr>
        <p:spPr>
          <a:xfrm>
            <a:off x="479425" y="2444115"/>
            <a:ext cx="11233150" cy="984885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 algn="ctr"/>
            <a:r>
              <a:rPr lang="en-US" b="1" dirty="0"/>
              <a:t>Sprint review #10</a:t>
            </a:r>
            <a:br>
              <a:rPr lang="en-US" b="1" dirty="0"/>
            </a:br>
            <a:r>
              <a:rPr lang="en-US" b="1" dirty="0" err="1"/>
              <a:t>HyDE</a:t>
            </a:r>
            <a:r>
              <a:rPr lang="en-US" b="1" dirty="0"/>
              <a:t> feed recommendation</a:t>
            </a:r>
            <a:endParaRPr lang="en-US" sz="2400" b="1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D5856F8-1B34-DF94-104F-3C7CE2CFB747}"/>
              </a:ext>
            </a:extLst>
          </p:cNvPr>
          <p:cNvSpPr txBox="1">
            <a:spLocks/>
          </p:cNvSpPr>
          <p:nvPr/>
        </p:nvSpPr>
        <p:spPr>
          <a:xfrm>
            <a:off x="152399" y="5233942"/>
            <a:ext cx="11820525" cy="1399037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>
              <a:lnSpc>
                <a:spcPct val="150000"/>
              </a:lnSpc>
            </a:pPr>
            <a:r>
              <a:rPr lang="en-US" sz="1100" b="1" dirty="0">
                <a:solidFill>
                  <a:schemeClr val="accent1">
                    <a:lumMod val="10000"/>
                  </a:schemeClr>
                </a:solidFill>
              </a:rPr>
              <a:t>API Spec Link : </a:t>
            </a:r>
            <a:endParaRPr lang="en-US" sz="1100" b="1" dirty="0">
              <a:solidFill>
                <a:srgbClr val="509BCA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1100" b="1" dirty="0">
                <a:solidFill>
                  <a:schemeClr val="accent1">
                    <a:lumMod val="10000"/>
                  </a:schemeClr>
                </a:solidFill>
              </a:rPr>
              <a:t>Orchestrator : </a:t>
            </a:r>
            <a:endParaRPr lang="en-US" sz="1100" b="1" dirty="0">
              <a:solidFill>
                <a:srgbClr val="509BCA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1100" b="1" dirty="0">
                <a:solidFill>
                  <a:schemeClr val="accent1">
                    <a:lumMod val="10000"/>
                  </a:schemeClr>
                </a:solidFill>
              </a:rPr>
              <a:t>API core evaluation link : </a:t>
            </a:r>
            <a:r>
              <a:rPr lang="en-US" sz="1100" b="1" dirty="0">
                <a:solidFill>
                  <a:srgbClr val="509BCA"/>
                </a:solidFill>
                <a:hlinkClick r:id="rId2"/>
              </a:rPr>
              <a:t>https://hyderecomment-service-v1-1-0-du7yhkyaqq-as.a.run.app/docs#/</a:t>
            </a:r>
            <a:endParaRPr lang="en-US" sz="1100" b="1" dirty="0">
              <a:solidFill>
                <a:srgbClr val="509BCA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1100" b="1" dirty="0" err="1">
                <a:solidFill>
                  <a:schemeClr val="accent1">
                    <a:lumMod val="10000"/>
                  </a:schemeClr>
                </a:solidFill>
              </a:rPr>
              <a:t>Github</a:t>
            </a:r>
            <a:r>
              <a:rPr lang="en-US" sz="1100" b="1" dirty="0">
                <a:solidFill>
                  <a:schemeClr val="accent1">
                    <a:lumMod val="10000"/>
                  </a:schemeClr>
                </a:solidFill>
              </a:rPr>
              <a:t> :</a:t>
            </a:r>
            <a:r>
              <a:rPr lang="en-US" sz="1100" b="1" dirty="0">
                <a:solidFill>
                  <a:srgbClr val="509BCA"/>
                </a:solidFill>
              </a:rPr>
              <a:t> </a:t>
            </a:r>
            <a:r>
              <a:rPr lang="en-US" sz="1100" b="1" dirty="0">
                <a:solidFill>
                  <a:srgbClr val="509BCA"/>
                </a:solidFill>
                <a:hlinkClick r:id="rId3"/>
              </a:rPr>
              <a:t>https://github.com/TunKedsaro/Hyde</a:t>
            </a:r>
            <a:endParaRPr lang="en-US" sz="1100" b="1" dirty="0">
              <a:solidFill>
                <a:srgbClr val="509BCA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1100" b="1" dirty="0"/>
              <a:t>QA</a:t>
            </a:r>
            <a:r>
              <a:rPr lang="en-US" sz="1100" b="1" dirty="0">
                <a:solidFill>
                  <a:srgbClr val="509BCA"/>
                </a:solidFill>
              </a:rPr>
              <a:t> : https://humanintelligence.atlassian.net/wiki/spaces/CPM/pages/134611027/QA+Test+Plan+CV+Evaluation+Pipeline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FA87737-0B57-7014-8810-9BFEA45D90DE}"/>
              </a:ext>
            </a:extLst>
          </p:cNvPr>
          <p:cNvSpPr txBox="1">
            <a:spLocks/>
          </p:cNvSpPr>
          <p:nvPr/>
        </p:nvSpPr>
        <p:spPr>
          <a:xfrm>
            <a:off x="152399" y="5933461"/>
            <a:ext cx="11820525" cy="229935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>
              <a:lnSpc>
                <a:spcPct val="150000"/>
              </a:lnSpc>
            </a:pPr>
            <a:endParaRPr lang="en-US" sz="1100">
              <a:solidFill>
                <a:srgbClr val="0432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021863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4E3108-B005-42B2-A96E-6D196B46F7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9D16A4-FF4B-4A1B-03E2-77BB1FCCE783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  <p:grpSp>
        <p:nvGrpSpPr>
          <p:cNvPr id="75" name="Group 74">
            <a:extLst>
              <a:ext uri="{FF2B5EF4-FFF2-40B4-BE49-F238E27FC236}">
                <a16:creationId xmlns:a16="http://schemas.microsoft.com/office/drawing/2014/main" id="{1699D74F-99B7-4092-4F9B-C74F49ACFF70}"/>
              </a:ext>
            </a:extLst>
          </p:cNvPr>
          <p:cNvGrpSpPr/>
          <p:nvPr/>
        </p:nvGrpSpPr>
        <p:grpSpPr>
          <a:xfrm>
            <a:off x="7852615" y="1692958"/>
            <a:ext cx="3893906" cy="1495360"/>
            <a:chOff x="213358" y="1919130"/>
            <a:chExt cx="1283172" cy="1495360"/>
          </a:xfrm>
        </p:grpSpPr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2F9B0A35-2BE7-36B7-32CA-412B8828FA89}"/>
                </a:ext>
              </a:extLst>
            </p:cNvPr>
            <p:cNvSpPr/>
            <p:nvPr/>
          </p:nvSpPr>
          <p:spPr>
            <a:xfrm>
              <a:off x="213358" y="1919130"/>
              <a:ext cx="1283172" cy="149536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C4F9D6B7-0CB3-9F0D-1BE4-50DDA214BE6A}"/>
                </a:ext>
              </a:extLst>
            </p:cNvPr>
            <p:cNvSpPr/>
            <p:nvPr/>
          </p:nvSpPr>
          <p:spPr>
            <a:xfrm>
              <a:off x="259738" y="2429685"/>
              <a:ext cx="278147" cy="37014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vector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5FCB8A93-70BF-F62F-7CB7-EFDBC7706A24}"/>
                </a:ext>
              </a:extLst>
            </p:cNvPr>
            <p:cNvSpPr/>
            <p:nvPr/>
          </p:nvSpPr>
          <p:spPr>
            <a:xfrm>
              <a:off x="869945" y="2427304"/>
              <a:ext cx="278147" cy="37014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rPr>
                <a:t>recency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C0EE38DA-69BB-3386-EE5E-0C7A72A8CC18}"/>
                </a:ext>
              </a:extLst>
            </p:cNvPr>
            <p:cNvSpPr/>
            <p:nvPr/>
          </p:nvSpPr>
          <p:spPr>
            <a:xfrm>
              <a:off x="1174409" y="2427304"/>
              <a:ext cx="278147" cy="37014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popularity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4D143143-F02D-D0A8-DD2D-8CD33365D142}"/>
                </a:ext>
              </a:extLst>
            </p:cNvPr>
            <p:cNvSpPr txBox="1"/>
            <p:nvPr/>
          </p:nvSpPr>
          <p:spPr>
            <a:xfrm>
              <a:off x="213358" y="2002005"/>
              <a:ext cx="128317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Subscore function</a:t>
              </a:r>
              <a:endParaRPr lang="en-US" sz="1050" dirty="0"/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9FD29C34-BE17-4131-0947-89EE8CBA755E}"/>
                </a:ext>
              </a:extLst>
            </p:cNvPr>
            <p:cNvSpPr/>
            <p:nvPr/>
          </p:nvSpPr>
          <p:spPr>
            <a:xfrm>
              <a:off x="564202" y="2429832"/>
              <a:ext cx="278147" cy="37014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rPr>
                <a:t>language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</p:grpSp>
      <p:sp>
        <p:nvSpPr>
          <p:cNvPr id="83" name="Oval 82">
            <a:extLst>
              <a:ext uri="{FF2B5EF4-FFF2-40B4-BE49-F238E27FC236}">
                <a16:creationId xmlns:a16="http://schemas.microsoft.com/office/drawing/2014/main" id="{6A45E7CF-2722-D5C5-6438-9552C61CCEB0}"/>
              </a:ext>
            </a:extLst>
          </p:cNvPr>
          <p:cNvSpPr/>
          <p:nvPr/>
        </p:nvSpPr>
        <p:spPr>
          <a:xfrm>
            <a:off x="9690180" y="2760327"/>
            <a:ext cx="218775" cy="218775"/>
          </a:xfrm>
          <a:prstGeom prst="ellipse">
            <a:avLst/>
          </a:prstGeom>
        </p:spPr>
        <p:style>
          <a:lnRef idx="1">
            <a:schemeClr val="dk1"/>
          </a:lnRef>
          <a:fillRef idx="1002">
            <a:schemeClr val="lt2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5" name="Connector: Elbow 84">
            <a:extLst>
              <a:ext uri="{FF2B5EF4-FFF2-40B4-BE49-F238E27FC236}">
                <a16:creationId xmlns:a16="http://schemas.microsoft.com/office/drawing/2014/main" id="{E1C9462D-C44B-11AC-BC35-0387D8420C5B}"/>
              </a:ext>
            </a:extLst>
          </p:cNvPr>
          <p:cNvCxnSpPr>
            <a:cxnSpLocks/>
          </p:cNvCxnSpPr>
          <p:nvPr/>
        </p:nvCxnSpPr>
        <p:spPr>
          <a:xfrm>
            <a:off x="9335150" y="2678587"/>
            <a:ext cx="285151" cy="145465"/>
          </a:xfrm>
          <a:prstGeom prst="bentConnector3">
            <a:avLst>
              <a:gd name="adj1" fmla="val 323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: Elbow 91">
            <a:extLst>
              <a:ext uri="{FF2B5EF4-FFF2-40B4-BE49-F238E27FC236}">
                <a16:creationId xmlns:a16="http://schemas.microsoft.com/office/drawing/2014/main" id="{C06FA5A9-BDA8-61EF-4A44-C40D94D0C797}"/>
              </a:ext>
            </a:extLst>
          </p:cNvPr>
          <p:cNvCxnSpPr>
            <a:cxnSpLocks/>
          </p:cNvCxnSpPr>
          <p:nvPr/>
        </p:nvCxnSpPr>
        <p:spPr>
          <a:xfrm>
            <a:off x="8415390" y="2712102"/>
            <a:ext cx="1204911" cy="211472"/>
          </a:xfrm>
          <a:prstGeom prst="bentConnector3">
            <a:avLst>
              <a:gd name="adj1" fmla="val -79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: Elbow 95">
            <a:extLst>
              <a:ext uri="{FF2B5EF4-FFF2-40B4-BE49-F238E27FC236}">
                <a16:creationId xmlns:a16="http://schemas.microsoft.com/office/drawing/2014/main" id="{A319B761-4AB0-7EC6-E1F2-4B4CAC1F8A95}"/>
              </a:ext>
            </a:extLst>
          </p:cNvPr>
          <p:cNvCxnSpPr>
            <a:cxnSpLocks/>
          </p:cNvCxnSpPr>
          <p:nvPr/>
        </p:nvCxnSpPr>
        <p:spPr>
          <a:xfrm rot="10800000" flipV="1">
            <a:off x="9978834" y="2672373"/>
            <a:ext cx="285151" cy="145465"/>
          </a:xfrm>
          <a:prstGeom prst="bentConnector3">
            <a:avLst>
              <a:gd name="adj1" fmla="val 323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: Elbow 96">
            <a:extLst>
              <a:ext uri="{FF2B5EF4-FFF2-40B4-BE49-F238E27FC236}">
                <a16:creationId xmlns:a16="http://schemas.microsoft.com/office/drawing/2014/main" id="{FEE43F30-98CF-1FCB-6C05-0B5A8DEEC959}"/>
              </a:ext>
            </a:extLst>
          </p:cNvPr>
          <p:cNvCxnSpPr>
            <a:cxnSpLocks/>
          </p:cNvCxnSpPr>
          <p:nvPr/>
        </p:nvCxnSpPr>
        <p:spPr>
          <a:xfrm rot="10800000" flipV="1">
            <a:off x="9983138" y="2707521"/>
            <a:ext cx="1204911" cy="211472"/>
          </a:xfrm>
          <a:prstGeom prst="bentConnector3">
            <a:avLst>
              <a:gd name="adj1" fmla="val -79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06785734-C630-71E8-4286-A1F5E1D83C41}"/>
              </a:ext>
            </a:extLst>
          </p:cNvPr>
          <p:cNvCxnSpPr>
            <a:cxnSpLocks/>
          </p:cNvCxnSpPr>
          <p:nvPr/>
        </p:nvCxnSpPr>
        <p:spPr>
          <a:xfrm>
            <a:off x="9801480" y="3076075"/>
            <a:ext cx="0" cy="378727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84BBE1E1-9ECE-495C-983E-993DEA77D182}"/>
              </a:ext>
            </a:extLst>
          </p:cNvPr>
          <p:cNvSpPr/>
          <p:nvPr/>
        </p:nvSpPr>
        <p:spPr>
          <a:xfrm>
            <a:off x="9002664" y="3561203"/>
            <a:ext cx="1593806" cy="4397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Weighted Aggregation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2A32EABA-9612-3DF5-B5E7-C3EDDDD63901}"/>
              </a:ext>
            </a:extLst>
          </p:cNvPr>
          <p:cNvCxnSpPr>
            <a:cxnSpLocks/>
          </p:cNvCxnSpPr>
          <p:nvPr/>
        </p:nvCxnSpPr>
        <p:spPr>
          <a:xfrm>
            <a:off x="9803393" y="4074066"/>
            <a:ext cx="0" cy="30977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2" name="Rectangle 101">
            <a:extLst>
              <a:ext uri="{FF2B5EF4-FFF2-40B4-BE49-F238E27FC236}">
                <a16:creationId xmlns:a16="http://schemas.microsoft.com/office/drawing/2014/main" id="{2E94A9B1-B78C-F931-BA66-AD0D28AB46E5}"/>
              </a:ext>
            </a:extLst>
          </p:cNvPr>
          <p:cNvSpPr/>
          <p:nvPr/>
        </p:nvSpPr>
        <p:spPr>
          <a:xfrm>
            <a:off x="9004577" y="4456902"/>
            <a:ext cx="1593806" cy="4397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Sort + Top-N + Final Output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2B3B67C8-4953-4FA1-0DA7-C6221C3C2F1F}"/>
              </a:ext>
            </a:extLst>
          </p:cNvPr>
          <p:cNvSpPr/>
          <p:nvPr/>
        </p:nvSpPr>
        <p:spPr>
          <a:xfrm>
            <a:off x="9002664" y="5358742"/>
            <a:ext cx="1593806" cy="43979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Json response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117" name="Straight Arrow Connector 116">
            <a:extLst>
              <a:ext uri="{FF2B5EF4-FFF2-40B4-BE49-F238E27FC236}">
                <a16:creationId xmlns:a16="http://schemas.microsoft.com/office/drawing/2014/main" id="{ED63312C-FFD9-ADDC-84C0-D8576A5F69DD}"/>
              </a:ext>
            </a:extLst>
          </p:cNvPr>
          <p:cNvCxnSpPr>
            <a:cxnSpLocks/>
          </p:cNvCxnSpPr>
          <p:nvPr/>
        </p:nvCxnSpPr>
        <p:spPr>
          <a:xfrm>
            <a:off x="9803640" y="4958641"/>
            <a:ext cx="0" cy="30977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0108383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C0541B-0A76-72C4-4D15-795DD2EFC4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2BE3ADA1-3A9A-8FE9-47EA-F3F0D8B5717E}"/>
              </a:ext>
            </a:extLst>
          </p:cNvPr>
          <p:cNvSpPr/>
          <p:nvPr/>
        </p:nvSpPr>
        <p:spPr>
          <a:xfrm>
            <a:off x="2038350" y="1980000"/>
            <a:ext cx="8134350" cy="2953949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F4AC729-C05D-3FFB-9999-A4FEE5F91023}"/>
              </a:ext>
            </a:extLst>
          </p:cNvPr>
          <p:cNvSpPr/>
          <p:nvPr/>
        </p:nvSpPr>
        <p:spPr>
          <a:xfrm>
            <a:off x="2133682" y="3196625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Prepare_history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8027D3CA-C4EB-E98B-981D-1BEA1A288E34}"/>
              </a:ext>
            </a:extLst>
          </p:cNvPr>
          <p:cNvCxnSpPr>
            <a:cxnSpLocks/>
          </p:cNvCxnSpPr>
          <p:nvPr/>
        </p:nvCxnSpPr>
        <p:spPr>
          <a:xfrm>
            <a:off x="3589725" y="34290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94FFC1ED-2DFE-D4EA-4CFE-7E315B0FAB25}"/>
              </a:ext>
            </a:extLst>
          </p:cNvPr>
          <p:cNvSpPr/>
          <p:nvPr/>
        </p:nvSpPr>
        <p:spPr>
          <a:xfrm>
            <a:off x="3962040" y="3196625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User_context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EA95956C-8490-E250-2BA7-2BBB7B60E0CE}"/>
              </a:ext>
            </a:extLst>
          </p:cNvPr>
          <p:cNvCxnSpPr>
            <a:cxnSpLocks/>
          </p:cNvCxnSpPr>
          <p:nvPr/>
        </p:nvCxnSpPr>
        <p:spPr>
          <a:xfrm>
            <a:off x="5418083" y="34290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5CEAB85F-FE59-ACA9-18E1-40B13A4BD6E9}"/>
              </a:ext>
            </a:extLst>
          </p:cNvPr>
          <p:cNvSpPr/>
          <p:nvPr/>
        </p:nvSpPr>
        <p:spPr>
          <a:xfrm>
            <a:off x="5418083" y="408245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HyDE_prompt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D4FB5F0-C653-871F-A6B3-0BC610396C5C}"/>
              </a:ext>
            </a:extLst>
          </p:cNvPr>
          <p:cNvCxnSpPr>
            <a:cxnSpLocks/>
          </p:cNvCxnSpPr>
          <p:nvPr/>
        </p:nvCxnSpPr>
        <p:spPr>
          <a:xfrm>
            <a:off x="6395481" y="343795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F6D0BEB7-DD1B-3C1F-A5C0-1D788BB285DC}"/>
              </a:ext>
            </a:extLst>
          </p:cNvPr>
          <p:cNvSpPr/>
          <p:nvPr/>
        </p:nvSpPr>
        <p:spPr>
          <a:xfrm>
            <a:off x="5418083" y="227155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Llm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</a:t>
            </a: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_flast_2.5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08B305CD-D448-E9CC-858B-069405BC5979}"/>
              </a:ext>
            </a:extLst>
          </p:cNvPr>
          <p:cNvCxnSpPr>
            <a:cxnSpLocks/>
          </p:cNvCxnSpPr>
          <p:nvPr/>
        </p:nvCxnSpPr>
        <p:spPr>
          <a:xfrm>
            <a:off x="6096000" y="2845400"/>
            <a:ext cx="0" cy="25775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66123FEF-8A19-CEB0-6CC1-7DC2EBA72904}"/>
              </a:ext>
            </a:extLst>
          </p:cNvPr>
          <p:cNvCxnSpPr>
            <a:cxnSpLocks/>
          </p:cNvCxnSpPr>
          <p:nvPr/>
        </p:nvCxnSpPr>
        <p:spPr>
          <a:xfrm flipV="1">
            <a:off x="6096000" y="3747100"/>
            <a:ext cx="0" cy="25775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6EDFB595-41B9-03DA-6445-757C17A095A7}"/>
              </a:ext>
            </a:extLst>
          </p:cNvPr>
          <p:cNvSpPr/>
          <p:nvPr/>
        </p:nvSpPr>
        <p:spPr>
          <a:xfrm>
            <a:off x="6874126" y="317700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gemini-embedding-001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441BAFBD-D06A-3196-01A3-E148C91683CA}"/>
              </a:ext>
            </a:extLst>
          </p:cNvPr>
          <p:cNvCxnSpPr>
            <a:cxnSpLocks/>
          </p:cNvCxnSpPr>
          <p:nvPr/>
        </p:nvCxnSpPr>
        <p:spPr>
          <a:xfrm>
            <a:off x="8330169" y="34290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AA37595C-0CE4-03FC-C84A-0E688B87E3B1}"/>
              </a:ext>
            </a:extLst>
          </p:cNvPr>
          <p:cNvSpPr/>
          <p:nvPr/>
        </p:nvSpPr>
        <p:spPr>
          <a:xfrm>
            <a:off x="8702484" y="317700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Embedded vector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961E1171-43ED-6EF2-3743-8E68578D339D}"/>
              </a:ext>
            </a:extLst>
          </p:cNvPr>
          <p:cNvSpPr/>
          <p:nvPr/>
        </p:nvSpPr>
        <p:spPr>
          <a:xfrm>
            <a:off x="5896850" y="3249475"/>
            <a:ext cx="398300" cy="398300"/>
          </a:xfrm>
          <a:prstGeom prst="ellipse">
            <a:avLst/>
          </a:prstGeom>
        </p:spPr>
        <p:style>
          <a:lnRef idx="1">
            <a:schemeClr val="dk1"/>
          </a:lnRef>
          <a:fillRef idx="1002">
            <a:schemeClr val="lt2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9AC1DBE4-AEAD-2582-7B89-975D56CFB72A}"/>
              </a:ext>
            </a:extLst>
          </p:cNvPr>
          <p:cNvSpPr/>
          <p:nvPr/>
        </p:nvSpPr>
        <p:spPr>
          <a:xfrm>
            <a:off x="213358" y="3200925"/>
            <a:ext cx="1355834" cy="5040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Interactions.csv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400B4546-E99B-97F6-ECEB-173CBDDBC945}"/>
              </a:ext>
            </a:extLst>
          </p:cNvPr>
          <p:cNvCxnSpPr>
            <a:cxnSpLocks/>
          </p:cNvCxnSpPr>
          <p:nvPr/>
        </p:nvCxnSpPr>
        <p:spPr>
          <a:xfrm>
            <a:off x="1669401" y="34333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Rectangle 46">
            <a:extLst>
              <a:ext uri="{FF2B5EF4-FFF2-40B4-BE49-F238E27FC236}">
                <a16:creationId xmlns:a16="http://schemas.microsoft.com/office/drawing/2014/main" id="{8D265FA9-8EA5-E7B9-FDA0-74D105D771D9}"/>
              </a:ext>
            </a:extLst>
          </p:cNvPr>
          <p:cNvSpPr/>
          <p:nvPr/>
        </p:nvSpPr>
        <p:spPr>
          <a:xfrm>
            <a:off x="213358" y="3859025"/>
            <a:ext cx="1355834" cy="5040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Students.csv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BA772040-F7F5-2396-3C8E-11729F40DFAD}"/>
              </a:ext>
            </a:extLst>
          </p:cNvPr>
          <p:cNvSpPr/>
          <p:nvPr/>
        </p:nvSpPr>
        <p:spPr>
          <a:xfrm>
            <a:off x="213358" y="2542825"/>
            <a:ext cx="1355834" cy="5040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feeds.jsonl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EE52E076-C485-76E9-C2FC-12446C44FBFB}"/>
              </a:ext>
            </a:extLst>
          </p:cNvPr>
          <p:cNvSpPr/>
          <p:nvPr/>
        </p:nvSpPr>
        <p:spPr>
          <a:xfrm>
            <a:off x="10622808" y="2851150"/>
            <a:ext cx="1355834" cy="50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stu_p001.npy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CFC327EB-52ED-7955-27F5-2252BF22826D}"/>
              </a:ext>
            </a:extLst>
          </p:cNvPr>
          <p:cNvSpPr/>
          <p:nvPr/>
        </p:nvSpPr>
        <p:spPr>
          <a:xfrm>
            <a:off x="10622808" y="3509250"/>
            <a:ext cx="1355834" cy="50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stu_p001.json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6E636E6E-ABB6-E275-C736-DEA53B728896}"/>
              </a:ext>
            </a:extLst>
          </p:cNvPr>
          <p:cNvCxnSpPr>
            <a:cxnSpLocks/>
          </p:cNvCxnSpPr>
          <p:nvPr/>
        </p:nvCxnSpPr>
        <p:spPr>
          <a:xfrm>
            <a:off x="10239375" y="3428049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93803B61-030D-A8C4-1BAD-C3CB757F025F}"/>
              </a:ext>
            </a:extLst>
          </p:cNvPr>
          <p:cNvGrpSpPr/>
          <p:nvPr/>
        </p:nvGrpSpPr>
        <p:grpSpPr>
          <a:xfrm>
            <a:off x="10474617" y="5418270"/>
            <a:ext cx="1758365" cy="1333699"/>
            <a:chOff x="310230" y="5605659"/>
            <a:chExt cx="1758365" cy="1333699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5D9DA09E-1598-02C6-8CB3-60B1DD41AD20}"/>
                </a:ext>
              </a:extLst>
            </p:cNvPr>
            <p:cNvGrpSpPr/>
            <p:nvPr/>
          </p:nvGrpSpPr>
          <p:grpSpPr>
            <a:xfrm>
              <a:off x="310231" y="5963091"/>
              <a:ext cx="1758364" cy="976267"/>
              <a:chOff x="10285063" y="608166"/>
              <a:chExt cx="1836174" cy="976267"/>
            </a:xfrm>
          </p:grpSpPr>
          <p:cxnSp>
            <p:nvCxnSpPr>
              <p:cNvPr id="6" name="Straight Arrow Connector 5">
                <a:extLst>
                  <a:ext uri="{FF2B5EF4-FFF2-40B4-BE49-F238E27FC236}">
                    <a16:creationId xmlns:a16="http://schemas.microsoft.com/office/drawing/2014/main" id="{52DF7D03-F799-EEE0-CCF5-3CE13BD2ECD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285065" y="1544858"/>
                <a:ext cx="317488" cy="0"/>
              </a:xfrm>
              <a:prstGeom prst="straightConnector1">
                <a:avLst/>
              </a:prstGeom>
              <a:ln w="12700">
                <a:solidFill>
                  <a:srgbClr val="FF0000"/>
                </a:solidFill>
                <a:headEnd type="triangl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Rounded Rectangle 29">
                <a:extLst>
                  <a:ext uri="{FF2B5EF4-FFF2-40B4-BE49-F238E27FC236}">
                    <a16:creationId xmlns:a16="http://schemas.microsoft.com/office/drawing/2014/main" id="{0032A9CA-D757-1CA8-5E22-1E728C4CBBA7}"/>
                  </a:ext>
                </a:extLst>
              </p:cNvPr>
              <p:cNvSpPr/>
              <p:nvPr/>
            </p:nvSpPr>
            <p:spPr>
              <a:xfrm>
                <a:off x="10285065" y="892606"/>
                <a:ext cx="1541315" cy="211431"/>
              </a:xfrm>
              <a:prstGeom prst="roundRect">
                <a:avLst>
                  <a:gd name="adj" fmla="val 1282"/>
                </a:avLst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+mn-ea"/>
                    <a:cs typeface="Sarabun Light"/>
                  </a:rPr>
                  <a:t>Process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9" name="Rounded Rectangle 30">
                <a:extLst>
                  <a:ext uri="{FF2B5EF4-FFF2-40B4-BE49-F238E27FC236}">
                    <a16:creationId xmlns:a16="http://schemas.microsoft.com/office/drawing/2014/main" id="{E6B563B5-F8CF-8602-7894-C02949FE5449}"/>
                  </a:ext>
                </a:extLst>
              </p:cNvPr>
              <p:cNvSpPr/>
              <p:nvPr/>
            </p:nvSpPr>
            <p:spPr>
              <a:xfrm>
                <a:off x="10285063" y="1167222"/>
                <a:ext cx="1541315" cy="228150"/>
              </a:xfrm>
              <a:prstGeom prst="roundRect">
                <a:avLst>
                  <a:gd name="adj" fmla="val 1282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1">
                        <a:lumMod val="10000"/>
                      </a:schemeClr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Output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1">
                      <a:lumMod val="10000"/>
                    </a:schemeClr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0" name="TextBox 37">
                <a:extLst>
                  <a:ext uri="{FF2B5EF4-FFF2-40B4-BE49-F238E27FC236}">
                    <a16:creationId xmlns:a16="http://schemas.microsoft.com/office/drawing/2014/main" id="{DB856E54-FB83-0744-5970-1F16F0D88995}"/>
                  </a:ext>
                </a:extLst>
              </p:cNvPr>
              <p:cNvSpPr txBox="1"/>
              <p:nvPr/>
            </p:nvSpPr>
            <p:spPr>
              <a:xfrm>
                <a:off x="10647876" y="1445934"/>
                <a:ext cx="1473361" cy="138499"/>
              </a:xfrm>
              <a:prstGeom prst="rect">
                <a:avLst/>
              </a:prstGeom>
              <a:noFill/>
            </p:spPr>
            <p:txBody>
              <a:bodyPr wrap="square" lIns="36000" tIns="0" rIns="0" bIns="0" rtlCol="0" anchor="ctr">
                <a:spAutoFit/>
              </a:bodyPr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Process</a:t>
                </a:r>
                <a:endParaRPr kumimoji="0" lang="en-TH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2" name="Rounded Rectangle 40">
                <a:extLst>
                  <a:ext uri="{FF2B5EF4-FFF2-40B4-BE49-F238E27FC236}">
                    <a16:creationId xmlns:a16="http://schemas.microsoft.com/office/drawing/2014/main" id="{1FC3DC5B-3214-8558-AE26-38D4F6EAC18D}"/>
                  </a:ext>
                </a:extLst>
              </p:cNvPr>
              <p:cNvSpPr/>
              <p:nvPr/>
            </p:nvSpPr>
            <p:spPr>
              <a:xfrm>
                <a:off x="10285064" y="608166"/>
                <a:ext cx="1541315" cy="211025"/>
              </a:xfrm>
              <a:prstGeom prst="roundRect">
                <a:avLst>
                  <a:gd name="adj" fmla="val 1282"/>
                </a:avLst>
              </a:prstGeom>
              <a:solidFill>
                <a:schemeClr val="tx2">
                  <a:lumMod val="25000"/>
                  <a:lumOff val="75000"/>
                </a:schemeClr>
              </a:solidFill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1">
                <a:schemeClr val="accent6"/>
              </a:lnRef>
              <a:fillRef idx="3">
                <a:schemeClr val="accent6"/>
              </a:fillRef>
              <a:effectRef idx="2">
                <a:schemeClr val="accent6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Input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</p:grpSp>
        <p:sp>
          <p:nvSpPr>
            <p:cNvPr id="5" name="TextBox 12">
              <a:extLst>
                <a:ext uri="{FF2B5EF4-FFF2-40B4-BE49-F238E27FC236}">
                  <a16:creationId xmlns:a16="http://schemas.microsoft.com/office/drawing/2014/main" id="{486FD62C-C13E-699C-CA8E-86925D5A14B6}"/>
                </a:ext>
              </a:extLst>
            </p:cNvPr>
            <p:cNvSpPr txBox="1"/>
            <p:nvPr/>
          </p:nvSpPr>
          <p:spPr>
            <a:xfrm>
              <a:off x="310230" y="5605659"/>
              <a:ext cx="141092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TH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rPr>
                <a:t>Legend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996943-308A-3F81-9B8F-4FF388D1CE41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308556394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29D3EC-AFF5-567E-E3A0-3150C0D21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888B5FE1-B1EE-48AE-0122-ADD0802056CE}"/>
              </a:ext>
            </a:extLst>
          </p:cNvPr>
          <p:cNvSpPr/>
          <p:nvPr/>
        </p:nvSpPr>
        <p:spPr>
          <a:xfrm>
            <a:off x="1265795" y="3476850"/>
            <a:ext cx="1355834" cy="504000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Interactions.csv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1C7B2808-7D52-F428-2F20-78BE0A3A13F6}"/>
              </a:ext>
            </a:extLst>
          </p:cNvPr>
          <p:cNvCxnSpPr>
            <a:cxnSpLocks/>
          </p:cNvCxnSpPr>
          <p:nvPr/>
        </p:nvCxnSpPr>
        <p:spPr>
          <a:xfrm>
            <a:off x="2855188" y="3709225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Rectangle 46">
            <a:extLst>
              <a:ext uri="{FF2B5EF4-FFF2-40B4-BE49-F238E27FC236}">
                <a16:creationId xmlns:a16="http://schemas.microsoft.com/office/drawing/2014/main" id="{5BADBA4E-44A1-92EE-AD49-AC89F95BF31D}"/>
              </a:ext>
            </a:extLst>
          </p:cNvPr>
          <p:cNvSpPr/>
          <p:nvPr/>
        </p:nvSpPr>
        <p:spPr>
          <a:xfrm>
            <a:off x="1265795" y="4134950"/>
            <a:ext cx="1355834" cy="504000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Students.csv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ECDE6DC-B4A8-04C0-5503-190D811805EF}"/>
              </a:ext>
            </a:extLst>
          </p:cNvPr>
          <p:cNvSpPr/>
          <p:nvPr/>
        </p:nvSpPr>
        <p:spPr>
          <a:xfrm>
            <a:off x="1265795" y="2818750"/>
            <a:ext cx="1355834" cy="504000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feeds.jsonl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pic>
        <p:nvPicPr>
          <p:cNvPr id="1026" name="Picture 2" descr="What Is BigQuery And How Do You Load Data Into It? - Seattle Data Guy">
            <a:extLst>
              <a:ext uri="{FF2B5EF4-FFF2-40B4-BE49-F238E27FC236}">
                <a16:creationId xmlns:a16="http://schemas.microsoft.com/office/drawing/2014/main" id="{F9602F6A-EFA2-16D3-10D7-4316564116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38437" y="3136996"/>
            <a:ext cx="2019300" cy="11358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39E74994-9AB4-C632-1081-59D8C36CDD17}"/>
              </a:ext>
            </a:extLst>
          </p:cNvPr>
          <p:cNvCxnSpPr>
            <a:cxnSpLocks/>
          </p:cNvCxnSpPr>
          <p:nvPr/>
        </p:nvCxnSpPr>
        <p:spPr>
          <a:xfrm>
            <a:off x="5514256" y="3704575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EE7BE979-4626-6F9B-335F-2560BD679B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468521"/>
            <a:ext cx="5137039" cy="447280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D97EA77-AB81-EF31-E372-18A4CEAF26A8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210820642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7769FB-DED0-8C57-812D-3C47B8D7D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74857E63-1039-14CD-3789-1829EC5E2EEF}"/>
              </a:ext>
            </a:extLst>
          </p:cNvPr>
          <p:cNvCxnSpPr>
            <a:cxnSpLocks/>
          </p:cNvCxnSpPr>
          <p:nvPr/>
        </p:nvCxnSpPr>
        <p:spPr>
          <a:xfrm>
            <a:off x="8405622" y="3547522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9" name="Picture 8">
            <a:extLst>
              <a:ext uri="{FF2B5EF4-FFF2-40B4-BE49-F238E27FC236}">
                <a16:creationId xmlns:a16="http://schemas.microsoft.com/office/drawing/2014/main" id="{CC7A1D03-1E3E-C6EF-A65E-3FAD28E3BF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45701" y="2135742"/>
            <a:ext cx="2975113" cy="308612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3228ACE-7E12-03DD-1D84-437FA364BE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8114" y="1544525"/>
            <a:ext cx="2891556" cy="251066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25B0E25-8271-57D6-F055-52F62F20F3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96903" y="3678805"/>
            <a:ext cx="3840746" cy="2063625"/>
          </a:xfrm>
          <a:prstGeom prst="rect">
            <a:avLst/>
          </a:prstGeom>
        </p:spPr>
      </p:pic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182F0E2-4112-B0B1-4C60-4A92DCE998B7}"/>
              </a:ext>
            </a:extLst>
          </p:cNvPr>
          <p:cNvCxnSpPr>
            <a:cxnSpLocks/>
          </p:cNvCxnSpPr>
          <p:nvPr/>
        </p:nvCxnSpPr>
        <p:spPr>
          <a:xfrm>
            <a:off x="3435339" y="3547522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4" name="Picture 13">
            <a:extLst>
              <a:ext uri="{FF2B5EF4-FFF2-40B4-BE49-F238E27FC236}">
                <a16:creationId xmlns:a16="http://schemas.microsoft.com/office/drawing/2014/main" id="{BBD4B735-61B9-459E-30AB-7CFF24E70ED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9974" y="2118360"/>
            <a:ext cx="3010551" cy="262128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230067-3A14-5E10-B915-F7C71C60E21E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416320095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4A3B11-B2A2-3BA1-172B-2251B8AFA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38F8DE6C-8983-0BAA-1C8B-DDA548291FC9}"/>
              </a:ext>
            </a:extLst>
          </p:cNvPr>
          <p:cNvSpPr/>
          <p:nvPr/>
        </p:nvSpPr>
        <p:spPr>
          <a:xfrm>
            <a:off x="2038350" y="1980000"/>
            <a:ext cx="8134350" cy="2953949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AEF39C0-BCB3-7255-F716-67701DBCC1EC}"/>
              </a:ext>
            </a:extLst>
          </p:cNvPr>
          <p:cNvSpPr/>
          <p:nvPr/>
        </p:nvSpPr>
        <p:spPr>
          <a:xfrm>
            <a:off x="2133682" y="3196625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Prepare_history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C8D229DD-9626-7C08-EA70-6B35351B4182}"/>
              </a:ext>
            </a:extLst>
          </p:cNvPr>
          <p:cNvCxnSpPr>
            <a:cxnSpLocks/>
          </p:cNvCxnSpPr>
          <p:nvPr/>
        </p:nvCxnSpPr>
        <p:spPr>
          <a:xfrm>
            <a:off x="3589725" y="34290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ABB66556-2583-7F92-2AF8-D6C9F18602F0}"/>
              </a:ext>
            </a:extLst>
          </p:cNvPr>
          <p:cNvSpPr/>
          <p:nvPr/>
        </p:nvSpPr>
        <p:spPr>
          <a:xfrm>
            <a:off x="3962040" y="3196625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User_context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DEB32BE-9EDA-A3A1-A2E0-1BD17DE500DA}"/>
              </a:ext>
            </a:extLst>
          </p:cNvPr>
          <p:cNvCxnSpPr>
            <a:cxnSpLocks/>
          </p:cNvCxnSpPr>
          <p:nvPr/>
        </p:nvCxnSpPr>
        <p:spPr>
          <a:xfrm>
            <a:off x="5418083" y="34290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729A5CCA-01DB-08F4-18D0-9FFB6C071F2B}"/>
              </a:ext>
            </a:extLst>
          </p:cNvPr>
          <p:cNvSpPr/>
          <p:nvPr/>
        </p:nvSpPr>
        <p:spPr>
          <a:xfrm>
            <a:off x="5418083" y="408245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HyDE_prompt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95D804C-6D86-14DA-5F65-0B6B9BA847E5}"/>
              </a:ext>
            </a:extLst>
          </p:cNvPr>
          <p:cNvCxnSpPr>
            <a:cxnSpLocks/>
          </p:cNvCxnSpPr>
          <p:nvPr/>
        </p:nvCxnSpPr>
        <p:spPr>
          <a:xfrm>
            <a:off x="6395481" y="343795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7A6DEFDA-DFBF-6FC3-9033-84515C1E44CD}"/>
              </a:ext>
            </a:extLst>
          </p:cNvPr>
          <p:cNvSpPr/>
          <p:nvPr/>
        </p:nvSpPr>
        <p:spPr>
          <a:xfrm>
            <a:off x="5418083" y="227155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Llm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</a:t>
            </a: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_flast_2.5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76811FB4-E982-E197-4A6C-7C6B1A573914}"/>
              </a:ext>
            </a:extLst>
          </p:cNvPr>
          <p:cNvCxnSpPr>
            <a:cxnSpLocks/>
          </p:cNvCxnSpPr>
          <p:nvPr/>
        </p:nvCxnSpPr>
        <p:spPr>
          <a:xfrm>
            <a:off x="6096000" y="2845400"/>
            <a:ext cx="0" cy="25775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8CFC8C04-E477-2A24-67BA-CC930C28B45B}"/>
              </a:ext>
            </a:extLst>
          </p:cNvPr>
          <p:cNvCxnSpPr>
            <a:cxnSpLocks/>
          </p:cNvCxnSpPr>
          <p:nvPr/>
        </p:nvCxnSpPr>
        <p:spPr>
          <a:xfrm flipV="1">
            <a:off x="6096000" y="3747100"/>
            <a:ext cx="0" cy="25775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AB9ADC7C-CAF6-BCCC-E34F-E7FDF6E27468}"/>
              </a:ext>
            </a:extLst>
          </p:cNvPr>
          <p:cNvSpPr/>
          <p:nvPr/>
        </p:nvSpPr>
        <p:spPr>
          <a:xfrm>
            <a:off x="6874126" y="317700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gemini-embedding-001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87609BE7-05CE-2857-8B3D-A49199716E46}"/>
              </a:ext>
            </a:extLst>
          </p:cNvPr>
          <p:cNvCxnSpPr>
            <a:cxnSpLocks/>
          </p:cNvCxnSpPr>
          <p:nvPr/>
        </p:nvCxnSpPr>
        <p:spPr>
          <a:xfrm>
            <a:off x="8330169" y="34290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A9EAC0BD-B423-80EB-93EE-A832DFF07215}"/>
              </a:ext>
            </a:extLst>
          </p:cNvPr>
          <p:cNvSpPr/>
          <p:nvPr/>
        </p:nvSpPr>
        <p:spPr>
          <a:xfrm>
            <a:off x="8702484" y="317700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Embedded vector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05DE9790-D272-7767-2D31-636922DA1CE4}"/>
              </a:ext>
            </a:extLst>
          </p:cNvPr>
          <p:cNvSpPr/>
          <p:nvPr/>
        </p:nvSpPr>
        <p:spPr>
          <a:xfrm>
            <a:off x="5896850" y="3249475"/>
            <a:ext cx="398300" cy="398300"/>
          </a:xfrm>
          <a:prstGeom prst="ellipse">
            <a:avLst/>
          </a:prstGeom>
        </p:spPr>
        <p:style>
          <a:lnRef idx="1">
            <a:schemeClr val="dk1"/>
          </a:lnRef>
          <a:fillRef idx="1002">
            <a:schemeClr val="lt2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9B448FAF-A242-7883-0F02-04485E6C2C98}"/>
              </a:ext>
            </a:extLst>
          </p:cNvPr>
          <p:cNvSpPr/>
          <p:nvPr/>
        </p:nvSpPr>
        <p:spPr>
          <a:xfrm>
            <a:off x="10622808" y="2851150"/>
            <a:ext cx="1355834" cy="50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stu_p001.npy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3558804C-3681-E570-1617-085DFEA0C1E6}"/>
              </a:ext>
            </a:extLst>
          </p:cNvPr>
          <p:cNvSpPr/>
          <p:nvPr/>
        </p:nvSpPr>
        <p:spPr>
          <a:xfrm>
            <a:off x="10622808" y="3509250"/>
            <a:ext cx="1355834" cy="50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stu_p001.json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21F40847-CBB0-AEEC-189E-47EEEB7E9119}"/>
              </a:ext>
            </a:extLst>
          </p:cNvPr>
          <p:cNvCxnSpPr>
            <a:cxnSpLocks/>
          </p:cNvCxnSpPr>
          <p:nvPr/>
        </p:nvCxnSpPr>
        <p:spPr>
          <a:xfrm>
            <a:off x="10239375" y="3428049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F631E7D3-C7E7-C1F1-CA85-B57721FEED4B}"/>
              </a:ext>
            </a:extLst>
          </p:cNvPr>
          <p:cNvGrpSpPr/>
          <p:nvPr/>
        </p:nvGrpSpPr>
        <p:grpSpPr>
          <a:xfrm>
            <a:off x="10474617" y="5418270"/>
            <a:ext cx="1758365" cy="1333699"/>
            <a:chOff x="310230" y="5605659"/>
            <a:chExt cx="1758365" cy="1333699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15EB0891-F2A2-BA24-CB07-F6281F0B8966}"/>
                </a:ext>
              </a:extLst>
            </p:cNvPr>
            <p:cNvGrpSpPr/>
            <p:nvPr/>
          </p:nvGrpSpPr>
          <p:grpSpPr>
            <a:xfrm>
              <a:off x="310231" y="5963091"/>
              <a:ext cx="1758364" cy="976267"/>
              <a:chOff x="10285063" y="608166"/>
              <a:chExt cx="1836174" cy="976267"/>
            </a:xfrm>
          </p:grpSpPr>
          <p:cxnSp>
            <p:nvCxnSpPr>
              <p:cNvPr id="6" name="Straight Arrow Connector 5">
                <a:extLst>
                  <a:ext uri="{FF2B5EF4-FFF2-40B4-BE49-F238E27FC236}">
                    <a16:creationId xmlns:a16="http://schemas.microsoft.com/office/drawing/2014/main" id="{DF0AB815-FDFA-F598-6AD4-FE34959C8DD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285065" y="1544858"/>
                <a:ext cx="317488" cy="0"/>
              </a:xfrm>
              <a:prstGeom prst="straightConnector1">
                <a:avLst/>
              </a:prstGeom>
              <a:ln w="12700">
                <a:solidFill>
                  <a:srgbClr val="FF0000"/>
                </a:solidFill>
                <a:headEnd type="triangl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Rounded Rectangle 29">
                <a:extLst>
                  <a:ext uri="{FF2B5EF4-FFF2-40B4-BE49-F238E27FC236}">
                    <a16:creationId xmlns:a16="http://schemas.microsoft.com/office/drawing/2014/main" id="{20730BC9-7502-1BD7-37EB-82A62774131D}"/>
                  </a:ext>
                </a:extLst>
              </p:cNvPr>
              <p:cNvSpPr/>
              <p:nvPr/>
            </p:nvSpPr>
            <p:spPr>
              <a:xfrm>
                <a:off x="10285065" y="892606"/>
                <a:ext cx="1541315" cy="211431"/>
              </a:xfrm>
              <a:prstGeom prst="roundRect">
                <a:avLst>
                  <a:gd name="adj" fmla="val 1282"/>
                </a:avLst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+mn-ea"/>
                    <a:cs typeface="Sarabun Light"/>
                  </a:rPr>
                  <a:t>Process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9" name="Rounded Rectangle 30">
                <a:extLst>
                  <a:ext uri="{FF2B5EF4-FFF2-40B4-BE49-F238E27FC236}">
                    <a16:creationId xmlns:a16="http://schemas.microsoft.com/office/drawing/2014/main" id="{3183D21D-B876-46CC-9782-5D4998E8FE77}"/>
                  </a:ext>
                </a:extLst>
              </p:cNvPr>
              <p:cNvSpPr/>
              <p:nvPr/>
            </p:nvSpPr>
            <p:spPr>
              <a:xfrm>
                <a:off x="10285063" y="1167222"/>
                <a:ext cx="1541315" cy="228150"/>
              </a:xfrm>
              <a:prstGeom prst="roundRect">
                <a:avLst>
                  <a:gd name="adj" fmla="val 1282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1">
                        <a:lumMod val="10000"/>
                      </a:schemeClr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Output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1">
                      <a:lumMod val="10000"/>
                    </a:schemeClr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0" name="TextBox 37">
                <a:extLst>
                  <a:ext uri="{FF2B5EF4-FFF2-40B4-BE49-F238E27FC236}">
                    <a16:creationId xmlns:a16="http://schemas.microsoft.com/office/drawing/2014/main" id="{E5C540BB-C1EE-2AAC-7CED-27E058AD2490}"/>
                  </a:ext>
                </a:extLst>
              </p:cNvPr>
              <p:cNvSpPr txBox="1"/>
              <p:nvPr/>
            </p:nvSpPr>
            <p:spPr>
              <a:xfrm>
                <a:off x="10647876" y="1445934"/>
                <a:ext cx="1473361" cy="138499"/>
              </a:xfrm>
              <a:prstGeom prst="rect">
                <a:avLst/>
              </a:prstGeom>
              <a:noFill/>
            </p:spPr>
            <p:txBody>
              <a:bodyPr wrap="square" lIns="36000" tIns="0" rIns="0" bIns="0" rtlCol="0" anchor="ctr">
                <a:spAutoFit/>
              </a:bodyPr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Process</a:t>
                </a:r>
                <a:endParaRPr kumimoji="0" lang="en-TH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2" name="Rounded Rectangle 40">
                <a:extLst>
                  <a:ext uri="{FF2B5EF4-FFF2-40B4-BE49-F238E27FC236}">
                    <a16:creationId xmlns:a16="http://schemas.microsoft.com/office/drawing/2014/main" id="{00716CF0-652E-B754-01C9-B8080258E112}"/>
                  </a:ext>
                </a:extLst>
              </p:cNvPr>
              <p:cNvSpPr/>
              <p:nvPr/>
            </p:nvSpPr>
            <p:spPr>
              <a:xfrm>
                <a:off x="10285064" y="608166"/>
                <a:ext cx="1541315" cy="211025"/>
              </a:xfrm>
              <a:prstGeom prst="roundRect">
                <a:avLst>
                  <a:gd name="adj" fmla="val 1282"/>
                </a:avLst>
              </a:prstGeom>
              <a:solidFill>
                <a:schemeClr val="tx2">
                  <a:lumMod val="25000"/>
                  <a:lumOff val="75000"/>
                </a:schemeClr>
              </a:solidFill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1">
                <a:schemeClr val="accent6"/>
              </a:lnRef>
              <a:fillRef idx="3">
                <a:schemeClr val="accent6"/>
              </a:fillRef>
              <a:effectRef idx="2">
                <a:schemeClr val="accent6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Input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</p:grpSp>
        <p:sp>
          <p:nvSpPr>
            <p:cNvPr id="5" name="TextBox 12">
              <a:extLst>
                <a:ext uri="{FF2B5EF4-FFF2-40B4-BE49-F238E27FC236}">
                  <a16:creationId xmlns:a16="http://schemas.microsoft.com/office/drawing/2014/main" id="{DD0324BA-7F7C-50F1-1F7D-AEA735BBD6FD}"/>
                </a:ext>
              </a:extLst>
            </p:cNvPr>
            <p:cNvSpPr txBox="1"/>
            <p:nvPr/>
          </p:nvSpPr>
          <p:spPr>
            <a:xfrm>
              <a:off x="310230" y="5605659"/>
              <a:ext cx="141092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TH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rPr>
                <a:t>Legend</a:t>
              </a:r>
            </a:p>
          </p:txBody>
        </p:sp>
      </p:grp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5AC9E817-E835-3D61-4B38-A4C10FA27EDD}"/>
              </a:ext>
            </a:extLst>
          </p:cNvPr>
          <p:cNvCxnSpPr>
            <a:cxnSpLocks/>
          </p:cNvCxnSpPr>
          <p:nvPr/>
        </p:nvCxnSpPr>
        <p:spPr>
          <a:xfrm>
            <a:off x="1669401" y="34333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7" name="Picture 2" descr="What Is BigQuery And How Do You Load Data Into It? - Seattle Data Guy">
            <a:extLst>
              <a:ext uri="{FF2B5EF4-FFF2-40B4-BE49-F238E27FC236}">
                <a16:creationId xmlns:a16="http://schemas.microsoft.com/office/drawing/2014/main" id="{AA84E98D-4943-20DD-2539-EC704766EC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3142" y="3052552"/>
            <a:ext cx="1335100" cy="7509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3A59CF53-033A-A89B-CB43-6BF0DA0FF845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190635714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0063D9-98D8-5832-D511-E91CA178B3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98E5F587-4F76-A33C-93F2-31333F28CF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6049" y="1622939"/>
            <a:ext cx="4392950" cy="257421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8F4F0EB-63FB-00FF-DD17-4E6E1C1296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6050" y="4547732"/>
            <a:ext cx="4392950" cy="1812476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D562333F-AEB7-0F56-F1B6-947ADE6FF60F}"/>
              </a:ext>
            </a:extLst>
          </p:cNvPr>
          <p:cNvGrpSpPr/>
          <p:nvPr/>
        </p:nvGrpSpPr>
        <p:grpSpPr>
          <a:xfrm>
            <a:off x="1107225" y="4106334"/>
            <a:ext cx="7891043" cy="504000"/>
            <a:chOff x="1107225" y="3853115"/>
            <a:chExt cx="7891043" cy="504000"/>
          </a:xfrm>
        </p:grpSpPr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44566BFE-1FB8-0348-67DF-9483951DC271}"/>
                </a:ext>
              </a:extLst>
            </p:cNvPr>
            <p:cNvCxnSpPr>
              <a:cxnSpLocks/>
            </p:cNvCxnSpPr>
            <p:nvPr/>
          </p:nvCxnSpPr>
          <p:spPr>
            <a:xfrm>
              <a:off x="1107225" y="4105115"/>
              <a:ext cx="272106" cy="0"/>
            </a:xfrm>
            <a:prstGeom prst="straightConnector1">
              <a:avLst/>
            </a:prstGeom>
            <a:ln w="12700">
              <a:solidFill>
                <a:srgbClr val="C00000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E9486AF0-5E26-98DD-16ED-C3783758EBC3}"/>
                </a:ext>
              </a:extLst>
            </p:cNvPr>
            <p:cNvCxnSpPr>
              <a:cxnSpLocks/>
            </p:cNvCxnSpPr>
            <p:nvPr/>
          </p:nvCxnSpPr>
          <p:spPr>
            <a:xfrm>
              <a:off x="8726162" y="4105115"/>
              <a:ext cx="272106" cy="0"/>
            </a:xfrm>
            <a:prstGeom prst="straightConnector1">
              <a:avLst/>
            </a:prstGeom>
            <a:ln w="12700">
              <a:solidFill>
                <a:srgbClr val="C00000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FB58924D-ACF3-0596-BAEB-8014B88216CA}"/>
                </a:ext>
              </a:extLst>
            </p:cNvPr>
            <p:cNvCxnSpPr>
              <a:cxnSpLocks/>
            </p:cNvCxnSpPr>
            <p:nvPr/>
          </p:nvCxnSpPr>
          <p:spPr>
            <a:xfrm>
              <a:off x="3589754" y="4105115"/>
              <a:ext cx="272106" cy="0"/>
            </a:xfrm>
            <a:prstGeom prst="straightConnector1">
              <a:avLst/>
            </a:prstGeom>
            <a:ln w="12700">
              <a:solidFill>
                <a:srgbClr val="C00000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B19CDBD7-1DEB-4EA4-8E6A-B93EE96837C8}"/>
                </a:ext>
              </a:extLst>
            </p:cNvPr>
            <p:cNvSpPr/>
            <p:nvPr/>
          </p:nvSpPr>
          <p:spPr>
            <a:xfrm>
              <a:off x="1555430" y="3853115"/>
              <a:ext cx="1849346" cy="50400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Embedding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TH" sz="1000" b="1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rPr>
                <a:t>gemini-embedding-001</a:t>
              </a:r>
            </a:p>
          </p:txBody>
        </p:sp>
      </p:grpSp>
      <p:sp>
        <p:nvSpPr>
          <p:cNvPr id="7" name="Rectangle 6">
            <a:extLst>
              <a:ext uri="{FF2B5EF4-FFF2-40B4-BE49-F238E27FC236}">
                <a16:creationId xmlns:a16="http://schemas.microsoft.com/office/drawing/2014/main" id="{F8110993-58DB-29C3-9A6E-C78C3FD75815}"/>
              </a:ext>
            </a:extLst>
          </p:cNvPr>
          <p:cNvSpPr/>
          <p:nvPr/>
        </p:nvSpPr>
        <p:spPr>
          <a:xfrm>
            <a:off x="8679052" y="1622939"/>
            <a:ext cx="1672010" cy="328465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accent1">
                    <a:lumMod val="40000"/>
                    <a:lumOff val="60000"/>
                  </a:schemeClr>
                </a:solidFill>
                <a:cs typeface="Poppins Light"/>
              </a:rPr>
              <a:t>Metadata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5AD5DFD-C4C2-711B-9BA0-9B21EE3E729D}"/>
              </a:ext>
            </a:extLst>
          </p:cNvPr>
          <p:cNvSpPr/>
          <p:nvPr/>
        </p:nvSpPr>
        <p:spPr>
          <a:xfrm>
            <a:off x="8679051" y="5755283"/>
            <a:ext cx="1672011" cy="61248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accent1">
                    <a:lumMod val="40000"/>
                    <a:lumOff val="60000"/>
                  </a:schemeClr>
                </a:solidFill>
                <a:cs typeface="Poppins Light"/>
              </a:rPr>
              <a:t>Embedded vector</a:t>
            </a:r>
          </a:p>
          <a:p>
            <a:pPr algn="ctr">
              <a:defRPr/>
            </a:pPr>
            <a:r>
              <a:rPr lang="en-GB" sz="1400" b="1" dirty="0">
                <a:solidFill>
                  <a:schemeClr val="accent1">
                    <a:lumMod val="40000"/>
                    <a:lumOff val="60000"/>
                  </a:schemeClr>
                </a:solidFill>
                <a:cs typeface="Poppins Light"/>
              </a:rPr>
              <a:t>Shape = (5,768)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7E18883-D4E9-E8EE-7DAE-D2E45DBBFCFC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20A081E-D4D0-8194-5821-F06EFBA541AB}"/>
              </a:ext>
            </a:extLst>
          </p:cNvPr>
          <p:cNvGrpSpPr/>
          <p:nvPr/>
        </p:nvGrpSpPr>
        <p:grpSpPr>
          <a:xfrm>
            <a:off x="9289735" y="3886636"/>
            <a:ext cx="913648" cy="932038"/>
            <a:chOff x="10794977" y="2064264"/>
            <a:chExt cx="913648" cy="932038"/>
          </a:xfrm>
        </p:grpSpPr>
        <p:pic>
          <p:nvPicPr>
            <p:cNvPr id="5" name="Picture 2" descr="Data Lake Icon">
              <a:extLst>
                <a:ext uri="{FF2B5EF4-FFF2-40B4-BE49-F238E27FC236}">
                  <a16:creationId xmlns:a16="http://schemas.microsoft.com/office/drawing/2014/main" id="{D1D5548E-EE7C-CC60-68FE-4615658C422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864858" y="2064264"/>
              <a:ext cx="773887" cy="62426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F2648CC-D239-6E71-CD7F-9174251A2228}"/>
                </a:ext>
              </a:extLst>
            </p:cNvPr>
            <p:cNvSpPr txBox="1"/>
            <p:nvPr/>
          </p:nvSpPr>
          <p:spPr>
            <a:xfrm>
              <a:off x="10794977" y="2688525"/>
              <a:ext cx="91364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Data lake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C3239ACE-E83F-03C0-CFA4-C3923D24460C}"/>
              </a:ext>
            </a:extLst>
          </p:cNvPr>
          <p:cNvSpPr txBox="1"/>
          <p:nvPr/>
        </p:nvSpPr>
        <p:spPr>
          <a:xfrm>
            <a:off x="-90222" y="6978217"/>
            <a:ext cx="2667000" cy="972562"/>
          </a:xfrm>
          <a:prstGeom prst="roundRect">
            <a:avLst>
              <a:gd name="adj" fmla="val 4406"/>
            </a:avLst>
          </a:prstGeom>
          <a:solidFill>
            <a:srgbClr val="BADF55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Gemini-2.5-flash -&gt; gemini-3-flash-preview</a:t>
            </a:r>
          </a:p>
          <a:p>
            <a:pPr marL="285750" indent="-285750">
              <a:buFontTx/>
              <a:buChar char="-"/>
            </a:pPr>
            <a:r>
              <a:rPr lang="en-US" sz="1400" dirty="0">
                <a:latin typeface="Consolas" panose="020B0609020204030204" pitchFamily="49" charset="0"/>
              </a:rPr>
              <a:t>Temperature = 1</a:t>
            </a:r>
          </a:p>
          <a:p>
            <a:pPr marL="285750" indent="-285750">
              <a:buFontTx/>
              <a:buChar char="-"/>
            </a:pPr>
            <a:r>
              <a:rPr lang="en-US" sz="1400" dirty="0">
                <a:latin typeface="Consolas" panose="020B0609020204030204" pitchFamily="49" charset="0"/>
              </a:rPr>
              <a:t>Rethink = </a:t>
            </a:r>
            <a:r>
              <a:rPr lang="en-US" sz="1400" dirty="0" err="1">
                <a:latin typeface="Consolas" panose="020B0609020204030204" pitchFamily="49" charset="0"/>
              </a:rPr>
              <a:t>defualt</a:t>
            </a:r>
            <a:endParaRPr lang="en-US" sz="14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0797681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181111D-0B1D-2DA4-A74D-E0197897A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E6735AE0-A108-8AB1-F05A-3BD8615D4100}"/>
              </a:ext>
            </a:extLst>
          </p:cNvPr>
          <p:cNvSpPr/>
          <p:nvPr/>
        </p:nvSpPr>
        <p:spPr>
          <a:xfrm>
            <a:off x="2038350" y="1980000"/>
            <a:ext cx="8134350" cy="2953949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4092DAE-7B89-71EA-2126-068A8929DDCD}"/>
              </a:ext>
            </a:extLst>
          </p:cNvPr>
          <p:cNvSpPr/>
          <p:nvPr/>
        </p:nvSpPr>
        <p:spPr>
          <a:xfrm>
            <a:off x="2133682" y="3196625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Prepare_history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3B9E3AA4-997C-56E7-68C5-D64C4652AD8C}"/>
              </a:ext>
            </a:extLst>
          </p:cNvPr>
          <p:cNvCxnSpPr>
            <a:cxnSpLocks/>
          </p:cNvCxnSpPr>
          <p:nvPr/>
        </p:nvCxnSpPr>
        <p:spPr>
          <a:xfrm>
            <a:off x="3589725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5E6AD224-C2DC-598B-484A-AE4E4F22C059}"/>
              </a:ext>
            </a:extLst>
          </p:cNvPr>
          <p:cNvSpPr/>
          <p:nvPr/>
        </p:nvSpPr>
        <p:spPr>
          <a:xfrm>
            <a:off x="3962040" y="3196625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User_context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73AE21AB-01D8-44C6-74E4-F0B00D792298}"/>
              </a:ext>
            </a:extLst>
          </p:cNvPr>
          <p:cNvCxnSpPr>
            <a:cxnSpLocks/>
          </p:cNvCxnSpPr>
          <p:nvPr/>
        </p:nvCxnSpPr>
        <p:spPr>
          <a:xfrm>
            <a:off x="5418083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BA82D746-8E81-EB40-0E68-53491A9CFCD6}"/>
              </a:ext>
            </a:extLst>
          </p:cNvPr>
          <p:cNvSpPr/>
          <p:nvPr/>
        </p:nvSpPr>
        <p:spPr>
          <a:xfrm>
            <a:off x="5418083" y="408245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HyDE_prompt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F9B56695-E608-2267-7BA4-8600D70BB14F}"/>
              </a:ext>
            </a:extLst>
          </p:cNvPr>
          <p:cNvCxnSpPr>
            <a:cxnSpLocks/>
          </p:cNvCxnSpPr>
          <p:nvPr/>
        </p:nvCxnSpPr>
        <p:spPr>
          <a:xfrm>
            <a:off x="6395481" y="343795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ECB3BAFE-11BD-DEC7-EC6A-AC4A1E9032A8}"/>
              </a:ext>
            </a:extLst>
          </p:cNvPr>
          <p:cNvSpPr/>
          <p:nvPr/>
        </p:nvSpPr>
        <p:spPr>
          <a:xfrm>
            <a:off x="5418083" y="227155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Llm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</a:t>
            </a: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_flast_2.5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6B5DB8AA-E792-4D6D-6FEA-852C7CC1FB0F}"/>
              </a:ext>
            </a:extLst>
          </p:cNvPr>
          <p:cNvCxnSpPr>
            <a:cxnSpLocks/>
          </p:cNvCxnSpPr>
          <p:nvPr/>
        </p:nvCxnSpPr>
        <p:spPr>
          <a:xfrm>
            <a:off x="6096000" y="2845400"/>
            <a:ext cx="0" cy="25775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B84AD198-4AD1-4C4D-E93F-74C360E16F9A}"/>
              </a:ext>
            </a:extLst>
          </p:cNvPr>
          <p:cNvCxnSpPr>
            <a:cxnSpLocks/>
          </p:cNvCxnSpPr>
          <p:nvPr/>
        </p:nvCxnSpPr>
        <p:spPr>
          <a:xfrm flipV="1">
            <a:off x="6096000" y="3747100"/>
            <a:ext cx="0" cy="25775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46D49376-6CA0-A399-3333-79C3221F7D5A}"/>
              </a:ext>
            </a:extLst>
          </p:cNvPr>
          <p:cNvSpPr/>
          <p:nvPr/>
        </p:nvSpPr>
        <p:spPr>
          <a:xfrm>
            <a:off x="6874126" y="317700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gemini-embedding-001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C68E22E9-E258-54E7-C9D1-C2D1C90B8498}"/>
              </a:ext>
            </a:extLst>
          </p:cNvPr>
          <p:cNvCxnSpPr>
            <a:cxnSpLocks/>
          </p:cNvCxnSpPr>
          <p:nvPr/>
        </p:nvCxnSpPr>
        <p:spPr>
          <a:xfrm>
            <a:off x="8330169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8" name="Oval 37">
            <a:extLst>
              <a:ext uri="{FF2B5EF4-FFF2-40B4-BE49-F238E27FC236}">
                <a16:creationId xmlns:a16="http://schemas.microsoft.com/office/drawing/2014/main" id="{F544796E-334F-EDD1-4F71-4FBE40183F31}"/>
              </a:ext>
            </a:extLst>
          </p:cNvPr>
          <p:cNvSpPr/>
          <p:nvPr/>
        </p:nvSpPr>
        <p:spPr>
          <a:xfrm>
            <a:off x="5896850" y="3249475"/>
            <a:ext cx="398300" cy="398300"/>
          </a:xfrm>
          <a:prstGeom prst="ellipse">
            <a:avLst/>
          </a:prstGeom>
        </p:spPr>
        <p:style>
          <a:lnRef idx="1">
            <a:schemeClr val="dk1"/>
          </a:lnRef>
          <a:fillRef idx="1002">
            <a:schemeClr val="lt2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6AC45468-CE16-8800-12CB-47058D54FAEB}"/>
              </a:ext>
            </a:extLst>
          </p:cNvPr>
          <p:cNvCxnSpPr>
            <a:cxnSpLocks/>
          </p:cNvCxnSpPr>
          <p:nvPr/>
        </p:nvCxnSpPr>
        <p:spPr>
          <a:xfrm>
            <a:off x="1669401" y="34333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FF60BC38-F253-BEF5-9551-372FE354459C}"/>
              </a:ext>
            </a:extLst>
          </p:cNvPr>
          <p:cNvCxnSpPr>
            <a:cxnSpLocks/>
          </p:cNvCxnSpPr>
          <p:nvPr/>
        </p:nvCxnSpPr>
        <p:spPr>
          <a:xfrm>
            <a:off x="10239375" y="3428049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" name="Picture 2" descr="What Is BigQuery And How Do You Load Data Into It? - Seattle Data Guy">
            <a:extLst>
              <a:ext uri="{FF2B5EF4-FFF2-40B4-BE49-F238E27FC236}">
                <a16:creationId xmlns:a16="http://schemas.microsoft.com/office/drawing/2014/main" id="{0A1C04B8-63C4-1674-0894-49B89CDDE5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3142" y="3052552"/>
            <a:ext cx="1335100" cy="7509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6167CE45-0B9C-D680-6AFB-6B60D88E1C5F}"/>
              </a:ext>
            </a:extLst>
          </p:cNvPr>
          <p:cNvSpPr/>
          <p:nvPr/>
        </p:nvSpPr>
        <p:spPr>
          <a:xfrm>
            <a:off x="8702484" y="2802454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Embedded vector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899CF52-19A3-0A51-2EB6-BDEEBB769DEC}"/>
              </a:ext>
            </a:extLst>
          </p:cNvPr>
          <p:cNvSpPr/>
          <p:nvPr/>
        </p:nvSpPr>
        <p:spPr>
          <a:xfrm>
            <a:off x="8709570" y="3551546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metadata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37AD9FA3-C023-431B-7D5D-D959E9AE15E9}"/>
              </a:ext>
            </a:extLst>
          </p:cNvPr>
          <p:cNvGrpSpPr/>
          <p:nvPr/>
        </p:nvGrpSpPr>
        <p:grpSpPr>
          <a:xfrm>
            <a:off x="10794978" y="2990955"/>
            <a:ext cx="913648" cy="932038"/>
            <a:chOff x="10794977" y="2064264"/>
            <a:chExt cx="913648" cy="932038"/>
          </a:xfrm>
        </p:grpSpPr>
        <p:pic>
          <p:nvPicPr>
            <p:cNvPr id="1026" name="Picture 2" descr="Data Lake Icon">
              <a:extLst>
                <a:ext uri="{FF2B5EF4-FFF2-40B4-BE49-F238E27FC236}">
                  <a16:creationId xmlns:a16="http://schemas.microsoft.com/office/drawing/2014/main" id="{BA5EF408-CA12-4052-0B40-FCB9FFE2F1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864858" y="2064264"/>
              <a:ext cx="773887" cy="62426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61F84FBC-AD76-F063-D0D9-B7D80DA652C3}"/>
                </a:ext>
              </a:extLst>
            </p:cNvPr>
            <p:cNvSpPr txBox="1"/>
            <p:nvPr/>
          </p:nvSpPr>
          <p:spPr>
            <a:xfrm>
              <a:off x="10794977" y="2688525"/>
              <a:ext cx="91364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Data lake</a:t>
              </a: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42E3C5A5-495C-5343-A300-519C1676CA2A}"/>
              </a:ext>
            </a:extLst>
          </p:cNvPr>
          <p:cNvGrpSpPr/>
          <p:nvPr/>
        </p:nvGrpSpPr>
        <p:grpSpPr>
          <a:xfrm>
            <a:off x="10474617" y="5418270"/>
            <a:ext cx="1758365" cy="1333699"/>
            <a:chOff x="310230" y="5605659"/>
            <a:chExt cx="1758365" cy="1333699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64FC44BE-0A8E-1744-E214-FE26C59A86E0}"/>
                </a:ext>
              </a:extLst>
            </p:cNvPr>
            <p:cNvGrpSpPr/>
            <p:nvPr/>
          </p:nvGrpSpPr>
          <p:grpSpPr>
            <a:xfrm>
              <a:off x="310231" y="5963091"/>
              <a:ext cx="1758364" cy="976267"/>
              <a:chOff x="10285063" y="608166"/>
              <a:chExt cx="1836174" cy="976267"/>
            </a:xfrm>
          </p:grpSpPr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D676459D-62FE-D7D6-E0D6-AF119E98243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285065" y="1544858"/>
                <a:ext cx="317488" cy="0"/>
              </a:xfrm>
              <a:prstGeom prst="straightConnector1">
                <a:avLst/>
              </a:prstGeom>
              <a:ln w="12700">
                <a:solidFill>
                  <a:srgbClr val="FF0000"/>
                </a:solidFill>
                <a:headEnd type="triangl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" name="Rounded Rectangle 29">
                <a:extLst>
                  <a:ext uri="{FF2B5EF4-FFF2-40B4-BE49-F238E27FC236}">
                    <a16:creationId xmlns:a16="http://schemas.microsoft.com/office/drawing/2014/main" id="{7E25C6C4-76CB-9F10-4236-C04693FA02E2}"/>
                  </a:ext>
                </a:extLst>
              </p:cNvPr>
              <p:cNvSpPr/>
              <p:nvPr/>
            </p:nvSpPr>
            <p:spPr>
              <a:xfrm>
                <a:off x="10285065" y="892606"/>
                <a:ext cx="1541315" cy="211431"/>
              </a:xfrm>
              <a:prstGeom prst="roundRect">
                <a:avLst>
                  <a:gd name="adj" fmla="val 1282"/>
                </a:avLst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+mn-ea"/>
                    <a:cs typeface="Sarabun Light"/>
                  </a:rPr>
                  <a:t>Process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4" name="Rounded Rectangle 30">
                <a:extLst>
                  <a:ext uri="{FF2B5EF4-FFF2-40B4-BE49-F238E27FC236}">
                    <a16:creationId xmlns:a16="http://schemas.microsoft.com/office/drawing/2014/main" id="{806CA3E1-65F3-1E47-0598-A8910D3FB7B7}"/>
                  </a:ext>
                </a:extLst>
              </p:cNvPr>
              <p:cNvSpPr/>
              <p:nvPr/>
            </p:nvSpPr>
            <p:spPr>
              <a:xfrm>
                <a:off x="10285063" y="1167222"/>
                <a:ext cx="1541315" cy="228150"/>
              </a:xfrm>
              <a:prstGeom prst="roundRect">
                <a:avLst>
                  <a:gd name="adj" fmla="val 1282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1">
                        <a:lumMod val="10000"/>
                      </a:schemeClr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Output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1">
                      <a:lumMod val="10000"/>
                    </a:schemeClr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5" name="TextBox 37">
                <a:extLst>
                  <a:ext uri="{FF2B5EF4-FFF2-40B4-BE49-F238E27FC236}">
                    <a16:creationId xmlns:a16="http://schemas.microsoft.com/office/drawing/2014/main" id="{B56D5389-3C79-1BE9-4240-6C74D256ED1A}"/>
                  </a:ext>
                </a:extLst>
              </p:cNvPr>
              <p:cNvSpPr txBox="1"/>
              <p:nvPr/>
            </p:nvSpPr>
            <p:spPr>
              <a:xfrm>
                <a:off x="10647876" y="1445934"/>
                <a:ext cx="1473361" cy="138499"/>
              </a:xfrm>
              <a:prstGeom prst="rect">
                <a:avLst/>
              </a:prstGeom>
              <a:noFill/>
            </p:spPr>
            <p:txBody>
              <a:bodyPr wrap="square" lIns="36000" tIns="0" rIns="0" bIns="0" rtlCol="0" anchor="ctr">
                <a:spAutoFit/>
              </a:bodyPr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Process</a:t>
                </a:r>
                <a:endParaRPr kumimoji="0" lang="en-TH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6" name="Rounded Rectangle 40">
                <a:extLst>
                  <a:ext uri="{FF2B5EF4-FFF2-40B4-BE49-F238E27FC236}">
                    <a16:creationId xmlns:a16="http://schemas.microsoft.com/office/drawing/2014/main" id="{B5990303-B72C-C6A7-7460-B21D2352DBD6}"/>
                  </a:ext>
                </a:extLst>
              </p:cNvPr>
              <p:cNvSpPr/>
              <p:nvPr/>
            </p:nvSpPr>
            <p:spPr>
              <a:xfrm>
                <a:off x="10285064" y="608166"/>
                <a:ext cx="1541315" cy="211025"/>
              </a:xfrm>
              <a:prstGeom prst="roundRect">
                <a:avLst>
                  <a:gd name="adj" fmla="val 1282"/>
                </a:avLst>
              </a:prstGeom>
              <a:solidFill>
                <a:schemeClr val="tx2">
                  <a:lumMod val="25000"/>
                  <a:lumOff val="75000"/>
                </a:schemeClr>
              </a:solidFill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1">
                <a:schemeClr val="accent6"/>
              </a:lnRef>
              <a:fillRef idx="3">
                <a:schemeClr val="accent6"/>
              </a:fillRef>
              <a:effectRef idx="2">
                <a:schemeClr val="accent6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Input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</p:grpSp>
        <p:sp>
          <p:nvSpPr>
            <p:cNvPr id="11" name="TextBox 12">
              <a:extLst>
                <a:ext uri="{FF2B5EF4-FFF2-40B4-BE49-F238E27FC236}">
                  <a16:creationId xmlns:a16="http://schemas.microsoft.com/office/drawing/2014/main" id="{1286B851-9D9D-63E3-55ED-77EDD930FA17}"/>
                </a:ext>
              </a:extLst>
            </p:cNvPr>
            <p:cNvSpPr txBox="1"/>
            <p:nvPr/>
          </p:nvSpPr>
          <p:spPr>
            <a:xfrm>
              <a:off x="310230" y="5605659"/>
              <a:ext cx="141092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TH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rPr>
                <a:t>Legend</a:t>
              </a:r>
            </a:p>
          </p:txBody>
        </p:sp>
      </p:grpSp>
      <p:sp>
        <p:nvSpPr>
          <p:cNvPr id="3" name="Title 1">
            <a:extLst>
              <a:ext uri="{FF2B5EF4-FFF2-40B4-BE49-F238E27FC236}">
                <a16:creationId xmlns:a16="http://schemas.microsoft.com/office/drawing/2014/main" id="{49C90FB5-9FF0-AA2C-A8AD-B4510FC7F3DE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24566599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B76802-D8CB-FFAB-D8B6-9B0A191B9D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67E0BC5-6072-3F3A-F13D-1543FA2E39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2066" y="1315075"/>
            <a:ext cx="9087867" cy="510985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2C1E9EF-CD19-760C-68DB-FD55E24F2F09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164493565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E55A5E-A6BE-CB01-643B-1EF137BE3B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2EE592A6-DA06-FA52-ACB7-DC5F34D8B3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173721"/>
            <a:ext cx="4034790" cy="312643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375A839-97B5-56DB-B724-E824372A5948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149553262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3561681D-0D2D-B241-8F5B-6199665963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173721"/>
            <a:ext cx="4034790" cy="312643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7600B92B-2E7F-DE62-0D37-F3A2508E7E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57942" y="2173721"/>
            <a:ext cx="6506483" cy="3143689"/>
          </a:xfrm>
          <a:prstGeom prst="rect">
            <a:avLst/>
          </a:prstGeom>
        </p:spPr>
      </p:pic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E9E1512D-3DD6-AB5C-1CE6-F4B229B100C5}"/>
              </a:ext>
            </a:extLst>
          </p:cNvPr>
          <p:cNvCxnSpPr>
            <a:cxnSpLocks/>
          </p:cNvCxnSpPr>
          <p:nvPr/>
        </p:nvCxnSpPr>
        <p:spPr>
          <a:xfrm flipV="1">
            <a:off x="3090672" y="2468880"/>
            <a:ext cx="2688336" cy="649224"/>
          </a:xfrm>
          <a:prstGeom prst="bentConnector3">
            <a:avLst>
              <a:gd name="adj1" fmla="val 77211"/>
            </a:avLst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8A915FA-0CAC-DCD0-A765-722A2E3D03BD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59583627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B307C-32A1-09F3-EAE7-F883FA1A93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A5D4BBB6-2E53-0DCD-A53F-CC8EA99F4D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173721"/>
            <a:ext cx="4034790" cy="312643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7E4C01D-1CEA-8739-2513-F12D5A3562F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8520"/>
          <a:stretch>
            <a:fillRect/>
          </a:stretch>
        </p:blipFill>
        <p:spPr>
          <a:xfrm>
            <a:off x="5508808" y="1577817"/>
            <a:ext cx="6477904" cy="4868703"/>
          </a:xfrm>
          <a:prstGeom prst="rect">
            <a:avLst/>
          </a:prstGeom>
        </p:spPr>
      </p:pic>
      <p:cxnSp>
        <p:nvCxnSpPr>
          <p:cNvPr id="4" name="Connector: Elbow 3">
            <a:extLst>
              <a:ext uri="{FF2B5EF4-FFF2-40B4-BE49-F238E27FC236}">
                <a16:creationId xmlns:a16="http://schemas.microsoft.com/office/drawing/2014/main" id="{6EB918F4-B3A0-FF49-983C-0611A3B34B0A}"/>
              </a:ext>
            </a:extLst>
          </p:cNvPr>
          <p:cNvCxnSpPr>
            <a:cxnSpLocks/>
          </p:cNvCxnSpPr>
          <p:nvPr/>
        </p:nvCxnSpPr>
        <p:spPr>
          <a:xfrm flipV="1">
            <a:off x="3246120" y="1865376"/>
            <a:ext cx="2596896" cy="1664208"/>
          </a:xfrm>
          <a:prstGeom prst="bentConnector3">
            <a:avLst>
              <a:gd name="adj1" fmla="val 74296"/>
            </a:avLst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80BFEBE3-05DE-C11F-554F-94796C9F6A36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232299607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82F9F3-CC07-1F7E-ADC0-BBCACA62D8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289902-F86B-3ECA-A30D-50D0035461CC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  <p:sp>
        <p:nvSpPr>
          <p:cNvPr id="3" name="TextBox 2">
            <a:hlinkClick r:id="rId2"/>
            <a:extLst>
              <a:ext uri="{FF2B5EF4-FFF2-40B4-BE49-F238E27FC236}">
                <a16:creationId xmlns:a16="http://schemas.microsoft.com/office/drawing/2014/main" id="{4E1EF699-73EC-2CCB-A383-D6BDA02C90D7}"/>
              </a:ext>
            </a:extLst>
          </p:cNvPr>
          <p:cNvSpPr txBox="1"/>
          <p:nvPr/>
        </p:nvSpPr>
        <p:spPr>
          <a:xfrm>
            <a:off x="5581601" y="3429000"/>
            <a:ext cx="7521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Video</a:t>
            </a:r>
          </a:p>
        </p:txBody>
      </p:sp>
    </p:spTree>
    <p:extLst>
      <p:ext uri="{BB962C8B-B14F-4D97-AF65-F5344CB8AC3E}">
        <p14:creationId xmlns:p14="http://schemas.microsoft.com/office/powerpoint/2010/main" val="378308212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4C59B6-EF6A-0AC3-788D-1E211A03A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2530FB75-E3DB-DFD5-E3D6-459C0663210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7055606"/>
              </p:ext>
            </p:extLst>
          </p:nvPr>
        </p:nvGraphicFramePr>
        <p:xfrm>
          <a:off x="837752" y="2182999"/>
          <a:ext cx="10516048" cy="364568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72045">
                  <a:extLst>
                    <a:ext uri="{9D8B030D-6E8A-4147-A177-3AD203B41FA5}">
                      <a16:colId xmlns:a16="http://schemas.microsoft.com/office/drawing/2014/main" val="2615654620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666134677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1474476578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3016239017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140374584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3587445227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485861284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1157593774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3157606185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166079545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905451035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079900472"/>
                    </a:ext>
                  </a:extLst>
                </a:gridCol>
              </a:tblGrid>
              <a:tr h="788606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GB" sz="1050" b="1" i="0" u="none" strike="noStrike" baseline="0" noProof="0" dirty="0">
                        <a:solidFill>
                          <a:schemeClr val="tx1"/>
                        </a:solidFill>
                        <a:latin typeface="Poppins Ligh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50" b="1" i="0" u="none" strike="noStrike" baseline="0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Stu_p001</a:t>
                      </a:r>
                      <a:endParaRPr lang="en-GB" sz="1050" b="1" i="0" u="none" strike="noStrike" baseline="0" noProof="0" dirty="0">
                        <a:solidFill>
                          <a:schemeClr val="tx1"/>
                        </a:solidFill>
                        <a:latin typeface="Poppins Ligh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Stu_p002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Stu_p003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Stu_p004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Stu_p005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Stu_p006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50" b="1" i="0" u="none" strike="noStrike" baseline="0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Stu_p007</a:t>
                      </a:r>
                      <a:endParaRPr lang="en-GB" sz="1050" b="1" i="0" u="none" strike="noStrike" baseline="0" noProof="0" dirty="0">
                        <a:solidFill>
                          <a:schemeClr val="tx1"/>
                        </a:solidFill>
                        <a:latin typeface="Poppins Light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Stu_p008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Stu_p009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Stu_p010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average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3995445"/>
                  </a:ext>
                </a:extLst>
              </a:tr>
              <a:tr h="465406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i="0" u="none" strike="noStrike" noProof="0" dirty="0" err="1">
                          <a:solidFill>
                            <a:schemeClr val="tx1"/>
                          </a:solidFill>
                          <a:latin typeface="+mj-lt"/>
                        </a:rPr>
                        <a:t>query_sec</a:t>
                      </a:r>
                      <a:endParaRPr lang="en-GB" sz="1200" b="1" i="0" u="none" strike="noStrike" noProof="0" dirty="0">
                        <a:solidFill>
                          <a:schemeClr val="tx1"/>
                        </a:solidFill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0" dirty="0">
                          <a:solidFill>
                            <a:schemeClr val="tx1"/>
                          </a:solidFill>
                        </a:rPr>
                        <a:t>0.00101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0.00065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0.00058</a:t>
                      </a:r>
                      <a:endParaRPr lang="en-US" sz="12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0.00064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0.00067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0.00354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0.00077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0.00056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0.00056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0.00066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</a:rPr>
                        <a:t>0.00096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9768461"/>
                  </a:ext>
                </a:extLst>
              </a:tr>
              <a:tr h="47833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 err="1">
                          <a:latin typeface="+mj-lt"/>
                        </a:rPr>
                        <a:t>history_sec</a:t>
                      </a:r>
                      <a:endParaRPr lang="en-US" sz="1200" b="1" dirty="0"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0.01339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0.01010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0.00979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0.00971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0.01111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0.01051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0.00888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0.00944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0.00959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0.01291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</a:rPr>
                        <a:t>0.01054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14855725"/>
                  </a:ext>
                </a:extLst>
              </a:tr>
              <a:tr h="47833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 err="1">
                          <a:latin typeface="+mj-lt"/>
                        </a:rPr>
                        <a:t>embed_sec</a:t>
                      </a:r>
                      <a:endParaRPr lang="en-US" sz="1200" b="1" dirty="0"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1.81636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1.77266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2.03714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1.69645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1.72026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1.79597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1.75972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1.76440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1.72077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1.75303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</a:rPr>
                        <a:t>1.78368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58360638"/>
                  </a:ext>
                </a:extLst>
              </a:tr>
              <a:tr h="47833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b="1" i="0" u="none" strike="noStrike" noProof="0" dirty="0" err="1">
                          <a:solidFill>
                            <a:schemeClr val="tx1"/>
                          </a:solidFill>
                          <a:latin typeface="+mj-lt"/>
                        </a:rPr>
                        <a:t>metadata.json</a:t>
                      </a:r>
                      <a:endParaRPr lang="en-GB" sz="1200" b="1" i="0" u="none" strike="noStrike" noProof="0" dirty="0">
                        <a:solidFill>
                          <a:schemeClr val="tx1"/>
                        </a:solidFill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0.18499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0.12241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0.10613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0.11913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0.10847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0.11897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0.12841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0.11524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0.11533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0.12951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</a:rPr>
                        <a:t>0.12486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5223139"/>
                  </a:ext>
                </a:extLst>
              </a:tr>
              <a:tr h="47833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latin typeface="+mj-lt"/>
                        </a:rPr>
                        <a:t>embedding0n.npy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1.23484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1.28129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1.28272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1.16481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1.15355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1.12040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1.15927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1.15244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1.21216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1.12801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</a:rPr>
                        <a:t>1.18895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95493401"/>
                  </a:ext>
                </a:extLst>
              </a:tr>
              <a:tr h="47833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 err="1">
                          <a:latin typeface="+mj-lt"/>
                        </a:rPr>
                        <a:t>total_sec</a:t>
                      </a:r>
                      <a:endParaRPr lang="en-US" sz="1200" b="1" dirty="0"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3.25059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3.18711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3.43636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2.99074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2.99306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3.04939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3.05705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3.04208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3.05841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3.02412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</a:rPr>
                        <a:t>3.10898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33335733"/>
                  </a:ext>
                </a:extLst>
              </a:tr>
            </a:tbl>
          </a:graphicData>
        </a:graphic>
      </p:graphicFrame>
      <p:sp>
        <p:nvSpPr>
          <p:cNvPr id="5" name="Title 1">
            <a:extLst>
              <a:ext uri="{FF2B5EF4-FFF2-40B4-BE49-F238E27FC236}">
                <a16:creationId xmlns:a16="http://schemas.microsoft.com/office/drawing/2014/main" id="{044F518A-03FE-9661-571B-2CD104C8421B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</a:t>
            </a:r>
          </a:p>
          <a:p>
            <a:r>
              <a:rPr lang="en-US" sz="2400" dirty="0">
                <a:cs typeface="Poppins Light"/>
              </a:rPr>
              <a:t>Pipeline Execution Time Breakdown per Student (seconds)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76646316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1FDC69-AA87-9E3A-E2F2-A8E5E81FB1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35E3079-F5DE-5835-F7D3-FAD07FA71D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74676868"/>
              </p:ext>
            </p:extLst>
          </p:nvPr>
        </p:nvGraphicFramePr>
        <p:xfrm>
          <a:off x="838196" y="2562826"/>
          <a:ext cx="10515604" cy="221068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71601">
                  <a:extLst>
                    <a:ext uri="{9D8B030D-6E8A-4147-A177-3AD203B41FA5}">
                      <a16:colId xmlns:a16="http://schemas.microsoft.com/office/drawing/2014/main" val="2615654620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666134677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1474476578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3016239017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140374584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3587445227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485861284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1157593774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3157606185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166079545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905451035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079900472"/>
                    </a:ext>
                  </a:extLst>
                </a:gridCol>
              </a:tblGrid>
              <a:tr h="788606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GB" sz="1050" b="1" i="0" u="none" strike="noStrike" baseline="0" noProof="0" dirty="0">
                        <a:solidFill>
                          <a:schemeClr val="tx1"/>
                        </a:solidFill>
                        <a:latin typeface="Poppins Ligh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50" b="1" i="0" u="none" strike="noStrike" baseline="0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Stu_p001</a:t>
                      </a:r>
                      <a:endParaRPr lang="en-GB" sz="1050" b="1" i="0" u="none" strike="noStrike" baseline="0" noProof="0" dirty="0">
                        <a:solidFill>
                          <a:schemeClr val="tx1"/>
                        </a:solidFill>
                        <a:latin typeface="Poppins Ligh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Stu_p002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Stu_p003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Stu_p004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Stu_p005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Stu_p006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50" b="1" i="0" u="none" strike="noStrike" baseline="0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Stu_p007</a:t>
                      </a:r>
                      <a:endParaRPr lang="en-GB" sz="1050" b="1" i="0" u="none" strike="noStrike" baseline="0" noProof="0" dirty="0">
                        <a:solidFill>
                          <a:schemeClr val="tx1"/>
                        </a:solidFill>
                        <a:latin typeface="Poppins Light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Stu_p008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Stu_p009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Stu_p010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average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3995445"/>
                  </a:ext>
                </a:extLst>
              </a:tr>
              <a:tr h="465406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i="0" u="none" strike="noStrike" noProof="0" dirty="0" err="1">
                          <a:solidFill>
                            <a:schemeClr val="tx1"/>
                          </a:solidFill>
                          <a:latin typeface="+mj-lt"/>
                        </a:rPr>
                        <a:t>metadata.json</a:t>
                      </a:r>
                      <a:endParaRPr lang="en-GB" sz="1200" b="1" i="0" u="none" strike="noStrike" noProof="0" dirty="0">
                        <a:solidFill>
                          <a:schemeClr val="tx1"/>
                        </a:solidFill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0" dirty="0">
                          <a:solidFill>
                            <a:schemeClr val="tx1"/>
                          </a:solidFill>
                          <a:latin typeface="+mj-lt"/>
                        </a:rPr>
                        <a:t>0.06906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0.0565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0.09909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0.06359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0.07367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0.06569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0.07023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0.0673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0.07545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0.07149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  <a:latin typeface="+mj-lt"/>
                        </a:rPr>
                        <a:t>0.07514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9768461"/>
                  </a:ext>
                </a:extLst>
              </a:tr>
              <a:tr h="47833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latin typeface="+mj-lt"/>
                        </a:rPr>
                        <a:t>embedding0n.npy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0.07413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0.06238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0.06575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0.07541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0.05905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0.06792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0.06209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0.06646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0.06743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0.06615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  <a:latin typeface="+mj-lt"/>
                        </a:rPr>
                        <a:t>0.06786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14855725"/>
                  </a:ext>
                </a:extLst>
              </a:tr>
              <a:tr h="47833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 err="1">
                          <a:latin typeface="+mj-lt"/>
                        </a:rPr>
                        <a:t>total_sec</a:t>
                      </a:r>
                      <a:endParaRPr lang="en-US" sz="1200" b="1" dirty="0"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0.14319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0.11888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0.16484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0.139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0.13272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0.13361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0.13232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0.13376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0.14288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0.13764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0.143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6417090"/>
                  </a:ext>
                </a:extLst>
              </a:tr>
            </a:tbl>
          </a:graphicData>
        </a:graphic>
      </p:graphicFrame>
      <p:sp>
        <p:nvSpPr>
          <p:cNvPr id="7" name="Title 1">
            <a:extLst>
              <a:ext uri="{FF2B5EF4-FFF2-40B4-BE49-F238E27FC236}">
                <a16:creationId xmlns:a16="http://schemas.microsoft.com/office/drawing/2014/main" id="{D755A43B-2784-3472-F7B9-1A0550F9F7F2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</a:t>
            </a:r>
          </a:p>
          <a:p>
            <a:r>
              <a:rPr lang="en-US" sz="2400" dirty="0"/>
              <a:t>Storage retrieval from GCS </a:t>
            </a:r>
            <a:r>
              <a:rPr lang="en-US" sz="2400" dirty="0">
                <a:cs typeface="Poppins Light"/>
              </a:rPr>
              <a:t>(seconds)</a:t>
            </a:r>
            <a:r>
              <a:rPr lang="en-US" sz="2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04186388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99D5F95-DA6C-ADC3-0B2F-285A8CFEDF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D7C18500-11AD-EF54-8498-C94A518A9F3F}"/>
              </a:ext>
            </a:extLst>
          </p:cNvPr>
          <p:cNvSpPr/>
          <p:nvPr/>
        </p:nvSpPr>
        <p:spPr>
          <a:xfrm>
            <a:off x="2038350" y="1980000"/>
            <a:ext cx="8134350" cy="2953949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C2BFB88-8018-07D1-63C0-EFBFECE8B619}"/>
              </a:ext>
            </a:extLst>
          </p:cNvPr>
          <p:cNvSpPr/>
          <p:nvPr/>
        </p:nvSpPr>
        <p:spPr>
          <a:xfrm>
            <a:off x="2133682" y="3196625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Prepare_history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AD3D4969-8A2D-E8E1-A272-CF7113BAD56A}"/>
              </a:ext>
            </a:extLst>
          </p:cNvPr>
          <p:cNvCxnSpPr>
            <a:cxnSpLocks/>
          </p:cNvCxnSpPr>
          <p:nvPr/>
        </p:nvCxnSpPr>
        <p:spPr>
          <a:xfrm>
            <a:off x="3589725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FAD7C1C2-AD9F-8666-A75F-AC79E8CE6930}"/>
              </a:ext>
            </a:extLst>
          </p:cNvPr>
          <p:cNvSpPr/>
          <p:nvPr/>
        </p:nvSpPr>
        <p:spPr>
          <a:xfrm>
            <a:off x="3962040" y="3196625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User_context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A644E83D-1405-339E-49EE-A64543911362}"/>
              </a:ext>
            </a:extLst>
          </p:cNvPr>
          <p:cNvCxnSpPr>
            <a:cxnSpLocks/>
          </p:cNvCxnSpPr>
          <p:nvPr/>
        </p:nvCxnSpPr>
        <p:spPr>
          <a:xfrm>
            <a:off x="5418083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537813B3-E580-520B-BEA0-F26614F9A0B4}"/>
              </a:ext>
            </a:extLst>
          </p:cNvPr>
          <p:cNvSpPr/>
          <p:nvPr/>
        </p:nvSpPr>
        <p:spPr>
          <a:xfrm>
            <a:off x="5418083" y="408245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HyDE_prompt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1C6EC71-8E3C-835F-EAE6-26DA61C0660E}"/>
              </a:ext>
            </a:extLst>
          </p:cNvPr>
          <p:cNvCxnSpPr>
            <a:cxnSpLocks/>
          </p:cNvCxnSpPr>
          <p:nvPr/>
        </p:nvCxnSpPr>
        <p:spPr>
          <a:xfrm>
            <a:off x="6395481" y="343795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543C6700-78B4-E8AA-CD46-C0648E5CEA4C}"/>
              </a:ext>
            </a:extLst>
          </p:cNvPr>
          <p:cNvSpPr/>
          <p:nvPr/>
        </p:nvSpPr>
        <p:spPr>
          <a:xfrm>
            <a:off x="5418083" y="227155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Llm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</a:t>
            </a: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_flast_2.5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FDB39CB6-CDCD-67CA-21FE-D0FF2DD58883}"/>
              </a:ext>
            </a:extLst>
          </p:cNvPr>
          <p:cNvCxnSpPr>
            <a:cxnSpLocks/>
          </p:cNvCxnSpPr>
          <p:nvPr/>
        </p:nvCxnSpPr>
        <p:spPr>
          <a:xfrm>
            <a:off x="6096000" y="2845400"/>
            <a:ext cx="0" cy="25775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85923559-3EF5-3015-9E1D-77EFA1EF038B}"/>
              </a:ext>
            </a:extLst>
          </p:cNvPr>
          <p:cNvCxnSpPr>
            <a:cxnSpLocks/>
          </p:cNvCxnSpPr>
          <p:nvPr/>
        </p:nvCxnSpPr>
        <p:spPr>
          <a:xfrm flipV="1">
            <a:off x="6096000" y="3747100"/>
            <a:ext cx="0" cy="25775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DD41DA9D-5003-9721-3AD7-ED2B6D79EB2C}"/>
              </a:ext>
            </a:extLst>
          </p:cNvPr>
          <p:cNvSpPr/>
          <p:nvPr/>
        </p:nvSpPr>
        <p:spPr>
          <a:xfrm>
            <a:off x="6874126" y="317700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gemini-embedding-001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B213D4B1-7085-9780-481F-0DF09EAE28D1}"/>
              </a:ext>
            </a:extLst>
          </p:cNvPr>
          <p:cNvCxnSpPr>
            <a:cxnSpLocks/>
          </p:cNvCxnSpPr>
          <p:nvPr/>
        </p:nvCxnSpPr>
        <p:spPr>
          <a:xfrm>
            <a:off x="8330169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8" name="Oval 37">
            <a:extLst>
              <a:ext uri="{FF2B5EF4-FFF2-40B4-BE49-F238E27FC236}">
                <a16:creationId xmlns:a16="http://schemas.microsoft.com/office/drawing/2014/main" id="{7BB9AD29-2C86-BFAA-23CA-632F520A4EE0}"/>
              </a:ext>
            </a:extLst>
          </p:cNvPr>
          <p:cNvSpPr/>
          <p:nvPr/>
        </p:nvSpPr>
        <p:spPr>
          <a:xfrm>
            <a:off x="5896850" y="3249475"/>
            <a:ext cx="398300" cy="398300"/>
          </a:xfrm>
          <a:prstGeom prst="ellipse">
            <a:avLst/>
          </a:prstGeom>
        </p:spPr>
        <p:style>
          <a:lnRef idx="1">
            <a:schemeClr val="dk1"/>
          </a:lnRef>
          <a:fillRef idx="1002">
            <a:schemeClr val="lt2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A56D6BEE-3F2B-85CD-6CFA-596DDE50D086}"/>
              </a:ext>
            </a:extLst>
          </p:cNvPr>
          <p:cNvCxnSpPr>
            <a:cxnSpLocks/>
          </p:cNvCxnSpPr>
          <p:nvPr/>
        </p:nvCxnSpPr>
        <p:spPr>
          <a:xfrm>
            <a:off x="1669401" y="34333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FB2A706A-BB6C-A084-117C-8583B3EEE5B6}"/>
              </a:ext>
            </a:extLst>
          </p:cNvPr>
          <p:cNvCxnSpPr>
            <a:cxnSpLocks/>
          </p:cNvCxnSpPr>
          <p:nvPr/>
        </p:nvCxnSpPr>
        <p:spPr>
          <a:xfrm>
            <a:off x="10239375" y="3428049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" name="Picture 2" descr="What Is BigQuery And How Do You Load Data Into It? - Seattle Data Guy">
            <a:extLst>
              <a:ext uri="{FF2B5EF4-FFF2-40B4-BE49-F238E27FC236}">
                <a16:creationId xmlns:a16="http://schemas.microsoft.com/office/drawing/2014/main" id="{9A4D959B-6B3F-D932-AD7C-43A4C3EE06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3142" y="3052552"/>
            <a:ext cx="1335100" cy="7509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66CE1D61-8202-9D3A-DE2A-CC7455F600DC}"/>
              </a:ext>
            </a:extLst>
          </p:cNvPr>
          <p:cNvSpPr/>
          <p:nvPr/>
        </p:nvSpPr>
        <p:spPr>
          <a:xfrm>
            <a:off x="8702484" y="2802454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Embedded vector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6915341-2D43-DC30-7432-FB096D1B3940}"/>
              </a:ext>
            </a:extLst>
          </p:cNvPr>
          <p:cNvSpPr/>
          <p:nvPr/>
        </p:nvSpPr>
        <p:spPr>
          <a:xfrm>
            <a:off x="8709570" y="3551546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metadata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8256DAC-6681-DF78-4CD9-0C71B54844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84252" y="3231117"/>
            <a:ext cx="1335100" cy="413665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D9000708-904D-BF3D-CCAD-D560FA655BCC}"/>
              </a:ext>
            </a:extLst>
          </p:cNvPr>
          <p:cNvGrpSpPr/>
          <p:nvPr/>
        </p:nvGrpSpPr>
        <p:grpSpPr>
          <a:xfrm>
            <a:off x="10474617" y="5418270"/>
            <a:ext cx="1758365" cy="1333699"/>
            <a:chOff x="310230" y="5605659"/>
            <a:chExt cx="1758365" cy="1333699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92AD7B30-AC4A-E3B2-2B22-38DFCA6983BE}"/>
                </a:ext>
              </a:extLst>
            </p:cNvPr>
            <p:cNvGrpSpPr/>
            <p:nvPr/>
          </p:nvGrpSpPr>
          <p:grpSpPr>
            <a:xfrm>
              <a:off x="310231" y="5963091"/>
              <a:ext cx="1758364" cy="976267"/>
              <a:chOff x="10285063" y="608166"/>
              <a:chExt cx="1836174" cy="976267"/>
            </a:xfrm>
          </p:grpSpPr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8282D4AE-26F1-3D54-AD2F-D3620AD4B49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285065" y="1544858"/>
                <a:ext cx="317488" cy="0"/>
              </a:xfrm>
              <a:prstGeom prst="straightConnector1">
                <a:avLst/>
              </a:prstGeom>
              <a:ln w="12700">
                <a:solidFill>
                  <a:srgbClr val="FF0000"/>
                </a:solidFill>
                <a:headEnd type="triangl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" name="Rounded Rectangle 29">
                <a:extLst>
                  <a:ext uri="{FF2B5EF4-FFF2-40B4-BE49-F238E27FC236}">
                    <a16:creationId xmlns:a16="http://schemas.microsoft.com/office/drawing/2014/main" id="{1355A4EF-786E-2106-1200-3129A62B000F}"/>
                  </a:ext>
                </a:extLst>
              </p:cNvPr>
              <p:cNvSpPr/>
              <p:nvPr/>
            </p:nvSpPr>
            <p:spPr>
              <a:xfrm>
                <a:off x="10285065" y="892606"/>
                <a:ext cx="1541315" cy="211431"/>
              </a:xfrm>
              <a:prstGeom prst="roundRect">
                <a:avLst>
                  <a:gd name="adj" fmla="val 1282"/>
                </a:avLst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+mn-ea"/>
                    <a:cs typeface="Sarabun Light"/>
                  </a:rPr>
                  <a:t>Process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4" name="Rounded Rectangle 30">
                <a:extLst>
                  <a:ext uri="{FF2B5EF4-FFF2-40B4-BE49-F238E27FC236}">
                    <a16:creationId xmlns:a16="http://schemas.microsoft.com/office/drawing/2014/main" id="{7ADC7A81-A415-696A-F9C9-6B6707D8AF70}"/>
                  </a:ext>
                </a:extLst>
              </p:cNvPr>
              <p:cNvSpPr/>
              <p:nvPr/>
            </p:nvSpPr>
            <p:spPr>
              <a:xfrm>
                <a:off x="10285063" y="1167222"/>
                <a:ext cx="1541315" cy="228150"/>
              </a:xfrm>
              <a:prstGeom prst="roundRect">
                <a:avLst>
                  <a:gd name="adj" fmla="val 1282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1">
                        <a:lumMod val="10000"/>
                      </a:schemeClr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Output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1">
                      <a:lumMod val="10000"/>
                    </a:schemeClr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5" name="TextBox 37">
                <a:extLst>
                  <a:ext uri="{FF2B5EF4-FFF2-40B4-BE49-F238E27FC236}">
                    <a16:creationId xmlns:a16="http://schemas.microsoft.com/office/drawing/2014/main" id="{7716F570-172D-F670-B375-2454ED7C6DE8}"/>
                  </a:ext>
                </a:extLst>
              </p:cNvPr>
              <p:cNvSpPr txBox="1"/>
              <p:nvPr/>
            </p:nvSpPr>
            <p:spPr>
              <a:xfrm>
                <a:off x="10647876" y="1445934"/>
                <a:ext cx="1473361" cy="138499"/>
              </a:xfrm>
              <a:prstGeom prst="rect">
                <a:avLst/>
              </a:prstGeom>
              <a:noFill/>
            </p:spPr>
            <p:txBody>
              <a:bodyPr wrap="square" lIns="36000" tIns="0" rIns="0" bIns="0" rtlCol="0" anchor="ctr">
                <a:spAutoFit/>
              </a:bodyPr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Process</a:t>
                </a:r>
                <a:endParaRPr kumimoji="0" lang="en-TH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6" name="Rounded Rectangle 40">
                <a:extLst>
                  <a:ext uri="{FF2B5EF4-FFF2-40B4-BE49-F238E27FC236}">
                    <a16:creationId xmlns:a16="http://schemas.microsoft.com/office/drawing/2014/main" id="{57F3D18C-3633-9485-830B-F2257316294D}"/>
                  </a:ext>
                </a:extLst>
              </p:cNvPr>
              <p:cNvSpPr/>
              <p:nvPr/>
            </p:nvSpPr>
            <p:spPr>
              <a:xfrm>
                <a:off x="10285064" y="608166"/>
                <a:ext cx="1541315" cy="211025"/>
              </a:xfrm>
              <a:prstGeom prst="roundRect">
                <a:avLst>
                  <a:gd name="adj" fmla="val 1282"/>
                </a:avLst>
              </a:prstGeom>
              <a:solidFill>
                <a:schemeClr val="tx2">
                  <a:lumMod val="25000"/>
                  <a:lumOff val="75000"/>
                </a:schemeClr>
              </a:solidFill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1">
                <a:schemeClr val="accent6"/>
              </a:lnRef>
              <a:fillRef idx="3">
                <a:schemeClr val="accent6"/>
              </a:fillRef>
              <a:effectRef idx="2">
                <a:schemeClr val="accent6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Input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</p:grpSp>
        <p:sp>
          <p:nvSpPr>
            <p:cNvPr id="11" name="TextBox 12">
              <a:extLst>
                <a:ext uri="{FF2B5EF4-FFF2-40B4-BE49-F238E27FC236}">
                  <a16:creationId xmlns:a16="http://schemas.microsoft.com/office/drawing/2014/main" id="{C8C2DA7C-597D-50DD-D361-D2368DD722E8}"/>
                </a:ext>
              </a:extLst>
            </p:cNvPr>
            <p:cNvSpPr txBox="1"/>
            <p:nvPr/>
          </p:nvSpPr>
          <p:spPr>
            <a:xfrm>
              <a:off x="310230" y="5605659"/>
              <a:ext cx="141092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TH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rPr>
                <a:t>Legend</a:t>
              </a:r>
            </a:p>
          </p:txBody>
        </p:sp>
      </p:grpSp>
      <p:sp>
        <p:nvSpPr>
          <p:cNvPr id="6" name="Title 1">
            <a:extLst>
              <a:ext uri="{FF2B5EF4-FFF2-40B4-BE49-F238E27FC236}">
                <a16:creationId xmlns:a16="http://schemas.microsoft.com/office/drawing/2014/main" id="{2DA94666-91E8-CC3C-C608-5A81FE204063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1471981688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3BBE4B-4A90-0AF0-8F66-DF7445A043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Python (programming language) - Wikipedia">
            <a:extLst>
              <a:ext uri="{FF2B5EF4-FFF2-40B4-BE49-F238E27FC236}">
                <a16:creationId xmlns:a16="http://schemas.microsoft.com/office/drawing/2014/main" id="{7558C346-DE27-A956-4676-1859B13F39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48798" y="1976599"/>
            <a:ext cx="1160526" cy="11605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FastAPI · GitHub">
            <a:extLst>
              <a:ext uri="{FF2B5EF4-FFF2-40B4-BE49-F238E27FC236}">
                <a16:creationId xmlns:a16="http://schemas.microsoft.com/office/drawing/2014/main" id="{855D1AA6-EBDE-F14E-DEDA-B41BF7D5BD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65778" y="3524073"/>
            <a:ext cx="1331214" cy="13312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 descr="รูปภาพGemini – เลือกดูภาพถ่ายสต็อก เวกเตอร์ และวิดีโอ74,249 | Adobe Stock">
            <a:extLst>
              <a:ext uri="{FF2B5EF4-FFF2-40B4-BE49-F238E27FC236}">
                <a16:creationId xmlns:a16="http://schemas.microsoft.com/office/drawing/2014/main" id="{22E3C64C-AE8F-51D5-DA83-3907C22BCF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4346" y="3600408"/>
            <a:ext cx="2863850" cy="11455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0" name="Picture 8" descr="What Is BigQuery And How Do You Load Data Into It? - Seattle Data Guy">
            <a:extLst>
              <a:ext uri="{FF2B5EF4-FFF2-40B4-BE49-F238E27FC236}">
                <a16:creationId xmlns:a16="http://schemas.microsoft.com/office/drawing/2014/main" id="{A030075D-3E5E-15F1-6377-932F1CC176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97789" y="4794906"/>
            <a:ext cx="2353733" cy="13239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2" name="Picture 10" descr="What is Docker ? How to use it ? - NashTech Blog">
            <a:extLst>
              <a:ext uri="{FF2B5EF4-FFF2-40B4-BE49-F238E27FC236}">
                <a16:creationId xmlns:a16="http://schemas.microsoft.com/office/drawing/2014/main" id="{2BA49730-AF03-6D55-974D-7885BA76DD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43259" y="1851207"/>
            <a:ext cx="2353733" cy="13239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4" name="Picture 12" descr="GitHub - jupyterlab/jupyterlab: JupyterLab computational environment.">
            <a:extLst>
              <a:ext uri="{FF2B5EF4-FFF2-40B4-BE49-F238E27FC236}">
                <a16:creationId xmlns:a16="http://schemas.microsoft.com/office/drawing/2014/main" id="{15A8AB89-8C13-214E-E901-852D83950B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20838" y="1970973"/>
            <a:ext cx="1407653" cy="14076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92" name="Picture 20" descr="Cloud Run vs App Engine vs Cloud Function (Pros and Cons)">
            <a:extLst>
              <a:ext uri="{FF2B5EF4-FFF2-40B4-BE49-F238E27FC236}">
                <a16:creationId xmlns:a16="http://schemas.microsoft.com/office/drawing/2014/main" id="{529B08C3-47D8-32EA-D13B-1922DE3E9E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59720" y="5412401"/>
            <a:ext cx="2513146" cy="9623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Google Cloud Storage: solution for data lakes - Flowygo">
            <a:extLst>
              <a:ext uri="{FF2B5EF4-FFF2-40B4-BE49-F238E27FC236}">
                <a16:creationId xmlns:a16="http://schemas.microsoft.com/office/drawing/2014/main" id="{22FE7497-B4F7-5F32-2032-702334A4A5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35932" y="3636936"/>
            <a:ext cx="2281412" cy="16198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Visual Studio Code - Download and install on Windows | Microsoft Store">
            <a:extLst>
              <a:ext uri="{FF2B5EF4-FFF2-40B4-BE49-F238E27FC236}">
                <a16:creationId xmlns:a16="http://schemas.microsoft.com/office/drawing/2014/main" id="{01EEC46E-48C9-84E6-33F5-A113A0DFFE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16611" y="2513195"/>
            <a:ext cx="1167982" cy="11679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YAML File Format Icon SVG Vector &amp; PNG Free Download | UXWing">
            <a:extLst>
              <a:ext uri="{FF2B5EF4-FFF2-40B4-BE49-F238E27FC236}">
                <a16:creationId xmlns:a16="http://schemas.microsoft.com/office/drawing/2014/main" id="{F4E999C6-217F-7104-506D-3390415776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64713" y="4884124"/>
            <a:ext cx="1145540" cy="11455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659C146-EE72-EBE5-AE83-924130D139C8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System Architecture &amp; Technology Stack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373096674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06B22-0473-04F9-85F9-5E187DB4DC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E44697C-7150-FFF1-EC0E-DA02EFC6FF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2550" y="1427620"/>
            <a:ext cx="9486900" cy="510985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B91456F-E2A6-B73B-EBF7-559ECA452B13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System Architecture &amp; Technology Stack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129817401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37D2FE-96D7-DD42-D64C-0E3C44E762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53843A-37A8-7E78-56C1-F959554448A7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Future Work</a:t>
            </a:r>
            <a:endParaRPr lang="en-US" sz="2400" dirty="0">
              <a:cs typeface="Poppins Light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1A87FB-2FFC-027B-D5E5-C96FB0C851B7}"/>
              </a:ext>
            </a:extLst>
          </p:cNvPr>
          <p:cNvSpPr txBox="1"/>
          <p:nvPr/>
        </p:nvSpPr>
        <p:spPr>
          <a:xfrm>
            <a:off x="0" y="6949440"/>
            <a:ext cx="2730056" cy="972562"/>
          </a:xfrm>
          <a:prstGeom prst="roundRect">
            <a:avLst>
              <a:gd name="adj" fmla="val 4406"/>
            </a:avLst>
          </a:prstGeom>
          <a:solidFill>
            <a:srgbClr val="FFD100"/>
          </a:solidFill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sz="1400" dirty="0">
                <a:latin typeface="Consolas" panose="020B0609020204030204" pitchFamily="49" charset="0"/>
              </a:rPr>
              <a:t>Add endpoint get student</a:t>
            </a:r>
          </a:p>
          <a:p>
            <a:pPr marL="285750" indent="-285750">
              <a:buFontTx/>
              <a:buChar char="-"/>
            </a:pPr>
            <a:r>
              <a:rPr lang="en-US" sz="1400" dirty="0">
                <a:latin typeface="Consolas" panose="020B0609020204030204" pitchFamily="49" charset="0"/>
              </a:rPr>
              <a:t>Update intent core code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660981D-86EB-AD87-EAEB-7A329296C0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2750" y="1305757"/>
            <a:ext cx="9429831" cy="53021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937147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B05D7B-EDF6-5F9B-FCF3-923CFAADD0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AAB85E2C-B8F5-A58B-F930-70CE7F3E0CC6}"/>
              </a:ext>
            </a:extLst>
          </p:cNvPr>
          <p:cNvSpPr txBox="1">
            <a:spLocks/>
          </p:cNvSpPr>
          <p:nvPr/>
        </p:nvSpPr>
        <p:spPr>
          <a:xfrm>
            <a:off x="838200" y="333595"/>
            <a:ext cx="10515600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</a:t>
            </a:r>
            <a:r>
              <a:rPr lang="en-TH" sz="2400" dirty="0"/>
              <a:t>– </a:t>
            </a:r>
            <a:r>
              <a:rPr lang="en-US" sz="2400" dirty="0"/>
              <a:t>Future Work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0C8AC74-4A46-293E-66F1-F81BC7E1ED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94285" y="1485575"/>
            <a:ext cx="3654890" cy="452991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8D6FB7D-793F-9368-D167-7596F41BE5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829" y="1485575"/>
            <a:ext cx="4167888" cy="452991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61E6D40-55B4-7187-0EAB-242263D915D4}"/>
              </a:ext>
            </a:extLst>
          </p:cNvPr>
          <p:cNvSpPr txBox="1"/>
          <p:nvPr/>
        </p:nvSpPr>
        <p:spPr>
          <a:xfrm>
            <a:off x="5941951" y="3565864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</p:spTree>
    <p:extLst>
      <p:ext uri="{BB962C8B-B14F-4D97-AF65-F5344CB8AC3E}">
        <p14:creationId xmlns:p14="http://schemas.microsoft.com/office/powerpoint/2010/main" val="413767856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95BD8A-8D45-2434-7F86-A7B3D8DAB2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09223EE7-F282-49F6-E483-75F8BADCFA22}"/>
              </a:ext>
            </a:extLst>
          </p:cNvPr>
          <p:cNvSpPr txBox="1">
            <a:spLocks/>
          </p:cNvSpPr>
          <p:nvPr/>
        </p:nvSpPr>
        <p:spPr>
          <a:xfrm>
            <a:off x="152399" y="5933461"/>
            <a:ext cx="11820525" cy="229935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>
              <a:lnSpc>
                <a:spcPct val="150000"/>
              </a:lnSpc>
            </a:pPr>
            <a:endParaRPr lang="en-US" sz="1100">
              <a:solidFill>
                <a:srgbClr val="0432FF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8B0FF0E-A6A2-98AF-B9D8-1ECC79F8D2E2}"/>
              </a:ext>
            </a:extLst>
          </p:cNvPr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28934109-FB6B-51BF-602B-1988ED13AD7B}"/>
              </a:ext>
            </a:extLst>
          </p:cNvPr>
          <p:cNvSpPr txBox="1">
            <a:spLocks/>
          </p:cNvSpPr>
          <p:nvPr/>
        </p:nvSpPr>
        <p:spPr>
          <a:xfrm>
            <a:off x="479425" y="3121223"/>
            <a:ext cx="11233150" cy="61555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 algn="ctr"/>
            <a:r>
              <a:rPr lang="en-US" sz="4000" b="1" dirty="0">
                <a:solidFill>
                  <a:schemeClr val="tx2">
                    <a:lumMod val="10000"/>
                    <a:lumOff val="90000"/>
                  </a:schemeClr>
                </a:solidFill>
              </a:rPr>
              <a:t>Team stand up</a:t>
            </a:r>
          </a:p>
        </p:txBody>
      </p:sp>
    </p:spTree>
    <p:extLst>
      <p:ext uri="{BB962C8B-B14F-4D97-AF65-F5344CB8AC3E}">
        <p14:creationId xmlns:p14="http://schemas.microsoft.com/office/powerpoint/2010/main" val="36300142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97EB9D-BC4E-CFB7-65B4-D57B600015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F51F61-F94E-9D8E-AF80-BBC9481447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1" y="186666"/>
            <a:ext cx="10515600" cy="625474"/>
          </a:xfrm>
        </p:spPr>
        <p:txBody>
          <a:bodyPr>
            <a:noAutofit/>
          </a:bodyPr>
          <a:lstStyle/>
          <a:p>
            <a:r>
              <a:rPr lang="en-US" sz="3200" dirty="0"/>
              <a:t>Tue,260224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E64EDA9-0040-E8C3-0509-331038A593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2901" y="1019175"/>
            <a:ext cx="11515724" cy="5206072"/>
          </a:xfrm>
        </p:spPr>
        <p:txBody>
          <a:bodyPr>
            <a:normAutofit/>
          </a:bodyPr>
          <a:lstStyle/>
          <a:p>
            <a:r>
              <a:rPr lang="en-US" sz="2400" dirty="0"/>
              <a:t>Done</a:t>
            </a:r>
          </a:p>
          <a:p>
            <a:pPr lvl="1"/>
            <a:r>
              <a:rPr lang="en-US" sz="2000" dirty="0"/>
              <a:t>Completed </a:t>
            </a:r>
            <a:r>
              <a:rPr lang="en-US" dirty="0"/>
              <a:t>calc_subscore.py</a:t>
            </a:r>
            <a:r>
              <a:rPr lang="en-US" sz="2000" dirty="0"/>
              <a:t> (Local version)</a:t>
            </a:r>
          </a:p>
          <a:p>
            <a:pPr lvl="1"/>
            <a:r>
              <a:rPr lang="en-US" sz="2000" dirty="0"/>
              <a:t>Developed </a:t>
            </a:r>
            <a:r>
              <a:rPr lang="en-US" dirty="0"/>
              <a:t>calc_subscore_dev.py</a:t>
            </a:r>
            <a:r>
              <a:rPr lang="en-US" sz="2000" dirty="0"/>
              <a:t> (Online version, ~60% done)</a:t>
            </a:r>
          </a:p>
          <a:p>
            <a:pPr lvl="2"/>
            <a:r>
              <a:rPr lang="en-US" sz="1600" b="1" dirty="0"/>
              <a:t>New </a:t>
            </a:r>
            <a:r>
              <a:rPr lang="en-US" sz="1600" b="1" dirty="0" err="1"/>
              <a:t>datalake</a:t>
            </a:r>
            <a:r>
              <a:rPr lang="en-US" sz="1600" b="1" dirty="0"/>
              <a:t> design -&gt; Create new fetch API (/</a:t>
            </a:r>
            <a:r>
              <a:rPr lang="en-US" sz="1600" b="1" dirty="0" err="1"/>
              <a:t>hyde</a:t>
            </a:r>
            <a:r>
              <a:rPr lang="en-US" sz="1600" b="1" dirty="0"/>
              <a:t>/student/{</a:t>
            </a:r>
            <a:r>
              <a:rPr lang="en-US" sz="1600" b="1" dirty="0" err="1"/>
              <a:t>student_id</a:t>
            </a:r>
            <a:r>
              <a:rPr lang="en-US" sz="1600" b="1" dirty="0"/>
              <a:t>}/</a:t>
            </a:r>
            <a:r>
              <a:rPr lang="en-US" sz="1600" b="1" dirty="0" err="1"/>
              <a:t>json</a:t>
            </a:r>
            <a:endParaRPr lang="en-US" sz="1600" dirty="0"/>
          </a:p>
          <a:p>
            <a:r>
              <a:rPr lang="en-US" sz="2400" dirty="0"/>
              <a:t>Todo</a:t>
            </a:r>
          </a:p>
          <a:p>
            <a:pPr lvl="1"/>
            <a:r>
              <a:rPr lang="en-US" sz="2000" dirty="0"/>
              <a:t>Align score calculation and </a:t>
            </a:r>
            <a:r>
              <a:rPr lang="en-US" sz="2000" dirty="0" err="1"/>
              <a:t>feed_id</a:t>
            </a:r>
            <a:r>
              <a:rPr lang="en-US" sz="2000" dirty="0"/>
              <a:t> mapping with Shin</a:t>
            </a:r>
          </a:p>
          <a:p>
            <a:pPr lvl="1"/>
            <a:r>
              <a:rPr lang="en-US" sz="2000" dirty="0"/>
              <a:t>Create API</a:t>
            </a:r>
          </a:p>
          <a:p>
            <a:pPr lvl="2"/>
            <a:r>
              <a:rPr lang="en-US" sz="1600" dirty="0"/>
              <a:t>Feed map</a:t>
            </a:r>
          </a:p>
          <a:p>
            <a:pPr lvl="2"/>
            <a:r>
              <a:rPr lang="en-US" sz="1600" dirty="0"/>
              <a:t>Interaction map</a:t>
            </a:r>
          </a:p>
          <a:p>
            <a:pPr lvl="1"/>
            <a:r>
              <a:rPr lang="en-US" sz="2000" dirty="0"/>
              <a:t>Continue integration with Shin’s code</a:t>
            </a:r>
          </a:p>
          <a:p>
            <a:r>
              <a:rPr lang="en-US" sz="2400" dirty="0"/>
              <a:t>Issue</a:t>
            </a:r>
          </a:p>
          <a:p>
            <a:pPr lvl="1"/>
            <a:r>
              <a:rPr lang="en-US" sz="2000" dirty="0"/>
              <a:t>- </a:t>
            </a:r>
          </a:p>
        </p:txBody>
      </p:sp>
    </p:spTree>
    <p:extLst>
      <p:ext uri="{BB962C8B-B14F-4D97-AF65-F5344CB8AC3E}">
        <p14:creationId xmlns:p14="http://schemas.microsoft.com/office/powerpoint/2010/main" val="3548754314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95BE5B-E263-7F55-CFA7-43846B39BF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F857CB-5C16-21C7-7FA1-141EDDDE7D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1" y="186666"/>
            <a:ext cx="10515600" cy="625474"/>
          </a:xfrm>
        </p:spPr>
        <p:txBody>
          <a:bodyPr>
            <a:noAutofit/>
          </a:bodyPr>
          <a:lstStyle/>
          <a:p>
            <a:r>
              <a:rPr lang="en-US" sz="3200" dirty="0"/>
              <a:t>Tue,260224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9CB2C67-BA99-54CA-FFD8-FB5821BB76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1" y="1125172"/>
            <a:ext cx="4552142" cy="460765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87A0516-C1CE-D8FA-B38F-CB30C11ED9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9142" y="1480503"/>
            <a:ext cx="6927187" cy="38969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4225455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123EBA-6B74-9146-16BC-CDC77B67B2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206B57-3E80-FED0-BF68-C060FE5F26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1" y="186666"/>
            <a:ext cx="10515600" cy="625474"/>
          </a:xfrm>
        </p:spPr>
        <p:txBody>
          <a:bodyPr>
            <a:noAutofit/>
          </a:bodyPr>
          <a:lstStyle/>
          <a:p>
            <a:r>
              <a:rPr lang="en-US" sz="3200"/>
              <a:t>Tue,260224</a:t>
            </a:r>
            <a:endParaRPr lang="en-US" sz="320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2D23952-08E3-00DA-C140-B053847C8A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1" y="1480503"/>
            <a:ext cx="6927187" cy="389699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6632D5B-8812-8A1C-329F-59CCC8156C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3978" y="963637"/>
            <a:ext cx="3875121" cy="49307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4260045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028CC9-1433-8744-E0E1-CFCFE115C8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69E309-D153-1113-1A32-1FA484ED3A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1" y="186666"/>
            <a:ext cx="10515600" cy="625474"/>
          </a:xfrm>
        </p:spPr>
        <p:txBody>
          <a:bodyPr>
            <a:noAutofit/>
          </a:bodyPr>
          <a:lstStyle/>
          <a:p>
            <a:r>
              <a:rPr lang="en-US" sz="3200" dirty="0"/>
              <a:t>Thu,260219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15ED0D-4F10-2C5E-A79B-B4018921D6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2901" y="1019175"/>
            <a:ext cx="11515724" cy="5206072"/>
          </a:xfrm>
        </p:spPr>
        <p:txBody>
          <a:bodyPr>
            <a:normAutofit/>
          </a:bodyPr>
          <a:lstStyle/>
          <a:p>
            <a:r>
              <a:rPr lang="en-US" sz="2400" dirty="0"/>
              <a:t>Done</a:t>
            </a:r>
          </a:p>
          <a:p>
            <a:pPr lvl="1"/>
            <a:r>
              <a:rPr lang="en-US" sz="2000" b="1" dirty="0"/>
              <a:t>Start integrating </a:t>
            </a:r>
            <a:r>
              <a:rPr lang="en-US" sz="2000" b="1" dirty="0" err="1"/>
              <a:t>subscore</a:t>
            </a:r>
            <a:r>
              <a:rPr lang="en-US" sz="2000" b="1" dirty="0"/>
              <a:t> </a:t>
            </a:r>
            <a:r>
              <a:rPr lang="en-US" sz="2000" dirty="0"/>
              <a:t>into Shin’s project</a:t>
            </a:r>
          </a:p>
          <a:p>
            <a:pPr marL="457200" lvl="1" indent="0">
              <a:buNone/>
            </a:pPr>
            <a:r>
              <a:rPr lang="en-US" sz="2000" dirty="0"/>
              <a:t>      - Begin with mocking data</a:t>
            </a:r>
          </a:p>
          <a:p>
            <a:pPr marL="457200" lvl="1" indent="0">
              <a:buNone/>
            </a:pPr>
            <a:r>
              <a:rPr lang="en-US" sz="2000" dirty="0"/>
              <a:t>      - Adding .</a:t>
            </a:r>
            <a:r>
              <a:rPr lang="en-US" sz="2000" dirty="0" err="1"/>
              <a:t>yaml</a:t>
            </a:r>
            <a:r>
              <a:rPr lang="en-US" sz="2000" dirty="0"/>
              <a:t> file and </a:t>
            </a:r>
          </a:p>
          <a:p>
            <a:pPr marL="457200" lvl="1" indent="0">
              <a:buNone/>
            </a:pPr>
            <a:r>
              <a:rPr lang="en-US" sz="2000" dirty="0"/>
              <a:t>      - Gradually refactor and move related code into Shin’s folder structure (In progress)</a:t>
            </a:r>
          </a:p>
          <a:p>
            <a:r>
              <a:rPr lang="en-US" sz="2400" dirty="0"/>
              <a:t>Todo</a:t>
            </a:r>
          </a:p>
          <a:p>
            <a:pPr lvl="1"/>
            <a:r>
              <a:rPr lang="en-US" sz="2000" dirty="0"/>
              <a:t>Continue merging </a:t>
            </a:r>
            <a:r>
              <a:rPr lang="en-US" sz="2000" dirty="0" err="1"/>
              <a:t>subscore</a:t>
            </a:r>
            <a:r>
              <a:rPr lang="en-US" sz="2000" dirty="0"/>
              <a:t> into Shin’s pipeline</a:t>
            </a:r>
          </a:p>
          <a:p>
            <a:pPr lvl="1"/>
            <a:r>
              <a:rPr lang="en-US" sz="2000" dirty="0"/>
              <a:t>Connect score, index, and feed metadata flow</a:t>
            </a:r>
          </a:p>
          <a:p>
            <a:pPr lvl="2"/>
            <a:r>
              <a:rPr lang="en-US" sz="1600" dirty="0"/>
              <a:t>Score</a:t>
            </a:r>
          </a:p>
          <a:p>
            <a:pPr lvl="2"/>
            <a:r>
              <a:rPr lang="en-US" sz="1600" dirty="0"/>
              <a:t>Indices</a:t>
            </a:r>
          </a:p>
          <a:p>
            <a:pPr lvl="2"/>
            <a:r>
              <a:rPr lang="en-US" sz="1600" dirty="0"/>
              <a:t>Feed detail and metadata (</a:t>
            </a:r>
            <a:r>
              <a:rPr lang="en-US" sz="1600" dirty="0" err="1"/>
              <a:t>BigQuery</a:t>
            </a:r>
            <a:r>
              <a:rPr lang="en-US" sz="1600" dirty="0"/>
              <a:t> -&gt; </a:t>
            </a:r>
            <a:r>
              <a:rPr lang="en-US" sz="1600" dirty="0" err="1"/>
              <a:t>Redist</a:t>
            </a:r>
            <a:r>
              <a:rPr lang="en-US" sz="1600" dirty="0"/>
              <a:t> -&gt; </a:t>
            </a:r>
            <a:r>
              <a:rPr lang="en-US" sz="1600" dirty="0" err="1"/>
              <a:t>json</a:t>
            </a:r>
            <a:r>
              <a:rPr lang="en-US" sz="1600" dirty="0"/>
              <a:t>)</a:t>
            </a:r>
          </a:p>
          <a:p>
            <a:r>
              <a:rPr lang="en-US" sz="2400" dirty="0"/>
              <a:t>Issue</a:t>
            </a:r>
          </a:p>
          <a:p>
            <a:pPr lvl="1"/>
            <a:r>
              <a:rPr lang="en-US" sz="2000" dirty="0"/>
              <a:t>Code is quite complex</a:t>
            </a:r>
          </a:p>
          <a:p>
            <a:pPr lvl="1"/>
            <a:r>
              <a:rPr lang="en-US" sz="2000" dirty="0"/>
              <a:t>Integration with Shin’s code</a:t>
            </a:r>
          </a:p>
        </p:txBody>
      </p:sp>
    </p:spTree>
    <p:extLst>
      <p:ext uri="{BB962C8B-B14F-4D97-AF65-F5344CB8AC3E}">
        <p14:creationId xmlns:p14="http://schemas.microsoft.com/office/powerpoint/2010/main" val="224275868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0C5B4E-C37B-229A-2211-8D252CB4A4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084D27-5A6B-E924-6273-9FE5DB585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1" y="186666"/>
            <a:ext cx="10515600" cy="625474"/>
          </a:xfrm>
        </p:spPr>
        <p:txBody>
          <a:bodyPr>
            <a:noAutofit/>
          </a:bodyPr>
          <a:lstStyle/>
          <a:p>
            <a:r>
              <a:rPr lang="en-US" sz="3200" dirty="0"/>
              <a:t>Thu,120226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704FE1-682D-27AD-30D2-76CBB2B059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2901" y="1019175"/>
            <a:ext cx="11515724" cy="5206072"/>
          </a:xfrm>
        </p:spPr>
        <p:txBody>
          <a:bodyPr>
            <a:normAutofit/>
          </a:bodyPr>
          <a:lstStyle/>
          <a:p>
            <a:r>
              <a:rPr lang="en-US" sz="2400" dirty="0"/>
              <a:t>Done</a:t>
            </a:r>
          </a:p>
          <a:p>
            <a:pPr lvl="1"/>
            <a:r>
              <a:rPr lang="en-US" sz="2000" b="1" dirty="0"/>
              <a:t>Start integrating </a:t>
            </a:r>
            <a:r>
              <a:rPr lang="en-US" sz="2000" b="1" dirty="0" err="1"/>
              <a:t>subscore</a:t>
            </a:r>
            <a:r>
              <a:rPr lang="en-US" sz="2000" b="1" dirty="0"/>
              <a:t> </a:t>
            </a:r>
            <a:r>
              <a:rPr lang="en-US" sz="2000" dirty="0"/>
              <a:t>into Shin’s project</a:t>
            </a:r>
          </a:p>
          <a:p>
            <a:pPr marL="457200" lvl="1" indent="0">
              <a:buNone/>
            </a:pPr>
            <a:r>
              <a:rPr lang="en-US" sz="2000" dirty="0"/>
              <a:t>      - Begin with mocking data</a:t>
            </a:r>
          </a:p>
          <a:p>
            <a:pPr marL="457200" lvl="1" indent="0">
              <a:buNone/>
            </a:pPr>
            <a:r>
              <a:rPr lang="en-US" sz="2000" dirty="0"/>
              <a:t>      - Adding .</a:t>
            </a:r>
            <a:r>
              <a:rPr lang="en-US" sz="2000" dirty="0" err="1"/>
              <a:t>yaml</a:t>
            </a:r>
            <a:r>
              <a:rPr lang="en-US" sz="2000" dirty="0"/>
              <a:t> file and </a:t>
            </a:r>
          </a:p>
          <a:p>
            <a:pPr marL="457200" lvl="1" indent="0">
              <a:buNone/>
            </a:pPr>
            <a:r>
              <a:rPr lang="en-US" sz="2000" dirty="0"/>
              <a:t>      - Gradually refactor and move related code into Shin’s folder structure (In progress)</a:t>
            </a:r>
          </a:p>
          <a:p>
            <a:r>
              <a:rPr lang="en-US" sz="2400" dirty="0"/>
              <a:t>Todo</a:t>
            </a:r>
          </a:p>
          <a:p>
            <a:pPr lvl="1"/>
            <a:r>
              <a:rPr lang="en-US" sz="2000" dirty="0"/>
              <a:t>Continue merging </a:t>
            </a:r>
            <a:r>
              <a:rPr lang="en-US" sz="2000" dirty="0" err="1"/>
              <a:t>subscore</a:t>
            </a:r>
            <a:r>
              <a:rPr lang="en-US" sz="2000" dirty="0"/>
              <a:t> into Shin’s pipeline</a:t>
            </a:r>
          </a:p>
          <a:p>
            <a:pPr lvl="1"/>
            <a:r>
              <a:rPr lang="en-US" sz="2000" dirty="0"/>
              <a:t>Connect score, index, and feed metadata flow</a:t>
            </a:r>
          </a:p>
          <a:p>
            <a:pPr lvl="2"/>
            <a:r>
              <a:rPr lang="en-US" sz="1600" dirty="0"/>
              <a:t>Score</a:t>
            </a:r>
          </a:p>
          <a:p>
            <a:pPr lvl="2"/>
            <a:r>
              <a:rPr lang="en-US" sz="1600" dirty="0" err="1"/>
              <a:t>Indice</a:t>
            </a:r>
            <a:endParaRPr lang="en-US" sz="1600" dirty="0"/>
          </a:p>
          <a:p>
            <a:pPr lvl="2"/>
            <a:r>
              <a:rPr lang="en-US" sz="1600" dirty="0"/>
              <a:t>Feed detail and metadata (</a:t>
            </a:r>
            <a:r>
              <a:rPr lang="en-US" sz="1600" dirty="0" err="1"/>
              <a:t>BigQuery</a:t>
            </a:r>
            <a:r>
              <a:rPr lang="en-US" sz="1600" dirty="0"/>
              <a:t> -&gt; </a:t>
            </a:r>
            <a:r>
              <a:rPr lang="en-US" sz="1600" dirty="0" err="1"/>
              <a:t>Redist</a:t>
            </a:r>
            <a:r>
              <a:rPr lang="en-US" sz="1600" dirty="0"/>
              <a:t> -&gt; </a:t>
            </a:r>
            <a:r>
              <a:rPr lang="en-US" sz="1600" dirty="0" err="1"/>
              <a:t>json</a:t>
            </a:r>
            <a:r>
              <a:rPr lang="en-US" sz="1600" dirty="0"/>
              <a:t>)</a:t>
            </a:r>
          </a:p>
          <a:p>
            <a:r>
              <a:rPr lang="en-US" sz="2400" dirty="0"/>
              <a:t>Issue</a:t>
            </a:r>
          </a:p>
          <a:p>
            <a:pPr lvl="1"/>
            <a:r>
              <a:rPr lang="en-US" sz="2000" dirty="0"/>
              <a:t>Code is quite complex</a:t>
            </a:r>
          </a:p>
          <a:p>
            <a:pPr lvl="1"/>
            <a:r>
              <a:rPr lang="en-US" sz="2000" dirty="0"/>
              <a:t>Integration with Shin’s code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0D4A7C4-B63E-491B-1B7F-B2FB650B05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90"/>
            <a:ext cx="12192000" cy="6855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4721355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FA0D1-9FDE-1249-279B-D2B0F617E2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B3BC12-1365-84DA-A88A-6A64C88CAF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1" y="186666"/>
            <a:ext cx="10515600" cy="625474"/>
          </a:xfrm>
        </p:spPr>
        <p:txBody>
          <a:bodyPr>
            <a:noAutofit/>
          </a:bodyPr>
          <a:lstStyle/>
          <a:p>
            <a:r>
              <a:rPr lang="en-US" sz="3200" dirty="0"/>
              <a:t>Wed,180226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9B3101-377A-A98B-11B8-D61708071A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2901" y="1019175"/>
            <a:ext cx="11515724" cy="5206072"/>
          </a:xfrm>
        </p:spPr>
        <p:txBody>
          <a:bodyPr>
            <a:normAutofit/>
          </a:bodyPr>
          <a:lstStyle/>
          <a:p>
            <a:r>
              <a:rPr lang="en-US" sz="2400" dirty="0"/>
              <a:t>Done</a:t>
            </a:r>
          </a:p>
          <a:p>
            <a:pPr lvl="1"/>
            <a:r>
              <a:rPr lang="en-US" sz="2000" b="1" dirty="0"/>
              <a:t>Aligned with Shin</a:t>
            </a:r>
          </a:p>
          <a:p>
            <a:pPr lvl="1"/>
            <a:r>
              <a:rPr lang="en-US" sz="2000" b="1" dirty="0"/>
              <a:t>Clarified</a:t>
            </a:r>
            <a:r>
              <a:rPr lang="en-US" sz="2000" dirty="0"/>
              <a:t> </a:t>
            </a:r>
            <a:r>
              <a:rPr lang="en-US" sz="2000" dirty="0" err="1"/>
              <a:t>subscore</a:t>
            </a:r>
            <a:r>
              <a:rPr lang="en-US" sz="2000" dirty="0"/>
              <a:t> </a:t>
            </a:r>
            <a:r>
              <a:rPr lang="en-US" sz="2000" dirty="0" err="1"/>
              <a:t>poc</a:t>
            </a:r>
            <a:r>
              <a:rPr lang="en-US" sz="2000" dirty="0"/>
              <a:t> code</a:t>
            </a:r>
          </a:p>
          <a:p>
            <a:pPr lvl="1"/>
            <a:r>
              <a:rPr lang="en-US" sz="2000" dirty="0"/>
              <a:t>Drafted structure and explored how to collaborate within Shin’s </a:t>
            </a:r>
            <a:r>
              <a:rPr lang="en-US" sz="2000" dirty="0" err="1"/>
              <a:t>Github</a:t>
            </a:r>
            <a:r>
              <a:rPr lang="en-US" sz="2000" dirty="0"/>
              <a:t> repository</a:t>
            </a:r>
            <a:br>
              <a:rPr lang="en-US" sz="2000" dirty="0"/>
            </a:br>
            <a:endParaRPr lang="en-US" sz="2000" dirty="0"/>
          </a:p>
          <a:p>
            <a:r>
              <a:rPr lang="en-US" sz="2400" dirty="0"/>
              <a:t>Todo</a:t>
            </a:r>
          </a:p>
          <a:p>
            <a:pPr lvl="1"/>
            <a:r>
              <a:rPr lang="en-US" sz="1600" dirty="0"/>
              <a:t>Target completion : </a:t>
            </a:r>
            <a:r>
              <a:rPr lang="en-US" sz="1600" b="1" dirty="0"/>
              <a:t>tomorrow or Friday</a:t>
            </a:r>
          </a:p>
          <a:p>
            <a:r>
              <a:rPr lang="en-US" sz="2400" dirty="0"/>
              <a:t>Issue</a:t>
            </a:r>
          </a:p>
          <a:p>
            <a:pPr lvl="1"/>
            <a:r>
              <a:rPr lang="en-US" sz="2000" dirty="0"/>
              <a:t>-</a:t>
            </a:r>
          </a:p>
          <a:p>
            <a:pPr lvl="1"/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12810015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B1E5E4-2CE7-3F8F-D1BA-65872A250E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05CEBD-4008-AA8C-CE34-E2F31FDEF0A5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– </a:t>
            </a:r>
            <a:r>
              <a:rPr lang="en-US" sz="2400" dirty="0"/>
              <a:t>Batch student </a:t>
            </a:r>
            <a:r>
              <a:rPr lang="en-US" sz="2400" dirty="0" err="1"/>
              <a:t>HyDE</a:t>
            </a:r>
            <a:r>
              <a:rPr lang="en-US" sz="2400" dirty="0"/>
              <a:t> generator</a:t>
            </a:r>
            <a:endParaRPr lang="en-US" sz="2400" dirty="0">
              <a:cs typeface="Poppins Light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A7E3E89-0DFF-283D-611F-FF80DF3CBA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1394060"/>
            <a:ext cx="9144000" cy="5141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7116386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C796A6-0C36-AE52-F3D9-28AC570A42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5EC1C7-D010-D9D8-983D-17BEF96A94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1" y="186666"/>
            <a:ext cx="10515600" cy="625474"/>
          </a:xfrm>
        </p:spPr>
        <p:txBody>
          <a:bodyPr>
            <a:noAutofit/>
          </a:bodyPr>
          <a:lstStyle/>
          <a:p>
            <a:r>
              <a:rPr lang="en-US" sz="3200" dirty="0"/>
              <a:t>Tue,100226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2769BC6-2D02-EEC0-3CD2-298961C795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2901" y="1019175"/>
            <a:ext cx="11515724" cy="5206072"/>
          </a:xfrm>
        </p:spPr>
        <p:txBody>
          <a:bodyPr>
            <a:normAutofit/>
          </a:bodyPr>
          <a:lstStyle/>
          <a:p>
            <a:r>
              <a:rPr lang="en-US" sz="2400" dirty="0"/>
              <a:t>Done</a:t>
            </a:r>
          </a:p>
          <a:p>
            <a:pPr lvl="1"/>
            <a:r>
              <a:rPr lang="en-US" sz="2000" dirty="0"/>
              <a:t>Update 3 case hander retrieval support with </a:t>
            </a:r>
            <a:r>
              <a:rPr lang="en-US" sz="2000" dirty="0" err="1"/>
              <a:t>hyde</a:t>
            </a:r>
            <a:r>
              <a:rPr lang="en-US" sz="2000" dirty="0"/>
              <a:t> with </a:t>
            </a:r>
            <a:r>
              <a:rPr lang="en-US" sz="2000" dirty="0" err="1"/>
              <a:t>FastAPI</a:t>
            </a:r>
            <a:r>
              <a:rPr lang="en-US" sz="2000" dirty="0"/>
              <a:t> -&gt; Deploy</a:t>
            </a:r>
            <a:br>
              <a:rPr lang="en-US" sz="2000" dirty="0"/>
            </a:br>
            <a:endParaRPr lang="en-US" sz="2000" dirty="0"/>
          </a:p>
          <a:p>
            <a:r>
              <a:rPr lang="en-US" sz="2400" dirty="0"/>
              <a:t>Todo</a:t>
            </a:r>
          </a:p>
          <a:p>
            <a:pPr lvl="1"/>
            <a:r>
              <a:rPr lang="en-US" sz="2000" dirty="0"/>
              <a:t>Update GCS Retrieval with </a:t>
            </a:r>
            <a:r>
              <a:rPr lang="en-US" sz="2000" dirty="0" err="1"/>
              <a:t>handerling</a:t>
            </a:r>
            <a:r>
              <a:rPr lang="en-US" sz="2000" dirty="0"/>
              <a:t> 3 cases with </a:t>
            </a:r>
            <a:r>
              <a:rPr lang="en-US" sz="2000" dirty="0" err="1"/>
              <a:t>FastAPI</a:t>
            </a:r>
            <a:endParaRPr lang="en-US" sz="2000" dirty="0"/>
          </a:p>
          <a:p>
            <a:pPr lvl="1"/>
            <a:r>
              <a:rPr lang="en-US" sz="2000" dirty="0" err="1"/>
              <a:t>HyDE</a:t>
            </a:r>
            <a:r>
              <a:rPr lang="en-US" sz="2000" dirty="0"/>
              <a:t> generator</a:t>
            </a:r>
          </a:p>
          <a:p>
            <a:pPr lvl="2"/>
            <a:r>
              <a:rPr lang="en-US" sz="1600" dirty="0"/>
              <a:t>Batch </a:t>
            </a:r>
            <a:r>
              <a:rPr lang="en-US" sz="1600" dirty="0" err="1"/>
              <a:t>HyDE</a:t>
            </a:r>
            <a:r>
              <a:rPr lang="en-US" sz="1600" dirty="0"/>
              <a:t> student generator</a:t>
            </a:r>
          </a:p>
          <a:p>
            <a:pPr lvl="2"/>
            <a:r>
              <a:rPr lang="en-US" sz="1600" dirty="0"/>
              <a:t>Single </a:t>
            </a:r>
            <a:r>
              <a:rPr lang="en-US" sz="1600" dirty="0" err="1"/>
              <a:t>HyDE</a:t>
            </a:r>
            <a:r>
              <a:rPr lang="en-US" sz="1600" dirty="0"/>
              <a:t> student generator</a:t>
            </a:r>
          </a:p>
          <a:p>
            <a:r>
              <a:rPr lang="en-US" sz="2400" dirty="0"/>
              <a:t>Issue</a:t>
            </a:r>
          </a:p>
          <a:p>
            <a:pPr lvl="1"/>
            <a:r>
              <a:rPr lang="en-US" sz="2000" dirty="0"/>
              <a:t>-</a:t>
            </a:r>
          </a:p>
          <a:p>
            <a:pPr lvl="1"/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280464121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8BAF88-98C3-D016-BA8B-8AC67505A3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E2EC71-C3AB-E566-4ADD-3A3D8A15D073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– </a:t>
            </a:r>
            <a:r>
              <a:rPr lang="en-US" sz="2400" dirty="0"/>
              <a:t>Batch student </a:t>
            </a:r>
            <a:r>
              <a:rPr lang="en-US" sz="2400" dirty="0" err="1"/>
              <a:t>HyDE</a:t>
            </a:r>
            <a:r>
              <a:rPr lang="en-US" sz="2400" dirty="0"/>
              <a:t> generator</a:t>
            </a:r>
            <a:endParaRPr lang="en-US" sz="2400" dirty="0">
              <a:cs typeface="Poppins Light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A98FEBB-5098-B044-49A1-CAC2AB6DCB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1394060"/>
            <a:ext cx="9144000" cy="5141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443979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7B3843-46C9-EFCC-C404-923699D6FB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722021-840D-900B-8726-F7538398C2A6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Batch student </a:t>
            </a:r>
            <a:r>
              <a:rPr lang="en-US" sz="2400" dirty="0" err="1"/>
              <a:t>HyDE</a:t>
            </a:r>
            <a:r>
              <a:rPr lang="en-US" sz="2400" dirty="0"/>
              <a:t> generator</a:t>
            </a:r>
            <a:endParaRPr lang="en-US" sz="2400" dirty="0">
              <a:cs typeface="Poppins Ligh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B2144B6-FBA6-79E8-987C-4F9FAC65C8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0740" y="1394060"/>
            <a:ext cx="9144000" cy="5141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0852734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F76C67-350A-568F-5D87-8E55FD610D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D6AAEB-0D7F-EB1A-8F86-ED900D7E518B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– </a:t>
            </a:r>
            <a:r>
              <a:rPr lang="en-US" sz="2400" dirty="0"/>
              <a:t>Single student </a:t>
            </a:r>
            <a:r>
              <a:rPr lang="en-US" sz="2400" dirty="0" err="1"/>
              <a:t>HyDE</a:t>
            </a:r>
            <a:r>
              <a:rPr lang="en-US" sz="2400" dirty="0"/>
              <a:t> generator</a:t>
            </a:r>
            <a:endParaRPr lang="en-US" sz="2400" dirty="0">
              <a:cs typeface="Poppins Ligh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31DE272-12F8-95DB-3DB9-476DDE7646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1394060"/>
            <a:ext cx="9144000" cy="514141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78E59E7-EB13-21BC-9F5B-35AFBB61AA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0" y="1394060"/>
            <a:ext cx="9144000" cy="5141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9316005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EDA2F-C34A-8761-240D-31D34208D9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1E3AD2-CFA4-44D3-12FB-B1F5B1F1119B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Single student </a:t>
            </a:r>
            <a:r>
              <a:rPr lang="en-US" sz="2400" dirty="0" err="1"/>
              <a:t>HyDE</a:t>
            </a:r>
            <a:r>
              <a:rPr lang="en-US" sz="2400" dirty="0"/>
              <a:t> generator</a:t>
            </a:r>
            <a:endParaRPr lang="en-US" sz="2400" dirty="0">
              <a:cs typeface="Poppins Light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9E5C038-745A-2321-6B54-48D092759A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1394060"/>
            <a:ext cx="9144000" cy="5141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0507951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0BA212-2CFA-F8F2-C948-8B2D0C1CF9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B3CB08-0B4E-FA23-8E60-6BC94176AD73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System Architecture &amp; Technology Stack</a:t>
            </a:r>
            <a:endParaRPr lang="en-US" sz="2400" dirty="0">
              <a:cs typeface="Poppins Ligh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D5243E-86BD-1209-1F07-95E19A2C18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7016" y="0"/>
            <a:ext cx="331935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199341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224D43-FD65-857F-9EC7-74F20AF905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BB7F23-2801-E834-3C35-887E43F77C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1" y="186666"/>
            <a:ext cx="10515600" cy="625474"/>
          </a:xfrm>
        </p:spPr>
        <p:txBody>
          <a:bodyPr>
            <a:noAutofit/>
          </a:bodyPr>
          <a:lstStyle/>
          <a:p>
            <a:r>
              <a:rPr lang="en-US" sz="3200" dirty="0"/>
              <a:t>Mon,090226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DBD4C6-8C93-D18D-FDCA-57F53A1E63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2901" y="1019175"/>
            <a:ext cx="11515724" cy="5206072"/>
          </a:xfrm>
        </p:spPr>
        <p:txBody>
          <a:bodyPr>
            <a:normAutofit/>
          </a:bodyPr>
          <a:lstStyle/>
          <a:p>
            <a:r>
              <a:rPr lang="en-US" sz="2400" dirty="0"/>
              <a:t>Done</a:t>
            </a:r>
          </a:p>
          <a:p>
            <a:pPr lvl="1"/>
            <a:r>
              <a:rPr lang="en-US" sz="2000" dirty="0">
                <a:solidFill>
                  <a:srgbClr val="0070C0"/>
                </a:solidFill>
              </a:rPr>
              <a:t>Align </a:t>
            </a:r>
            <a:r>
              <a:rPr lang="en-US" sz="2000" dirty="0" err="1">
                <a:solidFill>
                  <a:srgbClr val="0070C0"/>
                </a:solidFill>
              </a:rPr>
              <a:t>CVEvaluation</a:t>
            </a:r>
            <a:r>
              <a:rPr lang="en-US" sz="2000" dirty="0">
                <a:solidFill>
                  <a:srgbClr val="0070C0"/>
                </a:solidFill>
              </a:rPr>
              <a:t> QA  with </a:t>
            </a:r>
            <a:r>
              <a:rPr lang="en-US" sz="2000" dirty="0" err="1">
                <a:solidFill>
                  <a:srgbClr val="0070C0"/>
                </a:solidFill>
              </a:rPr>
              <a:t>P’bloom</a:t>
            </a:r>
            <a:r>
              <a:rPr lang="en-US" sz="2000" dirty="0">
                <a:solidFill>
                  <a:srgbClr val="0070C0"/>
                </a:solidFill>
              </a:rPr>
              <a:t> and update confluence</a:t>
            </a:r>
          </a:p>
          <a:p>
            <a:pPr lvl="1"/>
            <a:r>
              <a:rPr lang="en-US" sz="2000" dirty="0">
                <a:solidFill>
                  <a:srgbClr val="0070C0"/>
                </a:solidFill>
              </a:rPr>
              <a:t>Align Feed </a:t>
            </a:r>
            <a:r>
              <a:rPr lang="en-US" sz="2000" dirty="0" err="1">
                <a:solidFill>
                  <a:srgbClr val="0070C0"/>
                </a:solidFill>
              </a:rPr>
              <a:t>recommentdation</a:t>
            </a:r>
            <a:r>
              <a:rPr lang="en-US" sz="2000" dirty="0">
                <a:solidFill>
                  <a:srgbClr val="0070C0"/>
                </a:solidFill>
              </a:rPr>
              <a:t> (*pipeline with flowchart)</a:t>
            </a:r>
          </a:p>
          <a:p>
            <a:pPr lvl="2"/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</a:rPr>
              <a:t>Functions/core/subscore.py</a:t>
            </a:r>
          </a:p>
          <a:p>
            <a:pPr lvl="2"/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</a:rPr>
              <a:t>Pipeline_3_gold_validate.py</a:t>
            </a:r>
          </a:p>
          <a:p>
            <a:pPr lvl="1"/>
            <a:r>
              <a:rPr lang="en-US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Align with shin about How vector embedding should be</a:t>
            </a:r>
          </a:p>
          <a:p>
            <a:pPr lvl="1"/>
            <a:r>
              <a:rPr lang="en-US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Plan tasks for Sprint 11 in Jira</a:t>
            </a:r>
            <a:endParaRPr lang="th-TH" sz="2000" dirty="0">
              <a:solidFill>
                <a:schemeClr val="tx2">
                  <a:lumMod val="50000"/>
                  <a:lumOff val="50000"/>
                </a:schemeClr>
              </a:solidFill>
            </a:endParaRPr>
          </a:p>
          <a:p>
            <a:r>
              <a:rPr lang="en-US" sz="2400" dirty="0"/>
              <a:t>Todo</a:t>
            </a:r>
          </a:p>
          <a:p>
            <a:pPr lvl="1"/>
            <a:r>
              <a:rPr lang="en-US" sz="2000" dirty="0"/>
              <a:t>Update GCS Retrieval class with new 3 conditions</a:t>
            </a:r>
          </a:p>
          <a:p>
            <a:pPr lvl="1"/>
            <a:r>
              <a:rPr lang="en-US" sz="2000" dirty="0"/>
              <a:t>Develop pipeline to Update Embedding vector with shin format style</a:t>
            </a:r>
          </a:p>
          <a:p>
            <a:pPr lvl="1"/>
            <a:r>
              <a:rPr lang="en-US" sz="2000" dirty="0" err="1"/>
              <a:t>undle</a:t>
            </a:r>
            <a:r>
              <a:rPr lang="en-US" sz="2000" dirty="0"/>
              <a:t> data for each student (Pipeline_2_user_hyde_refresh.py)</a:t>
            </a:r>
          </a:p>
          <a:p>
            <a:r>
              <a:rPr lang="en-US" sz="2400" dirty="0"/>
              <a:t>Issue</a:t>
            </a:r>
          </a:p>
          <a:p>
            <a:pPr lvl="1"/>
            <a:r>
              <a:rPr lang="en-US" sz="2000" dirty="0"/>
              <a:t>-</a:t>
            </a:r>
          </a:p>
          <a:p>
            <a:pPr lvl="1"/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266225428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64014A-F497-DAA7-0BF6-678F7DF1BD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147D72-160A-773F-38D1-A3EEC448C2FE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System Architecture &amp; Technology Stack</a:t>
            </a:r>
            <a:endParaRPr lang="en-US" sz="2400" dirty="0">
              <a:cs typeface="Poppins Light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983A8E7-06DE-BDA1-2797-41DB50CB64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91796" y="1177742"/>
            <a:ext cx="1246970" cy="56802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4645065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8ECC18-CB28-8EAB-EDAA-C75FD583CD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45A6EC-ED28-FEB9-6AFD-B3A52684FDEE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System Architecture &amp; Technology Stack</a:t>
            </a:r>
            <a:endParaRPr lang="en-US" sz="2400" dirty="0">
              <a:cs typeface="Poppins Light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2D5EFBE-B383-3956-79A1-1C6D55A955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4989" y="1293244"/>
            <a:ext cx="9702015" cy="54501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3251632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0DF464-2CE4-50C9-2574-D601D1E998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39E540-B353-689D-DE68-787DB2D0CB1B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System Architecture &amp; Technology Stack</a:t>
            </a:r>
            <a:endParaRPr lang="en-US" sz="2400" dirty="0">
              <a:cs typeface="Poppins Ligh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6612C65-536F-D2E1-DDB2-024A9BAF50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4991" y="1293244"/>
            <a:ext cx="9693026" cy="5450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395235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5CEB06-4454-EDE4-5D84-FA4B1A66FA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DFEF0E-929C-71DC-75EE-C4CEF267D35E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System Architecture &amp; Technology Stack</a:t>
            </a:r>
            <a:endParaRPr lang="en-US" sz="2400" dirty="0">
              <a:cs typeface="Poppins Light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C6B86B12-3CC6-24E0-5DB4-2116CA6AAA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4991" y="1276215"/>
            <a:ext cx="9693026" cy="5450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5906280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8626DB-7C5A-0D4E-0C65-144C12E087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3099B0-DE82-6391-145D-5993ECF07E9C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System Architecture &amp; Technology Stack</a:t>
            </a:r>
            <a:endParaRPr lang="en-US" sz="2400" dirty="0">
              <a:cs typeface="Poppins Light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98965C1-C6DE-5C70-2A5A-0D21736295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4991" y="1276215"/>
            <a:ext cx="9702018" cy="5450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3103550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136CF8-CEDF-B321-D1E2-68893F994A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B3165E-22FA-444B-90D4-50234C6122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1" y="186666"/>
            <a:ext cx="10515600" cy="625474"/>
          </a:xfrm>
        </p:spPr>
        <p:txBody>
          <a:bodyPr>
            <a:noAutofit/>
          </a:bodyPr>
          <a:lstStyle/>
          <a:p>
            <a:r>
              <a:rPr lang="en-US" sz="3200" dirty="0"/>
              <a:t>Fri,060226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56D62D-ACC5-2127-C166-ECE08AFAA9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2901" y="1019175"/>
            <a:ext cx="11515724" cy="5206072"/>
          </a:xfrm>
        </p:spPr>
        <p:txBody>
          <a:bodyPr>
            <a:normAutofit/>
          </a:bodyPr>
          <a:lstStyle/>
          <a:p>
            <a:r>
              <a:rPr lang="en-US" sz="2400" dirty="0"/>
              <a:t>Done</a:t>
            </a:r>
          </a:p>
          <a:p>
            <a:pPr lvl="1"/>
            <a:r>
              <a:rPr lang="en-US" sz="2000" dirty="0">
                <a:solidFill>
                  <a:srgbClr val="0070C0"/>
                </a:solidFill>
              </a:rPr>
              <a:t>Align </a:t>
            </a:r>
            <a:r>
              <a:rPr lang="en-US" sz="2000" dirty="0" err="1">
                <a:solidFill>
                  <a:srgbClr val="0070C0"/>
                </a:solidFill>
              </a:rPr>
              <a:t>CVEvaluation</a:t>
            </a:r>
            <a:r>
              <a:rPr lang="en-US" sz="2000" dirty="0">
                <a:solidFill>
                  <a:srgbClr val="0070C0"/>
                </a:solidFill>
              </a:rPr>
              <a:t> QA  with </a:t>
            </a:r>
            <a:r>
              <a:rPr lang="en-US" sz="2000" dirty="0" err="1">
                <a:solidFill>
                  <a:srgbClr val="0070C0"/>
                </a:solidFill>
              </a:rPr>
              <a:t>P’bloom</a:t>
            </a:r>
            <a:r>
              <a:rPr lang="en-US" sz="2000" dirty="0">
                <a:solidFill>
                  <a:srgbClr val="0070C0"/>
                </a:solidFill>
              </a:rPr>
              <a:t> and update confluence</a:t>
            </a:r>
          </a:p>
          <a:p>
            <a:pPr lvl="1"/>
            <a:r>
              <a:rPr lang="en-US" sz="2000" dirty="0">
                <a:solidFill>
                  <a:srgbClr val="0070C0"/>
                </a:solidFill>
              </a:rPr>
              <a:t>Align Feed </a:t>
            </a:r>
            <a:r>
              <a:rPr lang="en-US" sz="2000" dirty="0" err="1">
                <a:solidFill>
                  <a:srgbClr val="0070C0"/>
                </a:solidFill>
              </a:rPr>
              <a:t>recommentdation</a:t>
            </a:r>
            <a:r>
              <a:rPr lang="en-US" sz="2000" dirty="0">
                <a:solidFill>
                  <a:srgbClr val="0070C0"/>
                </a:solidFill>
              </a:rPr>
              <a:t> (*pipeline with flowchart)</a:t>
            </a:r>
          </a:p>
          <a:p>
            <a:pPr lvl="2"/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</a:rPr>
              <a:t>Functions/core/subscore.py</a:t>
            </a:r>
          </a:p>
          <a:p>
            <a:pPr lvl="2"/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</a:rPr>
              <a:t>Pipeline_3_gold_validate.py</a:t>
            </a:r>
          </a:p>
          <a:p>
            <a:pPr lvl="1"/>
            <a:r>
              <a:rPr lang="en-US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Align with shin about How vector embedding should be</a:t>
            </a:r>
          </a:p>
          <a:p>
            <a:pPr lvl="1"/>
            <a:r>
              <a:rPr lang="en-US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Plan tasks for Sprint 11 in Jira</a:t>
            </a:r>
            <a:endParaRPr lang="th-TH" sz="2000" dirty="0">
              <a:solidFill>
                <a:schemeClr val="tx2">
                  <a:lumMod val="50000"/>
                  <a:lumOff val="50000"/>
                </a:schemeClr>
              </a:solidFill>
            </a:endParaRPr>
          </a:p>
          <a:p>
            <a:r>
              <a:rPr lang="en-US" sz="2400" dirty="0"/>
              <a:t>Todo</a:t>
            </a:r>
          </a:p>
          <a:p>
            <a:pPr lvl="1"/>
            <a:r>
              <a:rPr lang="en-US" sz="2000" dirty="0"/>
              <a:t>Update GCS Retrieval class with new 3 conditions</a:t>
            </a:r>
          </a:p>
          <a:p>
            <a:pPr lvl="1"/>
            <a:r>
              <a:rPr lang="en-US" sz="2000" dirty="0"/>
              <a:t>Develop pipeline to Update Embedding vector with shin format style</a:t>
            </a:r>
          </a:p>
          <a:p>
            <a:pPr lvl="1"/>
            <a:r>
              <a:rPr lang="en-US" sz="2000" dirty="0" err="1"/>
              <a:t>undle</a:t>
            </a:r>
            <a:r>
              <a:rPr lang="en-US" sz="2000" dirty="0"/>
              <a:t> data for each student (Pipeline_2_user_hyde_refresh.py)</a:t>
            </a:r>
          </a:p>
          <a:p>
            <a:r>
              <a:rPr lang="en-US" sz="2400" dirty="0"/>
              <a:t>Issue</a:t>
            </a:r>
          </a:p>
          <a:p>
            <a:pPr lvl="1"/>
            <a:r>
              <a:rPr lang="en-US" sz="2000" dirty="0"/>
              <a:t>-</a:t>
            </a:r>
          </a:p>
          <a:p>
            <a:pPr lvl="1"/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275159240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BE941F-70D2-FB27-A0B2-86FD511691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CBFEDE-DA0B-F13A-F573-9B4A176533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1" y="186666"/>
            <a:ext cx="10515600" cy="625474"/>
          </a:xfrm>
        </p:spPr>
        <p:txBody>
          <a:bodyPr>
            <a:noAutofit/>
          </a:bodyPr>
          <a:lstStyle/>
          <a:p>
            <a:r>
              <a:rPr lang="en-US" sz="3200" dirty="0"/>
              <a:t>Thu,050226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4D23895-89DB-1145-D0B3-790DD0026E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2901" y="1019175"/>
            <a:ext cx="11515724" cy="5206072"/>
          </a:xfrm>
        </p:spPr>
        <p:txBody>
          <a:bodyPr>
            <a:normAutofit lnSpcReduction="10000"/>
          </a:bodyPr>
          <a:lstStyle/>
          <a:p>
            <a:r>
              <a:rPr lang="en-US" sz="2400" dirty="0"/>
              <a:t>Done</a:t>
            </a:r>
          </a:p>
          <a:p>
            <a:pPr lvl="1"/>
            <a:r>
              <a:rPr lang="en-US" sz="2000" dirty="0"/>
              <a:t>Read and understood the QA Test Plan for the CV Evaluation Pipeline link</a:t>
            </a:r>
          </a:p>
          <a:p>
            <a:pPr lvl="1"/>
            <a:r>
              <a:rPr lang="en-US" sz="2000" dirty="0"/>
              <a:t>Understanding task for sprint 11 then prepare material to discuss (B4 </a:t>
            </a:r>
            <a:r>
              <a:rPr lang="en-US" sz="2000" dirty="0" err="1"/>
              <a:t>P’bloom</a:t>
            </a:r>
            <a:r>
              <a:rPr lang="en-US" sz="2000" dirty="0"/>
              <a:t> vacation)</a:t>
            </a:r>
          </a:p>
          <a:p>
            <a:r>
              <a:rPr lang="en-US" sz="2400" dirty="0"/>
              <a:t>Todo</a:t>
            </a:r>
          </a:p>
          <a:p>
            <a:pPr lvl="1"/>
            <a:r>
              <a:rPr lang="en-US" sz="2000" dirty="0">
                <a:solidFill>
                  <a:srgbClr val="0070C0"/>
                </a:solidFill>
              </a:rPr>
              <a:t>Align </a:t>
            </a:r>
            <a:r>
              <a:rPr lang="en-US" sz="2000" dirty="0" err="1">
                <a:solidFill>
                  <a:srgbClr val="0070C0"/>
                </a:solidFill>
              </a:rPr>
              <a:t>CVEvaluation</a:t>
            </a:r>
            <a:r>
              <a:rPr lang="en-US" sz="2000" dirty="0">
                <a:solidFill>
                  <a:srgbClr val="0070C0"/>
                </a:solidFill>
              </a:rPr>
              <a:t> QA  with </a:t>
            </a:r>
            <a:r>
              <a:rPr lang="en-US" sz="2000" dirty="0" err="1">
                <a:solidFill>
                  <a:srgbClr val="0070C0"/>
                </a:solidFill>
              </a:rPr>
              <a:t>P’bloom</a:t>
            </a:r>
            <a:endParaRPr lang="en-US" sz="2000" dirty="0">
              <a:solidFill>
                <a:srgbClr val="0070C0"/>
              </a:solidFill>
            </a:endParaRPr>
          </a:p>
          <a:p>
            <a:pPr lvl="1"/>
            <a:r>
              <a:rPr lang="en-US" sz="2000" dirty="0">
                <a:solidFill>
                  <a:srgbClr val="0070C0"/>
                </a:solidFill>
              </a:rPr>
              <a:t>Align Feed </a:t>
            </a:r>
            <a:r>
              <a:rPr lang="en-US" sz="2000" dirty="0" err="1">
                <a:solidFill>
                  <a:srgbClr val="0070C0"/>
                </a:solidFill>
              </a:rPr>
              <a:t>recommentdation</a:t>
            </a:r>
            <a:r>
              <a:rPr lang="en-US" sz="2000" dirty="0">
                <a:solidFill>
                  <a:srgbClr val="0070C0"/>
                </a:solidFill>
              </a:rPr>
              <a:t> (*pipeline with flowchart)</a:t>
            </a:r>
          </a:p>
          <a:p>
            <a:pPr lvl="2"/>
            <a:r>
              <a:rPr lang="en-US" sz="1600" dirty="0">
                <a:solidFill>
                  <a:srgbClr val="0070C0"/>
                </a:solidFill>
              </a:rPr>
              <a:t>Functions/core/subscore.py</a:t>
            </a:r>
          </a:p>
          <a:p>
            <a:pPr lvl="2"/>
            <a:r>
              <a:rPr lang="en-US" sz="1600" dirty="0">
                <a:solidFill>
                  <a:srgbClr val="0070C0"/>
                </a:solidFill>
              </a:rPr>
              <a:t>Pipeline_3_gold_validate.py</a:t>
            </a:r>
          </a:p>
          <a:p>
            <a:pPr lvl="1"/>
            <a:r>
              <a:rPr lang="en-US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Align with shin about How vector embedding should be</a:t>
            </a:r>
          </a:p>
          <a:p>
            <a:pPr lvl="1"/>
            <a:r>
              <a:rPr lang="en-US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Plan tasks for Sprint 11 in Jira</a:t>
            </a:r>
            <a:endParaRPr lang="th-TH" sz="2000" dirty="0">
              <a:solidFill>
                <a:schemeClr val="tx2">
                  <a:lumMod val="50000"/>
                  <a:lumOff val="50000"/>
                </a:schemeClr>
              </a:solidFill>
            </a:endParaRPr>
          </a:p>
          <a:p>
            <a:pPr lvl="1"/>
            <a:r>
              <a:rPr lang="en-US" sz="2000" dirty="0"/>
              <a:t>Update GCS Retrieval class with new 3 conditions</a:t>
            </a:r>
          </a:p>
          <a:p>
            <a:pPr lvl="1"/>
            <a:r>
              <a:rPr lang="en-US" sz="2000" dirty="0"/>
              <a:t>Develop pipeline to </a:t>
            </a:r>
            <a:r>
              <a:rPr lang="en-US" sz="2000" dirty="0" err="1"/>
              <a:t>bUpdate</a:t>
            </a:r>
            <a:r>
              <a:rPr lang="en-US" sz="2000" dirty="0"/>
              <a:t> Embedding vector with shin format style</a:t>
            </a:r>
          </a:p>
          <a:p>
            <a:pPr lvl="1"/>
            <a:r>
              <a:rPr lang="en-US" sz="2000" dirty="0" err="1"/>
              <a:t>undle</a:t>
            </a:r>
            <a:r>
              <a:rPr lang="en-US" sz="2000" dirty="0"/>
              <a:t> data for each student (Pipeline_2_user_hyde_refresh.py)</a:t>
            </a:r>
          </a:p>
          <a:p>
            <a:r>
              <a:rPr lang="en-US" sz="2400" dirty="0"/>
              <a:t>Issue</a:t>
            </a:r>
          </a:p>
          <a:p>
            <a:pPr lvl="1"/>
            <a:r>
              <a:rPr lang="en-US" sz="2000" dirty="0"/>
              <a:t>Question in Slack</a:t>
            </a:r>
          </a:p>
          <a:p>
            <a:pPr lvl="1"/>
            <a:r>
              <a:rPr lang="en-US" sz="2000" dirty="0"/>
              <a:t>Question in Figma</a:t>
            </a:r>
          </a:p>
          <a:p>
            <a:endParaRPr lang="en-US" sz="2400" dirty="0"/>
          </a:p>
          <a:p>
            <a:pPr lvl="1"/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712727689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73CD7D-98B3-51A9-3D8E-296579E163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93B09D-2D52-E43E-C6CF-3CA0AC97EF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126050"/>
          </a:xfrm>
        </p:spPr>
        <p:txBody>
          <a:bodyPr>
            <a:normAutofit/>
          </a:bodyPr>
          <a:lstStyle/>
          <a:p>
            <a:r>
              <a:rPr lang="en-US" dirty="0"/>
              <a:t>Wed,040226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455007-E3D6-B60F-1520-AE698CA873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91175"/>
            <a:ext cx="6477000" cy="4867422"/>
          </a:xfrm>
        </p:spPr>
        <p:txBody>
          <a:bodyPr>
            <a:normAutofit/>
          </a:bodyPr>
          <a:lstStyle/>
          <a:p>
            <a:r>
              <a:rPr lang="en-US" dirty="0"/>
              <a:t>Done</a:t>
            </a:r>
          </a:p>
          <a:p>
            <a:pPr lvl="1"/>
            <a:r>
              <a:rPr lang="en-US" dirty="0"/>
              <a:t>Sprint review deck for Sprint 10</a:t>
            </a:r>
          </a:p>
          <a:p>
            <a:pPr lvl="1"/>
            <a:r>
              <a:rPr lang="en-US" dirty="0"/>
              <a:t>Develop an endpoint to query data from Cloud Storage</a:t>
            </a:r>
          </a:p>
          <a:p>
            <a:r>
              <a:rPr lang="en-US" dirty="0"/>
              <a:t>Todo</a:t>
            </a:r>
          </a:p>
          <a:p>
            <a:pPr lvl="1"/>
            <a:r>
              <a:rPr lang="en-US" dirty="0"/>
              <a:t>Read and understood the QA Test Plan for the CV Evaluation Pipeline link</a:t>
            </a:r>
          </a:p>
          <a:p>
            <a:pPr lvl="1"/>
            <a:r>
              <a:rPr lang="en-US" dirty="0"/>
              <a:t>Plan tasks for Sprint 11 in Jira</a:t>
            </a:r>
          </a:p>
          <a:p>
            <a:pPr lvl="1"/>
            <a:r>
              <a:rPr lang="en-US" dirty="0"/>
              <a:t>Develop pipeline to bundle data for each student (Pipeline_2_user_hyde_refresh.py)</a:t>
            </a:r>
          </a:p>
          <a:p>
            <a:r>
              <a:rPr lang="en-US" dirty="0"/>
              <a:t>Issue</a:t>
            </a:r>
          </a:p>
          <a:p>
            <a:pPr lvl="1"/>
            <a:r>
              <a:rPr lang="en-US" dirty="0"/>
              <a:t> -</a:t>
            </a:r>
          </a:p>
          <a:p>
            <a:endParaRPr lang="en-US" dirty="0"/>
          </a:p>
          <a:p>
            <a:pPr lvl="1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59F566A-B162-9099-425A-040887AEE4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5076" y="365125"/>
            <a:ext cx="2757477" cy="6323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201605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3446A3-8D06-E2BD-3022-2CE52E77AB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167554-4189-3912-5DD1-B564582E8F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126050"/>
          </a:xfrm>
        </p:spPr>
        <p:txBody>
          <a:bodyPr>
            <a:normAutofit/>
          </a:bodyPr>
          <a:lstStyle/>
          <a:p>
            <a:r>
              <a:rPr lang="en-US" dirty="0"/>
              <a:t>Tue,050226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D7CABDD-1BA0-72C5-A353-2A5C1F281E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91175"/>
            <a:ext cx="10515600" cy="4867422"/>
          </a:xfrm>
        </p:spPr>
        <p:txBody>
          <a:bodyPr>
            <a:normAutofit/>
          </a:bodyPr>
          <a:lstStyle/>
          <a:p>
            <a:r>
              <a:rPr lang="en-US" dirty="0"/>
              <a:t>Done</a:t>
            </a:r>
          </a:p>
          <a:p>
            <a:pPr lvl="1"/>
            <a:r>
              <a:rPr lang="en-US" dirty="0"/>
              <a:t>Read and understood the QA Test Plan for the CV Evaluation Pipeline link</a:t>
            </a:r>
          </a:p>
          <a:p>
            <a:r>
              <a:rPr lang="en-US" dirty="0"/>
              <a:t>Todo</a:t>
            </a:r>
          </a:p>
          <a:p>
            <a:pPr lvl="1"/>
            <a:r>
              <a:rPr lang="en-US" dirty="0"/>
              <a:t>Plan tasks for Sprint 11 in Jira</a:t>
            </a:r>
          </a:p>
          <a:p>
            <a:pPr lvl="1"/>
            <a:r>
              <a:rPr lang="en-US" dirty="0"/>
              <a:t>Develop pipeline to bundle data for each student (Pipeline_2_user_hyde_refresh.py)</a:t>
            </a:r>
          </a:p>
          <a:p>
            <a:r>
              <a:rPr lang="en-US" dirty="0"/>
              <a:t>Issue</a:t>
            </a:r>
          </a:p>
          <a:p>
            <a:pPr lvl="1"/>
            <a:r>
              <a:rPr lang="en-US" dirty="0"/>
              <a:t> -</a:t>
            </a:r>
          </a:p>
          <a:p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9007082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EBE9D7-86D7-D016-EC91-308E146DBC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DA36735-67FC-AD35-8BC4-EC837B910C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7040" y="1962895"/>
            <a:ext cx="1704935" cy="528254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A19E6855-EEF6-5783-F577-649B02043E73}"/>
              </a:ext>
            </a:extLst>
          </p:cNvPr>
          <p:cNvSpPr txBox="1">
            <a:spLocks/>
          </p:cNvSpPr>
          <p:nvPr/>
        </p:nvSpPr>
        <p:spPr>
          <a:xfrm>
            <a:off x="-343093" y="382201"/>
            <a:ext cx="7631973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155D806-6B92-7201-74D6-BE2CD15D10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4591" y="2933708"/>
            <a:ext cx="4034790" cy="3126434"/>
          </a:xfrm>
          <a:prstGeom prst="rect">
            <a:avLst/>
          </a:prstGeom>
        </p:spPr>
      </p:pic>
      <p:pic>
        <p:nvPicPr>
          <p:cNvPr id="8" name="Picture 4" descr="FastAPI · GitHub">
            <a:extLst>
              <a:ext uri="{FF2B5EF4-FFF2-40B4-BE49-F238E27FC236}">
                <a16:creationId xmlns:a16="http://schemas.microsoft.com/office/drawing/2014/main" id="{054BDE27-EEAE-BF52-A6C1-4EF52174D6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57666" y="2763393"/>
            <a:ext cx="1331214" cy="13312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66DE43A-CF1E-6357-A4CA-3D74CE8527BF}"/>
              </a:ext>
            </a:extLst>
          </p:cNvPr>
          <p:cNvCxnSpPr>
            <a:cxnSpLocks/>
          </p:cNvCxnSpPr>
          <p:nvPr/>
        </p:nvCxnSpPr>
        <p:spPr>
          <a:xfrm>
            <a:off x="5334118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9668BA2-F026-7DC9-9B93-3EDDA3A40CE1}"/>
              </a:ext>
            </a:extLst>
          </p:cNvPr>
          <p:cNvCxnSpPr>
            <a:cxnSpLocks/>
          </p:cNvCxnSpPr>
          <p:nvPr/>
        </p:nvCxnSpPr>
        <p:spPr>
          <a:xfrm>
            <a:off x="7484130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9" name="Picture 18">
            <a:extLst>
              <a:ext uri="{FF2B5EF4-FFF2-40B4-BE49-F238E27FC236}">
                <a16:creationId xmlns:a16="http://schemas.microsoft.com/office/drawing/2014/main" id="{6BF387B3-2E8B-2A05-5A54-4C9508B25B6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87165" y="267286"/>
            <a:ext cx="2757477" cy="6323428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61EAE8BC-BC2C-6A78-EE1F-556BBA1B5564}"/>
              </a:ext>
            </a:extLst>
          </p:cNvPr>
          <p:cNvSpPr txBox="1"/>
          <p:nvPr/>
        </p:nvSpPr>
        <p:spPr>
          <a:xfrm>
            <a:off x="357040" y="1021227"/>
            <a:ext cx="6958965" cy="1631394"/>
          </a:xfrm>
          <a:prstGeom prst="roundRect">
            <a:avLst>
              <a:gd name="adj" fmla="val 4406"/>
            </a:avLst>
          </a:prstGeom>
          <a:solidFill>
            <a:srgbClr val="E96060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Case 1 : </a:t>
            </a:r>
            <a:r>
              <a:rPr lang="th-TH" sz="1400" dirty="0">
                <a:latin typeface="Consolas" panose="020B0609020204030204" pitchFamily="49" charset="0"/>
              </a:rPr>
              <a:t>เจอ </a:t>
            </a:r>
            <a:r>
              <a:rPr lang="en-US" sz="1400" dirty="0" err="1">
                <a:latin typeface="Consolas" panose="020B0609020204030204" pitchFamily="49" charset="0"/>
              </a:rPr>
              <a:t>bucget</a:t>
            </a:r>
            <a:r>
              <a:rPr lang="en-US" sz="1400" dirty="0">
                <a:latin typeface="Consolas" panose="020B0609020204030204" pitchFamily="49" charset="0"/>
              </a:rPr>
              <a:t> + metadata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Case 2 : Storage(</a:t>
            </a:r>
            <a:r>
              <a:rPr lang="en-US" sz="1400" dirty="0" err="1">
                <a:latin typeface="Consolas" panose="020B0609020204030204" pitchFamily="49" charset="0"/>
              </a:rPr>
              <a:t>bugget</a:t>
            </a:r>
            <a:r>
              <a:rPr lang="en-US" sz="1400" dirty="0">
                <a:latin typeface="Consolas" panose="020B0609020204030204" pitchFamily="49" charset="0"/>
              </a:rPr>
              <a:t> x metadata)-&gt; return Only metadata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Case 3 : Have no </a:t>
            </a:r>
            <a:r>
              <a:rPr lang="en-US" sz="1400" dirty="0" err="1">
                <a:latin typeface="Consolas" panose="020B0609020204030204" pitchFamily="49" charset="0"/>
              </a:rPr>
              <a:t>bugget</a:t>
            </a:r>
            <a:r>
              <a:rPr lang="en-US" sz="1400" dirty="0">
                <a:latin typeface="Consolas" panose="020B0609020204030204" pitchFamily="49" charset="0"/>
              </a:rPr>
              <a:t> -&gt; return data from </a:t>
            </a:r>
            <a:r>
              <a:rPr lang="en-US" sz="1400" dirty="0" err="1">
                <a:latin typeface="Consolas" panose="020B0609020204030204" pitchFamily="49" charset="0"/>
              </a:rPr>
              <a:t>bigquery</a:t>
            </a:r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</a:rPr>
              <a:t>If case 2 or case 3 -&gt; talk with shin what going on?</a:t>
            </a:r>
          </a:p>
          <a:p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</a:rPr>
              <a:t>If some vector is missing or not complete return only complete vector and other “error”</a:t>
            </a:r>
          </a:p>
        </p:txBody>
      </p:sp>
    </p:spTree>
    <p:extLst>
      <p:ext uri="{BB962C8B-B14F-4D97-AF65-F5344CB8AC3E}">
        <p14:creationId xmlns:p14="http://schemas.microsoft.com/office/powerpoint/2010/main" val="947446297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D16A6-5009-1697-C160-8AF6CDCAB4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37164-399A-A263-CD90-2792F8A451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Tue,030226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3196FA5-590C-C324-254E-A726932FE2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Done</a:t>
            </a:r>
          </a:p>
          <a:p>
            <a:pPr lvl="1"/>
            <a:r>
              <a:rPr lang="en-US" dirty="0"/>
              <a:t>Prepared sprint review deck for Sprint 10</a:t>
            </a:r>
          </a:p>
          <a:p>
            <a:r>
              <a:rPr lang="en-US" dirty="0"/>
              <a:t>Todo</a:t>
            </a:r>
          </a:p>
          <a:p>
            <a:pPr lvl="1"/>
            <a:r>
              <a:rPr lang="en-US" dirty="0"/>
              <a:t>Implement item retirement on Cloud Storage (code + </a:t>
            </a:r>
            <a:r>
              <a:rPr lang="en-US" dirty="0" err="1"/>
              <a:t>cron</a:t>
            </a:r>
            <a:r>
              <a:rPr lang="en-US" dirty="0"/>
              <a:t> job)</a:t>
            </a:r>
          </a:p>
          <a:p>
            <a:pPr lvl="1"/>
            <a:r>
              <a:rPr lang="en-US" dirty="0"/>
              <a:t>Plan tasks for Sprint 11 in Jira</a:t>
            </a:r>
          </a:p>
          <a:p>
            <a:pPr lvl="1"/>
            <a:r>
              <a:rPr lang="en-US" dirty="0"/>
              <a:t>Develop pipeline to bundle data for each student</a:t>
            </a:r>
          </a:p>
          <a:p>
            <a:pPr lvl="1"/>
            <a:r>
              <a:rPr lang="en-US" dirty="0"/>
              <a:t>Read and understood the QA Test Plan for the CV Evaluation Pipeline link</a:t>
            </a:r>
          </a:p>
          <a:p>
            <a:pPr lvl="1"/>
            <a:endParaRPr lang="en-US" dirty="0"/>
          </a:p>
          <a:p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7337214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678FBA-8682-67FB-7403-762F28E85A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273BB931-0887-2834-8B68-DE9282036EA5}"/>
              </a:ext>
            </a:extLst>
          </p:cNvPr>
          <p:cNvSpPr txBox="1">
            <a:spLocks/>
          </p:cNvSpPr>
          <p:nvPr/>
        </p:nvSpPr>
        <p:spPr>
          <a:xfrm>
            <a:off x="479425" y="3121223"/>
            <a:ext cx="11233150" cy="61555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 algn="ctr"/>
            <a:r>
              <a:rPr lang="en-US" sz="4000" b="1" dirty="0"/>
              <a:t>Process of work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24781CD-06F9-A773-75B5-02AFD538D8FF}"/>
              </a:ext>
            </a:extLst>
          </p:cNvPr>
          <p:cNvSpPr txBox="1">
            <a:spLocks/>
          </p:cNvSpPr>
          <p:nvPr/>
        </p:nvSpPr>
        <p:spPr>
          <a:xfrm>
            <a:off x="152399" y="5933461"/>
            <a:ext cx="11820525" cy="229935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>
              <a:lnSpc>
                <a:spcPct val="150000"/>
              </a:lnSpc>
            </a:pPr>
            <a:endParaRPr lang="en-US" sz="1100">
              <a:solidFill>
                <a:srgbClr val="0432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591272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338AA2-1EF5-9E8F-CDFE-880FD0D6FC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AD12FB-CD52-6225-8CBA-0447DEC206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42925"/>
            <a:ext cx="10515600" cy="5962650"/>
          </a:xfrm>
        </p:spPr>
        <p:txBody>
          <a:bodyPr>
            <a:normAutofit fontScale="92500" lnSpcReduction="10000"/>
          </a:bodyPr>
          <a:lstStyle/>
          <a:p>
            <a:pPr marL="914400" lvl="1" indent="-457200">
              <a:buAutoNum type="arabicPeriod"/>
            </a:pPr>
            <a:r>
              <a:rPr lang="en-US" dirty="0"/>
              <a:t>POC -&gt; MVP</a:t>
            </a:r>
            <a:br>
              <a:rPr lang="th-TH" dirty="0"/>
            </a:br>
            <a:r>
              <a:rPr lang="en-US" dirty="0"/>
              <a:t>- POC : all full pipeline code</a:t>
            </a:r>
            <a:br>
              <a:rPr lang="en-US" dirty="0"/>
            </a:br>
            <a:r>
              <a:rPr lang="en-US" dirty="0"/>
              <a:t>- MVP : POC + production plan + owner</a:t>
            </a:r>
          </a:p>
          <a:p>
            <a:pPr marL="914400" lvl="1" indent="-457200">
              <a:buAutoNum type="arabicPeriod"/>
            </a:pPr>
            <a:r>
              <a:rPr lang="en-US" dirty="0"/>
              <a:t>Estimate cost man-day and </a:t>
            </a:r>
            <a:r>
              <a:rPr lang="en-US"/>
              <a:t>grant chart</a:t>
            </a:r>
            <a:br>
              <a:rPr lang="en-US"/>
            </a:br>
            <a:endParaRPr lang="en-US" dirty="0"/>
          </a:p>
          <a:p>
            <a:pPr lvl="1"/>
            <a:r>
              <a:rPr lang="en-US" dirty="0"/>
              <a:t>1 Sprint = 2 weeks</a:t>
            </a:r>
          </a:p>
          <a:p>
            <a:pPr lvl="1"/>
            <a:r>
              <a:rPr lang="en-US" dirty="0"/>
              <a:t>We have sprint glooming before sprint start</a:t>
            </a:r>
          </a:p>
          <a:p>
            <a:pPr lvl="1"/>
            <a:r>
              <a:rPr lang="en-US" dirty="0"/>
              <a:t>We use Jira to estimate timeline and ticket</a:t>
            </a:r>
          </a:p>
          <a:p>
            <a:pPr lvl="1"/>
            <a:r>
              <a:rPr lang="en-US" dirty="0"/>
              <a:t>There are </a:t>
            </a:r>
            <a:r>
              <a:rPr lang="en-US" dirty="0" err="1"/>
              <a:t>ghostdeck</a:t>
            </a:r>
            <a:endParaRPr lang="en-US" dirty="0"/>
          </a:p>
          <a:p>
            <a:pPr lvl="1"/>
            <a:r>
              <a:rPr lang="en-US" dirty="0"/>
              <a:t>There are confluence for project detail</a:t>
            </a:r>
          </a:p>
          <a:p>
            <a:pPr lvl="1"/>
            <a:r>
              <a:rPr lang="en-US" dirty="0"/>
              <a:t>There are POC </a:t>
            </a:r>
            <a:endParaRPr lang="th-TH" dirty="0"/>
          </a:p>
          <a:p>
            <a:pPr lvl="1"/>
            <a:r>
              <a:rPr lang="en-US" dirty="0"/>
              <a:t>Estimate </a:t>
            </a:r>
            <a:r>
              <a:rPr lang="en-US" dirty="0" err="1"/>
              <a:t>manday</a:t>
            </a:r>
            <a:r>
              <a:rPr lang="en-US" dirty="0"/>
              <a:t> cost</a:t>
            </a:r>
          </a:p>
          <a:p>
            <a:pPr lvl="1"/>
            <a:r>
              <a:rPr lang="en-US" dirty="0"/>
              <a:t>Design database</a:t>
            </a:r>
          </a:p>
          <a:p>
            <a:pPr lvl="1"/>
            <a:r>
              <a:rPr lang="en-US" dirty="0"/>
              <a:t>Architecture</a:t>
            </a:r>
          </a:p>
          <a:p>
            <a:pPr lvl="1"/>
            <a:r>
              <a:rPr lang="en-US" dirty="0"/>
              <a:t>RACI</a:t>
            </a:r>
          </a:p>
          <a:p>
            <a:pPr lvl="1"/>
            <a:r>
              <a:rPr lang="en-US" dirty="0"/>
              <a:t>SIT </a:t>
            </a:r>
            <a:r>
              <a:rPr lang="th-TH" dirty="0"/>
              <a:t>เหลืออีก </a:t>
            </a:r>
            <a:r>
              <a:rPr lang="en-US" dirty="0"/>
              <a:t>4 </a:t>
            </a:r>
            <a:r>
              <a:rPr lang="th-TH" dirty="0"/>
              <a:t>เดือน เดือน </a:t>
            </a:r>
            <a:r>
              <a:rPr lang="en-US" dirty="0" err="1"/>
              <a:t>june</a:t>
            </a:r>
            <a:endParaRPr lang="th-TH" dirty="0"/>
          </a:p>
          <a:p>
            <a:pPr lvl="1"/>
            <a:r>
              <a:rPr lang="en-US" dirty="0"/>
              <a:t>UAT </a:t>
            </a:r>
            <a:r>
              <a:rPr lang="th-TH" dirty="0"/>
              <a:t>เหลืออีก </a:t>
            </a:r>
            <a:r>
              <a:rPr lang="en-US" dirty="0"/>
              <a:t>6 </a:t>
            </a:r>
            <a:r>
              <a:rPr lang="th-TH" dirty="0"/>
              <a:t>เดือน </a:t>
            </a:r>
            <a:r>
              <a:rPr lang="en-US" dirty="0"/>
              <a:t> </a:t>
            </a:r>
            <a:r>
              <a:rPr lang="th-TH" dirty="0"/>
              <a:t>เดือน สิงหา</a:t>
            </a:r>
            <a:endParaRPr lang="en-US" dirty="0"/>
          </a:p>
          <a:p>
            <a:pPr lvl="1"/>
            <a:r>
              <a:rPr lang="en-US" dirty="0" err="1"/>
              <a:t>Golive</a:t>
            </a:r>
            <a:r>
              <a:rPr lang="en-US" dirty="0"/>
              <a:t> </a:t>
            </a:r>
            <a:r>
              <a:rPr lang="th-TH" dirty="0"/>
              <a:t>เหลืออีก </a:t>
            </a:r>
            <a:r>
              <a:rPr lang="en-US" dirty="0"/>
              <a:t>… </a:t>
            </a:r>
            <a:r>
              <a:rPr lang="th-TH" dirty="0"/>
              <a:t>เดือน เดือน </a:t>
            </a:r>
            <a:r>
              <a:rPr lang="en-US" dirty="0"/>
              <a:t>October</a:t>
            </a:r>
          </a:p>
        </p:txBody>
      </p:sp>
    </p:spTree>
    <p:extLst>
      <p:ext uri="{BB962C8B-B14F-4D97-AF65-F5344CB8AC3E}">
        <p14:creationId xmlns:p14="http://schemas.microsoft.com/office/powerpoint/2010/main" val="3036491009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AED7353-2970-6DC6-6F08-FFBB9F220D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AC60A4-B96A-E59F-E933-D09676A800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Tue,040226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1352971-2CF5-C2EE-9210-11610FB3EB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Done</a:t>
            </a:r>
          </a:p>
          <a:p>
            <a:pPr lvl="1"/>
            <a:r>
              <a:rPr lang="en-US" dirty="0" err="1"/>
              <a:t>Xxx</a:t>
            </a:r>
            <a:endParaRPr lang="en-US" dirty="0"/>
          </a:p>
          <a:p>
            <a:pPr lvl="1"/>
            <a:r>
              <a:rPr lang="en-US" dirty="0" err="1"/>
              <a:t>Xxx</a:t>
            </a:r>
            <a:endParaRPr lang="en-US" dirty="0"/>
          </a:p>
          <a:p>
            <a:pPr lvl="1"/>
            <a:r>
              <a:rPr lang="en-US" dirty="0"/>
              <a:t>xxx</a:t>
            </a:r>
          </a:p>
          <a:p>
            <a:r>
              <a:rPr lang="en-US" dirty="0"/>
              <a:t>Todo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4321720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16F993C-7FE2-3978-4B21-01DDB56967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A569F37A-CF64-C48B-D116-6DAFFAB89B4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A569F37A-CF64-C48B-D116-6DAFFAB89B4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609CF2A1-FF55-9BF4-CC33-2C80BADFC979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043ED79-517B-9B03-A091-6C98194ED556}"/>
              </a:ext>
            </a:extLst>
          </p:cNvPr>
          <p:cNvSpPr txBox="1"/>
          <p:nvPr/>
        </p:nvSpPr>
        <p:spPr>
          <a:xfrm>
            <a:off x="6463966" y="864211"/>
            <a:ext cx="4487897" cy="6093976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t">
            <a:spAutoFit/>
          </a:bodyPr>
          <a:lstStyle/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"</a:t>
            </a:r>
            <a:r>
              <a:rPr lang="en-US" sz="1000" dirty="0" err="1">
                <a:solidFill>
                  <a:schemeClr val="tx1"/>
                </a:solidFill>
                <a:ea typeface="+mn-lt"/>
                <a:cs typeface="+mn-lt"/>
              </a:rPr>
              <a:t>resumeJson</a:t>
            </a:r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":{</a:t>
            </a: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    {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        "</a:t>
            </a:r>
            <a:r>
              <a:rPr lang="en-US" sz="1000" b="1" dirty="0">
                <a:solidFill>
                  <a:schemeClr val="tx1"/>
                </a:solidFill>
                <a:ea typeface="+mn-lt"/>
                <a:cs typeface="+mn-lt"/>
              </a:rPr>
              <a:t>Profile</a:t>
            </a:r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": {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            "name": "Juan Jose Carin",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           "email": "</a:t>
            </a:r>
            <a:r>
              <a:rPr lang="en-US" sz="1000" dirty="0">
                <a:solidFill>
                  <a:schemeClr val="tx1"/>
                </a:solidFill>
                <a:ea typeface="+mn-lt"/>
                <a:cs typeface="+mn-lt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juanjose.carin@gmail.com</a:t>
            </a:r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",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           "</a:t>
            </a:r>
            <a:r>
              <a:rPr lang="en-US" sz="1000" dirty="0" err="1">
                <a:solidFill>
                  <a:schemeClr val="tx1"/>
                </a:solidFill>
                <a:ea typeface="+mn-lt"/>
                <a:cs typeface="+mn-lt"/>
              </a:rPr>
              <a:t>linkedin</a:t>
            </a:r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": "linkedin.com/in/</a:t>
            </a:r>
            <a:r>
              <a:rPr lang="en-US" sz="1000" dirty="0" err="1">
                <a:solidFill>
                  <a:schemeClr val="tx1"/>
                </a:solidFill>
                <a:ea typeface="+mn-lt"/>
                <a:cs typeface="+mn-lt"/>
              </a:rPr>
              <a:t>juanjosecarin</a:t>
            </a:r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"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             },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        </a:t>
            </a:r>
            <a:r>
              <a:rPr lang="en-US" sz="1000" b="1" dirty="0">
                <a:solidFill>
                  <a:schemeClr val="tx1"/>
                </a:solidFill>
                <a:ea typeface="+mn-lt"/>
                <a:cs typeface="+mn-lt"/>
              </a:rPr>
              <a:t>"Summary"</a:t>
            </a:r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: {</a:t>
            </a:r>
            <a:endParaRPr lang="en-US" sz="1000" dirty="0">
              <a:solidFill>
                <a:schemeClr val="tx1"/>
              </a:solidFill>
              <a:cs typeface="Poppins Light"/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           "</a:t>
            </a:r>
            <a:r>
              <a:rPr lang="en-US" sz="1000" dirty="0" err="1">
                <a:solidFill>
                  <a:schemeClr val="tx1"/>
                </a:solidFill>
                <a:ea typeface="+mn-lt"/>
                <a:cs typeface="+mn-lt"/>
              </a:rPr>
              <a:t>summary_points</a:t>
            </a:r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": [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               "Experienced data scientist with analytical background."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                 ]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            },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        </a:t>
            </a:r>
            <a:r>
              <a:rPr lang="en-US" sz="1000" b="1" dirty="0">
                <a:solidFill>
                  <a:schemeClr val="tx1"/>
                </a:solidFill>
                <a:ea typeface="+mn-lt"/>
                <a:cs typeface="+mn-lt"/>
              </a:rPr>
              <a:t>"Education"</a:t>
            </a:r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: [</a:t>
            </a: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                {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            "institution": "University of California, Berkeley",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            "degree": "MIDS",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            "</a:t>
            </a:r>
            <a:r>
              <a:rPr lang="en-US" sz="1000" dirty="0" err="1">
                <a:solidFill>
                  <a:schemeClr val="tx1"/>
                </a:solidFill>
                <a:ea typeface="+mn-lt"/>
                <a:cs typeface="+mn-lt"/>
              </a:rPr>
              <a:t>gpa</a:t>
            </a:r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": "3.93"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                 }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           ],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        </a:t>
            </a:r>
            <a:r>
              <a:rPr lang="en-US" sz="1000" b="1" dirty="0">
                <a:solidFill>
                  <a:schemeClr val="tx1"/>
                </a:solidFill>
                <a:ea typeface="+mn-lt"/>
                <a:cs typeface="+mn-lt"/>
              </a:rPr>
              <a:t>"Experience"</a:t>
            </a:r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: [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                {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            "title": "Data Scientist",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            "company": "CONENTO",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            "dates": "2016",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            "description": [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                "Built ETL pipelines and predictive models."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                    ]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                }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            ],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        </a:t>
            </a:r>
            <a:r>
              <a:rPr lang="en-US" sz="1000" b="1" dirty="0">
                <a:solidFill>
                  <a:schemeClr val="tx1"/>
                </a:solidFill>
                <a:ea typeface="+mn-lt"/>
                <a:cs typeface="+mn-lt"/>
              </a:rPr>
              <a:t>"Activities":</a:t>
            </a:r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 [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                {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             "name": "LLM Evaluation Harness",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                 }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            ],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        </a:t>
            </a:r>
            <a:r>
              <a:rPr lang="en-US" sz="1000" b="1" dirty="0">
                <a:solidFill>
                  <a:schemeClr val="tx1"/>
                </a:solidFill>
                <a:ea typeface="+mn-lt"/>
                <a:cs typeface="+mn-lt"/>
              </a:rPr>
              <a:t>"Skills"</a:t>
            </a:r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: {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             "skills": ["</a:t>
            </a:r>
            <a:r>
              <a:rPr lang="en-US" sz="1000" dirty="0" err="1">
                <a:solidFill>
                  <a:schemeClr val="tx1"/>
                </a:solidFill>
                <a:ea typeface="+mn-lt"/>
                <a:cs typeface="+mn-lt"/>
              </a:rPr>
              <a:t>Python","RAG""Data</a:t>
            </a:r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 Analysis", "Machine Learning"],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             }</a:t>
            </a:r>
          </a:p>
          <a:p>
            <a:r>
              <a:rPr lang="en-US" sz="1000" dirty="0">
                <a:solidFill>
                  <a:schemeClr val="tx1"/>
                </a:solidFill>
                <a:cs typeface="Poppins Light"/>
              </a:rPr>
              <a:t>}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F97995E-1B4F-2E54-2A84-045BD2402496}"/>
              </a:ext>
            </a:extLst>
          </p:cNvPr>
          <p:cNvSpPr/>
          <p:nvPr/>
        </p:nvSpPr>
        <p:spPr>
          <a:xfrm>
            <a:off x="525114" y="861848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BD005D0-3C32-58B0-55A2-7F1E1A8D23CA}"/>
              </a:ext>
            </a:extLst>
          </p:cNvPr>
          <p:cNvSpPr/>
          <p:nvPr/>
        </p:nvSpPr>
        <p:spPr>
          <a:xfrm>
            <a:off x="525114" y="859879"/>
            <a:ext cx="5379147" cy="51871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>
                <a:cs typeface="Poppins Light"/>
              </a:rPr>
              <a:t>Input payload</a:t>
            </a:r>
          </a:p>
        </p:txBody>
      </p:sp>
      <p:sp>
        <p:nvSpPr>
          <p:cNvPr id="10" name="TextBox 1">
            <a:extLst>
              <a:ext uri="{FF2B5EF4-FFF2-40B4-BE49-F238E27FC236}">
                <a16:creationId xmlns:a16="http://schemas.microsoft.com/office/drawing/2014/main" id="{1F42F652-44F6-5ED1-7D1C-14ABF3761346}"/>
              </a:ext>
            </a:extLst>
          </p:cNvPr>
          <p:cNvSpPr txBox="1"/>
          <p:nvPr/>
        </p:nvSpPr>
        <p:spPr>
          <a:xfrm>
            <a:off x="2020841" y="2995056"/>
            <a:ext cx="2688935" cy="2292935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t">
            <a:spAutoFit/>
          </a:bodyPr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100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{</a:t>
            </a:r>
            <a:endParaRPr lang="en-US" sz="1100" dirty="0">
              <a:solidFill>
                <a:schemeClr val="tx1"/>
              </a:solidFill>
            </a:endParaRPr>
          </a:p>
          <a:p>
            <a:r>
              <a:rPr lang="en-US" sz="1100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    "</a:t>
            </a:r>
            <a:r>
              <a:rPr lang="en-US" sz="1100" dirty="0" err="1">
                <a:solidFill>
                  <a:schemeClr val="tx1"/>
                </a:solidFill>
                <a:ea typeface="+mn-lt"/>
                <a:cs typeface="+mn-lt"/>
              </a:rPr>
              <a:t>outputLang</a:t>
            </a:r>
            <a:r>
              <a:rPr lang="en-US" sz="1100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": "</a:t>
            </a:r>
            <a:r>
              <a:rPr lang="en-US" sz="1100" dirty="0" err="1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en</a:t>
            </a:r>
            <a:r>
              <a:rPr lang="en-US" sz="1100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",</a:t>
            </a:r>
            <a:endParaRPr lang="en-US" sz="1100" dirty="0">
              <a:solidFill>
                <a:schemeClr val="tx1"/>
              </a:solidFill>
            </a:endParaRPr>
          </a:p>
          <a:p>
            <a:r>
              <a:rPr lang="en-US" sz="1100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   </a:t>
            </a:r>
            <a:r>
              <a:rPr lang="en-US" sz="1100" dirty="0">
                <a:solidFill>
                  <a:schemeClr val="tx1"/>
                </a:solidFill>
                <a:highlight>
                  <a:srgbClr val="FFFF00"/>
                </a:highlight>
                <a:latin typeface="Poppins Light"/>
                <a:ea typeface="+mn-lt"/>
                <a:cs typeface="+mn-lt"/>
              </a:rPr>
              <a:t> "</a:t>
            </a:r>
            <a:r>
              <a:rPr lang="en-US" sz="1100" dirty="0" err="1">
                <a:solidFill>
                  <a:schemeClr val="tx1"/>
                </a:solidFill>
                <a:highlight>
                  <a:srgbClr val="FFFF00"/>
                </a:highlight>
                <a:latin typeface="Poppins Light"/>
                <a:ea typeface="+mn-lt"/>
                <a:cs typeface="+mn-lt"/>
              </a:rPr>
              <a:t>targetRole</a:t>
            </a:r>
            <a:r>
              <a:rPr lang="en-US" sz="1100" dirty="0">
                <a:solidFill>
                  <a:schemeClr val="tx1"/>
                </a:solidFill>
                <a:highlight>
                  <a:srgbClr val="FFFF00"/>
                </a:highlight>
                <a:latin typeface="Poppins Light"/>
                <a:ea typeface="+mn-lt"/>
                <a:cs typeface="+mn-lt"/>
              </a:rPr>
              <a:t>": "</a:t>
            </a:r>
            <a:r>
              <a:rPr lang="en-US" sz="1100" dirty="0" err="1">
                <a:solidFill>
                  <a:schemeClr val="tx1"/>
                </a:solidFill>
                <a:highlight>
                  <a:srgbClr val="FFFF00"/>
                </a:highlight>
                <a:latin typeface="Poppins Light"/>
                <a:ea typeface="+mn-lt"/>
                <a:cs typeface="+mn-lt"/>
              </a:rPr>
              <a:t>role#ai_engineer</a:t>
            </a:r>
            <a:r>
              <a:rPr lang="en-US" sz="1100" dirty="0">
                <a:solidFill>
                  <a:schemeClr val="tx1"/>
                </a:solidFill>
                <a:highlight>
                  <a:srgbClr val="FFFF00"/>
                </a:highlight>
                <a:latin typeface="Poppins Light"/>
                <a:ea typeface="+mn-lt"/>
                <a:cs typeface="+mn-lt"/>
              </a:rPr>
              <a:t>",</a:t>
            </a:r>
            <a:endParaRPr lang="en-US" dirty="0">
              <a:solidFill>
                <a:schemeClr val="tx1"/>
              </a:solidFill>
            </a:endParaRPr>
          </a:p>
          <a:p>
            <a:r>
              <a:rPr lang="en-US" sz="1100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    "</a:t>
            </a:r>
            <a:r>
              <a:rPr lang="en-US" sz="1100" dirty="0" err="1">
                <a:solidFill>
                  <a:schemeClr val="tx1"/>
                </a:solidFill>
                <a:ea typeface="+mn-lt"/>
                <a:cs typeface="+mn-lt"/>
              </a:rPr>
              <a:t>resumeJson</a:t>
            </a:r>
            <a:r>
              <a:rPr lang="en-US" sz="1100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": {</a:t>
            </a:r>
          </a:p>
          <a:p>
            <a:r>
              <a:rPr lang="en-US" sz="1100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        "</a:t>
            </a:r>
            <a:r>
              <a:rPr lang="en-US" sz="1100" b="1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Profile</a:t>
            </a:r>
            <a:r>
              <a:rPr lang="en-US" sz="1100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": {},</a:t>
            </a:r>
          </a:p>
          <a:p>
            <a:r>
              <a:rPr lang="en-US" sz="1100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        "</a:t>
            </a:r>
            <a:r>
              <a:rPr lang="en-US" sz="1100" b="1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Summary</a:t>
            </a:r>
            <a:r>
              <a:rPr lang="en-US" sz="1100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":{},</a:t>
            </a:r>
          </a:p>
          <a:p>
            <a:r>
              <a:rPr lang="en-US" sz="1100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        "</a:t>
            </a:r>
            <a:r>
              <a:rPr lang="en-US" sz="1100" b="1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Education</a:t>
            </a:r>
            <a:r>
              <a:rPr lang="en-US" sz="1100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":[],</a:t>
            </a:r>
          </a:p>
          <a:p>
            <a:r>
              <a:rPr lang="en-US" sz="1100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        "</a:t>
            </a:r>
            <a:r>
              <a:rPr lang="en-US" sz="1100" b="1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Experience</a:t>
            </a:r>
            <a:r>
              <a:rPr lang="en-US" sz="1100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": [], </a:t>
            </a:r>
          </a:p>
          <a:p>
            <a:r>
              <a:rPr lang="en-US" sz="1100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        "</a:t>
            </a:r>
            <a:r>
              <a:rPr lang="en-US" sz="1100" b="1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Activity</a:t>
            </a:r>
            <a:r>
              <a:rPr lang="en-US" sz="1100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": [], </a:t>
            </a:r>
          </a:p>
          <a:p>
            <a:r>
              <a:rPr lang="en-US" sz="1100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        "</a:t>
            </a:r>
            <a:r>
              <a:rPr lang="en-US" sz="1100" b="1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Skills</a:t>
            </a:r>
            <a:r>
              <a:rPr lang="en-US" sz="1100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": {}</a:t>
            </a:r>
          </a:p>
          <a:p>
            <a:r>
              <a:rPr lang="en-US" sz="1100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    }</a:t>
            </a:r>
            <a:endParaRPr lang="en-US" sz="1100" dirty="0">
              <a:solidFill>
                <a:schemeClr val="tx1"/>
              </a:solidFill>
            </a:endParaRPr>
          </a:p>
          <a:p>
            <a:r>
              <a:rPr lang="en-US" sz="1100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}</a:t>
            </a:r>
            <a:endParaRPr lang="en-US" sz="1100" dirty="0">
              <a:solidFill>
                <a:schemeClr val="tx1"/>
              </a:solidFill>
            </a:endParaRPr>
          </a:p>
          <a:p>
            <a:endParaRPr lang="en-US" sz="1100" dirty="0">
              <a:solidFill>
                <a:schemeClr val="tx1"/>
              </a:solidFill>
              <a:cs typeface="Poppins Light"/>
            </a:endParaRPr>
          </a:p>
        </p:txBody>
      </p:sp>
      <p:sp>
        <p:nvSpPr>
          <p:cNvPr id="11" name="TextBox 2">
            <a:extLst>
              <a:ext uri="{FF2B5EF4-FFF2-40B4-BE49-F238E27FC236}">
                <a16:creationId xmlns:a16="http://schemas.microsoft.com/office/drawing/2014/main" id="{4B486FD3-533C-9A0C-CA7F-84B9C26FC3B1}"/>
              </a:ext>
            </a:extLst>
          </p:cNvPr>
          <p:cNvSpPr txBox="1"/>
          <p:nvPr/>
        </p:nvSpPr>
        <p:spPr>
          <a:xfrm>
            <a:off x="522317" y="6211437"/>
            <a:ext cx="4331464" cy="369332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>
                <a:solidFill>
                  <a:schemeClr val="tx1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CV Resume Evaluation Orchestrator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TextBox 1">
            <a:extLst>
              <a:ext uri="{FF2B5EF4-FFF2-40B4-BE49-F238E27FC236}">
                <a16:creationId xmlns:a16="http://schemas.microsoft.com/office/drawing/2014/main" id="{FA802B5D-8EFB-26A4-4971-CECE8A27C10A}"/>
              </a:ext>
            </a:extLst>
          </p:cNvPr>
          <p:cNvSpPr txBox="1"/>
          <p:nvPr/>
        </p:nvSpPr>
        <p:spPr>
          <a:xfrm>
            <a:off x="630190" y="1385330"/>
            <a:ext cx="5194010" cy="1277273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t">
            <a:spAutoFit/>
          </a:bodyPr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100" dirty="0">
                <a:solidFill>
                  <a:schemeClr val="tx1"/>
                </a:solidFill>
                <a:ea typeface="+mn-lt"/>
                <a:cs typeface="+mn-lt"/>
              </a:rPr>
              <a:t>The evaluation API accepts a lightweight request wrapper and a structured resume body.  The wrapper controls evaluation behavior, while the resume body contains the actual CV content.</a:t>
            </a:r>
          </a:p>
          <a:p>
            <a:r>
              <a:rPr lang="en-US" sz="1100" dirty="0">
                <a:solidFill>
                  <a:schemeClr val="tx1"/>
                </a:solidFill>
                <a:cs typeface="Poppins Light"/>
              </a:rPr>
              <a:t>Key point:</a:t>
            </a:r>
          </a:p>
          <a:p>
            <a:r>
              <a:rPr lang="en-US" sz="1100" dirty="0">
                <a:solidFill>
                  <a:schemeClr val="tx1"/>
                </a:solidFill>
                <a:cs typeface="Poppins Light"/>
              </a:rPr>
              <a:t>    - Actual resume content</a:t>
            </a:r>
          </a:p>
          <a:p>
            <a:r>
              <a:rPr lang="en-US" sz="1100" dirty="0">
                <a:solidFill>
                  <a:schemeClr val="tx1"/>
                </a:solidFill>
                <a:cs typeface="Poppins Light"/>
              </a:rPr>
              <a:t>    - Flexible : missing sections are allowed</a:t>
            </a:r>
          </a:p>
          <a:p>
            <a:r>
              <a:rPr lang="en-US" sz="1100" dirty="0">
                <a:solidFill>
                  <a:schemeClr val="tx1"/>
                </a:solidFill>
                <a:cs typeface="Poppins Light"/>
              </a:rPr>
              <a:t>    - Used as the main input for scoring</a:t>
            </a:r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9A2339AC-E1A4-8E96-3018-FED369D9A801}"/>
              </a:ext>
            </a:extLst>
          </p:cNvPr>
          <p:cNvSpPr txBox="1">
            <a:spLocks/>
          </p:cNvSpPr>
          <p:nvPr/>
        </p:nvSpPr>
        <p:spPr>
          <a:xfrm>
            <a:off x="838200" y="333595"/>
            <a:ext cx="10515600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defRPr/>
            </a:pPr>
            <a:r>
              <a:rPr lang="en-US" sz="2400">
                <a:solidFill>
                  <a:srgbClr val="519BC9"/>
                </a:solidFill>
                <a:latin typeface="Poppins Light"/>
                <a:cs typeface="Poppins Light"/>
              </a:rPr>
              <a:t>CVResume evaluation</a:t>
            </a:r>
            <a:r>
              <a:rPr lang="en-TH" sz="2400">
                <a:solidFill>
                  <a:srgbClr val="519BC9"/>
                </a:solidFill>
                <a:latin typeface="Poppins Light"/>
              </a:rPr>
              <a:t> </a:t>
            </a:r>
            <a:r>
              <a:rPr kumimoji="0" lang="en-TH" sz="2400" b="0" i="0" u="none" strike="noStrike" kern="1200" cap="none" spc="0" normalizeH="0" baseline="0" noProof="0">
                <a:ln>
                  <a:noFill/>
                </a:ln>
                <a:solidFill>
                  <a:srgbClr val="519BC9"/>
                </a:solidFill>
                <a:effectLst/>
                <a:uLnTx/>
                <a:uFillTx/>
                <a:latin typeface="Poppins Light"/>
                <a:ea typeface="+mj-ea"/>
              </a:rPr>
              <a:t>– </a:t>
            </a:r>
            <a:r>
              <a:rPr lang="en-US" sz="2400">
                <a:solidFill>
                  <a:srgbClr val="519BC9"/>
                </a:solidFill>
                <a:ea typeface="+mj-lt"/>
                <a:cs typeface="+mj-lt"/>
              </a:rPr>
              <a:t>Resume Evaluation Input Structure</a:t>
            </a:r>
            <a:endParaRPr lang="en-US">
              <a:solidFill>
                <a:srgbClr val="519BC9"/>
              </a:solidFill>
              <a:ea typeface="+mj-lt"/>
              <a:cs typeface="+mj-lt"/>
            </a:endParaRPr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57CDB5DB-CCF2-1DF7-A137-4920EB61E5E0}"/>
              </a:ext>
            </a:extLst>
          </p:cNvPr>
          <p:cNvCxnSpPr>
            <a:cxnSpLocks/>
          </p:cNvCxnSpPr>
          <p:nvPr/>
        </p:nvCxnSpPr>
        <p:spPr>
          <a:xfrm flipV="1">
            <a:off x="3381375" y="1080445"/>
            <a:ext cx="2986427" cy="2529530"/>
          </a:xfrm>
          <a:prstGeom prst="bentConnector3">
            <a:avLst>
              <a:gd name="adj1" fmla="val 88592"/>
            </a:avLst>
          </a:prstGeom>
          <a:ln w="19050" cap="flat" cmpd="sng" algn="ctr">
            <a:solidFill>
              <a:srgbClr val="FF7E79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" name="Oval 1">
            <a:extLst>
              <a:ext uri="{FF2B5EF4-FFF2-40B4-BE49-F238E27FC236}">
                <a16:creationId xmlns:a16="http://schemas.microsoft.com/office/drawing/2014/main" id="{4DF20318-6215-8BAE-A6DE-E6585AFA6BE5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61710109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EE03DC-2268-4C53-E5FA-664DAFF6DB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2601290000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18FAED-9B33-CB58-A85F-B17D9BBDFA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Done</a:t>
            </a:r>
          </a:p>
          <a:p>
            <a:pPr lvl="1"/>
            <a:r>
              <a:rPr lang="en-US" dirty="0"/>
              <a:t>Local data -&gt; </a:t>
            </a:r>
            <a:r>
              <a:rPr lang="en-US" dirty="0" err="1"/>
              <a:t>BigQuery</a:t>
            </a:r>
            <a:r>
              <a:rPr lang="en-US" dirty="0"/>
              <a:t> -&gt; Pipeline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498628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AFCAFD3-9891-20FB-C6ED-BAB18963C5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49205E-8C20-2365-D7D0-DCFD607D04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2601290937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B2979E9-0985-0ED0-AD10-E816C3369F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Done</a:t>
            </a:r>
          </a:p>
          <a:p>
            <a:pPr lvl="1"/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Local data -&gt; </a:t>
            </a:r>
            <a:r>
              <a:rPr lang="en-US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BigQuery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 -&gt; Pipeline</a:t>
            </a:r>
          </a:p>
          <a:p>
            <a:pPr lvl="1"/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Upload Embedding output -&gt; </a:t>
            </a:r>
            <a:r>
              <a:rPr lang="en-US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BigQuery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 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(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ไม่สมบูรณ์แค่ 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Upload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 ขึ้น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)</a:t>
            </a:r>
          </a:p>
          <a:p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Today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ออกแบบ 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Json field 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ที่มีเก็บรายละเอียดมากขึ้น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 &amp; 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ตกลงว่าจะเอา 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Field 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อะไรบ้าง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เขียยนโค้ดให้เป็นเรื่องราวมากขึ้น ไม่ใช้ 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spaghetti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ออกแบบระบบ </a:t>
            </a:r>
            <a:r>
              <a:rPr lang="en-US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Retirer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 30 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วัน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ทำความเข้าใจ 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pipeline_2-3</a:t>
            </a:r>
            <a:endParaRPr lang="th-TH" dirty="0">
              <a:latin typeface="TH SarabunPSK" panose="020B0500040200020003" pitchFamily="34" charset="-34"/>
              <a:cs typeface="TH SarabunPSK" panose="020B0500040200020003" pitchFamily="34" charset="-34"/>
            </a:endParaRPr>
          </a:p>
          <a:p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Issue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ไม่รู้ว่าจะต้องทำอะไร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ไม่รู้ว่าที่ทำมามันถูกใช่ไหม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แล้วหน้าตาสุดท้ายจะเป็นยังไง</a:t>
            </a:r>
            <a:endParaRPr lang="en-US" dirty="0">
              <a:latin typeface="TH SarabunPSK" panose="020B0500040200020003" pitchFamily="34" charset="-34"/>
              <a:cs typeface="TH SarabunPSK" panose="020B0500040200020003" pitchFamily="34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3002901092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CD4C233-AF9F-3A7C-CA6A-1C05EFC0E6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3C8AF0-A03B-C1E4-B0C8-7A58EBFA6B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2601290937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95731AC-B924-4F9C-2F6D-377DA3F7C6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14007"/>
            <a:ext cx="10515600" cy="4978868"/>
          </a:xfrm>
        </p:spPr>
        <p:txBody>
          <a:bodyPr>
            <a:noAutofit/>
          </a:bodyPr>
          <a:lstStyle/>
          <a:p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Done</a:t>
            </a:r>
          </a:p>
          <a:p>
            <a:pPr lvl="1"/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Completed data flow local data to </a:t>
            </a:r>
            <a:r>
              <a:rPr lang="en-US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BigQuery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 and into the pipeline</a:t>
            </a:r>
          </a:p>
          <a:p>
            <a:pPr lvl="1"/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Uploaded initial embedding outputs to </a:t>
            </a:r>
            <a:r>
              <a:rPr lang="en-US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BigQuery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 (next step : full integration)</a:t>
            </a:r>
          </a:p>
          <a:p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Today</a:t>
            </a:r>
          </a:p>
          <a:p>
            <a:pPr lvl="1"/>
            <a:r>
              <a:rPr lang="en-US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Disigned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 a richer JSON schema and finalized required fields</a:t>
            </a:r>
          </a:p>
          <a:p>
            <a:pPr lvl="1"/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Refactored code to be more structured and readable (Reduced spaghetti code)</a:t>
            </a:r>
          </a:p>
          <a:p>
            <a:pPr lvl="1"/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Designed a 30-day data retention system</a:t>
            </a:r>
          </a:p>
          <a:p>
            <a:pPr lvl="1"/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Reviewed and gained understanding of pipeline_2 and pipeline_3</a:t>
            </a:r>
            <a:endParaRPr lang="th-TH" dirty="0">
              <a:latin typeface="TH SarabunPSK" panose="020B0500040200020003" pitchFamily="34" charset="-34"/>
              <a:cs typeface="TH SarabunPSK" panose="020B0500040200020003" pitchFamily="34" charset="-34"/>
            </a:endParaRPr>
          </a:p>
          <a:p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Issue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ไม่รู้ว่าที่ทำมามันถูกใช่ไหม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แล้วหน้าตาสุดท้ายจะเป็นยังไง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 </a:t>
            </a:r>
          </a:p>
          <a:p>
            <a:pPr lvl="2"/>
            <a:r>
              <a:rPr lang="th-TH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ที่ใช้ </a:t>
            </a:r>
            <a:r>
              <a:rPr lang="en-US" sz="2400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BigQuery</a:t>
            </a: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</a:t>
            </a:r>
            <a:r>
              <a:rPr lang="th-TH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ถูกไหม </a:t>
            </a:r>
            <a:endParaRPr lang="en-US" sz="2400" dirty="0">
              <a:latin typeface="TH SarabunPSK" panose="020B0500040200020003" pitchFamily="34" charset="-34"/>
              <a:cs typeface="TH SarabunPSK" panose="020B0500040200020003" pitchFamily="34" charset="-34"/>
            </a:endParaRPr>
          </a:p>
          <a:p>
            <a:pPr lvl="2"/>
            <a:r>
              <a:rPr lang="th-TH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บน </a:t>
            </a:r>
            <a:r>
              <a:rPr lang="en-US" sz="2400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FastAPI</a:t>
            </a: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</a:t>
            </a:r>
            <a:r>
              <a:rPr lang="th-TH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ก็แค่เอาไว้ให้ </a:t>
            </a: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user trigger update batch </a:t>
            </a:r>
            <a:r>
              <a:rPr lang="th-TH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กับ แบบ </a:t>
            </a: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individual</a:t>
            </a:r>
          </a:p>
        </p:txBody>
      </p:sp>
    </p:spTree>
    <p:extLst>
      <p:ext uri="{BB962C8B-B14F-4D97-AF65-F5344CB8AC3E}">
        <p14:creationId xmlns:p14="http://schemas.microsoft.com/office/powerpoint/2010/main" val="303883130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C5EF17D-FAE3-8DB4-6D25-2B76EF5A9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CA241FB5-621C-03F2-E625-4BC0410C6F15}"/>
              </a:ext>
            </a:extLst>
          </p:cNvPr>
          <p:cNvSpPr txBox="1">
            <a:spLocks/>
          </p:cNvSpPr>
          <p:nvPr/>
        </p:nvSpPr>
        <p:spPr>
          <a:xfrm>
            <a:off x="838200" y="333595"/>
            <a:ext cx="10515600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</a:t>
            </a:r>
            <a:r>
              <a:rPr lang="en-TH" sz="2400" dirty="0"/>
              <a:t>– System Overview</a:t>
            </a:r>
            <a:endParaRPr 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AB044FC-3C25-B109-0DFE-A5FCFD7B33BA}"/>
              </a:ext>
            </a:extLst>
          </p:cNvPr>
          <p:cNvSpPr/>
          <p:nvPr/>
        </p:nvSpPr>
        <p:spPr>
          <a:xfrm>
            <a:off x="2038350" y="1980000"/>
            <a:ext cx="8134350" cy="2953949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DD2B16C-89F0-35F3-78C6-9069CFC28A43}"/>
              </a:ext>
            </a:extLst>
          </p:cNvPr>
          <p:cNvSpPr/>
          <p:nvPr/>
        </p:nvSpPr>
        <p:spPr>
          <a:xfrm>
            <a:off x="2133682" y="3196625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Prepare_history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51B723D0-DEFC-8936-FBF4-81947C9BC744}"/>
              </a:ext>
            </a:extLst>
          </p:cNvPr>
          <p:cNvCxnSpPr>
            <a:cxnSpLocks/>
          </p:cNvCxnSpPr>
          <p:nvPr/>
        </p:nvCxnSpPr>
        <p:spPr>
          <a:xfrm>
            <a:off x="3589725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94919523-148F-FF94-9DAF-5F46B09CB3FA}"/>
              </a:ext>
            </a:extLst>
          </p:cNvPr>
          <p:cNvSpPr/>
          <p:nvPr/>
        </p:nvSpPr>
        <p:spPr>
          <a:xfrm>
            <a:off x="3962040" y="3196625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User_context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D5D79ED-9135-4FF9-67E0-E265ADE89CF4}"/>
              </a:ext>
            </a:extLst>
          </p:cNvPr>
          <p:cNvCxnSpPr>
            <a:cxnSpLocks/>
          </p:cNvCxnSpPr>
          <p:nvPr/>
        </p:nvCxnSpPr>
        <p:spPr>
          <a:xfrm>
            <a:off x="5418083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AB029560-46FF-8985-D830-40A19AEB958F}"/>
              </a:ext>
            </a:extLst>
          </p:cNvPr>
          <p:cNvSpPr/>
          <p:nvPr/>
        </p:nvSpPr>
        <p:spPr>
          <a:xfrm>
            <a:off x="5418083" y="408245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HyDE_prompt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6D295B83-5C26-F9FE-5378-F9DBAD445099}"/>
              </a:ext>
            </a:extLst>
          </p:cNvPr>
          <p:cNvCxnSpPr>
            <a:cxnSpLocks/>
          </p:cNvCxnSpPr>
          <p:nvPr/>
        </p:nvCxnSpPr>
        <p:spPr>
          <a:xfrm>
            <a:off x="6395481" y="343795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62AA0337-0CF7-B496-8CC5-B6A1936E9B07}"/>
              </a:ext>
            </a:extLst>
          </p:cNvPr>
          <p:cNvSpPr/>
          <p:nvPr/>
        </p:nvSpPr>
        <p:spPr>
          <a:xfrm>
            <a:off x="5418083" y="227155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Llm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</a:t>
            </a: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_flast_2.5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D05AA3B6-E697-8E8D-52F9-9CB120DDAEF7}"/>
              </a:ext>
            </a:extLst>
          </p:cNvPr>
          <p:cNvCxnSpPr>
            <a:cxnSpLocks/>
          </p:cNvCxnSpPr>
          <p:nvPr/>
        </p:nvCxnSpPr>
        <p:spPr>
          <a:xfrm>
            <a:off x="6096000" y="2845400"/>
            <a:ext cx="0" cy="25775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99869F6F-1596-3206-B079-5B87561C3A41}"/>
              </a:ext>
            </a:extLst>
          </p:cNvPr>
          <p:cNvCxnSpPr>
            <a:cxnSpLocks/>
          </p:cNvCxnSpPr>
          <p:nvPr/>
        </p:nvCxnSpPr>
        <p:spPr>
          <a:xfrm flipV="1">
            <a:off x="6096000" y="3747100"/>
            <a:ext cx="0" cy="25775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7663727E-27D6-B6EE-D101-E7052CF01EFD}"/>
              </a:ext>
            </a:extLst>
          </p:cNvPr>
          <p:cNvSpPr/>
          <p:nvPr/>
        </p:nvSpPr>
        <p:spPr>
          <a:xfrm>
            <a:off x="6874126" y="317700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gemini-embedding-001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6356E6D-EE13-8DB2-A76A-70C771ED8A48}"/>
              </a:ext>
            </a:extLst>
          </p:cNvPr>
          <p:cNvCxnSpPr>
            <a:cxnSpLocks/>
          </p:cNvCxnSpPr>
          <p:nvPr/>
        </p:nvCxnSpPr>
        <p:spPr>
          <a:xfrm>
            <a:off x="8330169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51947E0C-0891-CEAB-0B87-F7B88505A797}"/>
              </a:ext>
            </a:extLst>
          </p:cNvPr>
          <p:cNvSpPr/>
          <p:nvPr/>
        </p:nvSpPr>
        <p:spPr>
          <a:xfrm>
            <a:off x="8702484" y="317700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Embedded vector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B8A45AA8-736A-59A1-7663-9E6FA143E54A}"/>
              </a:ext>
            </a:extLst>
          </p:cNvPr>
          <p:cNvSpPr/>
          <p:nvPr/>
        </p:nvSpPr>
        <p:spPr>
          <a:xfrm>
            <a:off x="5896850" y="3249475"/>
            <a:ext cx="398300" cy="398300"/>
          </a:xfrm>
          <a:prstGeom prst="ellipse">
            <a:avLst/>
          </a:prstGeom>
        </p:spPr>
        <p:style>
          <a:lnRef idx="1">
            <a:schemeClr val="dk1"/>
          </a:lnRef>
          <a:fillRef idx="1002">
            <a:schemeClr val="lt2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EC05D727-EAEC-3DBE-3EC9-3FBE8202ABA8}"/>
              </a:ext>
            </a:extLst>
          </p:cNvPr>
          <p:cNvCxnSpPr>
            <a:cxnSpLocks/>
          </p:cNvCxnSpPr>
          <p:nvPr/>
        </p:nvCxnSpPr>
        <p:spPr>
          <a:xfrm>
            <a:off x="1669401" y="34333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5399375C-6840-7176-C49B-35317A7B856D}"/>
              </a:ext>
            </a:extLst>
          </p:cNvPr>
          <p:cNvCxnSpPr>
            <a:cxnSpLocks/>
          </p:cNvCxnSpPr>
          <p:nvPr/>
        </p:nvCxnSpPr>
        <p:spPr>
          <a:xfrm>
            <a:off x="10239375" y="3428049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" name="Picture 2" descr="What Is BigQuery And How Do You Load Data Into It? - Seattle Data Guy">
            <a:extLst>
              <a:ext uri="{FF2B5EF4-FFF2-40B4-BE49-F238E27FC236}">
                <a16:creationId xmlns:a16="http://schemas.microsoft.com/office/drawing/2014/main" id="{1EAF1AC4-9CC6-86D3-8B4E-2C580EE97B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3142" y="3052552"/>
            <a:ext cx="1335100" cy="7509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4193437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6FD6E4F-886B-CC67-1C51-230A6575C4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4999BE93-6CCF-E4B7-5BF4-0E87CB925488}"/>
              </a:ext>
            </a:extLst>
          </p:cNvPr>
          <p:cNvSpPr txBox="1">
            <a:spLocks/>
          </p:cNvSpPr>
          <p:nvPr/>
        </p:nvSpPr>
        <p:spPr>
          <a:xfrm>
            <a:off x="838200" y="333595"/>
            <a:ext cx="10515600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</a:t>
            </a:r>
            <a:r>
              <a:rPr lang="en-TH" sz="2400" dirty="0"/>
              <a:t>– System Overview</a:t>
            </a: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BCDCDA4-6B4B-3FE4-35D5-F0B4A7FC4F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2066" y="1202535"/>
            <a:ext cx="9087867" cy="51098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173016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6165DDE-FB04-76D7-3668-1C8FFAC2B3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F717AF79-CB6A-D8D0-8693-1E6DA71D85DF}"/>
              </a:ext>
            </a:extLst>
          </p:cNvPr>
          <p:cNvSpPr txBox="1">
            <a:spLocks/>
          </p:cNvSpPr>
          <p:nvPr/>
        </p:nvSpPr>
        <p:spPr>
          <a:xfrm>
            <a:off x="838200" y="333595"/>
            <a:ext cx="10515600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>
                <a:cs typeface="Poppins Light"/>
              </a:rPr>
              <a:t>HyDE feed recommendation </a:t>
            </a:r>
            <a:r>
              <a:rPr lang="en-TH" sz="2400"/>
              <a:t>– System Overview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7A8CDBD-395A-0A63-82F9-ADB110D125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4941" y="1418944"/>
            <a:ext cx="8002117" cy="4020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607908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B899E40-7CCD-4EC1-3900-B7204DBE19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5F7C9388-6A03-7ADA-798A-97D03A90EB9E}"/>
              </a:ext>
            </a:extLst>
          </p:cNvPr>
          <p:cNvSpPr txBox="1">
            <a:spLocks/>
          </p:cNvSpPr>
          <p:nvPr/>
        </p:nvSpPr>
        <p:spPr>
          <a:xfrm>
            <a:off x="838200" y="333595"/>
            <a:ext cx="10515600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>
                <a:cs typeface="Poppins Light"/>
              </a:rPr>
              <a:t>HyDE feed recommendation </a:t>
            </a:r>
            <a:r>
              <a:rPr lang="en-TH" sz="2400"/>
              <a:t>– System Overview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69E9D9D-6703-4F3A-D21D-98B2A72797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4941" y="1418944"/>
            <a:ext cx="8002117" cy="4020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2149321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D4C99A6-1D03-848C-AFA2-8E8826D5E3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134E9C10-B91D-13B0-26A5-3E5F00DCA897}"/>
              </a:ext>
            </a:extLst>
          </p:cNvPr>
          <p:cNvSpPr txBox="1">
            <a:spLocks/>
          </p:cNvSpPr>
          <p:nvPr/>
        </p:nvSpPr>
        <p:spPr>
          <a:xfrm>
            <a:off x="838200" y="333595"/>
            <a:ext cx="10515600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>
                <a:cs typeface="Poppins Light"/>
              </a:rPr>
              <a:t>HyDE feed recommendation </a:t>
            </a:r>
            <a:r>
              <a:rPr lang="en-TH" sz="2400"/>
              <a:t>– System Overview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FFCBA73-BCEE-2FEF-5435-94246FC274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0174" y="1118748"/>
            <a:ext cx="9391650" cy="528066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2131BD0-0F3B-CD17-2D1D-8376C7594611}"/>
              </a:ext>
            </a:extLst>
          </p:cNvPr>
          <p:cNvSpPr txBox="1"/>
          <p:nvPr/>
        </p:nvSpPr>
        <p:spPr>
          <a:xfrm>
            <a:off x="838200" y="933450"/>
            <a:ext cx="1973282" cy="950119"/>
          </a:xfrm>
          <a:prstGeom prst="roundRect">
            <a:avLst>
              <a:gd name="adj" fmla="val 4406"/>
            </a:avLst>
          </a:prstGeom>
          <a:solidFill>
            <a:srgbClr val="FFD100"/>
          </a:solidFill>
        </p:spPr>
        <p:txBody>
          <a:bodyPr wrap="none" rtlCol="0">
            <a:spAutoFit/>
          </a:bodyPr>
          <a:lstStyle/>
          <a:p>
            <a:r>
              <a:rPr lang="en-US" dirty="0" err="1"/>
              <a:t>Dsxxxxxxxxxxxxxx</a:t>
            </a:r>
            <a:endParaRPr lang="en-US" dirty="0"/>
          </a:p>
          <a:p>
            <a:r>
              <a:rPr lang="en-US" dirty="0" err="1"/>
              <a:t>Xxxxxxxxxxxxxxxxx</a:t>
            </a:r>
            <a:endParaRPr lang="en-US" dirty="0"/>
          </a:p>
          <a:p>
            <a:r>
              <a:rPr lang="en-US" dirty="0" err="1"/>
              <a:t>xxxxxxxxxxxxxxxxx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6142344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0D175C7-B61D-A34A-6D20-6DB1FE3AD5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FC9A56-F9C0-CAB0-6C55-1DAAE48A8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2601290937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24007C1-42CB-4D62-A2EF-F669884F75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14007"/>
            <a:ext cx="10515600" cy="4978868"/>
          </a:xfrm>
        </p:spPr>
        <p:txBody>
          <a:bodyPr>
            <a:noAutofit/>
          </a:bodyPr>
          <a:lstStyle/>
          <a:p>
            <a:r>
              <a:rPr lang="en-US" sz="2400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BigQuery</a:t>
            </a: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X</a:t>
            </a:r>
          </a:p>
          <a:p>
            <a:pPr lvl="1"/>
            <a:r>
              <a:rPr lang="en-US" sz="2000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Datalake</a:t>
            </a:r>
            <a:r>
              <a:rPr lang="en-US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</a:t>
            </a:r>
          </a:p>
          <a:p>
            <a:pPr lvl="1"/>
            <a:r>
              <a:rPr lang="th-TH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เพราะ ต้อง </a:t>
            </a:r>
            <a:r>
              <a:rPr lang="en-US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similarity search</a:t>
            </a:r>
          </a:p>
          <a:p>
            <a:pPr lvl="1"/>
            <a:r>
              <a:rPr lang="th-TH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แบ่งชื่อ </a:t>
            </a:r>
            <a:r>
              <a:rPr lang="en-US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Folder </a:t>
            </a:r>
            <a:r>
              <a:rPr lang="th-TH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เอาไว้</a:t>
            </a:r>
          </a:p>
          <a:p>
            <a:pPr lvl="1"/>
            <a:r>
              <a:rPr lang="th-TH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เก็บ </a:t>
            </a:r>
            <a:r>
              <a:rPr lang="en-US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vector , meta</a:t>
            </a:r>
          </a:p>
          <a:p>
            <a:r>
              <a:rPr lang="en-US" sz="2400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Datalake</a:t>
            </a:r>
            <a:b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</a:b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|- Student01</a:t>
            </a:r>
            <a:b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</a:b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   |- Vector 1 – 5</a:t>
            </a:r>
            <a:b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</a:b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   |- Metadata</a:t>
            </a:r>
            <a:b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</a:b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|- student02 </a:t>
            </a:r>
            <a:b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</a:b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… .</a:t>
            </a:r>
          </a:p>
        </p:txBody>
      </p:sp>
    </p:spTree>
    <p:extLst>
      <p:ext uri="{BB962C8B-B14F-4D97-AF65-F5344CB8AC3E}">
        <p14:creationId xmlns:p14="http://schemas.microsoft.com/office/powerpoint/2010/main" val="2141177850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679D549-56EE-B4D6-6524-1BF9B3C07921}"/>
              </a:ext>
            </a:extLst>
          </p:cNvPr>
          <p:cNvSpPr txBox="1"/>
          <p:nvPr/>
        </p:nvSpPr>
        <p:spPr>
          <a:xfrm>
            <a:off x="904875" y="1690688"/>
            <a:ext cx="2667000" cy="972562"/>
          </a:xfrm>
          <a:prstGeom prst="roundRect">
            <a:avLst>
              <a:gd name="adj" fmla="val 4406"/>
            </a:avLst>
          </a:prstGeom>
          <a:solidFill>
            <a:srgbClr val="FFD100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Topic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r>
              <a:rPr lang="en-US" sz="1400" dirty="0">
                <a:latin typeface="Consolas" panose="020B0609020204030204" pitchFamily="49" charset="0"/>
              </a:rPr>
              <a:t> 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endParaRPr lang="en-US" sz="140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429EE50-88F3-8D68-7D08-391B1803C3CB}"/>
              </a:ext>
            </a:extLst>
          </p:cNvPr>
          <p:cNvSpPr txBox="1"/>
          <p:nvPr/>
        </p:nvSpPr>
        <p:spPr>
          <a:xfrm>
            <a:off x="904875" y="2942719"/>
            <a:ext cx="2667000" cy="972562"/>
          </a:xfrm>
          <a:prstGeom prst="roundRect">
            <a:avLst>
              <a:gd name="adj" fmla="val 4406"/>
            </a:avLst>
          </a:prstGeom>
          <a:solidFill>
            <a:srgbClr val="BADF55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Topic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r>
              <a:rPr lang="en-US" sz="1400" dirty="0">
                <a:latin typeface="Consolas" panose="020B0609020204030204" pitchFamily="49" charset="0"/>
              </a:rPr>
              <a:t> 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endParaRPr lang="en-US" sz="1400" dirty="0"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A23808C-0547-AD5E-C87F-5314EC4D4167}"/>
              </a:ext>
            </a:extLst>
          </p:cNvPr>
          <p:cNvSpPr txBox="1"/>
          <p:nvPr/>
        </p:nvSpPr>
        <p:spPr>
          <a:xfrm>
            <a:off x="904875" y="4189988"/>
            <a:ext cx="2667000" cy="972562"/>
          </a:xfrm>
          <a:prstGeom prst="roundRect">
            <a:avLst>
              <a:gd name="adj" fmla="val 4406"/>
            </a:avLst>
          </a:prstGeom>
          <a:solidFill>
            <a:srgbClr val="E96060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Topic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r>
              <a:rPr lang="en-US" sz="1400" dirty="0">
                <a:latin typeface="Consolas" panose="020B0609020204030204" pitchFamily="49" charset="0"/>
              </a:rPr>
              <a:t> 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endParaRPr lang="en-US" sz="1400" dirty="0">
              <a:latin typeface="Consolas" panose="020B0609020204030204" pitchFamily="49" charset="0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5D167B7-AC2E-1CCE-8986-19AEB6FEEF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3595"/>
            <a:ext cx="10515600" cy="528254"/>
          </a:xfrm>
        </p:spPr>
        <p:txBody>
          <a:bodyPr vert="horz" anchor="ctr">
            <a:normAutofit/>
          </a:bodyPr>
          <a:lstStyle/>
          <a:p>
            <a:pPr algn="ctr"/>
            <a:r>
              <a:rPr lang="en-US" sz="2400" dirty="0">
                <a:cs typeface="Poppins Light"/>
              </a:rPr>
              <a:t>Project</a:t>
            </a:r>
            <a:r>
              <a:rPr lang="en-TH" sz="2400" dirty="0"/>
              <a:t> – </a:t>
            </a:r>
            <a:r>
              <a:rPr lang="en-US" sz="2400" dirty="0"/>
              <a:t>Topic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D864C543-9F9A-6DEE-6454-0A3BDAFF5C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184529"/>
              </p:ext>
            </p:extLst>
          </p:nvPr>
        </p:nvGraphicFramePr>
        <p:xfrm>
          <a:off x="4514850" y="1367334"/>
          <a:ext cx="6962484" cy="315076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50262">
                  <a:extLst>
                    <a:ext uri="{9D8B030D-6E8A-4147-A177-3AD203B41FA5}">
                      <a16:colId xmlns:a16="http://schemas.microsoft.com/office/drawing/2014/main" val="2615654620"/>
                    </a:ext>
                  </a:extLst>
                </a:gridCol>
                <a:gridCol w="1002037">
                  <a:extLst>
                    <a:ext uri="{9D8B030D-6E8A-4147-A177-3AD203B41FA5}">
                      <a16:colId xmlns:a16="http://schemas.microsoft.com/office/drawing/2014/main" val="2666134677"/>
                    </a:ext>
                  </a:extLst>
                </a:gridCol>
                <a:gridCol w="1002037">
                  <a:extLst>
                    <a:ext uri="{9D8B030D-6E8A-4147-A177-3AD203B41FA5}">
                      <a16:colId xmlns:a16="http://schemas.microsoft.com/office/drawing/2014/main" val="1474476578"/>
                    </a:ext>
                  </a:extLst>
                </a:gridCol>
                <a:gridCol w="1002037">
                  <a:extLst>
                    <a:ext uri="{9D8B030D-6E8A-4147-A177-3AD203B41FA5}">
                      <a16:colId xmlns:a16="http://schemas.microsoft.com/office/drawing/2014/main" val="3016239017"/>
                    </a:ext>
                  </a:extLst>
                </a:gridCol>
                <a:gridCol w="1002037">
                  <a:extLst>
                    <a:ext uri="{9D8B030D-6E8A-4147-A177-3AD203B41FA5}">
                      <a16:colId xmlns:a16="http://schemas.microsoft.com/office/drawing/2014/main" val="140374584"/>
                    </a:ext>
                  </a:extLst>
                </a:gridCol>
                <a:gridCol w="1002037">
                  <a:extLst>
                    <a:ext uri="{9D8B030D-6E8A-4147-A177-3AD203B41FA5}">
                      <a16:colId xmlns:a16="http://schemas.microsoft.com/office/drawing/2014/main" val="3587445227"/>
                    </a:ext>
                  </a:extLst>
                </a:gridCol>
                <a:gridCol w="1002037">
                  <a:extLst>
                    <a:ext uri="{9D8B030D-6E8A-4147-A177-3AD203B41FA5}">
                      <a16:colId xmlns:a16="http://schemas.microsoft.com/office/drawing/2014/main" val="485861284"/>
                    </a:ext>
                  </a:extLst>
                </a:gridCol>
              </a:tblGrid>
              <a:tr h="68154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Section</a:t>
                      </a:r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Complete</a:t>
                      </a:r>
                      <a:endParaRPr lang="en-US"/>
                    </a:p>
                    <a:p>
                      <a:pPr lvl="0" algn="ctr">
                        <a:buNone/>
                      </a:pPr>
                      <a:r>
                        <a:rPr lang="en-GB" sz="105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ness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Content</a:t>
                      </a:r>
                      <a:endParaRPr lang="en-US"/>
                    </a:p>
                    <a:p>
                      <a:pPr lvl="0" algn="ctr">
                        <a:buNone/>
                      </a:pPr>
                      <a:r>
                        <a:rPr lang="en-GB" sz="110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Quality</a:t>
                      </a:r>
                      <a:endParaRPr lang="en-US"/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Grammar</a:t>
                      </a:r>
                      <a:endParaRPr lang="en-US"/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Length</a:t>
                      </a:r>
                      <a:endParaRPr lang="en-US"/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Role</a:t>
                      </a:r>
                    </a:p>
                    <a:p>
                      <a:pPr lvl="0" algn="ctr">
                        <a:buNone/>
                      </a:pPr>
                      <a:r>
                        <a:rPr lang="en-GB" sz="110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Relevance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Section</a:t>
                      </a:r>
                      <a:endParaRPr lang="en-US"/>
                    </a:p>
                    <a:p>
                      <a:pPr lvl="0" algn="ctr">
                        <a:buNone/>
                      </a:pPr>
                      <a:r>
                        <a:rPr lang="en-GB" sz="110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Weight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3995445"/>
                  </a:ext>
                </a:extLst>
              </a:tr>
              <a:tr h="402225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1" i="0" u="none" strike="noStrike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Profile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 dirty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600" b="1">
                          <a:solidFill>
                            <a:schemeClr val="tx1"/>
                          </a:solidFill>
                        </a:rPr>
                        <a:t>0.10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9768461"/>
                  </a:ext>
                </a:extLst>
              </a:tr>
              <a:tr h="41339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1" i="0" u="none" strike="noStrike" noProof="0">
                          <a:solidFill>
                            <a:schemeClr val="tx1"/>
                          </a:solidFill>
                        </a:rPr>
                        <a:t>Summary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 dirty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 dirty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 dirty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600" b="1">
                          <a:solidFill>
                            <a:schemeClr val="tx1"/>
                          </a:solidFill>
                        </a:rPr>
                        <a:t>0.10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14855725"/>
                  </a:ext>
                </a:extLst>
              </a:tr>
              <a:tr h="41339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1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Education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600" b="1" i="0" u="none" strike="noStrike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0.20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27005145"/>
                  </a:ext>
                </a:extLst>
              </a:tr>
              <a:tr h="41339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1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Experience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600" b="1" i="0" u="none" strike="noStrike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0.20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8337563"/>
                  </a:ext>
                </a:extLst>
              </a:tr>
              <a:tr h="41339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1" i="0" u="none" strike="noStrike" baseline="0" noProof="0">
                          <a:solidFill>
                            <a:schemeClr val="tx1"/>
                          </a:solidFill>
                        </a:rPr>
                        <a:t>Activities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600" b="1" i="0" u="none" strike="noStrike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0.20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43775761"/>
                  </a:ext>
                </a:extLst>
              </a:tr>
              <a:tr h="41339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1" i="0" u="none" strike="noStrike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Skills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600" b="1" i="0" u="none" strike="noStrike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0.20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38533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65860227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6200</TotalTime>
  <Words>4782</Words>
  <Application>Microsoft Office PowerPoint</Application>
  <PresentationFormat>Widescreen</PresentationFormat>
  <Paragraphs>1273</Paragraphs>
  <Slides>102</Slides>
  <Notes>9</Notes>
  <HiddenSlides>12</HiddenSlides>
  <MMClips>0</MMClips>
  <ScaleCrop>false</ScaleCrop>
  <HeadingPairs>
    <vt:vector size="8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102</vt:i4>
      </vt:variant>
    </vt:vector>
  </HeadingPairs>
  <TitlesOfParts>
    <vt:vector size="115" baseType="lpstr">
      <vt:lpstr>Aptos</vt:lpstr>
      <vt:lpstr>Aptos Display</vt:lpstr>
      <vt:lpstr>Aptos Narrow</vt:lpstr>
      <vt:lpstr>Arial</vt:lpstr>
      <vt:lpstr>Arial Unicode MS</vt:lpstr>
      <vt:lpstr>Cambria Math</vt:lpstr>
      <vt:lpstr>Consolas</vt:lpstr>
      <vt:lpstr>Grandview</vt:lpstr>
      <vt:lpstr>Poppins Light</vt:lpstr>
      <vt:lpstr>TH SarabunPSK</vt:lpstr>
      <vt:lpstr>Trebuchet MS</vt:lpstr>
      <vt:lpstr>Office Theme</vt:lpstr>
      <vt:lpstr>think-cell Slide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Tue,260224</vt:lpstr>
      <vt:lpstr>Tue,260224</vt:lpstr>
      <vt:lpstr>Tue,260224</vt:lpstr>
      <vt:lpstr>Thu,260219</vt:lpstr>
      <vt:lpstr>Thu,120226</vt:lpstr>
      <vt:lpstr>Wed,180226</vt:lpstr>
      <vt:lpstr>PowerPoint Presentation</vt:lpstr>
      <vt:lpstr>Tue,100226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Mon,090226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Fri,060226</vt:lpstr>
      <vt:lpstr>Thu,050226</vt:lpstr>
      <vt:lpstr>Wed,040226</vt:lpstr>
      <vt:lpstr>Tue,050226</vt:lpstr>
      <vt:lpstr>PowerPoint Presentation</vt:lpstr>
      <vt:lpstr>Tue,030226</vt:lpstr>
      <vt:lpstr>PowerPoint Presentation</vt:lpstr>
      <vt:lpstr>PowerPoint Presentation</vt:lpstr>
      <vt:lpstr>Tue,040226</vt:lpstr>
      <vt:lpstr>PowerPoint Presentation</vt:lpstr>
      <vt:lpstr>2601290000</vt:lpstr>
      <vt:lpstr>2601290937</vt:lpstr>
      <vt:lpstr>2601290937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2601290937</vt:lpstr>
      <vt:lpstr>Project – Topic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Tun Kedsaro</dc:creator>
  <cp:lastModifiedBy>Tun Kedsaro</cp:lastModifiedBy>
  <cp:revision>86</cp:revision>
  <dcterms:created xsi:type="dcterms:W3CDTF">2026-01-29T03:40:55Z</dcterms:created>
  <dcterms:modified xsi:type="dcterms:W3CDTF">2026-03-02T08:07:16Z</dcterms:modified>
</cp:coreProperties>
</file>