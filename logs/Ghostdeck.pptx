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5"/>
  </p:notesMasterIdLst>
  <p:sldIdLst>
    <p:sldId id="2147481407" r:id="rId2"/>
    <p:sldId id="257" r:id="rId3"/>
    <p:sldId id="2147481409" r:id="rId4"/>
    <p:sldId id="2147481410" r:id="rId5"/>
    <p:sldId id="2147481437" r:id="rId6"/>
    <p:sldId id="2147481424" r:id="rId7"/>
    <p:sldId id="2147481411" r:id="rId8"/>
    <p:sldId id="2147481418" r:id="rId9"/>
    <p:sldId id="2147481442" r:id="rId10"/>
    <p:sldId id="2147481433" r:id="rId11"/>
    <p:sldId id="2147481439" r:id="rId12"/>
    <p:sldId id="2147481443" r:id="rId13"/>
    <p:sldId id="2147481440" r:id="rId14"/>
    <p:sldId id="2147481441" r:id="rId15"/>
    <p:sldId id="2147481438" r:id="rId16"/>
    <p:sldId id="2147481415" r:id="rId17"/>
    <p:sldId id="2147481432" r:id="rId18"/>
    <p:sldId id="2147481414" r:id="rId19"/>
    <p:sldId id="2147481431" r:id="rId20"/>
    <p:sldId id="2147481412" r:id="rId21"/>
    <p:sldId id="2147481460" r:id="rId22"/>
    <p:sldId id="2147481459" r:id="rId23"/>
    <p:sldId id="2147481466" r:id="rId24"/>
    <p:sldId id="2147481467" r:id="rId25"/>
    <p:sldId id="2147481465" r:id="rId26"/>
    <p:sldId id="2147481464" r:id="rId27"/>
    <p:sldId id="2147481463" r:id="rId28"/>
    <p:sldId id="2147481462" r:id="rId29"/>
    <p:sldId id="2147481455" r:id="rId30"/>
    <p:sldId id="2147481457" r:id="rId31"/>
    <p:sldId id="2147481461" r:id="rId32"/>
    <p:sldId id="2147481458" r:id="rId33"/>
    <p:sldId id="2147481454" r:id="rId34"/>
    <p:sldId id="2147481456" r:id="rId35"/>
    <p:sldId id="2147481453" r:id="rId36"/>
    <p:sldId id="2147481452" r:id="rId37"/>
    <p:sldId id="2147481446" r:id="rId38"/>
    <p:sldId id="2147481449" r:id="rId39"/>
    <p:sldId id="2147481448" r:id="rId40"/>
    <p:sldId id="2147481447" r:id="rId41"/>
    <p:sldId id="2147481451" r:id="rId42"/>
    <p:sldId id="2147481450" r:id="rId43"/>
    <p:sldId id="2147481445" r:id="rId44"/>
    <p:sldId id="2147481413" r:id="rId45"/>
    <p:sldId id="2147481419" r:id="rId46"/>
    <p:sldId id="2147481427" r:id="rId47"/>
    <p:sldId id="2147481422" r:id="rId48"/>
    <p:sldId id="2147481423" r:id="rId49"/>
    <p:sldId id="2147481425" r:id="rId50"/>
    <p:sldId id="2147481426" r:id="rId51"/>
    <p:sldId id="2147481429" r:id="rId52"/>
    <p:sldId id="2147481428" r:id="rId53"/>
    <p:sldId id="2147481430" r:id="rId5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6060"/>
    <a:srgbClr val="BADF55"/>
    <a:srgbClr val="FFD100"/>
    <a:srgbClr val="FBE364"/>
    <a:srgbClr val="F4B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71" autoAdjust="0"/>
    <p:restoredTop sz="94660"/>
  </p:normalViewPr>
  <p:slideViewPr>
    <p:cSldViewPr snapToGrid="0">
      <p:cViewPr varScale="1">
        <p:scale>
          <a:sx n="90" d="100"/>
          <a:sy n="90" d="100"/>
        </p:scale>
        <p:origin x="102" y="32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077408-611F-43B7-A58B-066AB354FAB6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44687F-F839-4783-9AA2-9E2F10A9DB4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8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3363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9B23F-DB68-238E-F0E7-DD482D42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BD22F-1A86-4E92-85A2-C1BD07029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C3675-DFE8-601B-5B96-4B7E2C504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302F78-A03A-BAD6-A4FF-F5CA9DA19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4090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Embedding0n.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8977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1557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F38E8-9D29-D44F-C3AA-BFCB5AE3D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A34DD-CFC1-056A-303B-3984F8DF90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737140-4C25-B167-5357-816A7DC64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18EAD-606F-CC6B-F005-DBFC4EA312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008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hyde</a:t>
            </a:r>
            <a:r>
              <a:rPr lang="en-US" sz="1200" dirty="0">
                <a:latin typeface="Consolas" panose="020B0609020204030204" pitchFamily="49" charset="0"/>
              </a:rPr>
              <a:t>/</a:t>
            </a:r>
            <a:r>
              <a:rPr lang="en-US" sz="1200" dirty="0" err="1">
                <a:latin typeface="Consolas" panose="020B0609020204030204" pitchFamily="49" charset="0"/>
              </a:rPr>
              <a:t>update_batch</a:t>
            </a:r>
            <a:endParaRPr lang="en-US" sz="1200" dirty="0">
              <a:latin typeface="Consolas" panose="020B0609020204030204" pitchFamily="49" charset="0"/>
            </a:endParaRPr>
          </a:p>
          <a:p>
            <a:r>
              <a:rPr lang="en-US" sz="1200" dirty="0">
                <a:latin typeface="Consolas" panose="020B0609020204030204" pitchFamily="49" charset="0"/>
              </a:rPr>
              <a:t>- Don’t remove everyone in CGS but check one by one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Run as async format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set batch size parameters (</a:t>
            </a:r>
            <a:r>
              <a:rPr lang="en-US" sz="1200" dirty="0" err="1">
                <a:latin typeface="Consolas" panose="020B0609020204030204" pitchFamily="49" charset="0"/>
              </a:rPr>
              <a:t>Defual</a:t>
            </a:r>
            <a:r>
              <a:rPr lang="en-US" sz="1200" dirty="0">
                <a:latin typeface="Consolas" panose="020B0609020204030204" pitchFamily="49" charset="0"/>
              </a:rPr>
              <a:t> = 10)</a:t>
            </a:r>
          </a:p>
          <a:p>
            <a:pPr marL="285750" indent="-285750">
              <a:buFontTx/>
              <a:buChar char="-"/>
            </a:pPr>
            <a:r>
              <a:rPr lang="en-US" sz="1200" dirty="0">
                <a:latin typeface="Consolas" panose="020B0609020204030204" pitchFamily="49" charset="0"/>
              </a:rPr>
              <a:t>Add destination path in </a:t>
            </a:r>
            <a:r>
              <a:rPr lang="en-US" sz="1200" dirty="0" err="1">
                <a:latin typeface="Consolas" panose="020B0609020204030204" pitchFamily="49" charset="0"/>
              </a:rPr>
              <a:t>yaml</a:t>
            </a:r>
            <a:r>
              <a:rPr lang="en-US" sz="1200" dirty="0">
                <a:latin typeface="Consolas" panose="020B0609020204030204" pitchFamily="49" charset="0"/>
              </a:rPr>
              <a:t> file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2376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3BD6C-7539-AB94-3C3A-37A9F3AE8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1212-E606-FF40-FBD5-8F981EB3B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67A11-045C-7620-3ED3-03ADEB29E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https://www.quorum.co.uk/2024/04/09/database-data-lake-data-warehouse-whats-the-difference/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19D0D1-B850-4B2B-308E-C661AE72D7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44687F-F839-4783-9AA2-9E2F10A9DB4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0411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83FFA3-EAE6-3A6F-A48A-E8C06D9A0C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83B1B7-C588-CC88-76EA-AAB065590E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0719D-43FD-9D3F-6B79-00AD4AD3C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FDF9C-62DC-CD5D-3EF4-0BF426516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A8811-4ADE-8486-FE98-249FCB0EB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423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74BEF-4ED5-1632-53B0-01A99D737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12BF9-0B53-5AF4-BF8E-802FC05FA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3C3A0F-F326-7398-C522-769C32735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9D0A6-C93A-DBC7-0804-D0E412FF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66309-659D-516D-214C-256FE3B6B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149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9282-2307-4C70-6CE4-C90C2F215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9DBC-C55A-DF02-1101-27D5438822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AEA5A-CC50-0DBE-A2C0-6DE136BAB2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18245-DBB0-F52C-66F6-04E063CA1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C25BF8-054C-B200-4C82-497F8AA52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273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6667F-D62B-16FF-F34D-B1F30D328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3E8F7-A0CC-5C54-486E-590F4EE9C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869001-32C9-A07C-667F-CC95F5A16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CD862C-570E-E861-8BFE-2CCEC8D5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ADB2C-E848-0F25-1322-0393E8CA7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ACAE8B-A4EB-16B1-0D47-906472901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0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BE94A-BF12-C3AE-D02C-1F31A58D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27261-4E64-ED29-0109-8177BF595F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5FB451-CD48-4D6D-0C11-86A8748F22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A9460D-C6AD-40FB-DF14-DFD7A13763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12BE363-03D7-2FD1-6F41-FEEC12042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63147AE-A134-A2C3-6B11-A94D66D59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F20FFD-B6C9-8308-47E0-B3AA257EA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8D16AA-6121-C401-17C4-D50EEAF79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5560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88DCE-CB94-A014-3B51-709210CE0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C8C87C-0079-1F3C-AA54-FBC50BD14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3AED2C-AA27-CDC1-AF5D-A53678751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C6C79-2D7D-FA2C-EA27-5C2B06847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427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FC782C-C151-5F34-8802-BFDA2B17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69C6E3-F1FC-2622-C932-6A7C9B89C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C717F-A285-8152-E679-E8367804B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745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B4321-29F4-D2C6-0440-7FDD2D1A1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47EB0C-AC85-193E-942C-69D4DED94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4A9723-4783-C432-5EC1-6E4034E15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26B1B3-F788-B7B8-C267-DE48B664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543E85-4A68-82AD-EE66-6D539891F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6DB970-907F-53C2-0A8E-554F69C80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5187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F920-4709-DEC9-E95A-DEE2F1C57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22CE8A-22D9-662E-001F-EA1E96E7C5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04AB3E-A32B-46D2-D39A-11E61166C2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391B45-7040-FE23-B446-786D61FFE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BA343B-4CDA-72E0-7A1F-3E0B201C4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E69C9C-A506-BE32-BFD2-0CF8F055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3666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C76EE-CE0C-7342-B2DA-CE73CE53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AA23D2-F74F-6BEB-D70F-8F1E33823D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DBAA9F-CCA2-6611-C796-9416D1929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CD38A-60C9-5AEF-D14C-DAE7897D9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2B36-B595-2512-ED87-32E435646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1503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FEB482-2724-1796-C72E-F8DD5942C7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56310C-3206-676C-A8C4-958D4FC8F9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2407-0E1F-4237-31E1-B9321D73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A1BED4-5DFC-4D8B-BC40-12FD5FE4AB0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5F259-C060-2194-F999-C8C7EAC6D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61CA7-6890-8FEC-336B-C7F4C340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3379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BD1BE13-1B19-DB8D-FF40-CC7970E4DF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193257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84" imgH="486" progId="TCLayout.ActiveDocument.1">
                  <p:embed/>
                </p:oleObj>
              </mc:Choice>
              <mc:Fallback>
                <p:oleObj name="think-cell Slide" r:id="rId3" imgW="484" imgH="48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BD1BE13-1B19-DB8D-FF40-CC7970E4DF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37AB79A-F7B0-A96D-370E-89C13DDCC1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9425" y="476249"/>
            <a:ext cx="11233150" cy="492443"/>
          </a:xfrm>
        </p:spPr>
        <p:txBody>
          <a:bodyPr vert="horz" tIns="0"/>
          <a:lstStyle>
            <a:lvl1pPr>
              <a:lnSpc>
                <a:spcPct val="100000"/>
              </a:lnSpc>
              <a:spcAft>
                <a:spcPts val="300"/>
              </a:spcAft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58324-D3D4-D66D-8B34-0CE97E9F4A16}"/>
              </a:ext>
            </a:extLst>
          </p:cNvPr>
          <p:cNvSpPr>
            <a:spLocks/>
          </p:cNvSpPr>
          <p:nvPr/>
        </p:nvSpPr>
        <p:spPr>
          <a:xfrm>
            <a:off x="0" y="351594"/>
            <a:ext cx="3689935" cy="27432"/>
          </a:xfrm>
          <a:prstGeom prst="rect">
            <a:avLst/>
          </a:prstGeom>
          <a:solidFill>
            <a:schemeClr val="tx1"/>
          </a:solidFill>
          <a:ln w="3143" cap="rnd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0175" tIns="15088" rIns="30175" bIns="1508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200" err="1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82026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8A4548-DC7D-221E-47D9-708389BC7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69ADF-DF69-D13F-BECD-8CA04658E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CEE74-52DA-9F05-6874-B5EB0C62531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1BED4-5DFC-4D8B-BC40-12FD5FE4AB0F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C4BE2-1502-BC3C-2AFC-5B35E796EF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F6B837-8BD6-D02D-0710-23E9E87D24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32EB27-3F1E-4AF0-97A5-D3510B641C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320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unKedsaro/Hyde" TargetMode="External"/><Relationship Id="rId2" Type="http://schemas.openxmlformats.org/officeDocument/2006/relationships/hyperlink" Target="https://hyderecomment-service-v1-1-0-du7yhkyaqq-as.a.run.app/docs#/" TargetMode="Externa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NcEpWbMMsrs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6.png"/><Relationship Id="rId7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2.jpeg"/><Relationship Id="rId10" Type="http://schemas.openxmlformats.org/officeDocument/2006/relationships/image" Target="../media/image22.png"/><Relationship Id="rId4" Type="http://schemas.openxmlformats.org/officeDocument/2006/relationships/image" Target="../media/image17.jpeg"/><Relationship Id="rId9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B99623-E537-28DB-A0E7-D30D679DCF6F}"/>
              </a:ext>
            </a:extLst>
          </p:cNvPr>
          <p:cNvSpPr txBox="1">
            <a:spLocks/>
          </p:cNvSpPr>
          <p:nvPr/>
        </p:nvSpPr>
        <p:spPr>
          <a:xfrm>
            <a:off x="479425" y="2444115"/>
            <a:ext cx="11233150" cy="984885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b="1" dirty="0"/>
              <a:t>Sprint review #10</a:t>
            </a:r>
            <a:br>
              <a:rPr lang="en-US" b="1" dirty="0"/>
            </a:br>
            <a:r>
              <a:rPr lang="en-US" b="1" dirty="0" err="1"/>
              <a:t>HyDE</a:t>
            </a:r>
            <a:r>
              <a:rPr lang="en-US" b="1" dirty="0"/>
              <a:t> feed recommendation</a:t>
            </a:r>
            <a:endParaRPr lang="en-US" sz="2400" b="1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490DDD-7E8E-247C-74B9-4FE3AC5FC103}"/>
              </a:ext>
            </a:extLst>
          </p:cNvPr>
          <p:cNvSpPr txBox="1">
            <a:spLocks/>
          </p:cNvSpPr>
          <p:nvPr/>
        </p:nvSpPr>
        <p:spPr>
          <a:xfrm>
            <a:off x="152399" y="5233942"/>
            <a:ext cx="11820525" cy="139903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Spec Link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Orchestrator : 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API core evaluation link : </a:t>
            </a:r>
            <a:r>
              <a:rPr lang="en-US" sz="1100" b="1" dirty="0">
                <a:solidFill>
                  <a:srgbClr val="509BCA"/>
                </a:solidFill>
                <a:hlinkClick r:id="rId2"/>
              </a:rPr>
              <a:t>https://hyderecomment-service-v1-1-0-du7yhkyaqq-as.a.run.app/docs#/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 err="1">
                <a:solidFill>
                  <a:schemeClr val="accent1">
                    <a:lumMod val="10000"/>
                  </a:schemeClr>
                </a:solidFill>
              </a:rPr>
              <a:t>Github</a:t>
            </a:r>
            <a:r>
              <a:rPr lang="en-US" sz="1100" b="1" dirty="0">
                <a:solidFill>
                  <a:schemeClr val="accent1">
                    <a:lumMod val="10000"/>
                  </a:schemeClr>
                </a:solidFill>
              </a:rPr>
              <a:t> :</a:t>
            </a:r>
            <a:r>
              <a:rPr lang="en-US" sz="1100" b="1" dirty="0">
                <a:solidFill>
                  <a:srgbClr val="509BCA"/>
                </a:solidFill>
              </a:rPr>
              <a:t> </a:t>
            </a:r>
            <a:r>
              <a:rPr lang="en-US" sz="1100" b="1" dirty="0">
                <a:solidFill>
                  <a:srgbClr val="509BCA"/>
                </a:solidFill>
                <a:hlinkClick r:id="rId3"/>
              </a:rPr>
              <a:t>https://github.com/TunKedsaro/Hyde</a:t>
            </a:r>
            <a:endParaRPr lang="en-US" sz="1100" b="1" dirty="0">
              <a:solidFill>
                <a:srgbClr val="509BCA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100" b="1" dirty="0"/>
              <a:t>QA</a:t>
            </a:r>
            <a:r>
              <a:rPr lang="en-US" sz="1100" b="1" dirty="0">
                <a:solidFill>
                  <a:srgbClr val="509BCA"/>
                </a:solidFill>
              </a:rPr>
              <a:t> : https://humanintelligence.atlassian.net/wiki/spaces/CPM/pages/134611027/QA+Test+Plan+CV+Evaluation+Pipeline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8149A64-A47C-1CE1-C334-674E36D15384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0863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D5DAC-2E9F-5C6F-72A9-6A8074DFB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6D645CAD-80C7-AFC1-7403-2CEAC016EEBD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0AAEDCC-AA04-CFB8-4EC3-6BFDA2ECE18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B8AEFEC-124E-8483-474F-4191CBBC0C18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6648FAF3-F094-EDCC-133F-E18927C4E71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2585A12-8B61-3431-C660-97E3CFA7D30C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369555D-22B2-9EE5-0E2F-35667972F63A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B9041C3-7521-8F16-40ED-179089D1A75B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235D179-846F-9CAD-E670-8A1036314944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F94B03A-C1FF-2E2C-F232-1268ED3176E2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4DC5A0D-9AB4-8437-6B07-3079D3AB85B5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FE58974E-5EDD-27E2-3351-3EA4EFC4C18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96B8B490-6B9D-0FE3-76D1-133FDACA02D7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899C310-92E4-0A52-174B-70B6FA9B8C38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05086C5-18C5-99AD-4C6D-1CDF8167FA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1522C35-B45E-A1A4-3B17-EC90A794CE8A}"/>
              </a:ext>
            </a:extLst>
          </p:cNvPr>
          <p:cNvSpPr/>
          <p:nvPr/>
        </p:nvSpPr>
        <p:spPr>
          <a:xfrm>
            <a:off x="213358" y="32009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3C49D83-2E68-34FB-0EC5-0774FD903A79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6EE2F411-EB9D-C466-A91F-CF2451029B18}"/>
              </a:ext>
            </a:extLst>
          </p:cNvPr>
          <p:cNvSpPr/>
          <p:nvPr/>
        </p:nvSpPr>
        <p:spPr>
          <a:xfrm>
            <a:off x="213358" y="38590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DDED7D5-2DDE-8F99-C83B-633E0328B2E0}"/>
              </a:ext>
            </a:extLst>
          </p:cNvPr>
          <p:cNvSpPr/>
          <p:nvPr/>
        </p:nvSpPr>
        <p:spPr>
          <a:xfrm>
            <a:off x="213358" y="2542825"/>
            <a:ext cx="1355834" cy="504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4975A39-AAFD-329C-1B94-647C51D2F91C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EE013BD-2041-63F7-A3E2-128661AA4FFD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73D66D51-F5EE-4A1E-3105-9938E6764CFB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3AA605D3-3F52-AE84-0A94-1D8FCD23470E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8DC7162-845C-C049-6F5A-0A28C8B9AE44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F0844B0-EB32-F897-59F8-DEDD922A60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3D96962B-5E93-D6FA-E57C-55DD43BAA659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8AB5593-E205-4255-15C0-D5E5749178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B71589B4-8A32-F032-4D19-A070FD6E4F92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F2BC0BD0-6819-8468-8FD5-A9782311D04F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EB21E330-A43D-3348-645A-88328EBF319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FC09C4-5DA0-9140-E3A2-3EEA4BAD9944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84663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9D3EC-AFF5-567E-E3A0-3150C0D2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88B5FE1-B1EE-48AE-0122-ADD0802056CE}"/>
              </a:ext>
            </a:extLst>
          </p:cNvPr>
          <p:cNvSpPr/>
          <p:nvPr/>
        </p:nvSpPr>
        <p:spPr>
          <a:xfrm>
            <a:off x="1265795" y="34768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Interactions.csv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C7B2808-7D52-F428-2F20-78BE0A3A13F6}"/>
              </a:ext>
            </a:extLst>
          </p:cNvPr>
          <p:cNvCxnSpPr>
            <a:cxnSpLocks/>
          </p:cNvCxnSpPr>
          <p:nvPr/>
        </p:nvCxnSpPr>
        <p:spPr>
          <a:xfrm>
            <a:off x="2855188" y="370922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5BADBA4E-44A1-92EE-AD49-AC89F95BF31D}"/>
              </a:ext>
            </a:extLst>
          </p:cNvPr>
          <p:cNvSpPr/>
          <p:nvPr/>
        </p:nvSpPr>
        <p:spPr>
          <a:xfrm>
            <a:off x="1265795" y="41349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Students.csv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ECDE6DC-B4A8-04C0-5503-190D811805EF}"/>
              </a:ext>
            </a:extLst>
          </p:cNvPr>
          <p:cNvSpPr/>
          <p:nvPr/>
        </p:nvSpPr>
        <p:spPr>
          <a:xfrm>
            <a:off x="1265795" y="2818750"/>
            <a:ext cx="1355834" cy="50400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feeds.jsonl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1026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F9602F6A-EFA2-16D3-10D7-4316564116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8437" y="3136996"/>
            <a:ext cx="2019300" cy="1135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74994-9AB4-C632-1081-59D8C36CDD17}"/>
              </a:ext>
            </a:extLst>
          </p:cNvPr>
          <p:cNvCxnSpPr>
            <a:cxnSpLocks/>
          </p:cNvCxnSpPr>
          <p:nvPr/>
        </p:nvCxnSpPr>
        <p:spPr>
          <a:xfrm>
            <a:off x="5514256" y="3704575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EE7BE979-4626-6F9B-335F-2560BD679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468521"/>
            <a:ext cx="5137039" cy="44728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97EA77-AB81-EF31-E372-18A4CEAF26A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10820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769FB-DED0-8C57-812D-3C47B8D7D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857E63-1039-14CD-3789-1829EC5E2EEF}"/>
              </a:ext>
            </a:extLst>
          </p:cNvPr>
          <p:cNvCxnSpPr>
            <a:cxnSpLocks/>
          </p:cNvCxnSpPr>
          <p:nvPr/>
        </p:nvCxnSpPr>
        <p:spPr>
          <a:xfrm>
            <a:off x="8405622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CC7A1D03-1E3E-C6EF-A65E-3FAD28E3BF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45701" y="2135742"/>
            <a:ext cx="2975113" cy="30861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228ACE-7E12-03DD-1D84-437FA364BE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8114" y="1544525"/>
            <a:ext cx="2891556" cy="25106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25B0E25-8271-57D6-F055-52F62F20F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903" y="3678805"/>
            <a:ext cx="3840746" cy="206362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182F0E2-4112-B0B1-4C60-4A92DCE998B7}"/>
              </a:ext>
            </a:extLst>
          </p:cNvPr>
          <p:cNvCxnSpPr>
            <a:cxnSpLocks/>
          </p:cNvCxnSpPr>
          <p:nvPr/>
        </p:nvCxnSpPr>
        <p:spPr>
          <a:xfrm>
            <a:off x="3435339" y="3547522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BBD4B735-61B9-459E-30AB-7CFF24E70ED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974" y="2118360"/>
            <a:ext cx="3010551" cy="26212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230067-3A14-5E10-B915-F7C71C60E21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163200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A3B11-B2A2-3BA1-172B-2251B8AFA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8F8DE6C-8983-0BAA-1C8B-DDA548291FC9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EF39C0-BCB3-7255-F716-67701DBCC1EC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D229DD-9626-7C08-EA70-6B35351B4182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ABB66556-2583-7F92-2AF8-D6C9F18602F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EB32BE-9EDA-A3A1-A2E0-1BD17DE500DA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729A5CCA-01DB-08F4-18D0-9FFB6C071F2B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5D804C-6D86-14DA-5F65-0B6B9BA847E5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7A6DEFDA-DFBF-6FC3-9033-84515C1E44CD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6811FB4-E982-E197-4A6C-7C6B1A573914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CFC8C04-E477-2A24-67BA-CC930C28B45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AB9ADC7C-CAF6-BCCC-E34F-E7FDF6E27468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7609BE7-05CE-2857-8B3D-A49199716E46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9EAC0BD-B423-80EB-93EE-A832DFF07215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5DE9790-D272-7767-2D31-636922DA1CE4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B448FAF-A242-7883-0F02-04485E6C2C98}"/>
              </a:ext>
            </a:extLst>
          </p:cNvPr>
          <p:cNvSpPr/>
          <p:nvPr/>
        </p:nvSpPr>
        <p:spPr>
          <a:xfrm>
            <a:off x="10622808" y="28511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stu_p001.npy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558804C-3681-E570-1617-085DFEA0C1E6}"/>
              </a:ext>
            </a:extLst>
          </p:cNvPr>
          <p:cNvSpPr/>
          <p:nvPr/>
        </p:nvSpPr>
        <p:spPr>
          <a:xfrm>
            <a:off x="10622808" y="3509250"/>
            <a:ext cx="1355834" cy="504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stu_p001.json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1F40847-CBB0-AEEC-189E-47EEEB7E9119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F631E7D3-C7E7-C1F1-CA85-B57721FEED4B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5EB0891-F2A2-BA24-CB07-F6281F0B8966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DF0AB815-FDFA-F598-6AD4-FE34959C8D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Rounded Rectangle 29">
                <a:extLst>
                  <a:ext uri="{FF2B5EF4-FFF2-40B4-BE49-F238E27FC236}">
                    <a16:creationId xmlns:a16="http://schemas.microsoft.com/office/drawing/2014/main" id="{20730BC9-7502-1BD7-37EB-82A62774131D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9" name="Rounded Rectangle 30">
                <a:extLst>
                  <a:ext uri="{FF2B5EF4-FFF2-40B4-BE49-F238E27FC236}">
                    <a16:creationId xmlns:a16="http://schemas.microsoft.com/office/drawing/2014/main" id="{3183D21D-B876-46CC-9782-5D4998E8FE7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0" name="TextBox 37">
                <a:extLst>
                  <a:ext uri="{FF2B5EF4-FFF2-40B4-BE49-F238E27FC236}">
                    <a16:creationId xmlns:a16="http://schemas.microsoft.com/office/drawing/2014/main" id="{E5C540BB-C1EE-2AAC-7CED-27E058AD2490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2" name="Rounded Rectangle 40">
                <a:extLst>
                  <a:ext uri="{FF2B5EF4-FFF2-40B4-BE49-F238E27FC236}">
                    <a16:creationId xmlns:a16="http://schemas.microsoft.com/office/drawing/2014/main" id="{00716CF0-652E-B754-01C9-B8080258E112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5" name="TextBox 12">
              <a:extLst>
                <a:ext uri="{FF2B5EF4-FFF2-40B4-BE49-F238E27FC236}">
                  <a16:creationId xmlns:a16="http://schemas.microsoft.com/office/drawing/2014/main" id="{DD0324BA-7F7C-50F1-1F7D-AEA735BBD6FD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AC9E817-E835-3D61-4B38-A4C10FA27EDD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AA84E98D-4943-20DD-2539-EC704766EC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3A59CF53-033A-A89B-CB43-6BF0DA0FF84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9063571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063D9-98D8-5832-D511-E91CA178B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98E5F587-4F76-A33C-93F2-31333F28C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049" y="1622939"/>
            <a:ext cx="4392950" cy="257421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F4F0EB-63FB-00FF-DD17-4E6E1C129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050" y="4547732"/>
            <a:ext cx="4392950" cy="1812476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D562333F-AEB7-0F56-F1B6-947ADE6FF60F}"/>
              </a:ext>
            </a:extLst>
          </p:cNvPr>
          <p:cNvGrpSpPr/>
          <p:nvPr/>
        </p:nvGrpSpPr>
        <p:grpSpPr>
          <a:xfrm>
            <a:off x="1107225" y="4106334"/>
            <a:ext cx="7891043" cy="504000"/>
            <a:chOff x="1107225" y="3853115"/>
            <a:chExt cx="7891043" cy="504000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4566BFE-1FB8-0348-67DF-9483951DC271}"/>
                </a:ext>
              </a:extLst>
            </p:cNvPr>
            <p:cNvCxnSpPr>
              <a:cxnSpLocks/>
            </p:cNvCxnSpPr>
            <p:nvPr/>
          </p:nvCxnSpPr>
          <p:spPr>
            <a:xfrm>
              <a:off x="1107225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9486AF0-5E26-98DD-16ED-C3783758EBC3}"/>
                </a:ext>
              </a:extLst>
            </p:cNvPr>
            <p:cNvCxnSpPr>
              <a:cxnSpLocks/>
            </p:cNvCxnSpPr>
            <p:nvPr/>
          </p:nvCxnSpPr>
          <p:spPr>
            <a:xfrm>
              <a:off x="8726162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FB58924D-ACF3-0596-BAEB-8014B88216CA}"/>
                </a:ext>
              </a:extLst>
            </p:cNvPr>
            <p:cNvCxnSpPr>
              <a:cxnSpLocks/>
            </p:cNvCxnSpPr>
            <p:nvPr/>
          </p:nvCxnSpPr>
          <p:spPr>
            <a:xfrm>
              <a:off x="3589754" y="4105115"/>
              <a:ext cx="272106" cy="0"/>
            </a:xfrm>
            <a:prstGeom prst="straightConnector1">
              <a:avLst/>
            </a:prstGeom>
            <a:ln w="12700">
              <a:solidFill>
                <a:srgbClr val="C00000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19CDBD7-1DEB-4EA4-8E6A-B93EE96837C8}"/>
                </a:ext>
              </a:extLst>
            </p:cNvPr>
            <p:cNvSpPr/>
            <p:nvPr/>
          </p:nvSpPr>
          <p:spPr>
            <a:xfrm>
              <a:off x="1555430" y="3853115"/>
              <a:ext cx="1849346" cy="504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272428"/>
                  </a:solidFill>
                  <a:latin typeface="Poppins Light"/>
                  <a:cs typeface="Sarabun Light"/>
                </a:rPr>
                <a:t>Embedding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272428"/>
                  </a:solidFill>
                  <a:effectLst/>
                  <a:uLnTx/>
                  <a:uFillTx/>
                  <a:latin typeface="Poppins Light"/>
                  <a:ea typeface="+mn-ea"/>
                  <a:cs typeface="Sarabun Light"/>
                </a:rPr>
                <a:t>gemini-embedding-001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F8110993-58DB-29C3-9A6E-C78C3FD75815}"/>
              </a:ext>
            </a:extLst>
          </p:cNvPr>
          <p:cNvSpPr/>
          <p:nvPr/>
        </p:nvSpPr>
        <p:spPr>
          <a:xfrm>
            <a:off x="8679052" y="1622939"/>
            <a:ext cx="1672010" cy="328465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Metadata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AD5DFD-C4C2-711B-9BA0-9B21EE3E729D}"/>
              </a:ext>
            </a:extLst>
          </p:cNvPr>
          <p:cNvSpPr/>
          <p:nvPr/>
        </p:nvSpPr>
        <p:spPr>
          <a:xfrm>
            <a:off x="8679051" y="5755283"/>
            <a:ext cx="1672011" cy="61248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Embedded vector</a:t>
            </a:r>
          </a:p>
          <a:p>
            <a:pPr algn="ctr">
              <a:defRPr/>
            </a:pPr>
            <a:r>
              <a:rPr lang="en-GB" sz="1400" b="1" dirty="0">
                <a:solidFill>
                  <a:schemeClr val="accent1">
                    <a:lumMod val="40000"/>
                    <a:lumOff val="60000"/>
                  </a:schemeClr>
                </a:solidFill>
                <a:cs typeface="Poppins Light"/>
              </a:rPr>
              <a:t>Shape = (5,768)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E18883-D4E9-E8EE-7DAE-D2E45DBBFCF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20A081E-D4D0-8194-5821-F06EFBA541AB}"/>
              </a:ext>
            </a:extLst>
          </p:cNvPr>
          <p:cNvGrpSpPr/>
          <p:nvPr/>
        </p:nvGrpSpPr>
        <p:grpSpPr>
          <a:xfrm>
            <a:off x="9289735" y="3886636"/>
            <a:ext cx="913648" cy="932038"/>
            <a:chOff x="10794977" y="2064264"/>
            <a:chExt cx="913648" cy="932038"/>
          </a:xfrm>
        </p:grpSpPr>
        <p:pic>
          <p:nvPicPr>
            <p:cNvPr id="5" name="Picture 2" descr="Data Lake Icon">
              <a:extLst>
                <a:ext uri="{FF2B5EF4-FFF2-40B4-BE49-F238E27FC236}">
                  <a16:creationId xmlns:a16="http://schemas.microsoft.com/office/drawing/2014/main" id="{D1D5548E-EE7C-CC60-68FE-4615658C42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F2648CC-D239-6E71-CD7F-9174251A2228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3239ACE-E83F-03C0-CFA4-C3923D24460C}"/>
              </a:ext>
            </a:extLst>
          </p:cNvPr>
          <p:cNvSpPr txBox="1"/>
          <p:nvPr/>
        </p:nvSpPr>
        <p:spPr>
          <a:xfrm>
            <a:off x="-90222" y="6978217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Gemini-2.5-flash -&gt; gemini-3-flash-preview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Temperature = 1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Rethink = </a:t>
            </a:r>
            <a:r>
              <a:rPr lang="en-US" sz="1400" dirty="0" err="1">
                <a:latin typeface="Consolas" panose="020B0609020204030204" pitchFamily="49" charset="0"/>
              </a:rPr>
              <a:t>defualt</a:t>
            </a:r>
            <a:endParaRPr lang="en-US" sz="1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7976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81111D-0B1D-2DA4-A74D-E0197897A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6735AE0-A108-8AB1-F05A-3BD8615D4100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4092DAE-7B89-71EA-2126-068A8929DDCD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B9E3AA4-997C-56E7-68C5-D64C4652AD8C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5E6AD224-C2DC-598B-484A-AE4E4F22C059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3AE21AB-01D8-44C6-74E4-F0B00D792298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BA82D746-8E81-EB40-0E68-53491A9CFCD6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B56695-E608-2267-7BA4-8600D70BB14F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ECB3BAFE-11BD-DEC7-EC6A-AC4A1E9032A8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B5DB8AA-E792-4D6D-6FEA-852C7CC1FB0F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4AD198-4AD1-4C4D-E93F-74C360E16F9A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46D49376-6CA0-A399-3333-79C3221F7D5A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68E22E9-E258-54E7-C9D1-C2D1C90B849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F544796E-334F-EDD1-4F71-4FBE40183F31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AC45468-CE16-8800-12CB-47058D54FAEB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F60BC38-F253-BEF5-9551-372FE354459C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0A1C04B8-63C4-1674-0894-49B89CDDE5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167CE45-0B9C-D680-6AFB-6B60D88E1C5F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99CF52-19A3-0A51-2EB6-BDEEBB769DEC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7AD9FA3-C023-431B-7D5D-D959E9AE15E9}"/>
              </a:ext>
            </a:extLst>
          </p:cNvPr>
          <p:cNvGrpSpPr/>
          <p:nvPr/>
        </p:nvGrpSpPr>
        <p:grpSpPr>
          <a:xfrm>
            <a:off x="10794978" y="2990955"/>
            <a:ext cx="913648" cy="932038"/>
            <a:chOff x="10794977" y="2064264"/>
            <a:chExt cx="913648" cy="932038"/>
          </a:xfrm>
        </p:grpSpPr>
        <p:pic>
          <p:nvPicPr>
            <p:cNvPr id="1026" name="Picture 2" descr="Data Lake Icon">
              <a:extLst>
                <a:ext uri="{FF2B5EF4-FFF2-40B4-BE49-F238E27FC236}">
                  <a16:creationId xmlns:a16="http://schemas.microsoft.com/office/drawing/2014/main" id="{BA5EF408-CA12-4052-0B40-FCB9FFE2F1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64858" y="2064264"/>
              <a:ext cx="773887" cy="62426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1F84FBC-AD76-F063-D0D9-B7D80DA652C3}"/>
                </a:ext>
              </a:extLst>
            </p:cNvPr>
            <p:cNvSpPr txBox="1"/>
            <p:nvPr/>
          </p:nvSpPr>
          <p:spPr>
            <a:xfrm>
              <a:off x="10794977" y="2688525"/>
              <a:ext cx="9136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Data lake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2E3C5A5-495C-5343-A300-519C1676CA2A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4FC44BE-0A8E-1744-E214-FE26C59A86E0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D676459D-62FE-D7D6-E0D6-AF119E9824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7E25C6C4-76CB-9F10-4236-C04693FA02E2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806CA3E1-65F3-1E47-0598-A8910D3FB7B7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B56D5389-3C79-1BE9-4240-6C74D256ED1A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B5990303-B72C-C6A7-7460-B21D2352DBD6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1286B851-9D9D-63E3-55ED-77EDD930FA17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3" name="Title 1">
            <a:extLst>
              <a:ext uri="{FF2B5EF4-FFF2-40B4-BE49-F238E27FC236}">
                <a16:creationId xmlns:a16="http://schemas.microsoft.com/office/drawing/2014/main" id="{49C90FB5-9FF0-AA2C-A8AD-B4510FC7F3D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45665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76802-D8CB-FFAB-D8B6-9B0A191B9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67E0BC5-6072-3F3A-F13D-1543FA2E3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315075"/>
            <a:ext cx="9087867" cy="51098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2C1E9EF-CD19-760C-68DB-FD55E24F2F09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6449356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55A5E-A6BE-CB01-643B-1EF137BE3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E592A6-DA06-FA52-ACB7-DC5F34D8B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375A839-97B5-56DB-B724-E824372A594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955326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561681D-0D2D-B241-8F5B-619966596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00B92B-2E7F-DE62-0D37-F3A2508E7E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942" y="2173721"/>
            <a:ext cx="6506483" cy="3143689"/>
          </a:xfrm>
          <a:prstGeom prst="rect">
            <a:avLst/>
          </a:prstGeom>
        </p:spPr>
      </p:pic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E9E1512D-3DD6-AB5C-1CE6-F4B229B100C5}"/>
              </a:ext>
            </a:extLst>
          </p:cNvPr>
          <p:cNvCxnSpPr>
            <a:cxnSpLocks/>
          </p:cNvCxnSpPr>
          <p:nvPr/>
        </p:nvCxnSpPr>
        <p:spPr>
          <a:xfrm flipV="1">
            <a:off x="3090672" y="2468880"/>
            <a:ext cx="2688336" cy="649224"/>
          </a:xfrm>
          <a:prstGeom prst="bentConnector3">
            <a:avLst>
              <a:gd name="adj1" fmla="val 77211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8A915FA-0CAC-DCD0-A765-722A2E3D03BD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595836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B307C-32A1-09F3-EAE7-F883FA1A9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5D4BBB6-2E53-0DCD-A53F-CC8EA99F4D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73721"/>
            <a:ext cx="4034790" cy="31264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7E4C01D-1CEA-8739-2513-F12D5A3562F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8520"/>
          <a:stretch>
            <a:fillRect/>
          </a:stretch>
        </p:blipFill>
        <p:spPr>
          <a:xfrm>
            <a:off x="5508808" y="1577817"/>
            <a:ext cx="6477904" cy="4868703"/>
          </a:xfrm>
          <a:prstGeom prst="rect">
            <a:avLst/>
          </a:prstGeom>
        </p:spPr>
      </p:pic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6EB918F4-B3A0-FF49-983C-0611A3B34B0A}"/>
              </a:ext>
            </a:extLst>
          </p:cNvPr>
          <p:cNvCxnSpPr>
            <a:cxnSpLocks/>
          </p:cNvCxnSpPr>
          <p:nvPr/>
        </p:nvCxnSpPr>
        <p:spPr>
          <a:xfrm flipV="1">
            <a:off x="3246120" y="1865376"/>
            <a:ext cx="2596896" cy="1664208"/>
          </a:xfrm>
          <a:prstGeom prst="bentConnector3">
            <a:avLst>
              <a:gd name="adj1" fmla="val 74296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80BFEBE3-05DE-C11F-554F-94796C9F6A3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2322996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82F9F3-CC07-1F7E-ADC0-BBCACA62D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9902-F86B-3ECA-A30D-50D0035461C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sp>
        <p:nvSpPr>
          <p:cNvPr id="3" name="TextBox 2">
            <a:hlinkClick r:id="rId2"/>
            <a:extLst>
              <a:ext uri="{FF2B5EF4-FFF2-40B4-BE49-F238E27FC236}">
                <a16:creationId xmlns:a16="http://schemas.microsoft.com/office/drawing/2014/main" id="{4E1EF699-73EC-2CCB-A383-D6BDA02C90D7}"/>
              </a:ext>
            </a:extLst>
          </p:cNvPr>
          <p:cNvSpPr txBox="1"/>
          <p:nvPr/>
        </p:nvSpPr>
        <p:spPr>
          <a:xfrm>
            <a:off x="5581601" y="3429000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7830821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C59B6-EF6A-0AC3-788D-1E211A03A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530FB75-E3DB-DFD5-E3D6-459C066321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7055606"/>
              </p:ext>
            </p:extLst>
          </p:nvPr>
        </p:nvGraphicFramePr>
        <p:xfrm>
          <a:off x="837752" y="2182999"/>
          <a:ext cx="10516048" cy="364568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2045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query_sec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</a:rPr>
                        <a:t>0.00101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0.00058</a:t>
                      </a:r>
                      <a:endParaRPr lang="en-US" sz="12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0.00354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0.00077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0.00056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0.00066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0.00096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history_sec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0.01339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0.00971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0.01111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0.01051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0.00888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0.00944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0.00959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0.01291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0.01054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embed_sec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1.81636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1.77266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2.03714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1.69645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1.72026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1.79597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1.75972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1.76440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1.72077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1.75303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1.78368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58360638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0.18499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0.12241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0.10613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0.10847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0.11897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0.11533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0.12951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0.12486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5223139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1.23484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1.28129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1.28272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1.16481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1.15355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1.12040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1.15927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1.15244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1.21216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1.12801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1.18895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49340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3.25059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3.18711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3.43636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2.99074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2.99306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3.04939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3.05705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3.04208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3.05841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3.02412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</a:rPr>
                        <a:t>3.10898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3335733"/>
                  </a:ext>
                </a:extLst>
              </a:tr>
            </a:tbl>
          </a:graphicData>
        </a:graphic>
      </p:graphicFrame>
      <p:sp>
        <p:nvSpPr>
          <p:cNvPr id="5" name="Title 1">
            <a:extLst>
              <a:ext uri="{FF2B5EF4-FFF2-40B4-BE49-F238E27FC236}">
                <a16:creationId xmlns:a16="http://schemas.microsoft.com/office/drawing/2014/main" id="{044F518A-03FE-9661-571B-2CD104C842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>
                <a:cs typeface="Poppins Light"/>
              </a:rPr>
              <a:t>Pipeline Execution Time Breakdown per Student (seconds)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664631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FDC69-AA87-9E3A-E2F2-A8E5E81FB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35E3079-F5DE-5835-F7D3-FAD07FA71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4676868"/>
              </p:ext>
            </p:extLst>
          </p:nvPr>
        </p:nvGraphicFramePr>
        <p:xfrm>
          <a:off x="838196" y="2562826"/>
          <a:ext cx="10515604" cy="221068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71601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1157593774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315760618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16607954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905451035"/>
                    </a:ext>
                  </a:extLst>
                </a:gridCol>
                <a:gridCol w="831273">
                  <a:extLst>
                    <a:ext uri="{9D8B030D-6E8A-4147-A177-3AD203B41FA5}">
                      <a16:colId xmlns:a16="http://schemas.microsoft.com/office/drawing/2014/main" val="2079900472"/>
                    </a:ext>
                  </a:extLst>
                </a:gridCol>
              </a:tblGrid>
              <a:tr h="7886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Stu_p001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Stu_p002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Stu_p003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Stu_p004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Stu_p005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Stu_p006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050" b="1" i="0" u="none" strike="noStrike" baseline="0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Stu_p007</a:t>
                      </a:r>
                      <a:endParaRPr lang="en-GB" sz="1050" b="1" i="0" u="none" strike="noStrike" baseline="0" noProof="0" dirty="0">
                        <a:solidFill>
                          <a:schemeClr val="tx1"/>
                        </a:solidFill>
                        <a:latin typeface="Poppins Light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Stu_p008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Stu_p009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Stu_p010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Poppins Light"/>
                          <a:ea typeface="+mn-ea"/>
                          <a:cs typeface="+mn-cs"/>
                        </a:rPr>
                        <a:t>average</a:t>
                      </a:r>
                      <a:endParaRPr kumimoji="0" lang="en-GB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Poppins Light"/>
                        <a:ea typeface="+mn-ea"/>
                        <a:cs typeface="+mn-cs"/>
                      </a:endParaRP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65406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i="0" u="none" strike="noStrike" noProof="0" dirty="0" err="1">
                          <a:solidFill>
                            <a:schemeClr val="tx1"/>
                          </a:solidFill>
                          <a:latin typeface="+mj-lt"/>
                        </a:rPr>
                        <a:t>metadata.json</a:t>
                      </a:r>
                      <a:endParaRPr lang="en-GB" sz="1200" b="1" i="0" u="none" strike="noStrike" noProof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0" dirty="0">
                          <a:solidFill>
                            <a:schemeClr val="tx1"/>
                          </a:solidFill>
                          <a:latin typeface="+mj-lt"/>
                        </a:rPr>
                        <a:t>0.06906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0.0565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0.09909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0.06359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0.07367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0.06569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0.07023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0.07149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0.07514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latin typeface="+mj-lt"/>
                        </a:rPr>
                        <a:t>embedding0n.npy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0.07413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0.06238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0.06575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0.07541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0.05905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0.06792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0.06209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0.06646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0.06743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0.06615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200" b="1" dirty="0">
                          <a:solidFill>
                            <a:schemeClr val="tx1"/>
                          </a:solidFill>
                          <a:latin typeface="+mj-lt"/>
                        </a:rPr>
                        <a:t>0.06786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783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 err="1">
                          <a:latin typeface="+mj-lt"/>
                        </a:rPr>
                        <a:t>total_sec</a:t>
                      </a:r>
                      <a:endParaRPr lang="en-US" sz="1200" b="1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0.11888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0.16484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0.13361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0.13232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0.13376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0.14288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0.13764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+mj-lt"/>
                        </a:rPr>
                        <a:t>0.143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417090"/>
                  </a:ext>
                </a:extLst>
              </a:tr>
            </a:tbl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D755A43B-2784-3472-F7B9-1A0550F9F7F2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</a:p>
          <a:p>
            <a:r>
              <a:rPr lang="en-US" sz="2400" dirty="0"/>
              <a:t>Storage retrieval from GCS </a:t>
            </a:r>
            <a:r>
              <a:rPr lang="en-US" sz="2400" dirty="0">
                <a:cs typeface="Poppins Light"/>
              </a:rPr>
              <a:t>(seconds)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418638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9D5F95-DA6C-ADC3-0B2F-285A8CFE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D7C18500-11AD-EF54-8498-C94A518A9F3F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C2BFB88-8018-07D1-63C0-EFBFECE8B619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D3D4969-8A2D-E8E1-A272-CF7113BAD56A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FAD7C1C2-AD9F-8666-A75F-AC79E8CE6930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A644E83D-1405-339E-49EE-A64543911362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37813B3-E580-520B-BEA0-F26614F9A0B4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1C6EC71-8E3C-835F-EAE6-26DA61C0660E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43C6700-78B4-E8AA-CD46-C0648E5CEA4C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DB39CB6-CDCD-67CA-21FE-D0FF2DD58883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5923559-3EF5-3015-9E1D-77EFA1EF038B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DD41DA9D-5003-9721-3AD7-ED2B6D79EB2C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213D4B1-7085-9780-481F-0DF09EAE28D1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Oval 37">
            <a:extLst>
              <a:ext uri="{FF2B5EF4-FFF2-40B4-BE49-F238E27FC236}">
                <a16:creationId xmlns:a16="http://schemas.microsoft.com/office/drawing/2014/main" id="{7BB9AD29-2C86-BFAA-23CA-632F520A4EE0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56D6BEE-3F2B-85CD-6CFA-596DDE50D086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B2A706A-BB6C-A084-117C-8583B3EEE5B6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9A4D959B-6B3F-D932-AD7C-43A4C3EE06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6CE1D61-8202-9D3A-DE2A-CC7455F600DC}"/>
              </a:ext>
            </a:extLst>
          </p:cNvPr>
          <p:cNvSpPr/>
          <p:nvPr/>
        </p:nvSpPr>
        <p:spPr>
          <a:xfrm>
            <a:off x="8702484" y="2802454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915341-2D43-DC30-7432-FB096D1B3940}"/>
              </a:ext>
            </a:extLst>
          </p:cNvPr>
          <p:cNvSpPr/>
          <p:nvPr/>
        </p:nvSpPr>
        <p:spPr>
          <a:xfrm>
            <a:off x="8709570" y="3551546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metadata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256DAC-6681-DF78-4CD9-0C71B54844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4252" y="3231117"/>
            <a:ext cx="1335100" cy="41366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D9000708-904D-BF3D-CCAD-D560FA655BCC}"/>
              </a:ext>
            </a:extLst>
          </p:cNvPr>
          <p:cNvGrpSpPr/>
          <p:nvPr/>
        </p:nvGrpSpPr>
        <p:grpSpPr>
          <a:xfrm>
            <a:off x="10474617" y="5418270"/>
            <a:ext cx="1758365" cy="1333699"/>
            <a:chOff x="310230" y="5605659"/>
            <a:chExt cx="1758365" cy="1333699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2AD7B30-AC4A-E3B2-2B22-38DFCA6983BE}"/>
                </a:ext>
              </a:extLst>
            </p:cNvPr>
            <p:cNvGrpSpPr/>
            <p:nvPr/>
          </p:nvGrpSpPr>
          <p:grpSpPr>
            <a:xfrm>
              <a:off x="310231" y="5963091"/>
              <a:ext cx="1758364" cy="976267"/>
              <a:chOff x="10285063" y="608166"/>
              <a:chExt cx="1836174" cy="976267"/>
            </a:xfrm>
          </p:grpSpPr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82D4AE-26F1-3D54-AD2F-D3620AD4B4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285065" y="1544858"/>
                <a:ext cx="317488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headEnd type="triangl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Rounded Rectangle 29">
                <a:extLst>
                  <a:ext uri="{FF2B5EF4-FFF2-40B4-BE49-F238E27FC236}">
                    <a16:creationId xmlns:a16="http://schemas.microsoft.com/office/drawing/2014/main" id="{1355A4EF-786E-2106-1200-3129A62B000F}"/>
                  </a:ext>
                </a:extLst>
              </p:cNvPr>
              <p:cNvSpPr/>
              <p:nvPr/>
            </p:nvSpPr>
            <p:spPr>
              <a:xfrm>
                <a:off x="10285065" y="892606"/>
                <a:ext cx="1541315" cy="211431"/>
              </a:xfrm>
              <a:prstGeom prst="roundRect">
                <a:avLst>
                  <a:gd name="adj" fmla="val 1282"/>
                </a:avLst>
              </a:prstGeom>
              <a:solidFill>
                <a:schemeClr val="bg1">
                  <a:lumMod val="8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Trebuchet MS" panose="020B0703020202090204" pitchFamily="34" charset="0"/>
                    <a:ea typeface="+mn-ea"/>
                    <a:cs typeface="Sarabun Light"/>
                  </a:rPr>
                  <a:t>Process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4" name="Rounded Rectangle 30">
                <a:extLst>
                  <a:ext uri="{FF2B5EF4-FFF2-40B4-BE49-F238E27FC236}">
                    <a16:creationId xmlns:a16="http://schemas.microsoft.com/office/drawing/2014/main" id="{7ADC7A81-A415-696A-F9C9-6B6707D8AF70}"/>
                  </a:ext>
                </a:extLst>
              </p:cNvPr>
              <p:cNvSpPr/>
              <p:nvPr/>
            </p:nvSpPr>
            <p:spPr>
              <a:xfrm>
                <a:off x="10285063" y="1167222"/>
                <a:ext cx="1541315" cy="228150"/>
              </a:xfrm>
              <a:prstGeom prst="roundRect">
                <a:avLst>
                  <a:gd name="adj" fmla="val 1282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10000"/>
                      </a:schemeClr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Output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10000"/>
                    </a:schemeClr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5" name="TextBox 37">
                <a:extLst>
                  <a:ext uri="{FF2B5EF4-FFF2-40B4-BE49-F238E27FC236}">
                    <a16:creationId xmlns:a16="http://schemas.microsoft.com/office/drawing/2014/main" id="{7716F570-172D-F670-B375-2454ED7C6DE8}"/>
                  </a:ext>
                </a:extLst>
              </p:cNvPr>
              <p:cNvSpPr txBox="1"/>
              <p:nvPr/>
            </p:nvSpPr>
            <p:spPr>
              <a:xfrm>
                <a:off x="10647876" y="1445934"/>
                <a:ext cx="1473361" cy="138499"/>
              </a:xfrm>
              <a:prstGeom prst="rect">
                <a:avLst/>
              </a:prstGeom>
              <a:noFill/>
            </p:spPr>
            <p:txBody>
              <a:bodyPr wrap="square" lIns="36000" tIns="0" rIns="0" bIns="0" rtlCol="0" anchor="ctr">
                <a:spAutoFit/>
              </a:bodyPr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Process</a:t>
                </a:r>
                <a:endParaRPr kumimoji="0" lang="en-TH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  <p:sp>
            <p:nvSpPr>
              <p:cNvPr id="16" name="Rounded Rectangle 40">
                <a:extLst>
                  <a:ext uri="{FF2B5EF4-FFF2-40B4-BE49-F238E27FC236}">
                    <a16:creationId xmlns:a16="http://schemas.microsoft.com/office/drawing/2014/main" id="{57F3D18C-3633-9485-830B-F2257316294D}"/>
                  </a:ext>
                </a:extLst>
              </p:cNvPr>
              <p:cNvSpPr/>
              <p:nvPr/>
            </p:nvSpPr>
            <p:spPr>
              <a:xfrm>
                <a:off x="10285064" y="608166"/>
                <a:ext cx="1541315" cy="211025"/>
              </a:xfrm>
              <a:prstGeom prst="roundRect">
                <a:avLst>
                  <a:gd name="adj" fmla="val 1282"/>
                </a:avLst>
              </a:prstGeom>
              <a:solidFill>
                <a:schemeClr val="tx2">
                  <a:lumMod val="25000"/>
                  <a:lumOff val="75000"/>
                </a:schemeClr>
              </a:solidFill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p:spPr>
            <p:style>
              <a:lnRef idx="1">
                <a:schemeClr val="accent6"/>
              </a:lnRef>
              <a:fillRef idx="3">
                <a:schemeClr val="accent6"/>
              </a:fillRef>
              <a:effectRef idx="2">
                <a:schemeClr val="accent6"/>
              </a:effectRef>
              <a:fontRef idx="minor">
                <a:schemeClr val="lt1"/>
              </a:fontRef>
            </p:style>
            <p:txBody>
              <a:bodyPr lIns="36000" tIns="0" rIns="0" bIns="0" rtlCol="0" anchor="ctr"/>
              <a:lstStyle>
                <a:defPPr>
                  <a:defRPr lang="en-TH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7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Grandview"/>
                    <a:ea typeface="+mn-ea"/>
                    <a:cs typeface="Sarabun Light"/>
                  </a:rPr>
                  <a:t>Input</a:t>
                </a:r>
                <a:endParaRPr kumimoji="0" lang="en-TH" sz="7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endParaRPr>
              </a:p>
            </p:txBody>
          </p:sp>
        </p:grpSp>
        <p:sp>
          <p:nvSpPr>
            <p:cNvPr id="11" name="TextBox 12">
              <a:extLst>
                <a:ext uri="{FF2B5EF4-FFF2-40B4-BE49-F238E27FC236}">
                  <a16:creationId xmlns:a16="http://schemas.microsoft.com/office/drawing/2014/main" id="{C8C2DA7C-597D-50DD-D361-D2368DD722E8}"/>
                </a:ext>
              </a:extLst>
            </p:cNvPr>
            <p:cNvSpPr txBox="1"/>
            <p:nvPr/>
          </p:nvSpPr>
          <p:spPr>
            <a:xfrm>
              <a:off x="310230" y="5605659"/>
              <a:ext cx="141092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TH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TH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randview"/>
                  <a:ea typeface="+mn-ea"/>
                  <a:cs typeface="Sarabun Light"/>
                </a:rPr>
                <a:t>Legend</a:t>
              </a:r>
            </a:p>
          </p:txBody>
        </p:sp>
      </p:grpSp>
      <p:sp>
        <p:nvSpPr>
          <p:cNvPr id="6" name="Title 1">
            <a:extLst>
              <a:ext uri="{FF2B5EF4-FFF2-40B4-BE49-F238E27FC236}">
                <a16:creationId xmlns:a16="http://schemas.microsoft.com/office/drawing/2014/main" id="{2DA94666-91E8-CC3C-C608-5A81FE20406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471981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BBE4B-4A90-0AF0-8F66-DF7445A04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Python (programming language) - Wikipedia">
            <a:extLst>
              <a:ext uri="{FF2B5EF4-FFF2-40B4-BE49-F238E27FC236}">
                <a16:creationId xmlns:a16="http://schemas.microsoft.com/office/drawing/2014/main" id="{7558C346-DE27-A956-4676-1859B13F3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8798" y="1976599"/>
            <a:ext cx="1160526" cy="1160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FastAPI · GitHub">
            <a:extLst>
              <a:ext uri="{FF2B5EF4-FFF2-40B4-BE49-F238E27FC236}">
                <a16:creationId xmlns:a16="http://schemas.microsoft.com/office/drawing/2014/main" id="{855D1AA6-EBDE-F14E-DEDA-B41BF7D5B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778" y="352407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รูปภาพGemini – เลือกดูภาพถ่ายสต็อก เวกเตอร์ และวิดีโอ74,249 | Adobe Stock">
            <a:extLst>
              <a:ext uri="{FF2B5EF4-FFF2-40B4-BE49-F238E27FC236}">
                <a16:creationId xmlns:a16="http://schemas.microsoft.com/office/drawing/2014/main" id="{22E3C64C-AE8F-51D5-DA83-3907C22BCF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4346" y="3600408"/>
            <a:ext cx="286385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What Is BigQuery And How Do You Load Data Into It? - Seattle Data Guy">
            <a:extLst>
              <a:ext uri="{FF2B5EF4-FFF2-40B4-BE49-F238E27FC236}">
                <a16:creationId xmlns:a16="http://schemas.microsoft.com/office/drawing/2014/main" id="{A030075D-3E5E-15F1-6377-932F1CC176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97789" y="4794906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 descr="What is Docker ? How to use it ? - NashTech Blog">
            <a:extLst>
              <a:ext uri="{FF2B5EF4-FFF2-40B4-BE49-F238E27FC236}">
                <a16:creationId xmlns:a16="http://schemas.microsoft.com/office/drawing/2014/main" id="{2BA49730-AF03-6D55-974D-7885BA76D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259" y="1851207"/>
            <a:ext cx="2353733" cy="1323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Hub - jupyterlab/jupyterlab: JupyterLab computational environment.">
            <a:extLst>
              <a:ext uri="{FF2B5EF4-FFF2-40B4-BE49-F238E27FC236}">
                <a16:creationId xmlns:a16="http://schemas.microsoft.com/office/drawing/2014/main" id="{15A8AB89-8C13-214E-E901-852D83950B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0838" y="1970973"/>
            <a:ext cx="1407653" cy="1407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92" name="Picture 20" descr="Cloud Run vs App Engine vs Cloud Function (Pros and Cons)">
            <a:extLst>
              <a:ext uri="{FF2B5EF4-FFF2-40B4-BE49-F238E27FC236}">
                <a16:creationId xmlns:a16="http://schemas.microsoft.com/office/drawing/2014/main" id="{529B08C3-47D8-32EA-D13B-1922DE3E9E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9720" y="5412401"/>
            <a:ext cx="2513146" cy="96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Google Cloud Storage: solution for data lakes - Flowygo">
            <a:extLst>
              <a:ext uri="{FF2B5EF4-FFF2-40B4-BE49-F238E27FC236}">
                <a16:creationId xmlns:a16="http://schemas.microsoft.com/office/drawing/2014/main" id="{22FE7497-B4F7-5F32-2032-702334A4A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5932" y="3636936"/>
            <a:ext cx="2281412" cy="1619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Visual Studio Code - Download and install on Windows | Microsoft Store">
            <a:extLst>
              <a:ext uri="{FF2B5EF4-FFF2-40B4-BE49-F238E27FC236}">
                <a16:creationId xmlns:a16="http://schemas.microsoft.com/office/drawing/2014/main" id="{01EEC46E-48C9-84E6-33F5-A113A0DFF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611" y="2513195"/>
            <a:ext cx="1167982" cy="1167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YAML File Format Icon SVG Vector &amp; PNG Free Download | UXWing">
            <a:extLst>
              <a:ext uri="{FF2B5EF4-FFF2-40B4-BE49-F238E27FC236}">
                <a16:creationId xmlns:a16="http://schemas.microsoft.com/office/drawing/2014/main" id="{F4E999C6-217F-7104-506D-3390415776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64713" y="4884124"/>
            <a:ext cx="1145540" cy="1145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659C146-EE72-EBE5-AE83-924130D139C8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37309667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6B22-0473-04F9-85F9-5E187DB4D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E44697C-7150-FFF1-EC0E-DA02EFC6F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550" y="1427620"/>
            <a:ext cx="9486900" cy="51098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91456F-E2A6-B73B-EBF7-559ECA452B1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98174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7D2FE-96D7-DD42-D64C-0E3C44E76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3843A-37A8-7E78-56C1-F959554448A7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Future Work</a:t>
            </a:r>
            <a:endParaRPr lang="en-US" sz="2400" dirty="0">
              <a:cs typeface="Poppins Light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1A87FB-2FFC-027B-D5E5-C96FB0C851B7}"/>
              </a:ext>
            </a:extLst>
          </p:cNvPr>
          <p:cNvSpPr txBox="1"/>
          <p:nvPr/>
        </p:nvSpPr>
        <p:spPr>
          <a:xfrm>
            <a:off x="0" y="6949440"/>
            <a:ext cx="2730056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Add endpoint get student</a:t>
            </a:r>
          </a:p>
          <a:p>
            <a:pPr marL="285750" indent="-285750">
              <a:buFontTx/>
              <a:buChar char="-"/>
            </a:pPr>
            <a:r>
              <a:rPr lang="en-US" sz="1400" dirty="0">
                <a:latin typeface="Consolas" panose="020B0609020204030204" pitchFamily="49" charset="0"/>
              </a:rPr>
              <a:t>Update intent core code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60981D-86EB-AD87-EAEB-7A329296C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2750" y="1305757"/>
            <a:ext cx="9429831" cy="5302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3714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05D7B-EDF6-5F9B-FCF3-923CFAADD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AAB85E2C-B8F5-A58B-F930-70CE7F3E0CC6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</a:t>
            </a:r>
            <a:r>
              <a:rPr lang="en-US" sz="2400" dirty="0"/>
              <a:t>Future Work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8AC74-4A46-293E-66F1-F81BC7E1E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4285" y="1485575"/>
            <a:ext cx="3654890" cy="45299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6FB7D-793F-9368-D167-7596F41BE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29" y="1485575"/>
            <a:ext cx="4167888" cy="45299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61E6D40-55B4-7187-0EAB-242263D915D4}"/>
              </a:ext>
            </a:extLst>
          </p:cNvPr>
          <p:cNvSpPr txBox="1"/>
          <p:nvPr/>
        </p:nvSpPr>
        <p:spPr>
          <a:xfrm>
            <a:off x="5941951" y="356586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</p:spTree>
    <p:extLst>
      <p:ext uri="{BB962C8B-B14F-4D97-AF65-F5344CB8AC3E}">
        <p14:creationId xmlns:p14="http://schemas.microsoft.com/office/powerpoint/2010/main" val="4137678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5BD8A-8D45-2434-7F86-A7B3D8DAB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9223EE7-F282-49F6-E483-75F8BADCFA22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B0FF0E-A6A2-98AF-B9D8-1ECC79F8D2E2}"/>
              </a:ext>
            </a:extLst>
          </p:cNvPr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8934109-FB6B-51BF-602B-1988ED13AD7B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>
                <a:solidFill>
                  <a:schemeClr val="tx2">
                    <a:lumMod val="10000"/>
                    <a:lumOff val="90000"/>
                  </a:schemeClr>
                </a:solidFill>
              </a:rPr>
              <a:t>Team stand up</a:t>
            </a:r>
          </a:p>
        </p:txBody>
      </p:sp>
    </p:spTree>
    <p:extLst>
      <p:ext uri="{BB962C8B-B14F-4D97-AF65-F5344CB8AC3E}">
        <p14:creationId xmlns:p14="http://schemas.microsoft.com/office/powerpoint/2010/main" val="3630014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7EB9D-BC4E-CFB7-65B4-D57B600015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51F61-F94E-9D8E-AF80-BBC948144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Thu,120226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64EDA9-0040-E8C3-0509-331038A593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Draft of </a:t>
            </a:r>
            <a:r>
              <a:rPr lang="en-US" sz="2000" dirty="0" err="1"/>
              <a:t>subscore</a:t>
            </a:r>
            <a:r>
              <a:rPr lang="en-US" sz="2000" dirty="0"/>
              <a:t> function</a:t>
            </a:r>
            <a:br>
              <a:rPr lang="en-US" sz="2000" dirty="0"/>
            </a:b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Recheck pipeline code</a:t>
            </a:r>
          </a:p>
          <a:p>
            <a:pPr lvl="1"/>
            <a:r>
              <a:rPr lang="en-US" sz="2000" dirty="0"/>
              <a:t>Convert to API or .</a:t>
            </a:r>
            <a:r>
              <a:rPr lang="en-US" sz="2000" dirty="0" err="1"/>
              <a:t>py</a:t>
            </a:r>
            <a:r>
              <a:rPr lang="en-US" sz="2000" dirty="0"/>
              <a:t> something</a:t>
            </a:r>
            <a:endParaRPr lang="en-US" sz="1600" dirty="0"/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487543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1E5E4-2CE7-3F8F-D1BA-65872A25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5CEBD-4008-AA8C-CE34-E2F31FDEF0A5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7E3E89-0DFF-283D-611F-FF80DF3CBA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163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796A6-0C36-AE52-F3D9-28AC570A4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EC1C7-D010-D9D8-983D-17BEF96A9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Tue,100226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769BC6-2D02-EEC0-3CD2-298961C795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Update 3 case hander retrieval support with </a:t>
            </a:r>
            <a:r>
              <a:rPr lang="en-US" sz="2000" dirty="0" err="1"/>
              <a:t>hyde</a:t>
            </a:r>
            <a:r>
              <a:rPr lang="en-US" sz="2000" dirty="0"/>
              <a:t> with </a:t>
            </a:r>
            <a:r>
              <a:rPr lang="en-US" sz="2000" dirty="0" err="1"/>
              <a:t>FastAPI</a:t>
            </a:r>
            <a:r>
              <a:rPr lang="en-US" sz="2000" dirty="0"/>
              <a:t> -&gt; Deploy</a:t>
            </a:r>
            <a:br>
              <a:rPr lang="en-US" sz="2000" dirty="0"/>
            </a:br>
            <a:endParaRPr lang="en-US" sz="2000" dirty="0"/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with </a:t>
            </a:r>
            <a:r>
              <a:rPr lang="en-US" sz="2000" dirty="0" err="1"/>
              <a:t>handerling</a:t>
            </a:r>
            <a:r>
              <a:rPr lang="en-US" sz="2000" dirty="0"/>
              <a:t> 3 cases with </a:t>
            </a:r>
            <a:r>
              <a:rPr lang="en-US" sz="2000" dirty="0" err="1"/>
              <a:t>FastAPI</a:t>
            </a:r>
            <a:endParaRPr lang="en-US" sz="2000" dirty="0"/>
          </a:p>
          <a:p>
            <a:pPr lvl="1"/>
            <a:r>
              <a:rPr lang="en-US" sz="2000" dirty="0" err="1"/>
              <a:t>HyDE</a:t>
            </a:r>
            <a:r>
              <a:rPr lang="en-US" sz="2000" dirty="0"/>
              <a:t> generator</a:t>
            </a:r>
          </a:p>
          <a:p>
            <a:pPr lvl="2"/>
            <a:r>
              <a:rPr lang="en-US" sz="1600" dirty="0"/>
              <a:t>Batch </a:t>
            </a:r>
            <a:r>
              <a:rPr lang="en-US" sz="1600" dirty="0" err="1"/>
              <a:t>HyDE</a:t>
            </a:r>
            <a:r>
              <a:rPr lang="en-US" sz="1600" dirty="0"/>
              <a:t> student generator</a:t>
            </a:r>
          </a:p>
          <a:p>
            <a:pPr lvl="2"/>
            <a:r>
              <a:rPr lang="en-US" sz="1600" dirty="0"/>
              <a:t>Single </a:t>
            </a:r>
            <a:r>
              <a:rPr lang="en-US" sz="1600" dirty="0" err="1"/>
              <a:t>HyDE</a:t>
            </a:r>
            <a:r>
              <a:rPr lang="en-US" sz="1600" dirty="0"/>
              <a:t> student generator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804641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BAF88-98C3-D016-BA8B-8AC67505A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2EC71-C3AB-E566-4ADD-3A3D8A15D0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98FEBB-5098-B044-49A1-CAC2AB6DC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439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B3843-46C9-EFCC-C404-923699D6F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22021-840D-900B-8726-F7538398C2A6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Batch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2144B6-FBA6-79E8-987C-4F9FAC65C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74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8527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76C67-350A-568F-5D87-8E55FD610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6AAEB-0D7F-EB1A-8F86-ED900D7E518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– </a:t>
            </a:r>
            <a:r>
              <a:rPr lang="en-US" sz="2400" dirty="0"/>
              <a:t>Single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1DE272-12F8-95DB-3DB9-476DDE764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78E59E7-EB13-21BC-9F5B-35AFBB61A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3160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DA2F-C34A-8761-240D-31D34208D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E3AD2-CFA4-44D3-12FB-B1F5B1F1119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Single student </a:t>
            </a:r>
            <a:r>
              <a:rPr lang="en-US" sz="2400" dirty="0" err="1"/>
              <a:t>HyDE</a:t>
            </a:r>
            <a:r>
              <a:rPr lang="en-US" sz="2400" dirty="0"/>
              <a:t> generator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E5C038-745A-2321-6B54-48D092759A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394060"/>
            <a:ext cx="9144000" cy="5141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5079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BA212-2CFA-F8F2-C948-8B2D0C1CF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3CB08-0B4E-FA23-8E60-6BC94176AD73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5243E-86BD-1209-1F07-95E19A2C18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7016" y="0"/>
            <a:ext cx="33193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99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24D43-FD65-857F-9EC7-74F20AF90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B7F23-2801-E834-3C35-887E43F77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Mon,090226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DBD4C6-8C93-D18D-FDCA-57F53A1E6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662254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4014A-F497-DAA7-0BF6-678F7DF1B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47D72-160A-773F-38D1-A3EEC448C2F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83A8E7-06DE-BDA1-2797-41DB50CB64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1796" y="1177742"/>
            <a:ext cx="1246970" cy="5680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6450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8ECC18-CB28-8EAB-EDAA-C75FD583C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5A6EC-ED28-FEB9-6AFD-B3A52684FDE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2D5EFBE-B383-3956-79A1-1C6D55A955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89" y="1293244"/>
            <a:ext cx="9702015" cy="5450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2516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DF464-2CE4-50C9-2574-D601D1E99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9E540-B353-689D-DE68-787DB2D0CB1B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612C65-536F-D2E1-DDB2-024A9BAF50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93244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952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CEB06-4454-EDE4-5D84-FA4B1A66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FEF0E-929C-71DC-75EE-C4CEF267D35E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6B86B12-3CC6-24E0-5DB4-2116CA6AA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693026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062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626DB-7C5A-0D4E-0C65-144C12E08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099B0-DE82-6391-145D-5993ECF07E9C}"/>
              </a:ext>
            </a:extLst>
          </p:cNvPr>
          <p:cNvSpPr txBox="1">
            <a:spLocks/>
          </p:cNvSpPr>
          <p:nvPr/>
        </p:nvSpPr>
        <p:spPr>
          <a:xfrm>
            <a:off x="365759" y="649487"/>
            <a:ext cx="11183815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US" sz="2400" dirty="0"/>
              <a:t>System Architecture &amp; Technology Stack</a:t>
            </a:r>
            <a:endParaRPr lang="en-US" sz="2400" dirty="0">
              <a:cs typeface="Poppins Ligh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98965C1-C6DE-5C70-2A5A-0D21736295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991" y="1276215"/>
            <a:ext cx="9702018" cy="5450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035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36CF8-CEDF-B321-D1E2-68893F994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3165E-22FA-444B-90D4-50234C612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Fri,060226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6D62D-ACC5-2127-C166-ECE08AFAA9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r>
              <a:rPr lang="en-US" sz="2000" dirty="0">
                <a:solidFill>
                  <a:srgbClr val="0070C0"/>
                </a:solidFill>
              </a:rPr>
              <a:t> and update confluence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chemeClr val="tx2">
                    <a:lumMod val="10000"/>
                    <a:lumOff val="90000"/>
                  </a:schemeClr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Update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-</a:t>
            </a:r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751592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E941F-70D2-FB27-A0B2-86FD51169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BFEDE-DA0B-F13A-F573-9B4A17653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1" y="186666"/>
            <a:ext cx="10515600" cy="625474"/>
          </a:xfrm>
        </p:spPr>
        <p:txBody>
          <a:bodyPr>
            <a:noAutofit/>
          </a:bodyPr>
          <a:lstStyle/>
          <a:p>
            <a:r>
              <a:rPr lang="en-US" sz="3200" dirty="0"/>
              <a:t>Thu,050226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D23895-89DB-1145-D0B3-790DD0026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2901" y="1019175"/>
            <a:ext cx="11515724" cy="5206072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Done</a:t>
            </a:r>
          </a:p>
          <a:p>
            <a:pPr lvl="1"/>
            <a:r>
              <a:rPr lang="en-US" sz="2000" dirty="0"/>
              <a:t>Read and understood the QA Test Plan for the CV Evaluation Pipeline link</a:t>
            </a:r>
          </a:p>
          <a:p>
            <a:pPr lvl="1"/>
            <a:r>
              <a:rPr lang="en-US" sz="2000" dirty="0"/>
              <a:t>Understanding task for sprint 11 then prepare material to discuss (B4 </a:t>
            </a:r>
            <a:r>
              <a:rPr lang="en-US" sz="2000" dirty="0" err="1"/>
              <a:t>P’bloom</a:t>
            </a:r>
            <a:r>
              <a:rPr lang="en-US" sz="2000" dirty="0"/>
              <a:t> vacation)</a:t>
            </a:r>
          </a:p>
          <a:p>
            <a:r>
              <a:rPr lang="en-US" sz="2400" dirty="0"/>
              <a:t>Todo</a:t>
            </a: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</a:t>
            </a:r>
            <a:r>
              <a:rPr lang="en-US" sz="2000" dirty="0" err="1">
                <a:solidFill>
                  <a:srgbClr val="0070C0"/>
                </a:solidFill>
              </a:rPr>
              <a:t>CVEvaluation</a:t>
            </a:r>
            <a:r>
              <a:rPr lang="en-US" sz="2000" dirty="0">
                <a:solidFill>
                  <a:srgbClr val="0070C0"/>
                </a:solidFill>
              </a:rPr>
              <a:t> QA  with </a:t>
            </a:r>
            <a:r>
              <a:rPr lang="en-US" sz="2000" dirty="0" err="1">
                <a:solidFill>
                  <a:srgbClr val="0070C0"/>
                </a:solidFill>
              </a:rPr>
              <a:t>P’bloom</a:t>
            </a:r>
            <a:endParaRPr lang="en-US" sz="2000" dirty="0">
              <a:solidFill>
                <a:srgbClr val="0070C0"/>
              </a:solidFill>
            </a:endParaRPr>
          </a:p>
          <a:p>
            <a:pPr lvl="1"/>
            <a:r>
              <a:rPr lang="en-US" sz="2000" dirty="0">
                <a:solidFill>
                  <a:srgbClr val="0070C0"/>
                </a:solidFill>
              </a:rPr>
              <a:t>Align Feed </a:t>
            </a:r>
            <a:r>
              <a:rPr lang="en-US" sz="2000" dirty="0" err="1">
                <a:solidFill>
                  <a:srgbClr val="0070C0"/>
                </a:solidFill>
              </a:rPr>
              <a:t>recommentdation</a:t>
            </a:r>
            <a:r>
              <a:rPr lang="en-US" sz="2000" dirty="0">
                <a:solidFill>
                  <a:srgbClr val="0070C0"/>
                </a:solidFill>
              </a:rPr>
              <a:t> (*pipeline with flowchart)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Functions/core/subscore.py</a:t>
            </a:r>
          </a:p>
          <a:p>
            <a:pPr lvl="2"/>
            <a:r>
              <a:rPr lang="en-US" sz="1600" dirty="0">
                <a:solidFill>
                  <a:srgbClr val="0070C0"/>
                </a:solidFill>
              </a:rPr>
              <a:t>Pipeline_3_gold_validate.py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Align with shin about How vector embedding should be</a:t>
            </a:r>
          </a:p>
          <a:p>
            <a:pPr lvl="1"/>
            <a:r>
              <a:rPr lang="en-US" sz="20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Plan tasks for Sprint 11 in Jira</a:t>
            </a:r>
            <a:endParaRPr lang="th-TH" sz="20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  <a:p>
            <a:pPr lvl="1"/>
            <a:r>
              <a:rPr lang="en-US" sz="2000" dirty="0"/>
              <a:t>Update GCS Retrieval class with new 3 conditions</a:t>
            </a:r>
          </a:p>
          <a:p>
            <a:pPr lvl="1"/>
            <a:r>
              <a:rPr lang="en-US" sz="2000" dirty="0"/>
              <a:t>Develop pipeline to </a:t>
            </a:r>
            <a:r>
              <a:rPr lang="en-US" sz="2000" dirty="0" err="1"/>
              <a:t>bUpdate</a:t>
            </a:r>
            <a:r>
              <a:rPr lang="en-US" sz="2000" dirty="0"/>
              <a:t> Embedding vector with shin format style</a:t>
            </a:r>
          </a:p>
          <a:p>
            <a:pPr lvl="1"/>
            <a:r>
              <a:rPr lang="en-US" sz="2000" dirty="0" err="1"/>
              <a:t>undle</a:t>
            </a:r>
            <a:r>
              <a:rPr lang="en-US" sz="2000" dirty="0"/>
              <a:t> data for each student (Pipeline_2_user_hyde_refresh.py)</a:t>
            </a:r>
          </a:p>
          <a:p>
            <a:r>
              <a:rPr lang="en-US" sz="2400" dirty="0"/>
              <a:t>Issue</a:t>
            </a:r>
          </a:p>
          <a:p>
            <a:pPr lvl="1"/>
            <a:r>
              <a:rPr lang="en-US" sz="2000" dirty="0"/>
              <a:t>Question in Slack</a:t>
            </a:r>
          </a:p>
          <a:p>
            <a:pPr lvl="1"/>
            <a:r>
              <a:rPr lang="en-US" sz="2000" dirty="0"/>
              <a:t>Question in Figma</a:t>
            </a:r>
          </a:p>
          <a:p>
            <a:endParaRPr lang="en-US" sz="24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7127276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3CD7D-98B3-51A9-3D8E-296579E16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3B09D-2D52-E43E-C6CF-3CA0AC97E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Wed,040226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455007-E3D6-B60F-1520-AE698CA873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64770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Sprint review deck for Sprint 10</a:t>
            </a:r>
          </a:p>
          <a:p>
            <a:pPr lvl="1"/>
            <a:r>
              <a:rPr lang="en-US" dirty="0"/>
              <a:t>Develop an endpoint to query data from Cloud Storage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9F566A-B162-9099-425A-040887AEE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076" y="365125"/>
            <a:ext cx="2757477" cy="6323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2016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446A3-8D06-E2BD-3022-2CE52E77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67554-4189-3912-5DD1-B564582E8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26050"/>
          </a:xfrm>
        </p:spPr>
        <p:txBody>
          <a:bodyPr>
            <a:normAutofit/>
          </a:bodyPr>
          <a:lstStyle/>
          <a:p>
            <a:r>
              <a:rPr lang="en-US" dirty="0"/>
              <a:t>Tue,050226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7CABDD-1BA0-72C5-A353-2A5C1F281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1175"/>
            <a:ext cx="10515600" cy="4867422"/>
          </a:xfrm>
        </p:spPr>
        <p:txBody>
          <a:bodyPr>
            <a:normAutofit/>
          </a:bodyPr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 (Pipeline_2_user_hyde_refresh.py)</a:t>
            </a:r>
          </a:p>
          <a:p>
            <a:r>
              <a:rPr lang="en-US" dirty="0"/>
              <a:t>Issue</a:t>
            </a:r>
          </a:p>
          <a:p>
            <a:pPr lvl="1"/>
            <a:r>
              <a:rPr lang="en-US" dirty="0"/>
              <a:t> -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90070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BE9D7-86D7-D016-EC91-308E146DB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A36735-67FC-AD35-8BC4-EC837B910C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040" y="1962895"/>
            <a:ext cx="1704935" cy="52825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19E6855-EEF6-5783-F577-649B02043E73}"/>
              </a:ext>
            </a:extLst>
          </p:cNvPr>
          <p:cNvSpPr txBox="1">
            <a:spLocks/>
          </p:cNvSpPr>
          <p:nvPr/>
        </p:nvSpPr>
        <p:spPr>
          <a:xfrm>
            <a:off x="-343093" y="382201"/>
            <a:ext cx="7631973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- </a:t>
            </a:r>
            <a:r>
              <a:rPr lang="en-TH" sz="2400" dirty="0"/>
              <a:t>System Overview</a:t>
            </a:r>
            <a:endParaRPr lang="en-US" sz="2400" dirty="0">
              <a:cs typeface="Poppins Ligh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155D806-6B92-7201-74D6-BE2CD15D10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591" y="2933708"/>
            <a:ext cx="4034790" cy="3126434"/>
          </a:xfrm>
          <a:prstGeom prst="rect">
            <a:avLst/>
          </a:prstGeom>
        </p:spPr>
      </p:pic>
      <p:pic>
        <p:nvPicPr>
          <p:cNvPr id="8" name="Picture 4" descr="FastAPI · GitHub">
            <a:extLst>
              <a:ext uri="{FF2B5EF4-FFF2-40B4-BE49-F238E27FC236}">
                <a16:creationId xmlns:a16="http://schemas.microsoft.com/office/drawing/2014/main" id="{054BDE27-EEAE-BF52-A6C1-4EF52174D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7666" y="2763393"/>
            <a:ext cx="1331214" cy="1331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66DE43A-CF1E-6357-A4CA-3D74CE8527BF}"/>
              </a:ext>
            </a:extLst>
          </p:cNvPr>
          <p:cNvCxnSpPr>
            <a:cxnSpLocks/>
          </p:cNvCxnSpPr>
          <p:nvPr/>
        </p:nvCxnSpPr>
        <p:spPr>
          <a:xfrm>
            <a:off x="5334118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9668BA2-F026-7DC9-9B93-3EDDA3A40CE1}"/>
              </a:ext>
            </a:extLst>
          </p:cNvPr>
          <p:cNvCxnSpPr>
            <a:cxnSpLocks/>
          </p:cNvCxnSpPr>
          <p:nvPr/>
        </p:nvCxnSpPr>
        <p:spPr>
          <a:xfrm>
            <a:off x="7484130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BF387B3-2E8B-2A05-5A54-4C9508B25B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7165" y="267286"/>
            <a:ext cx="2757477" cy="632342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1EAE8BC-BC2C-6A78-EE1F-556BBA1B5564}"/>
              </a:ext>
            </a:extLst>
          </p:cNvPr>
          <p:cNvSpPr txBox="1"/>
          <p:nvPr/>
        </p:nvSpPr>
        <p:spPr>
          <a:xfrm>
            <a:off x="357040" y="1021227"/>
            <a:ext cx="6958965" cy="1631394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Case 1 : </a:t>
            </a:r>
            <a:r>
              <a:rPr lang="th-TH" sz="1400" dirty="0">
                <a:latin typeface="Consolas" panose="020B0609020204030204" pitchFamily="49" charset="0"/>
              </a:rPr>
              <a:t>เจอ </a:t>
            </a:r>
            <a:r>
              <a:rPr lang="en-US" sz="1400" dirty="0" err="1">
                <a:latin typeface="Consolas" panose="020B0609020204030204" pitchFamily="49" charset="0"/>
              </a:rPr>
              <a:t>bucget</a:t>
            </a:r>
            <a:r>
              <a:rPr lang="en-US" sz="1400" dirty="0">
                <a:latin typeface="Consolas" panose="020B0609020204030204" pitchFamily="49" charset="0"/>
              </a:rPr>
              <a:t> +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2 : Storage(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x metadata)-&gt; return Only metadata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Case 3 : Have no </a:t>
            </a:r>
            <a:r>
              <a:rPr lang="en-US" sz="1400" dirty="0" err="1">
                <a:latin typeface="Consolas" panose="020B0609020204030204" pitchFamily="49" charset="0"/>
              </a:rPr>
              <a:t>bugget</a:t>
            </a:r>
            <a:r>
              <a:rPr lang="en-US" sz="1400" dirty="0">
                <a:latin typeface="Consolas" panose="020B0609020204030204" pitchFamily="49" charset="0"/>
              </a:rPr>
              <a:t> -&gt; return data from </a:t>
            </a:r>
            <a:r>
              <a:rPr lang="en-US" sz="1400" dirty="0" err="1">
                <a:latin typeface="Consolas" panose="020B0609020204030204" pitchFamily="49" charset="0"/>
              </a:rPr>
              <a:t>bigquery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case 2 or case 3 -&gt; talk with shin what going on?</a:t>
            </a:r>
          </a:p>
          <a:p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If some vector is missing or not complete return only complete vector and other “error”</a:t>
            </a:r>
          </a:p>
        </p:txBody>
      </p:sp>
    </p:spTree>
    <p:extLst>
      <p:ext uri="{BB962C8B-B14F-4D97-AF65-F5344CB8AC3E}">
        <p14:creationId xmlns:p14="http://schemas.microsoft.com/office/powerpoint/2010/main" val="9474462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D16A6-5009-1697-C160-8AF6CDCA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7164-399A-A263-CD90-2792F8A4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Tue,030226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96FA5-590C-C324-254E-A726932FE2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Prepared sprint review deck for Sprint 10</a:t>
            </a:r>
          </a:p>
          <a:p>
            <a:r>
              <a:rPr lang="en-US" dirty="0"/>
              <a:t>Todo</a:t>
            </a:r>
          </a:p>
          <a:p>
            <a:pPr lvl="1"/>
            <a:r>
              <a:rPr lang="en-US" dirty="0"/>
              <a:t>Implement item retirement on Cloud Storage (code + </a:t>
            </a:r>
            <a:r>
              <a:rPr lang="en-US" dirty="0" err="1"/>
              <a:t>cron</a:t>
            </a:r>
            <a:r>
              <a:rPr lang="en-US" dirty="0"/>
              <a:t> job)</a:t>
            </a:r>
          </a:p>
          <a:p>
            <a:pPr lvl="1"/>
            <a:r>
              <a:rPr lang="en-US" dirty="0"/>
              <a:t>Plan tasks for Sprint 11 in Jira</a:t>
            </a:r>
          </a:p>
          <a:p>
            <a:pPr lvl="1"/>
            <a:r>
              <a:rPr lang="en-US" dirty="0"/>
              <a:t>Develop pipeline to bundle data for each student</a:t>
            </a:r>
          </a:p>
          <a:p>
            <a:pPr lvl="1"/>
            <a:r>
              <a:rPr lang="en-US" dirty="0"/>
              <a:t>Read and understood the QA Test Plan for the CV Evaluation Pipeline link</a:t>
            </a:r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733721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678FBA-8682-67FB-7403-762F28E85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73BB931-0887-2834-8B68-DE9282036EA5}"/>
              </a:ext>
            </a:extLst>
          </p:cNvPr>
          <p:cNvSpPr txBox="1">
            <a:spLocks/>
          </p:cNvSpPr>
          <p:nvPr/>
        </p:nvSpPr>
        <p:spPr>
          <a:xfrm>
            <a:off x="479425" y="3121223"/>
            <a:ext cx="11233150" cy="61555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 algn="ctr"/>
            <a:r>
              <a:rPr lang="en-US" sz="4000" b="1" dirty="0"/>
              <a:t>Process of work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24781CD-06F9-A773-75B5-02AFD538D8FF}"/>
              </a:ext>
            </a:extLst>
          </p:cNvPr>
          <p:cNvSpPr txBox="1">
            <a:spLocks/>
          </p:cNvSpPr>
          <p:nvPr/>
        </p:nvSpPr>
        <p:spPr>
          <a:xfrm>
            <a:off x="152399" y="5933461"/>
            <a:ext cx="11820525" cy="229935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None/>
              <a:defRPr sz="3200" kern="1200">
                <a:solidFill>
                  <a:schemeClr val="tx1"/>
                </a:solidFill>
                <a:latin typeface="+mj-lt"/>
                <a:ea typeface="+mj-ea"/>
                <a:cs typeface="+mj-cs"/>
                <a:sym typeface="Trebuchet MS" panose="020B0603020202020204" pitchFamily="34" charset="0"/>
              </a:defRPr>
            </a:lvl1pPr>
          </a:lstStyle>
          <a:p>
            <a:pPr>
              <a:lnSpc>
                <a:spcPct val="150000"/>
              </a:lnSpc>
            </a:pPr>
            <a:endParaRPr lang="en-US" sz="1100">
              <a:solidFill>
                <a:srgbClr val="0432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912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38AA2-1EF5-9E8F-CDFE-880FD0D6F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AD12FB-CD52-6225-8CBA-0447DEC20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42925"/>
            <a:ext cx="10515600" cy="5962650"/>
          </a:xfrm>
        </p:spPr>
        <p:txBody>
          <a:bodyPr>
            <a:normAutofit fontScale="92500" lnSpcReduction="10000"/>
          </a:bodyPr>
          <a:lstStyle/>
          <a:p>
            <a:pPr marL="914400" lvl="1" indent="-457200">
              <a:buAutoNum type="arabicPeriod"/>
            </a:pPr>
            <a:r>
              <a:rPr lang="en-US" dirty="0"/>
              <a:t>POC -&gt; MVP</a:t>
            </a:r>
            <a:br>
              <a:rPr lang="th-TH" dirty="0"/>
            </a:br>
            <a:r>
              <a:rPr lang="en-US" dirty="0"/>
              <a:t>- POC : all full pipeline code</a:t>
            </a:r>
            <a:br>
              <a:rPr lang="en-US" dirty="0"/>
            </a:br>
            <a:r>
              <a:rPr lang="en-US" dirty="0"/>
              <a:t>- MVP : POC + production plan + owner</a:t>
            </a:r>
          </a:p>
          <a:p>
            <a:pPr marL="914400" lvl="1" indent="-457200">
              <a:buAutoNum type="arabicPeriod"/>
            </a:pPr>
            <a:r>
              <a:rPr lang="en-US" dirty="0"/>
              <a:t>Estimate cost man-day and </a:t>
            </a:r>
            <a:r>
              <a:rPr lang="en-US"/>
              <a:t>grant chart</a:t>
            </a:r>
            <a:br>
              <a:rPr lang="en-US"/>
            </a:br>
            <a:endParaRPr lang="en-US" dirty="0"/>
          </a:p>
          <a:p>
            <a:pPr lvl="1"/>
            <a:r>
              <a:rPr lang="en-US" dirty="0"/>
              <a:t>1 Sprint = 2 weeks</a:t>
            </a:r>
          </a:p>
          <a:p>
            <a:pPr lvl="1"/>
            <a:r>
              <a:rPr lang="en-US" dirty="0"/>
              <a:t>We have sprint glooming before sprint start</a:t>
            </a:r>
          </a:p>
          <a:p>
            <a:pPr lvl="1"/>
            <a:r>
              <a:rPr lang="en-US" dirty="0"/>
              <a:t>We use Jira to estimate timeline and ticket</a:t>
            </a:r>
          </a:p>
          <a:p>
            <a:pPr lvl="1"/>
            <a:r>
              <a:rPr lang="en-US" dirty="0"/>
              <a:t>There are </a:t>
            </a:r>
            <a:r>
              <a:rPr lang="en-US" dirty="0" err="1"/>
              <a:t>ghostdeck</a:t>
            </a:r>
            <a:endParaRPr lang="en-US" dirty="0"/>
          </a:p>
          <a:p>
            <a:pPr lvl="1"/>
            <a:r>
              <a:rPr lang="en-US" dirty="0"/>
              <a:t>There are confluence for project detail</a:t>
            </a:r>
          </a:p>
          <a:p>
            <a:pPr lvl="1"/>
            <a:r>
              <a:rPr lang="en-US" dirty="0"/>
              <a:t>There are POC </a:t>
            </a:r>
            <a:endParaRPr lang="th-TH" dirty="0"/>
          </a:p>
          <a:p>
            <a:pPr lvl="1"/>
            <a:r>
              <a:rPr lang="en-US" dirty="0"/>
              <a:t>Estimate </a:t>
            </a:r>
            <a:r>
              <a:rPr lang="en-US" dirty="0" err="1"/>
              <a:t>manday</a:t>
            </a:r>
            <a:r>
              <a:rPr lang="en-US" dirty="0"/>
              <a:t> cost</a:t>
            </a:r>
          </a:p>
          <a:p>
            <a:pPr lvl="1"/>
            <a:r>
              <a:rPr lang="en-US" dirty="0"/>
              <a:t>Design database</a:t>
            </a:r>
          </a:p>
          <a:p>
            <a:pPr lvl="1"/>
            <a:r>
              <a:rPr lang="en-US" dirty="0"/>
              <a:t>Architecture</a:t>
            </a:r>
          </a:p>
          <a:p>
            <a:pPr lvl="1"/>
            <a:r>
              <a:rPr lang="en-US" dirty="0"/>
              <a:t>RACI</a:t>
            </a:r>
          </a:p>
          <a:p>
            <a:pPr lvl="1"/>
            <a:r>
              <a:rPr lang="en-US" dirty="0"/>
              <a:t>SIT </a:t>
            </a:r>
            <a:r>
              <a:rPr lang="th-TH" dirty="0"/>
              <a:t>เหลืออีก </a:t>
            </a:r>
            <a:r>
              <a:rPr lang="en-US" dirty="0"/>
              <a:t>4 </a:t>
            </a:r>
            <a:r>
              <a:rPr lang="th-TH" dirty="0"/>
              <a:t>เดือน เดือน </a:t>
            </a:r>
            <a:r>
              <a:rPr lang="en-US" dirty="0" err="1"/>
              <a:t>june</a:t>
            </a:r>
            <a:endParaRPr lang="th-TH" dirty="0"/>
          </a:p>
          <a:p>
            <a:pPr lvl="1"/>
            <a:r>
              <a:rPr lang="en-US" dirty="0"/>
              <a:t>UAT </a:t>
            </a:r>
            <a:r>
              <a:rPr lang="th-TH" dirty="0"/>
              <a:t>เหลืออีก </a:t>
            </a:r>
            <a:r>
              <a:rPr lang="en-US" dirty="0"/>
              <a:t>6 </a:t>
            </a:r>
            <a:r>
              <a:rPr lang="th-TH" dirty="0"/>
              <a:t>เดือน </a:t>
            </a:r>
            <a:r>
              <a:rPr lang="en-US" dirty="0"/>
              <a:t> </a:t>
            </a:r>
            <a:r>
              <a:rPr lang="th-TH" dirty="0"/>
              <a:t>เดือน สิงหา</a:t>
            </a:r>
            <a:endParaRPr lang="en-US" dirty="0"/>
          </a:p>
          <a:p>
            <a:pPr lvl="1"/>
            <a:r>
              <a:rPr lang="en-US" dirty="0" err="1"/>
              <a:t>Golive</a:t>
            </a:r>
            <a:r>
              <a:rPr lang="en-US" dirty="0"/>
              <a:t> </a:t>
            </a:r>
            <a:r>
              <a:rPr lang="th-TH" dirty="0"/>
              <a:t>เหลืออีก </a:t>
            </a:r>
            <a:r>
              <a:rPr lang="en-US" dirty="0"/>
              <a:t>… </a:t>
            </a:r>
            <a:r>
              <a:rPr lang="th-TH" dirty="0"/>
              <a:t>เดือน เดือน </a:t>
            </a:r>
            <a:r>
              <a:rPr lang="en-US" dirty="0"/>
              <a:t>October</a:t>
            </a:r>
          </a:p>
        </p:txBody>
      </p:sp>
    </p:spTree>
    <p:extLst>
      <p:ext uri="{BB962C8B-B14F-4D97-AF65-F5344CB8AC3E}">
        <p14:creationId xmlns:p14="http://schemas.microsoft.com/office/powerpoint/2010/main" val="303649100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ED7353-2970-6DC6-6F08-FFBB9F220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C60A4-B96A-E59F-E933-D09676A80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Tue,040226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352971-2CF5-C2EE-9210-11610FB3E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 err="1"/>
              <a:t>Xxx</a:t>
            </a:r>
            <a:endParaRPr lang="en-US" dirty="0"/>
          </a:p>
          <a:p>
            <a:pPr lvl="1"/>
            <a:r>
              <a:rPr lang="en-US" dirty="0"/>
              <a:t>xxx</a:t>
            </a:r>
          </a:p>
          <a:p>
            <a:r>
              <a:rPr lang="en-US" dirty="0"/>
              <a:t>Todo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3217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E03DC-2268-4C53-E5FA-664DAFF6D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2601290000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18FAED-9B33-CB58-A85F-B17D9BBDFA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Done</a:t>
            </a:r>
          </a:p>
          <a:p>
            <a:pPr lvl="1"/>
            <a:r>
              <a:rPr lang="en-US" dirty="0"/>
              <a:t>Local data -&gt; </a:t>
            </a:r>
            <a:r>
              <a:rPr lang="en-US" dirty="0" err="1"/>
              <a:t>BigQuery</a:t>
            </a:r>
            <a:r>
              <a:rPr lang="en-US" dirty="0"/>
              <a:t> -&gt; Pipeline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4986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AFCAFD3-9891-20FB-C6ED-BAB18963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9205E-8C20-2365-D7D0-DCFD607D0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2979E9-0985-0ED0-AD10-E816C336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Local data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-&gt;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 Embedding output -&gt;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(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ไม่สมบูรณ์แค่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 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)</a:t>
            </a: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Json 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ที่มีเก็บรายละเอียดมากขึ้น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&amp;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ตกลงว่าจะเอา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Field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อะไรบ้าง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เขียยนโค้ดให้เป็นเรื่องราวมากขึ้น ไม่ใช้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spaghetti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ออกแบบระบบ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Retirer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30 </a:t>
            </a:r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วัน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ทำความเข้าใจ 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pipeline_2-3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ไม่รู้ว่าจะต้องทำอะไร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endParaRPr lang="en-US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0029010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D4C233-AF9F-3A7C-CA6A-1C05EFC0E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C8AF0-A03B-C1E4-B0C8-7A58EBFA6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5731AC-B924-4F9C-2F6D-377DA3F7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Done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Completed data flow local data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and into the pipeline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Uploaded initial embedding outputs to </a:t>
            </a:r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(next step : full integration)</a:t>
            </a: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Today</a:t>
            </a:r>
          </a:p>
          <a:p>
            <a:pPr lvl="1"/>
            <a:r>
              <a:rPr lang="en-US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Disigned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a richer JSON schema and finalized required fields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Refactored code to be more structured and readable (Reduced spaghetti code)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Designed a 30-day data retention system</a:t>
            </a:r>
          </a:p>
          <a:p>
            <a:pPr lvl="1"/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Reviewed and gained understanding of pipeline_2 and pipeline_3</a:t>
            </a:r>
            <a:endParaRPr lang="th-TH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Issue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ไม่รู้ว่าที่ทำมามันถูกใช่ไหม</a:t>
            </a:r>
          </a:p>
          <a:p>
            <a:pPr lvl="1"/>
            <a:r>
              <a:rPr lang="th-TH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แล้วหน้าตาสุดท้ายจะเป็นยังไง</a:t>
            </a:r>
            <a:r>
              <a:rPr lang="en-US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ที่ใช้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ถูกไหม </a:t>
            </a:r>
            <a:endParaRPr lang="en-US" sz="2400" dirty="0">
              <a:latin typeface="TH SarabunPSK" panose="020B0500040200020003" pitchFamily="34" charset="-34"/>
              <a:cs typeface="TH SarabunPSK" panose="020B0500040200020003" pitchFamily="34" charset="-34"/>
            </a:endParaRPr>
          </a:p>
          <a:p>
            <a:pPr lvl="2"/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บน </a:t>
            </a:r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FastAPI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ก็แค่เอาไว้ให้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user trigger update batch </a:t>
            </a:r>
            <a:r>
              <a:rPr lang="th-TH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กับ แบบ 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individual</a:t>
            </a:r>
          </a:p>
        </p:txBody>
      </p:sp>
    </p:spTree>
    <p:extLst>
      <p:ext uri="{BB962C8B-B14F-4D97-AF65-F5344CB8AC3E}">
        <p14:creationId xmlns:p14="http://schemas.microsoft.com/office/powerpoint/2010/main" val="30388313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5EF17D-FAE3-8DB4-6D25-2B76EF5A9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A241FB5-621C-03F2-E625-4BC0410C6F15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44FC-3C25-B109-0DFE-A5FCFD7B33BA}"/>
              </a:ext>
            </a:extLst>
          </p:cNvPr>
          <p:cNvSpPr/>
          <p:nvPr/>
        </p:nvSpPr>
        <p:spPr>
          <a:xfrm>
            <a:off x="2038350" y="1980000"/>
            <a:ext cx="8134350" cy="295394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DD2B16C-89F0-35F3-78C6-9069CFC28A43}"/>
              </a:ext>
            </a:extLst>
          </p:cNvPr>
          <p:cNvSpPr/>
          <p:nvPr/>
        </p:nvSpPr>
        <p:spPr>
          <a:xfrm>
            <a:off x="2133682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Prepare_history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B723D0-DEFC-8936-FBF4-81947C9BC744}"/>
              </a:ext>
            </a:extLst>
          </p:cNvPr>
          <p:cNvCxnSpPr>
            <a:cxnSpLocks/>
          </p:cNvCxnSpPr>
          <p:nvPr/>
        </p:nvCxnSpPr>
        <p:spPr>
          <a:xfrm>
            <a:off x="3589725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94919523-148F-FF94-9DAF-5F46B09CB3FA}"/>
              </a:ext>
            </a:extLst>
          </p:cNvPr>
          <p:cNvSpPr/>
          <p:nvPr/>
        </p:nvSpPr>
        <p:spPr>
          <a:xfrm>
            <a:off x="3962040" y="3196625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User_context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D5D79ED-9135-4FF9-67E0-E265ADE89CF4}"/>
              </a:ext>
            </a:extLst>
          </p:cNvPr>
          <p:cNvCxnSpPr>
            <a:cxnSpLocks/>
          </p:cNvCxnSpPr>
          <p:nvPr/>
        </p:nvCxnSpPr>
        <p:spPr>
          <a:xfrm>
            <a:off x="5418083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AB029560-46FF-8985-D830-40A19AEB958F}"/>
              </a:ext>
            </a:extLst>
          </p:cNvPr>
          <p:cNvSpPr/>
          <p:nvPr/>
        </p:nvSpPr>
        <p:spPr>
          <a:xfrm>
            <a:off x="5418083" y="40824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HyDE_prompt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D295B83-5C26-F9FE-5378-F9DBAD445099}"/>
              </a:ext>
            </a:extLst>
          </p:cNvPr>
          <p:cNvCxnSpPr>
            <a:cxnSpLocks/>
          </p:cNvCxnSpPr>
          <p:nvPr/>
        </p:nvCxnSpPr>
        <p:spPr>
          <a:xfrm>
            <a:off x="6395481" y="343795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2AA0337-0CF7-B496-8CC5-B6A1936E9B07}"/>
              </a:ext>
            </a:extLst>
          </p:cNvPr>
          <p:cNvSpPr/>
          <p:nvPr/>
        </p:nvSpPr>
        <p:spPr>
          <a:xfrm>
            <a:off x="5418083" y="227155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 err="1">
                <a:solidFill>
                  <a:srgbClr val="272428"/>
                </a:solidFill>
                <a:latin typeface="Poppins Light"/>
                <a:cs typeface="Sarabun Light"/>
              </a:rPr>
              <a:t>Llm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</a:t>
            </a: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_flast_2.5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05AA3B6-E697-8E8D-52F9-9CB120DDAEF7}"/>
              </a:ext>
            </a:extLst>
          </p:cNvPr>
          <p:cNvCxnSpPr>
            <a:cxnSpLocks/>
          </p:cNvCxnSpPr>
          <p:nvPr/>
        </p:nvCxnSpPr>
        <p:spPr>
          <a:xfrm>
            <a:off x="6096000" y="28454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9869F6F-1596-3206-B079-5B87561C3A41}"/>
              </a:ext>
            </a:extLst>
          </p:cNvPr>
          <p:cNvCxnSpPr>
            <a:cxnSpLocks/>
          </p:cNvCxnSpPr>
          <p:nvPr/>
        </p:nvCxnSpPr>
        <p:spPr>
          <a:xfrm flipV="1">
            <a:off x="6096000" y="3747100"/>
            <a:ext cx="0" cy="2577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7663727E-27D6-B6EE-D101-E7052CF01EFD}"/>
              </a:ext>
            </a:extLst>
          </p:cNvPr>
          <p:cNvSpPr/>
          <p:nvPr/>
        </p:nvSpPr>
        <p:spPr>
          <a:xfrm>
            <a:off x="6874126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TH" sz="1000" b="0" i="0" u="none" strike="noStrike" kern="1200" cap="none" spc="0" normalizeH="0" baseline="0" noProof="0" dirty="0">
                <a:ln>
                  <a:noFill/>
                </a:ln>
                <a:solidFill>
                  <a:srgbClr val="272428"/>
                </a:solidFill>
                <a:effectLst/>
                <a:uLnTx/>
                <a:uFillTx/>
                <a:latin typeface="Poppins Light"/>
                <a:ea typeface="+mn-ea"/>
                <a:cs typeface="Sarabun Light"/>
              </a:rPr>
              <a:t>gemini-embedding-001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6356E6D-EE13-8DB2-A76A-70C771ED8A48}"/>
              </a:ext>
            </a:extLst>
          </p:cNvPr>
          <p:cNvCxnSpPr>
            <a:cxnSpLocks/>
          </p:cNvCxnSpPr>
          <p:nvPr/>
        </p:nvCxnSpPr>
        <p:spPr>
          <a:xfrm>
            <a:off x="8330169" y="34290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51947E0C-0891-CEAB-0B87-F7B88505A797}"/>
              </a:ext>
            </a:extLst>
          </p:cNvPr>
          <p:cNvSpPr/>
          <p:nvPr/>
        </p:nvSpPr>
        <p:spPr>
          <a:xfrm>
            <a:off x="8702484" y="3177000"/>
            <a:ext cx="1355834" cy="50400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TH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dirty="0">
                <a:solidFill>
                  <a:srgbClr val="272428"/>
                </a:solidFill>
                <a:latin typeface="Poppins Light"/>
                <a:cs typeface="Sarabun Light"/>
              </a:rPr>
              <a:t>Embedded vector</a:t>
            </a:r>
            <a:endParaRPr kumimoji="0" lang="en-TH" sz="1000" b="0" i="0" u="none" strike="noStrike" kern="1200" cap="none" spc="0" normalizeH="0" baseline="0" noProof="0" dirty="0">
              <a:ln>
                <a:noFill/>
              </a:ln>
              <a:solidFill>
                <a:srgbClr val="272428"/>
              </a:solidFill>
              <a:effectLst/>
              <a:uLnTx/>
              <a:uFillTx/>
              <a:latin typeface="Poppins Light"/>
              <a:ea typeface="+mn-ea"/>
              <a:cs typeface="Sarabun Light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8A45AA8-736A-59A1-7663-9E6FA143E54A}"/>
              </a:ext>
            </a:extLst>
          </p:cNvPr>
          <p:cNvSpPr/>
          <p:nvPr/>
        </p:nvSpPr>
        <p:spPr>
          <a:xfrm>
            <a:off x="5896850" y="3249475"/>
            <a:ext cx="398300" cy="398300"/>
          </a:xfrm>
          <a:prstGeom prst="ellipse">
            <a:avLst/>
          </a:prstGeom>
        </p:spPr>
        <p:style>
          <a:lnRef idx="1">
            <a:schemeClr val="dk1"/>
          </a:lnRef>
          <a:fillRef idx="1002">
            <a:schemeClr val="lt2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05D727-EAEC-3DBE-3EC9-3FBE8202ABA8}"/>
              </a:ext>
            </a:extLst>
          </p:cNvPr>
          <p:cNvCxnSpPr>
            <a:cxnSpLocks/>
          </p:cNvCxnSpPr>
          <p:nvPr/>
        </p:nvCxnSpPr>
        <p:spPr>
          <a:xfrm>
            <a:off x="1669401" y="3433300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399375C-6840-7176-C49B-35317A7B856D}"/>
              </a:ext>
            </a:extLst>
          </p:cNvPr>
          <p:cNvCxnSpPr>
            <a:cxnSpLocks/>
          </p:cNvCxnSpPr>
          <p:nvPr/>
        </p:nvCxnSpPr>
        <p:spPr>
          <a:xfrm>
            <a:off x="10239375" y="3428049"/>
            <a:ext cx="272106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" name="Picture 2" descr="What Is BigQuery And How Do You Load Data Into It? - Seattle Data Guy">
            <a:extLst>
              <a:ext uri="{FF2B5EF4-FFF2-40B4-BE49-F238E27FC236}">
                <a16:creationId xmlns:a16="http://schemas.microsoft.com/office/drawing/2014/main" id="{1EAF1AC4-9CC6-86D3-8B4E-2C580EE97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142" y="3052552"/>
            <a:ext cx="1335100" cy="750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1934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FD6E4F-886B-CC67-1C51-230A6575C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4999BE93-6CCF-E4B7-5BF4-0E87CB925488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 dirty="0" err="1">
                <a:cs typeface="Poppins Light"/>
              </a:rPr>
              <a:t>HyDE</a:t>
            </a:r>
            <a:r>
              <a:rPr lang="en-US" sz="2400" dirty="0">
                <a:cs typeface="Poppins Light"/>
              </a:rPr>
              <a:t> feed recommendation </a:t>
            </a:r>
            <a:r>
              <a:rPr lang="en-TH" sz="2400" dirty="0"/>
              <a:t>– System Overview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CDCDA4-6B4B-3FE4-35D5-F0B4A7FC4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066" y="1202535"/>
            <a:ext cx="9087867" cy="5109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730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6165DDE-FB04-76D7-3668-1C8FFAC2B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F717AF79-CB6A-D8D0-8693-1E6DA71D85DF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A8CDBD-395A-0A63-82F9-ADB110D12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079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899E40-7CCD-4EC1-3900-B7204DBE1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5F7C9388-6A03-7ADA-798A-97D03A90EB9E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9E9D9D-6703-4F3A-D21D-98B2A7279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4941" y="1418944"/>
            <a:ext cx="8002117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21493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D4C99A6-1D03-848C-AFA2-8E8826D5E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134E9C10-B91D-13B0-26A5-3E5F00DCA897}"/>
              </a:ext>
            </a:extLst>
          </p:cNvPr>
          <p:cNvSpPr txBox="1">
            <a:spLocks/>
          </p:cNvSpPr>
          <p:nvPr/>
        </p:nvSpPr>
        <p:spPr>
          <a:xfrm>
            <a:off x="838200" y="333595"/>
            <a:ext cx="10515600" cy="5282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400">
                <a:cs typeface="Poppins Light"/>
              </a:rPr>
              <a:t>HyDE feed recommendation </a:t>
            </a:r>
            <a:r>
              <a:rPr lang="en-TH" sz="2400"/>
              <a:t>– System Overview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FCBA73-BCEE-2FEF-5435-94246FC27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174" y="1118748"/>
            <a:ext cx="9391650" cy="52806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131BD0-0F3B-CD17-2D1D-8376C7594611}"/>
              </a:ext>
            </a:extLst>
          </p:cNvPr>
          <p:cNvSpPr txBox="1"/>
          <p:nvPr/>
        </p:nvSpPr>
        <p:spPr>
          <a:xfrm>
            <a:off x="838200" y="933450"/>
            <a:ext cx="1973282" cy="950119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Dsxxxxxxxxxxxxxx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  <a:p>
            <a:r>
              <a:rPr lang="en-US" dirty="0" err="1"/>
              <a:t>xxxxxxxxxxxxxxxxx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61423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0D175C7-B61D-A34A-6D20-6DB1FE3AD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C9A56-F9C0-CAB0-6C55-1DAAE48A8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2601290937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4007C1-42CB-4D62-A2EF-F669884F7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4007"/>
            <a:ext cx="10515600" cy="4978868"/>
          </a:xfrm>
        </p:spPr>
        <p:txBody>
          <a:bodyPr>
            <a:noAutofit/>
          </a:bodyPr>
          <a:lstStyle/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BigQuery</a:t>
            </a: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X</a:t>
            </a:r>
          </a:p>
          <a:p>
            <a:pPr lvl="1"/>
            <a:r>
              <a:rPr lang="en-US" sz="20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เพราะ ต้อง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similarity search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แบ่งชื่อ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Folder </a:t>
            </a:r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เอาไว้</a:t>
            </a:r>
          </a:p>
          <a:p>
            <a:pPr lvl="1"/>
            <a:r>
              <a:rPr lang="th-TH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เก็บ </a:t>
            </a:r>
            <a:r>
              <a:rPr lang="en-US" sz="20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vector , meta</a:t>
            </a:r>
          </a:p>
          <a:p>
            <a:r>
              <a:rPr lang="en-US" sz="2400" dirty="0" err="1">
                <a:latin typeface="TH SarabunPSK" panose="020B0500040200020003" pitchFamily="34" charset="-34"/>
                <a:cs typeface="TH SarabunPSK" panose="020B0500040200020003" pitchFamily="34" charset="-34"/>
              </a:rPr>
              <a:t>Datalake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Student01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Vector 1 – 5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   |- Metadata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|- student02 </a:t>
            </a:r>
            <a:b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</a:br>
            <a:r>
              <a:rPr lang="en-US" sz="2400" dirty="0">
                <a:latin typeface="TH SarabunPSK" panose="020B0500040200020003" pitchFamily="34" charset="-34"/>
                <a:cs typeface="TH SarabunPSK" panose="020B0500040200020003" pitchFamily="34" charset="-34"/>
              </a:rPr>
              <a:t> … .</a:t>
            </a:r>
          </a:p>
        </p:txBody>
      </p:sp>
    </p:spTree>
    <p:extLst>
      <p:ext uri="{BB962C8B-B14F-4D97-AF65-F5344CB8AC3E}">
        <p14:creationId xmlns:p14="http://schemas.microsoft.com/office/powerpoint/2010/main" val="214117785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679D549-56EE-B4D6-6524-1BF9B3C07921}"/>
              </a:ext>
            </a:extLst>
          </p:cNvPr>
          <p:cNvSpPr txBox="1"/>
          <p:nvPr/>
        </p:nvSpPr>
        <p:spPr>
          <a:xfrm>
            <a:off x="904875" y="16906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FFD1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29EE50-88F3-8D68-7D08-391B1803C3CB}"/>
              </a:ext>
            </a:extLst>
          </p:cNvPr>
          <p:cNvSpPr txBox="1"/>
          <p:nvPr/>
        </p:nvSpPr>
        <p:spPr>
          <a:xfrm>
            <a:off x="904875" y="2942719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BADF55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23808C-0547-AD5E-C87F-5314EC4D4167}"/>
              </a:ext>
            </a:extLst>
          </p:cNvPr>
          <p:cNvSpPr txBox="1"/>
          <p:nvPr/>
        </p:nvSpPr>
        <p:spPr>
          <a:xfrm>
            <a:off x="904875" y="4189988"/>
            <a:ext cx="2667000" cy="972562"/>
          </a:xfrm>
          <a:prstGeom prst="roundRect">
            <a:avLst>
              <a:gd name="adj" fmla="val 4406"/>
            </a:avLst>
          </a:prstGeom>
          <a:solidFill>
            <a:srgbClr val="E9606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Topic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r>
              <a:rPr lang="en-US" sz="1400" dirty="0">
                <a:latin typeface="Consolas" panose="020B0609020204030204" pitchFamily="49" charset="0"/>
              </a:rPr>
              <a:t>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- </a:t>
            </a:r>
            <a:r>
              <a:rPr lang="en-US" sz="1400" dirty="0" err="1">
                <a:latin typeface="Consolas" panose="020B0609020204030204" pitchFamily="49" charset="0"/>
              </a:rPr>
              <a:t>loremipsum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D167B7-AC2E-1CCE-8986-19AEB6FEE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3595"/>
            <a:ext cx="10515600" cy="528254"/>
          </a:xfrm>
        </p:spPr>
        <p:txBody>
          <a:bodyPr vert="horz" anchor="ctr">
            <a:normAutofit/>
          </a:bodyPr>
          <a:lstStyle/>
          <a:p>
            <a:pPr algn="ctr"/>
            <a:r>
              <a:rPr lang="en-US" sz="2400" dirty="0">
                <a:cs typeface="Poppins Light"/>
              </a:rPr>
              <a:t>Project</a:t>
            </a:r>
            <a:r>
              <a:rPr lang="en-TH" sz="2400" dirty="0"/>
              <a:t> – </a:t>
            </a:r>
            <a:r>
              <a:rPr lang="en-US" sz="2400" dirty="0"/>
              <a:t>Topic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864C543-9F9A-6DEE-6454-0A3BDAFF5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4529"/>
              </p:ext>
            </p:extLst>
          </p:nvPr>
        </p:nvGraphicFramePr>
        <p:xfrm>
          <a:off x="4514850" y="1367334"/>
          <a:ext cx="6962484" cy="31507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0262">
                  <a:extLst>
                    <a:ext uri="{9D8B030D-6E8A-4147-A177-3AD203B41FA5}">
                      <a16:colId xmlns:a16="http://schemas.microsoft.com/office/drawing/2014/main" val="2615654620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266613467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74476578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01623901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140374584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3587445227"/>
                    </a:ext>
                  </a:extLst>
                </a:gridCol>
                <a:gridCol w="1002037">
                  <a:extLst>
                    <a:ext uri="{9D8B030D-6E8A-4147-A177-3AD203B41FA5}">
                      <a16:colId xmlns:a16="http://schemas.microsoft.com/office/drawing/2014/main" val="485861284"/>
                    </a:ext>
                  </a:extLst>
                </a:gridCol>
              </a:tblGrid>
              <a:tr h="68154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Complete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Content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Quality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Grammar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Length</a:t>
                      </a:r>
                      <a:endParaRPr lang="en-US"/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Role</a:t>
                      </a:r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Relevance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Section</a:t>
                      </a:r>
                      <a:endParaRPr lang="en-US"/>
                    </a:p>
                    <a:p>
                      <a:pPr lvl="0" algn="ctr">
                        <a:buNone/>
                      </a:pPr>
                      <a:r>
                        <a:rPr lang="en-GB" sz="1100" b="1" i="0" u="none" strike="noStrike" baseline="0" noProof="0">
                          <a:solidFill>
                            <a:srgbClr val="272428"/>
                          </a:solidFill>
                          <a:latin typeface="Poppins Light"/>
                        </a:rPr>
                        <a:t>Weight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  <a:solidFill>
                      <a:srgbClr val="EB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3995445"/>
                  </a:ext>
                </a:extLst>
              </a:tr>
              <a:tr h="402225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Profile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97684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1" i="0" u="none" strike="noStrike" noProof="0">
                          <a:solidFill>
                            <a:schemeClr val="tx1"/>
                          </a:solidFill>
                        </a:rPr>
                        <a:t>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0" dirty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>
                          <a:solidFill>
                            <a:schemeClr val="tx1"/>
                          </a:solidFill>
                        </a:rPr>
                        <a:t>0.10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1485572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Education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7005145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337563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baseline="0" noProof="0">
                          <a:solidFill>
                            <a:schemeClr val="tx1"/>
                          </a:solidFill>
                        </a:rPr>
                        <a:t>Activities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3775761"/>
                  </a:ext>
                </a:extLst>
              </a:tr>
              <a:tr h="413399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05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Skills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100" b="0" i="0" u="none" strike="noStrike" noProof="0">
                          <a:solidFill>
                            <a:schemeClr val="tx1"/>
                          </a:solidFill>
                          <a:latin typeface="Poppins Light"/>
                        </a:rPr>
                        <a:t>10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 cap="flat" cmpd="sng" algn="ctr">
                      <a:solidFill>
                        <a:schemeClr val="tx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GB" sz="1600" b="1" i="0" u="none" strike="noStrike" noProof="0" dirty="0">
                          <a:solidFill>
                            <a:schemeClr val="tx1"/>
                          </a:solidFill>
                          <a:latin typeface="Poppins Light"/>
                        </a:rPr>
                        <a:t>0.20</a:t>
                      </a:r>
                    </a:p>
                  </a:txBody>
                  <a:tcPr anchor="ctr">
                    <a:lnL w="12700">
                      <a:solidFill>
                        <a:schemeClr val="tx2">
                          <a:lumMod val="90000"/>
                        </a:schemeClr>
                      </a:solidFill>
                    </a:lnL>
                    <a:lnR w="12700">
                      <a:solidFill>
                        <a:schemeClr val="tx2">
                          <a:lumMod val="90000"/>
                        </a:schemeClr>
                      </a:solidFill>
                    </a:lnR>
                    <a:lnT w="12700">
                      <a:solidFill>
                        <a:schemeClr val="tx2">
                          <a:lumMod val="90000"/>
                        </a:schemeClr>
                      </a:solidFill>
                    </a:lnT>
                    <a:lnB w="12700">
                      <a:solidFill>
                        <a:schemeClr val="tx2">
                          <a:lumMod val="90000"/>
                        </a:schemeClr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3853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586022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4236</TotalTime>
  <Words>1795</Words>
  <Application>Microsoft Office PowerPoint</Application>
  <PresentationFormat>Widescreen</PresentationFormat>
  <Paragraphs>503</Paragraphs>
  <Slides>53</Slides>
  <Notes>7</Notes>
  <HiddenSlides>11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63" baseType="lpstr">
      <vt:lpstr>Aptos</vt:lpstr>
      <vt:lpstr>Aptos Display</vt:lpstr>
      <vt:lpstr>Arial</vt:lpstr>
      <vt:lpstr>Consolas</vt:lpstr>
      <vt:lpstr>Grandview</vt:lpstr>
      <vt:lpstr>Poppins Light</vt:lpstr>
      <vt:lpstr>TH SarabunPSK</vt:lpstr>
      <vt:lpstr>Trebuchet MS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Thu,120226</vt:lpstr>
      <vt:lpstr>PowerPoint Presentation</vt:lpstr>
      <vt:lpstr>Tue,100226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Mon,090226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Fri,060226</vt:lpstr>
      <vt:lpstr>Thu,050226</vt:lpstr>
      <vt:lpstr>Wed,040226</vt:lpstr>
      <vt:lpstr>Tue,050226</vt:lpstr>
      <vt:lpstr>PowerPoint Presentation</vt:lpstr>
      <vt:lpstr>Tue,030226</vt:lpstr>
      <vt:lpstr>PowerPoint Presentation</vt:lpstr>
      <vt:lpstr>PowerPoint Presentation</vt:lpstr>
      <vt:lpstr>Tue,040226</vt:lpstr>
      <vt:lpstr>2601290000</vt:lpstr>
      <vt:lpstr>2601290937</vt:lpstr>
      <vt:lpstr>2601290937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2601290937</vt:lpstr>
      <vt:lpstr>Project – Topic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Tun Kedsaro</dc:creator>
  <cp:lastModifiedBy>Tun Kedsaro</cp:lastModifiedBy>
  <cp:revision>45</cp:revision>
  <dcterms:created xsi:type="dcterms:W3CDTF">2026-01-29T03:40:55Z</dcterms:created>
  <dcterms:modified xsi:type="dcterms:W3CDTF">2026-02-12T13:53:17Z</dcterms:modified>
</cp:coreProperties>
</file>